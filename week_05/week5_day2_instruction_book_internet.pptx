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dPt>
            <c:idx val="0"/>
            <c:spPr>
              <a:solidFill>
                <a:srgbClr val="68D9BE"/>
              </a:solidFill>
            </c:spPr>
          </c:dPt>
          <c:dPt>
            <c:idx val="1"/>
            <c:spPr>
              <a:solidFill>
                <a:srgbClr val="76C9FF"/>
              </a:solidFill>
            </c:spPr>
          </c:dPt>
          <c:dPt>
            <c:idx val="2"/>
            <c:spPr>
              <a:solidFill>
                <a:srgbClr val="FFC675"/>
              </a:solidFill>
            </c:spPr>
          </c:dPt>
          <c:dPt>
            <c:idx val="3"/>
            <c:spPr>
              <a:solidFill>
                <a:srgbClr val="FF9576"/>
              </a:solidFill>
            </c:spPr>
          </c:dPt>
          <c:cat>
            <c:strRef>
              <c:f>Sheet1!$A$2:$A$5</c:f>
              <c:strCache>
                <c:ptCount val="4"/>
                <c:pt idx="0">
                  <c:v>Third-party
involved</c:v>
                </c:pt>
                <c:pt idx="1">
                  <c:v>Vuln exploitation
change</c:v>
                </c:pt>
                <c:pt idx="2">
                  <c:v>Credential abuse
initial vector</c:v>
                </c:pt>
                <c:pt idx="3">
                  <c:v>Ransomware
presence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34</c:v>
                </c:pt>
                <c:pt idx="2">
                  <c:v>22</c:v>
                </c:pt>
                <c:pt idx="3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3449"/>
                </a:solidFill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 val="0"/>
        <c:axPos val="l"/>
        <c:majorGridlines>
          <c:spPr>
            <a:ln>
              <a:solidFill>
                <a:srgbClr val="DCE7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3449"/>
                </a:solidFill>
                <a:latin typeface="Helvetica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RPO (minutes)</c:v>
                </c:pt>
              </c:strCache>
            </c:strRef>
          </c:tx>
          <c:spPr>
            <a:solidFill>
              <a:srgbClr val="70E3DC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RTO (minutes)</c:v>
                </c:pt>
              </c:strCache>
            </c:strRef>
          </c:tx>
          <c:spPr>
            <a:solidFill>
              <a:srgbClr val="FFC675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</c:v>
                </c:pt>
                <c:pt idx="1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3449"/>
                </a:solidFill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.0"/>
        </c:scaling>
        <c:delete val="0"/>
        <c:axPos val="l"/>
        <c:majorGridlines>
          <c:spPr>
            <a:ln>
              <a:solidFill>
                <a:srgbClr val="DCE7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3449"/>
                </a:solidFill>
                <a:latin typeface="Helvetica"/>
              </a:defRPr>
            </a:pPr>
          </a:p>
        </c:txPr>
        <c:crossAx val="-2068027336"/>
        <c:crosses val="autoZero"/>
        <c:majorUnit val="25.0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reduction</c:v>
                </c:pt>
              </c:strCache>
            </c:strRef>
          </c:tx>
          <c:spPr>
            <a:solidFill>
              <a:srgbClr val="70E3DC"/>
            </a:solidFill>
          </c:spPr>
          <c:cat>
            <c:strRef>
              <c:f>Sheet1!$A$2:$A$5</c:f>
              <c:strCache>
                <c:ptCount val="4"/>
                <c:pt idx="0">
                  <c:v>Suppression</c:v>
                </c:pt>
                <c:pt idx="1">
                  <c:v>Generalization</c:v>
                </c:pt>
                <c:pt idx="2">
                  <c:v>Perturbation</c:v>
                </c:pt>
                <c:pt idx="3">
                  <c:v>Threshold rule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76</c:v>
                </c:pt>
                <c:pt idx="2">
                  <c:v>65</c:v>
                </c:pt>
                <c:pt idx="3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Utility retained</c:v>
                </c:pt>
              </c:strCache>
            </c:strRef>
          </c:tx>
          <c:spPr>
            <a:solidFill>
              <a:srgbClr val="FFC675"/>
            </a:solidFill>
          </c:spPr>
          <c:cat>
            <c:strRef>
              <c:f>Sheet1!$A$2:$A$5</c:f>
              <c:strCache>
                <c:ptCount val="4"/>
                <c:pt idx="0">
                  <c:v>Suppression</c:v>
                </c:pt>
                <c:pt idx="1">
                  <c:v>Generalization</c:v>
                </c:pt>
                <c:pt idx="2">
                  <c:v>Perturbation</c:v>
                </c:pt>
                <c:pt idx="3">
                  <c:v>Threshold rule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</c:v>
                </c:pt>
                <c:pt idx="1">
                  <c:v>72</c:v>
                </c:pt>
                <c:pt idx="2">
                  <c:v>79</c:v>
                </c:pt>
                <c:pt idx="3">
                  <c:v>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3449"/>
                </a:solidFill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CE7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3449"/>
                </a:solidFill>
                <a:latin typeface="Helvetica"/>
              </a:defRPr>
            </a:pPr>
          </a:p>
        </c:txPr>
        <c:crossAx val="-2068027336"/>
        <c:crosses val="autoZero"/>
        <c:majorUnit val="20.0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score</c:v>
                </c:pt>
              </c:strCache>
            </c:strRef>
          </c:tx>
          <c:dPt>
            <c:idx val="0"/>
            <c:spPr>
              <a:solidFill>
                <a:srgbClr val="FF9576"/>
              </a:solidFill>
            </c:spPr>
          </c:dPt>
          <c:dPt>
            <c:idx val="1"/>
            <c:spPr>
              <a:solidFill>
                <a:srgbClr val="FFBC84"/>
              </a:solidFill>
            </c:spPr>
          </c:dPt>
          <c:dPt>
            <c:idx val="2"/>
            <c:spPr>
              <a:solidFill>
                <a:srgbClr val="FFD299"/>
              </a:solidFill>
            </c:spPr>
          </c:dPt>
          <c:dPt>
            <c:idx val="3"/>
            <c:spPr>
              <a:solidFill>
                <a:srgbClr val="76C9FF"/>
              </a:solidFill>
            </c:spPr>
          </c:dPt>
          <c:dPt>
            <c:idx val="4"/>
            <c:spPr>
              <a:solidFill>
                <a:srgbClr val="68D9BE"/>
              </a:solidFill>
            </c:spPr>
          </c:dPt>
          <c:cat>
            <c:strRef>
              <c:f>Sheet1!$A$2:$A$6</c:f>
              <c:strCache>
                <c:ptCount val="5"/>
                <c:pt idx="0">
                  <c:v>Deny public
reads</c:v>
                </c:pt>
                <c:pt idx="1">
                  <c:v>Revoke OAuth
tokens</c:v>
                </c:pt>
                <c:pt idx="2">
                  <c:v>Tighten SG
ingress</c:v>
                </c:pt>
                <c:pt idx="3">
                  <c:v>High-confidence
alerts</c:v>
                </c:pt>
                <c:pt idx="4">
                  <c:v>Short-lived
privilege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92</c:v>
                </c:pt>
                <c:pt idx="2">
                  <c:v>88</c:v>
                </c:pt>
                <c:pt idx="3">
                  <c:v>79</c:v>
                </c:pt>
                <c:pt idx="4">
                  <c:v>74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3449"/>
                </a:solidFill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Gridlines>
          <c:spPr>
            <a:ln>
              <a:solidFill>
                <a:srgbClr val="DCE7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63449"/>
                </a:solidFill>
                <a:latin typeface="Helvetica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are using a concept-first structure so students understand the chapter material before they attempt the lab packet.</a:t>
            </a:r>
          </a:p>
          <a:p/>
          <a:p>
            <a:r>
              <a:t>This opening slide sets the sequence explicitly: learn the textbook concepts, model the ideas with real-world standards, and then apply those ideas to the case-based lab.</a:t>
            </a:r>
          </a:p>
          <a:p/>
          <a:p>
            <a:r>
              <a:t>I want the class to understand that this session is not a worksheet walkthrough. It is a professional reasoning lesson where each decision must be justified by mechanism and evidence.</a:t>
            </a:r>
          </a:p>
          <a:p/>
          <a:p>
            <a:r>
              <a:t>When we say learn, we mean concrete understanding of Chapter 7 and Chapter 8 sections that are assigned in the syllabus. When we say model, we mean showing those concepts in realistic security situations.</a:t>
            </a:r>
          </a:p>
          <a:p/>
          <a:p>
            <a:r>
              <a:t>When we say apply, we mean writing defensible analysis that names first actions, owner roles, and verification artifacts under time pressure.</a:t>
            </a:r>
          </a:p>
          <a:p/>
          <a:p>
            <a:r>
              <a:t>Here is a concrete example: A useful example to share out loud is this: a student can memorize that least privilege matters, but only shows mastery when they can assign correct privileges for a specific role in a concrete architecture.</a:t>
            </a:r>
          </a:p>
          <a:p/>
          <a:p>
            <a:r>
              <a:t>I want you to answer this question out loud: I want you to think about this question as we begin: what makes a security answer strong in a real incident meeting, not just in a quiz response?</a:t>
            </a:r>
          </a:p>
          <a:p/>
          <a:p>
            <a:r>
              <a:t>A strong answer should sound like this: A strong answer links one control to one active risk, names the owner, and explains how success will be verified.</a:t>
            </a:r>
          </a:p>
          <a:p/>
          <a:p>
            <a:r>
              <a:t>When weak reasoning appears, this is the immediate correction: The common mistake is treating topics as isolated bullet points. Correct that by forcing a consistent chain from concept to decision.</a:t>
            </a:r>
          </a:p>
          <a:p/>
          <a:p>
            <a:r>
              <a:t>With this structure clear, we can now show exactly which textbook sections and external sources the lesson is built on.</a:t>
            </a:r>
          </a:p>
          <a:p/>
          <a:p>
            <a:r>
              <a:t>Keep this framing consistent: we are learning concepts first, then applying them in a case packet. That sequence matters because strong analysis depends on clear conceptual foundations.</a:t>
            </a:r>
          </a:p>
          <a:p/>
          <a:p>
            <a:r>
              <a:t>Whenever someone jumps straight to a tool name, bring the class back to mechanism and impact. Ask what trust boundary failed, what risk is active now, and what first action reduces that risk.</a:t>
            </a:r>
          </a:p>
          <a:p/>
          <a:p>
            <a:r>
              <a:t>Use the same vocabulary repeatedly so students build fluency: requirement, mechanism, evidence, owner, verification, and priority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source map so students can see the class is anchored in the textbook and strengthened by current external references.</a:t>
            </a:r>
          </a:p>
          <a:p/>
          <a:p>
            <a:r>
              <a:t>Let's Go through the table row by row and emphasize that every lab section is tied to a specific chapter section first. The internet sources are supplements, not replacements for the assigned reading.</a:t>
            </a:r>
          </a:p>
          <a:p/>
          <a:p>
            <a:r>
              <a:t>Notice that we are using primary sources from NIST, CISA, OWASP, major cloud provider documentation, and Verizon's annual breach report data.</a:t>
            </a:r>
          </a:p>
          <a:p/>
          <a:p>
            <a:r>
              <a:t>This structure gives students two benefits: chapter alignment for course success and industry relevance for career readiness.</a:t>
            </a:r>
          </a:p>
          <a:p/>
          <a:p>
            <a:r>
              <a:t>Tell the class that when they justify decisions in the lab, they should use chapter concepts and can strengthen their logic with these current-practice references.</a:t>
            </a:r>
          </a:p>
          <a:p/>
          <a:p>
            <a:r>
              <a:t>Here is a concrete example: A practical example is identity management. The textbook explains the concept, while cloud docs and OWASP provide modern failure patterns that make the concept concrete in real systems.</a:t>
            </a:r>
          </a:p>
          <a:p/>
          <a:p>
            <a:r>
              <a:t>I want you to answer this question out loud: What is the value of combining textbook depth with current standards documents when we prepare for incident-style analysis?</a:t>
            </a:r>
          </a:p>
          <a:p/>
          <a:p>
            <a:r>
              <a:t>A strong answer should sound like this: A strong response says textbook content provides foundational theory, and current standards provide execution guidance for present-day environments.</a:t>
            </a:r>
          </a:p>
          <a:p/>
          <a:p>
            <a:r>
              <a:t>When weak reasoning appears, this is the immediate correction: The common mistake is treating external sources as random extras. Correct this by showing that each source is mapped to a specific chapter outcome.</a:t>
            </a:r>
          </a:p>
          <a:p/>
          <a:p>
            <a:r>
              <a:t>Now we move into urgency context so students understand why these exact skills matter in current threat conditions.</a:t>
            </a:r>
          </a:p>
          <a:p/>
          <a:p>
            <a:r>
              <a:t>Keep this framing consistent: we are learning concepts first, then applying them in a case packet. That sequence matters because strong analysis depends on clear conceptual foundations.</a:t>
            </a:r>
          </a:p>
          <a:p/>
          <a:p>
            <a:r>
              <a:t>Whenever someone jumps straight to a tool name, bring the class back to mechanism and impact. Ask what trust boundary failed, what risk is active now, and what first action reduces that risk.</a:t>
            </a:r>
          </a:p>
          <a:p/>
          <a:p>
            <a:r>
              <a:t>Use the same vocabulary repeatedly so students build fluency: requirement, mechanism, evidence, owner, verification, and priority order.</a:t>
            </a:r>
          </a:p>
          <a:p/>
          <a:p>
            <a:r>
              <a:t>Keep this framing consistent: we are learning concepts first, then applying them in a case packet. That sequence matters because strong analysis depends on clear conceptual foundations.</a:t>
            </a:r>
          </a:p>
          <a:p/>
          <a:p>
            <a:r>
              <a:t>Whenever someone jumps straight to a tool name, bring the class back to mechanism and impact. Ask what trust boundary failed, what risk is active now, and what first action reduces that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provides real-world urgency and helps students understand why our sequence today emphasizes identity, configuration, and ownership discipline.</a:t>
            </a:r>
          </a:p>
          <a:p/>
          <a:p>
            <a:r>
              <a:t>Read these values as directional signals for prioritization, not as a single combined metric. Each value represents a different lens on breach behavior.</a:t>
            </a:r>
          </a:p>
          <a:p/>
          <a:p>
            <a:r>
              <a:t>Third-party involvement rising to thirty percent means organizations must treat partner and service dependencies as part of their security boundary, not outside it.</a:t>
            </a:r>
          </a:p>
          <a:p/>
          <a:p>
            <a:r>
              <a:t>Vulnerability exploitation growth and credential abuse both indicate that weak configuration and weak identity governance remain high-probability failure points.</a:t>
            </a:r>
          </a:p>
          <a:p/>
          <a:p>
            <a:r>
              <a:t>Ransomware appearing in a large share of breaches reinforces why we teach recovery and integrity validation, not only prevention controls.</a:t>
            </a:r>
          </a:p>
          <a:p/>
          <a:p>
            <a:r>
              <a:t>Here is a concrete example: A useful practical statement is this: if identity and exposure controls are weak, attackers can move quickly while defenders are still determining ownership and scope.</a:t>
            </a:r>
          </a:p>
          <a:p/>
          <a:p>
            <a:r>
              <a:t>I want you to answer this question out loud: Which value on this chart most changes the order of your first five controls in a cloud incident and why?</a:t>
            </a:r>
          </a:p>
          <a:p/>
          <a:p>
            <a:r>
              <a:t>A strong answer should sound like this: A strong answer ties one value to one ranking shift, such as moving token revocation and short-lived privilege earlier because credential abuse remains common.</a:t>
            </a:r>
          </a:p>
          <a:p/>
          <a:p>
            <a:r>
              <a:t>When weak reasoning appears, this is the immediate correction: The common mistake is citing the numbers without changing action order. Correct this by requiring a concrete control and order implication for each selected metric.</a:t>
            </a:r>
          </a:p>
          <a:p/>
          <a:p>
            <a:r>
              <a:t>With urgency established, we can now build the conceptual model students need before any lab writing begins.</a:t>
            </a:r>
          </a:p>
          <a:p/>
          <a:p>
            <a:r>
              <a:t>Keep this framing consistent: we are learning concepts first, then applying them in a case packet. That sequence matters because strong analysis depends on clear conceptual foundations.</a:t>
            </a:r>
          </a:p>
          <a:p/>
          <a:p>
            <a:r>
              <a:t>Whenever someone jumps straight to a tool name, bring the class back to mechanism and impact. Ask what trust boundary failed, what risk is active now, and what first action reduces that risk.</a:t>
            </a:r>
          </a:p>
          <a:p/>
          <a:p>
            <a:r>
              <a:t>Use the same vocabulary repeatedly so students build fluency: requirement, mechanism, evidence, owner, verification, and priority order.</a:t>
            </a:r>
          </a:p>
          <a:p/>
          <a:p>
            <a:r>
              <a:t>Keep this framing consistent: we are learning concepts first, then applying them in a case packet. That sequence matters because strong analysis depends on clear conceptual foundations.</a:t>
            </a:r>
          </a:p>
          <a:p/>
          <a:p>
            <a:r>
              <a:t>Whenever someone jumps straight to a tool name, bring the class back to mechanism and impact. Ask what trust boundary failed, what risk is active now, and what first action reduces that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architecture slide gives a single shared system model so every chapter concept is applied to the same environment.</a:t>
            </a:r>
          </a:p>
          <a:p/>
          <a:p>
            <a:r>
              <a:t>Let's walk the components in data flow order: relational database, object storage, API path, SaaS analytics layer, and IaaS transformation workload.</a:t>
            </a:r>
          </a:p>
          <a:p/>
          <a:p>
            <a:r>
              <a:t>Architecture clarity is a security control because unclear boundaries produce unclear ownership and delayed incident action.</a:t>
            </a:r>
          </a:p>
          <a:p/>
          <a:p>
            <a:r>
              <a:t>Use the observed signals panel to separate facts from conclusions. Facts are abnormal reads, policy drift, and unusual token use. Conclusions come later through analysis.</a:t>
            </a:r>
          </a:p>
          <a:p/>
          <a:p>
            <a:r>
              <a:t>Use the second panel to state our teaching objective: every concept we cover must help answer first failure location, first action selection, and verification plus communication quality.</a:t>
            </a:r>
          </a:p>
          <a:p/>
          <a:p>
            <a:r>
              <a:t>Here is a concrete example: A concrete classroom statement is this: if we cannot draw the data path and trust boundaries, we cannot responsibly prioritize controls in a real event.</a:t>
            </a:r>
          </a:p>
          <a:p/>
          <a:p>
            <a:r>
              <a:t>I want you to answer this question out loud: Which component here has the highest immediate exposure blast radius if misconfigured, and what evidence would confirm that quickly?</a:t>
            </a:r>
          </a:p>
          <a:p/>
          <a:p>
            <a:r>
              <a:t>A strong answer should sound like this: A strong answer often identifies object storage plus identity paths and names access logs, policy diffs, and anomalous read patterns as confirming evidence.</a:t>
            </a:r>
          </a:p>
          <a:p/>
          <a:p>
            <a:r>
              <a:t>When weak reasoning appears, this is the immediate correction: The common mistake is jumping directly to tool selection without first locating the trust boundary failure in architecture.</a:t>
            </a:r>
          </a:p>
          <a:p/>
          <a:p>
            <a:r>
              <a:t>Now that the shared environment is clear, we start Chapter 7.2 with database security requirements and why each requirement exists.</a:t>
            </a:r>
          </a:p>
          <a:p/>
          <a:p>
            <a:r>
              <a:t>Keep this framing consistent: we are learning concepts first, then applying them in a case packet. That sequence matters because strong analysis depends on clear conceptual foundations.</a:t>
            </a:r>
          </a:p>
          <a:p/>
          <a:p>
            <a:r>
              <a:t>Whenever someone jumps straight to a tool name, bring the class back to mechanism and impact. Ask what trust boundary failed, what risk is active now, and what first action reduces that risk.</a:t>
            </a:r>
          </a:p>
          <a:p/>
          <a:p>
            <a:r>
              <a:t>Use the same vocabulary repeatedly so students build fluency: requirement, mechanism, evidence, owner, verification, and priority order.</a:t>
            </a:r>
          </a:p>
          <a:p/>
          <a:p>
            <a:r>
              <a:t>Keep this framing consistent: we are learning concepts first, then applying them in a case packet. That sequence matters because strong analysis depends on clear conceptual foundations.</a:t>
            </a:r>
          </a:p>
          <a:p/>
          <a:p>
            <a:r>
              <a:t>Whenever someone jumps straight to a tool name, bring the class back to mechanism and impact. Ask what trust boundary failed, what risk is active now, and what first action reduces that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roadmap slide is where I make the class structure explicit so no one feels the deck is only about lab prompts.</a:t>
            </a:r>
          </a:p>
          <a:p/>
          <a:p>
            <a:r>
              <a:t>Read the four modules and stress that the first three are direct instruction and modeling, not immediate assessment.</a:t>
            </a:r>
          </a:p>
          <a:p/>
          <a:p>
            <a:r>
              <a:t>Module one builds Chapter 7 depth, module two builds Chapter 8 depth, and module three teaches prioritization and communication synthesis.</a:t>
            </a:r>
          </a:p>
          <a:p/>
          <a:p>
            <a:r>
              <a:t>Only after those three modules do we move to module four, where students execute the lab with the concept toolkit already in place.</a:t>
            </a:r>
          </a:p>
          <a:p/>
          <a:p>
            <a:r>
              <a:t>This sequence improves quality because students are not guessing terms; they are applying understood mechanisms with repeatable structure.</a:t>
            </a:r>
          </a:p>
          <a:p/>
          <a:p>
            <a:r>
              <a:t>Here is a concrete example: A practical example to mention is Section E control ranking. Without modules one through three, rankings become opinions. With those modules, ranking becomes evidence-based reasoning.</a:t>
            </a:r>
          </a:p>
          <a:p/>
          <a:p>
            <a:r>
              <a:t>I want you to answer this question out loud: What is one section in the lab packet that will feel easier if we follow this module order closely?</a:t>
            </a:r>
          </a:p>
          <a:p/>
          <a:p>
            <a:r>
              <a:t>A strong answer should sound like this: A strong answer identifies a section and explains which concept module unlocks it, for example Section D becomes easier after service-model and ownership teaching.</a:t>
            </a:r>
          </a:p>
          <a:p/>
          <a:p>
            <a:r>
              <a:t>When weak reasoning appears, this is the immediate correction: The common mistake is rushing to the packet before conceptual grounding. Correct that by following this order with discipline.</a:t>
            </a:r>
          </a:p>
          <a:p/>
          <a:p>
            <a:r>
              <a:t>Now we begin Module 1 with Chapter 7.2 and the database requirements that determine trust.</a:t>
            </a:r>
          </a:p>
          <a:p/>
          <a:p>
            <a:r>
              <a:t>Keep this framing consistent: we are learning concepts first, then applying them in a case packet. That sequence matters because strong analysis depends on clear conceptual foundations.</a:t>
            </a:r>
          </a:p>
          <a:p/>
          <a:p>
            <a:r>
              <a:t>Whenever someone jumps straight to a tool name, bring the class back to mechanism and impact. Ask what trust boundary failed, what risk is active now, and what first action reduces that risk.</a:t>
            </a:r>
          </a:p>
          <a:p/>
          <a:p>
            <a:r>
              <a:t>Use the same vocabulary repeatedly so students build fluency: requirement, mechanism, evidence, owner, verification, and priority order.</a:t>
            </a:r>
          </a:p>
          <a:p/>
          <a:p>
            <a:r>
              <a:t>Keep this framing consistent: we are learning concepts first, then applying them in a case packet. That sequence matters because strong analysis depends on clear conceptual foundations.</a:t>
            </a:r>
          </a:p>
          <a:p/>
          <a:p>
            <a:r>
              <a:t>Whenever someone jumps straight to a tool name, bring the class back to mechanism and impact. Ask what trust boundary failed, what risk is active now, and what first action reduces that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7.2 starts with a complete requirements model, because database security breaks when teams treat one control as the whole strategy.</a:t>
            </a:r>
          </a:p>
          <a:p/>
          <a:p>
            <a:r>
              <a:t>Use the center outcome first: trusted database operation. Then each outer requirement protects that outcome from a different failure mode.</a:t>
            </a:r>
          </a:p>
          <a:p/>
          <a:p>
            <a:r>
              <a:t>Authentication establishes who is acting, access control defines what actions are allowed, and auditability makes actions attributable over time.</a:t>
            </a:r>
          </a:p>
          <a:p/>
          <a:p>
            <a:r>
              <a:t>Element integrity and CIA balance ensure that correct data and service behavior are protected together, not traded blindly for convenience.</a:t>
            </a:r>
          </a:p>
          <a:p/>
          <a:p>
            <a:r>
              <a:t>Availability belongs here because security fails when authorized people cannot access required data during operational demand.</a:t>
            </a:r>
          </a:p>
          <a:p/>
          <a:p>
            <a:r>
              <a:t>Here is a concrete example: A useful line to say is this: if a database is online but its values are untrustworthy or untraceable, it is not secure in any practical sense.</a:t>
            </a:r>
          </a:p>
          <a:p/>
          <a:p>
            <a:r>
              <a:t>I want you to answer this question out loud: Which requirement on this wheel is most often under-specified in organizations, and what incident consequence follows?</a:t>
            </a:r>
          </a:p>
          <a:p/>
          <a:p>
            <a:r>
              <a:t>A strong answer should sound like this: A strong answer often identifies availability targets or auditability workflows and explains that weak definitions delay response and accountability.</a:t>
            </a:r>
          </a:p>
          <a:p/>
          <a:p>
            <a:r>
              <a:t>When weak reasoning appears, this is the immediate correction: The common mistake is reducing all database security discussion to MFA. Correct that by forcing all six requirement lenses in analysis.</a:t>
            </a:r>
          </a:p>
          <a:p/>
          <a:p>
            <a:r>
              <a:t>Next we go deeper on authentication versus authorization and why teams often confuse them.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teaches the difference between identity confidence, permission scope, and accountability evidence.</a:t>
            </a:r>
          </a:p>
          <a:p/>
          <a:p>
            <a:r>
              <a:t>Read each row as a chain, not as isolated controls. Authentication without authorization discipline still allows misuse. Authorization without auditability still leaves blind response.</a:t>
            </a:r>
          </a:p>
          <a:p/>
          <a:p>
            <a:r>
              <a:t>When students struggle, bring them back to the three control questions: who are you, what can you do, and can we prove what you did.</a:t>
            </a:r>
          </a:p>
          <a:p/>
          <a:p>
            <a:r>
              <a:t>The failure mode column matters because it turns control names into incident behaviors students can recognize quickly.</a:t>
            </a:r>
          </a:p>
          <a:p/>
          <a:p>
            <a:r>
              <a:t>The evidence artifact column prevents vague answers by forcing one concrete proof item for each control area.</a:t>
            </a:r>
          </a:p>
          <a:p/>
          <a:p>
            <a:r>
              <a:t>Here is a concrete example: A practical statement for class is this: in most incidents, teams discover too late that they had logs enabled but not actionable because role mappings and alert quality were weak.</a:t>
            </a:r>
          </a:p>
          <a:p/>
          <a:p>
            <a:r>
              <a:t>I want you to answer this question out loud: If a team has strong MFA but broad service-account privileges, what risk still remains high?</a:t>
            </a:r>
          </a:p>
          <a:p/>
          <a:p>
            <a:r>
              <a:t>A strong answer should sound like this: A strong answer is privilege misuse and lateral data access because identity certainty does not limit action scope by itself.</a:t>
            </a:r>
          </a:p>
          <a:p/>
          <a:p>
            <a:r>
              <a:t>When weak reasoning appears, this is the immediate correction: The common mistake is writing authentication and authorization as synonyms. Correct that immediately with the three control questions.</a:t>
            </a:r>
          </a:p>
          <a:p/>
          <a:p>
            <a:r>
              <a:t>Next we make least privilege concrete with a role design matrix that students can reuse in section A and section E.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converts least privilege from slogan into a role design template students can use directly in analysis.</a:t>
            </a:r>
          </a:p>
          <a:p/>
          <a:p>
            <a:r>
              <a:t>Read each role left to right so the class sees how privileges narrow by job function and why those limits reduce blast radius during credential abuse or injection attempts.</a:t>
            </a:r>
          </a:p>
          <a:p/>
          <a:p>
            <a:r>
              <a:t>Highlight the app service row because many real incidents start with service identities that were given administrative permissions for convenience.</a:t>
            </a:r>
          </a:p>
          <a:p/>
          <a:p>
            <a:r>
              <a:t>Notice that monitoring and limits are part of the role definition, not optional extras. Logging, thresholding, and immutable retention strengthen containment and accountability.</a:t>
            </a:r>
          </a:p>
          <a:p/>
          <a:p>
            <a:r>
              <a:t>Analysts and auditors should access views and logs, not raw write paths. This separation supports both integrity and confidentiality outcomes.</a:t>
            </a:r>
          </a:p>
          <a:p/>
          <a:p>
            <a:r>
              <a:t>Here is a concrete example: A strong teaching line is this: least privilege is not about distrust of staff; it is about preventing one compromised credential from becoming organization-wide data exposure.</a:t>
            </a:r>
          </a:p>
          <a:p/>
          <a:p>
            <a:r>
              <a:t>I want you to answer this question out loud: Which row in this matrix is most commonly over-privileged in real environments, and what first correction should happen?</a:t>
            </a:r>
          </a:p>
          <a:p/>
          <a:p>
            <a:r>
              <a:t>A strong answer should sound like this: A strong answer usually identifies the app service role and recommends removing admin rights, narrowing table scope, and validating needed actions explicitly.</a:t>
            </a:r>
          </a:p>
          <a:p/>
          <a:p>
            <a:r>
              <a:t>When weak reasoning appears, this is the immediate correction: The common mistake is writing least privilege without naming role boundaries. Correct by requiring a role matrix style answer.</a:t>
            </a:r>
          </a:p>
          <a:p/>
          <a:p>
            <a:r>
              <a:t>Now we connect this directly to SQL injection mechanics and show why prepared statements matter at the data layer.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teaches the mechanism of injection in practical terms by contrasting unsafe query construction with parameterized execution.</a:t>
            </a:r>
          </a:p>
          <a:p/>
          <a:p>
            <a:r>
              <a:t>Let's walk the unsafe snippet first and user input is concatenated into executable SQL text, allowing attacker-supplied syntax to alter query intent.</a:t>
            </a:r>
          </a:p>
          <a:p/>
          <a:p>
            <a:r>
              <a:t>Then walk the prepared statement pattern where SQL structure is fixed first and user values are bound as data, not executable logic.</a:t>
            </a:r>
          </a:p>
          <a:p/>
          <a:p>
            <a:r>
              <a:t>Make clear that parameterization is not optional hardening; it is a baseline correctness practice for any application that receives external input.</a:t>
            </a:r>
          </a:p>
          <a:p/>
          <a:p>
            <a:r>
              <a:t>Tie this directly to role design from the previous slide. Even if injection occurs, least-privilege service accounts reduce damage scope.</a:t>
            </a:r>
          </a:p>
          <a:p/>
          <a:p>
            <a:r>
              <a:t>Here is a concrete example: A concise example to say out loud is this: if an attacker sends quote-heavy payloads, prepared statements treat them as literal values instead of command syntax.</a:t>
            </a:r>
          </a:p>
          <a:p/>
          <a:p>
            <a:r>
              <a:t>I want you to answer this question out loud: Why do we teach both parameterization and least privilege together instead of treating them as separate topics?</a:t>
            </a:r>
          </a:p>
          <a:p/>
          <a:p>
            <a:r>
              <a:t>A strong answer should sound like this: A strong answer is defense in depth: one control prevents intent change, the other limits impact if prevention fails.</a:t>
            </a:r>
          </a:p>
          <a:p/>
          <a:p>
            <a:r>
              <a:t>When weak reasoning appears, this is the immediate correction: The common mistake is thinking escaping alone is enough. Correct by emphasizing prepared statements plus role scoping as baseline pair.</a:t>
            </a:r>
          </a:p>
          <a:p/>
          <a:p>
            <a:r>
              <a:t>Next we close Section 7.2 with a quick practice frame that students can mirror in Section A of the lab.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practice slide turns Chapter 7.2 into a repeatable writing pattern students can execute quickly and clearly.</a:t>
            </a:r>
          </a:p>
          <a:p/>
          <a:p>
            <a:r>
              <a:t>Move one is mapping, move two is prioritization, and move three is verification. This structure prevents rambling and improves grading consistency.</a:t>
            </a:r>
          </a:p>
          <a:p/>
          <a:p>
            <a:r>
              <a:t>To avoid mapping every item to every requirement. Strong answers choose primary mappings and justify exceptions.</a:t>
            </a:r>
          </a:p>
          <a:p/>
          <a:p>
            <a:r>
              <a:t>In move two, the weakest requirement must be tied to current case risk, not generic theory. A control is only useful if it addresses active exposure.</a:t>
            </a:r>
          </a:p>
          <a:p/>
          <a:p>
            <a:r>
              <a:t>In move three, proof matters. Require one artifact, one owner, and one urgency window so the answer becomes operational, not abstract.</a:t>
            </a:r>
          </a:p>
          <a:p/>
          <a:p>
            <a:r>
              <a:t>Here is a concrete example: A useful instructor line is this: if your answer cannot tell another person what to do in the next hour, it is not yet a security response.</a:t>
            </a:r>
          </a:p>
          <a:p/>
          <a:p>
            <a:r>
              <a:t>I want you to answer this question out loud: Which move is easiest to skip under time pressure, and what quality loss follows when it is skipped?</a:t>
            </a:r>
          </a:p>
          <a:p/>
          <a:p>
            <a:r>
              <a:t>A strong answer should sound like this: A strong answer is that verification is often skipped, leading to unproven control claims and weak incident confidence.</a:t>
            </a:r>
          </a:p>
          <a:p/>
          <a:p>
            <a:r>
              <a:t>When weak reasoning appears, this is the immediate correction: The common mistake is stopping at control names. Correct by requiring evidence and ownership in every response.</a:t>
            </a:r>
          </a:p>
          <a:p/>
          <a:p>
            <a:r>
              <a:t>Now we enter Chapter 7.3 and move from requirements mapping to reliability and integrity under failure conditions.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7.3 begins by clarifying that reliability and integrity are not identical to uptime and response speed.</a:t>
            </a:r>
          </a:p>
          <a:p/>
          <a:p>
            <a:r>
              <a:t>Use the four cards to trustworthy data operations require transaction discipline across atomicity, consistency, isolation, and durability.</a:t>
            </a:r>
          </a:p>
          <a:p/>
          <a:p>
            <a:r>
              <a:t>Atomicity prevents partial state, consistency preserves valid rules, isolation prevents concurrency side effects, and durability protects committed state after failures.</a:t>
            </a:r>
          </a:p>
          <a:p/>
          <a:p>
            <a:r>
              <a:t>Integrity incidents often look operational first. Systems can appear healthy while record trust has already degraded.</a:t>
            </a:r>
          </a:p>
          <a:p/>
          <a:p>
            <a:r>
              <a:t>Connect these principles to lab section B where students must choose first response action based on trust state rather than convenience.</a:t>
            </a:r>
          </a:p>
          <a:p/>
          <a:p>
            <a:r>
              <a:t>Here is a concrete example: A practical teaching line is this: service availability without data trust is still a security failure, because incorrect decisions made from bad data can cause real harm.</a:t>
            </a:r>
          </a:p>
          <a:p/>
          <a:p>
            <a:r>
              <a:t>I want you to answer this question out loud: Which of these four properties is most likely to fail first during interrupted bulk updates with automatic retries?</a:t>
            </a:r>
          </a:p>
          <a:p/>
          <a:p>
            <a:r>
              <a:t>A strong answer should sound like this: A strong answer often identifies atomicity and consistency because interrupted writes and retries can produce mixed-state rows.</a:t>
            </a:r>
          </a:p>
          <a:p/>
          <a:p>
            <a:r>
              <a:t>When weak reasoning appears, this is the immediate correction: The common mistake is describing an outage when the real issue is integrity uncertainty. Correct this by asking what evidence proves values are trustworthy.</a:t>
            </a:r>
          </a:p>
          <a:p/>
          <a:p>
            <a:r>
              <a:t>Next we show concurrency anomalies visually so students can recognize integrity damage patterns quickly.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visualizes a common concurrency failure that looks small in logs but can produce major trust problems in analytics and operations.</a:t>
            </a:r>
          </a:p>
          <a:p/>
          <a:p>
            <a:r>
              <a:t>Let's walk both transactions in parallel and each one behaves reasonably in isolation, but together they can overwrite each other without proper locking or transactional safeguards.</a:t>
            </a:r>
          </a:p>
          <a:p/>
          <a:p>
            <a:r>
              <a:t>Explain the result card as a trust warning, not only a bug. Lost updates can propagate silently into dashboards, automated decisions, and executive reports.</a:t>
            </a:r>
          </a:p>
          <a:p/>
          <a:p>
            <a:r>
              <a:t>Use the response rule bar to reinforce sequence: halt spread, restore trusted state, validate, then resume broader processing.</a:t>
            </a:r>
          </a:p>
          <a:p/>
          <a:p>
            <a:r>
              <a:t>Tie this directly to section B grading where students must identify primary integrity risk and defend first action with verification evidence.</a:t>
            </a:r>
          </a:p>
          <a:p/>
          <a:p>
            <a:r>
              <a:t>Here is a concrete example: A practical classroom statement is this: if concurrent update paths are uncontrolled, the database may return confident-looking answers that are objectively wrong.</a:t>
            </a:r>
          </a:p>
          <a:p/>
          <a:p>
            <a:r>
              <a:t>I want you to answer this question out loud: What artifact would you request first to prove whether a lost update occurred in this case?</a:t>
            </a:r>
          </a:p>
          <a:p/>
          <a:p>
            <a:r>
              <a:t>A strong answer should sound like this: A strong answer names transaction logs or reconciliation output that shows expected versus observed values after the event window.</a:t>
            </a:r>
          </a:p>
          <a:p/>
          <a:p>
            <a:r>
              <a:t>When weak reasoning appears, this is the immediate correction: The common mistake is recommending communication first without restoring trust state. Correct by prioritizing integrity confirmation before broad reporting.</a:t>
            </a:r>
          </a:p>
          <a:p/>
          <a:p>
            <a:r>
              <a:t>Next we add recovery metrics so students can reason about restore choices with clear time and data-loss constraints.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teaches recovery design using two operational constraints students can apply immediately in incident reasoning.</a:t>
            </a:r>
          </a:p>
          <a:p/>
          <a:p>
            <a:r>
              <a:t>RPO is data-loss tolerance and RTO is service-restoration tolerance. Both need explicit targets before incidents occur.</a:t>
            </a:r>
          </a:p>
          <a:p/>
          <a:p>
            <a:r>
              <a:t>Use current versus target bars to show improvement goals and why undefined objectives create confusion during time-sensitive events.</a:t>
            </a:r>
          </a:p>
          <a:p/>
          <a:p>
            <a:r>
              <a:t>A backup is only a potential capability until restore speed, data-loss window, and integrity validation are tested and documented.</a:t>
            </a:r>
          </a:p>
          <a:p/>
          <a:p>
            <a:r>
              <a:t>Connect these metrics to section B where students must choose first response and justify why it best protects trust under current constraints.</a:t>
            </a:r>
          </a:p>
          <a:p/>
          <a:p>
            <a:r>
              <a:t>Here is a concrete example: A practical line to emphasize is this: if your team cannot state RPO and RTO, your recovery plan is not yet a plan, it is a hope.</a:t>
            </a:r>
          </a:p>
          <a:p/>
          <a:p>
            <a:r>
              <a:t>I want you to answer this question out loud: How would a stricter RPO change your first action in an interrupted update incident?</a:t>
            </a:r>
          </a:p>
          <a:p/>
          <a:p>
            <a:r>
              <a:t>A strong answer should sound like this: A strong answer explains that lower tolerated data loss may force faster containment, tighter replay controls, and quicker verification of critical rows.</a:t>
            </a:r>
          </a:p>
          <a:p/>
          <a:p>
            <a:r>
              <a:t>When weak reasoning appears, this is the immediate correction: The common mistake is treating restore as complete once systems are online. Correct by requiring integrity checks and reconciliation before declaring recovery.</a:t>
            </a:r>
          </a:p>
          <a:p/>
          <a:p>
            <a:r>
              <a:t>Next we close 7.3 with a first-action decision tree students can mirror in section B responses.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decision tree gives students a clear first-action framework when integrity events unfold quickly and evidence is partial.</a:t>
            </a:r>
          </a:p>
          <a:p/>
          <a:p>
            <a:r>
              <a:t>The root question is trust state, not convenience and not tool familiarity. Trust state determines whether we preserve and verify or restore and replay.</a:t>
            </a:r>
          </a:p>
          <a:p/>
          <a:p>
            <a:r>
              <a:t>Let's walk the yes branch first, where trust is still plausible and the priority is preventing further drift while validating critical data sets.</a:t>
            </a:r>
          </a:p>
          <a:p/>
          <a:p>
            <a:r>
              <a:t>Let's walk the no branch second, where trust is broken and the correct priority is returning to known-good state before broader operations continue.</a:t>
            </a:r>
          </a:p>
          <a:p/>
          <a:p>
            <a:r>
              <a:t>Use the evidence bar to enforce quality: a branch choice without artifact support is only opinion and does not meet professional incident standards.</a:t>
            </a:r>
          </a:p>
          <a:p/>
          <a:p>
            <a:r>
              <a:t>Here is a concrete example: A practical statement is this: teams lose valuable time when they debate communication wording before they decide which trust branch they are operating in.</a:t>
            </a:r>
          </a:p>
          <a:p/>
          <a:p>
            <a:r>
              <a:t>I want you to answer this question out loud: What single event in a timeline most strongly justifies moving from yes to no branch?</a:t>
            </a:r>
          </a:p>
          <a:p/>
          <a:p>
            <a:r>
              <a:t>A strong answer should sound like this: A strong answer identifies concrete integrity break indicators like mixed old/new values in critical records.</a:t>
            </a:r>
          </a:p>
          <a:p/>
          <a:p>
            <a:r>
              <a:t>When weak reasoning appears, this is the immediate correction: The common mistake is branch selection without evidence. Correct by requiring one log source and one verification action in every answer.</a:t>
            </a:r>
          </a:p>
          <a:p/>
          <a:p>
            <a:r>
              <a:t>Next we move to Chapter 7.4 and teach disclosure mechanisms so section C choices are accurate.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7.4 starts by separating disclosure mechanisms so students can choose controls that actually match the risk mechanism.</a:t>
            </a:r>
          </a:p>
          <a:p/>
          <a:p>
            <a:r>
              <a:t>Direct disclosure is straightforward value exposure, but inference and linkage are subtler and often missed in first-pass analysis.</a:t>
            </a:r>
          </a:p>
          <a:p/>
          <a:p>
            <a:r>
              <a:t>Explain inference as deriving sensitive conclusions from fields that look harmless individually. This is a recurring challenge in analytics and reporting contexts.</a:t>
            </a:r>
          </a:p>
          <a:p/>
          <a:p>
            <a:r>
              <a:t>Explain linkage as combining datasets to recover identity or sensitive status through uniqueness patterns and external context.</a:t>
            </a:r>
          </a:p>
          <a:p/>
          <a:p>
            <a:r>
              <a:t>Mitigation choice depends on mechanism. Thresholding and generalization help inference and linkage, while access restrictions and masking address direct exposure.</a:t>
            </a:r>
          </a:p>
          <a:p/>
          <a:p>
            <a:r>
              <a:t>Here is a concrete example: A practical line to deliver is this: removing names does not guarantee privacy when rare combinations still isolate a person in context.</a:t>
            </a:r>
          </a:p>
          <a:p/>
          <a:p>
            <a:r>
              <a:t>I want you to answer this question out loud: Why is mechanism labeling the first step before mitigation selection in disclosure analysis?</a:t>
            </a:r>
          </a:p>
          <a:p/>
          <a:p>
            <a:r>
              <a:t>A strong answer should sound like this: A strong answer says the wrong mechanism label leads to the wrong first control and leaves active risk unresolved.</a:t>
            </a:r>
          </a:p>
          <a:p/>
          <a:p>
            <a:r>
              <a:t>When weak reasoning appears, this is the immediate correction: The common mistake is classifying everything as direct disclosure. Correct by requiring one sentence that proves why inference or linkage is present.</a:t>
            </a:r>
          </a:p>
          <a:p/>
          <a:p>
            <a:r>
              <a:t>Next we walk a concrete inference example so students can practice this classification with evidence.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worked example shows exactly how inference and linkage risks emerge in realistic tables that appear de-identified.</a:t>
            </a:r>
          </a:p>
          <a:p/>
          <a:p>
            <a:r>
              <a:t>Let's walk the table slowly and ask students to identify rare combinations. Then explain why uniqueness in small groups can enable re-identification when combined with outside context.</a:t>
            </a:r>
          </a:p>
          <a:p/>
          <a:p>
            <a:r>
              <a:t>Point to the interpretation card and show that risk identification should immediately lead to a first mitigation candidate and an explicit utility tradeoff statement.</a:t>
            </a:r>
          </a:p>
          <a:p/>
          <a:p>
            <a:r>
              <a:t>They do not need certainty about identity to flag disclosure risk. Plausible re-identification pathways are enough to justify mitigation action.</a:t>
            </a:r>
          </a:p>
          <a:p/>
          <a:p>
            <a:r>
              <a:t>Use this as a template for section C responses: identify mechanism, choose first mitigation, and articulate what analytical value is reduced.</a:t>
            </a:r>
          </a:p>
          <a:p/>
          <a:p>
            <a:r>
              <a:t>Here is a concrete example: A useful sentence is this: privacy risk is not only about named records, it is also about uniqueness patterns that allow sensitive conclusions in context.</a:t>
            </a:r>
          </a:p>
          <a:p/>
          <a:p>
            <a:r>
              <a:t>I want you to answer this question out loud: Which mitigation would you deploy first here, and what data utility cost would you accept for immediate risk reduction?</a:t>
            </a:r>
          </a:p>
          <a:p/>
          <a:p>
            <a:r>
              <a:t>A strong answer should sound like this: A strong answer picks thresholding or generalization and names the precise detail level that will be reduced temporarily.</a:t>
            </a:r>
          </a:p>
          <a:p/>
          <a:p>
            <a:r>
              <a:t>When weak reasoning appears, this is the immediate correction: The common mistake is proposing perturbation by default without proving it addresses the dominant mechanism in this dataset.</a:t>
            </a:r>
          </a:p>
          <a:p/>
          <a:p>
            <a:r>
              <a:t>Next we compare disclosure mitigations in a tradeoff chart so students can defend choice quality.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teaches students how to defend mitigation choices with explicit tradeoff language instead of vague privacy statements.</a:t>
            </a:r>
          </a:p>
          <a:p/>
          <a:p>
            <a:r>
              <a:t>Read the bars within each mitigation option rather than hunting for a universal winner. Different controls optimize different priorities.</a:t>
            </a:r>
          </a:p>
          <a:p/>
          <a:p>
            <a:r>
              <a:t>To choose the first mitigation for the current risk window, not the permanent final state for all future use.</a:t>
            </a:r>
          </a:p>
          <a:p/>
          <a:p>
            <a:r>
              <a:t>A strong response needs them to state the analytics cost in plain language. Decision quality includes acknowledging what capability is reduced and why that reduction is acceptable now.</a:t>
            </a:r>
          </a:p>
          <a:p/>
          <a:p>
            <a:r>
              <a:t>Use the decision-language card as a response template for section C and as a communication pattern for section F memo writing.</a:t>
            </a:r>
          </a:p>
          <a:p/>
          <a:p>
            <a:r>
              <a:t>Here is a concrete example: A useful instructor line is this: there are no perfect disclosure controls, only defensible tradeoffs with transparent rationale and review timing.</a:t>
            </a:r>
          </a:p>
          <a:p/>
          <a:p>
            <a:r>
              <a:t>I want you to answer this question out loud: If you prioritize immediate risk reduction in this case, which control comes first and what is the specific tradeoff?</a:t>
            </a:r>
          </a:p>
          <a:p/>
          <a:p>
            <a:r>
              <a:t>A strong answer should sound like this: A strong answer names thresholding or generalization and clearly states what granularity is delayed or removed.</a:t>
            </a:r>
          </a:p>
          <a:p/>
          <a:p>
            <a:r>
              <a:t>When weak reasoning appears, this is the immediate correction: The common mistake is choosing a control without naming tradeoff cost. Correct this by requiring one sentence on lost utility.</a:t>
            </a:r>
          </a:p>
          <a:p/>
          <a:p>
            <a:r>
              <a:t>Now we transition to Chapter 8 and build cloud service-model and ownership foundations.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  <a:p/>
          <a:p>
            <a:r>
              <a:t>If students give broad statements, narrow the scope to this case and this section. Ask them to choose one highest-leverage action first and defend why it is first.</a:t>
            </a:r>
          </a:p>
          <a:p/>
          <a:p>
            <a:r>
              <a:t>In Chapter 7, remind the class that database security is about trustworthy data operations. Confidentiality matters, but integrity and accountability are equally central to safe decisions.</a:t>
            </a:r>
          </a:p>
          <a:p/>
          <a:p>
            <a:r>
              <a:t>Press for concrete language. Instead of saying secure the database, require a specific control, a specific owner role, and a specific evidence artifact that proves the control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8.1 begins by teaching service models as responsibility maps, not product marketing labels.</a:t>
            </a:r>
          </a:p>
          <a:p/>
          <a:p>
            <a:r>
              <a:t>Let's walk left to right and as you move from IaaS to SaaS, provider-managed layers increase but customer accountability for data and identity remains.</a:t>
            </a:r>
          </a:p>
          <a:p/>
          <a:p>
            <a:r>
              <a:t>Students must not write provider handles security as a complete answer. Security obligations are partitioned, not transferred entirely.</a:t>
            </a:r>
          </a:p>
          <a:p/>
          <a:p>
            <a:r>
              <a:t>Tie model selection to risk management reality: fewer managed layers can increase flexibility but also increase operational burden and misconfiguration probability.</a:t>
            </a:r>
          </a:p>
          <a:p/>
          <a:p>
            <a:r>
              <a:t>Use this model language in section D so answers include accurate ownership assignments for patching, identity, logging, and data policy.</a:t>
            </a:r>
          </a:p>
          <a:p/>
          <a:p>
            <a:r>
              <a:t>Here is a concrete example: A practical sentence is this: the cloud changes who performs controls, but it does not remove your accountability for protecting data and access behavior.</a:t>
            </a:r>
          </a:p>
          <a:p/>
          <a:p>
            <a:r>
              <a:t>I want you to answer this question out loud: In this campus case, which component is easiest to misclassify and how would that mistake affect owner assignment?</a:t>
            </a:r>
          </a:p>
          <a:p/>
          <a:p>
            <a:r>
              <a:t>A strong answer should sound like this: A strong answer often identifies managed database or analytics SaaS and explains resulting confusion in patching and logging responsibility.</a:t>
            </a:r>
          </a:p>
          <a:p/>
          <a:p>
            <a:r>
              <a:t>When weak reasoning appears, this is the immediate correction: The common mistake is assuming SaaS means no customer-side security duties. Correct with explicit data and identity ownership reminders.</a:t>
            </a:r>
          </a:p>
          <a:p/>
          <a:p>
            <a:r>
              <a:t>Next we move to Chapter 8.2 and teach migration risk assessment and provider due diligence questions.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  <a:p/>
          <a:p>
            <a:r>
              <a:t>Push students to map control choices to service models. A good answer explains why the same control is handled differently in IaaS, PaaS, and SaaS.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  <a:p/>
          <a:p>
            <a:r>
              <a:t>Push students to map control choices to service models. A good answer explains why the same control is handled differently in IaaS, PaaS, and SaaS.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teaches migration as a risk-managed process so students avoid treating cloud adoption as a default safe state.</a:t>
            </a:r>
          </a:p>
          <a:p/>
          <a:p>
            <a:r>
              <a:t>Let's walk the left checklist and emphasize sequence: identify what is moving, identify new exposures, Describe rollback, assign control ownership, and require evidence before production cutover.</a:t>
            </a:r>
          </a:p>
          <a:p/>
          <a:p>
            <a:r>
              <a:t>Let's walk the right checklist and provider selection quality directly affects incident readiness, especially notification speed and log access.</a:t>
            </a:r>
          </a:p>
          <a:p/>
          <a:p>
            <a:r>
              <a:t>To write at least one migration risk and one provider question in section D with clear rationale tied to the case.</a:t>
            </a:r>
          </a:p>
          <a:p/>
          <a:p>
            <a:r>
              <a:t>Without explicit due diligence, teams often discover ownership gaps and evidence gaps during incidents rather than before them.</a:t>
            </a:r>
          </a:p>
          <a:p/>
          <a:p>
            <a:r>
              <a:t>Here is a concrete example: A useful statement to deliver is this: the most expensive cloud migration problems are usually governance and responsibility failures, not compute capacity shortages.</a:t>
            </a:r>
          </a:p>
          <a:p/>
          <a:p>
            <a:r>
              <a:t>I want you to answer this question out loud: Which provider question on this slide would most improve your confidence in response readiness and why?</a:t>
            </a:r>
          </a:p>
          <a:p/>
          <a:p>
            <a:r>
              <a:t>A strong answer should sound like this: A strong answer often selects notification and log-access questions because these directly affect detection speed and containment quality.</a:t>
            </a:r>
          </a:p>
          <a:p/>
          <a:p>
            <a:r>
              <a:t>When weak reasoning appears, this is the immediate correction: The common mistake is asking general security questions that are not linked to concrete case risks. Correct by requiring one risk-to-question mapping.</a:t>
            </a:r>
          </a:p>
          <a:p/>
          <a:p>
            <a:r>
              <a:t>Next we combine service models and ownership into a shared responsibility matrix students can use directly in section D and section F.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  <a:p/>
          <a:p>
            <a:r>
              <a:t>Push students to map control choices to service models. A good answer explains why the same control is handled differently in IaaS, PaaS, and SaaS.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matrix is one of the highest-leverage teaching artifacts because ownership ambiguity is a frequent root cause of delayed cloud response.</a:t>
            </a:r>
          </a:p>
          <a:p/>
          <a:p>
            <a:r>
              <a:t>Let's walk each row and show that responsibility shifts by service model for some controls, while data and identity accountability remain customer obligations across models.</a:t>
            </a:r>
          </a:p>
          <a:p/>
          <a:p>
            <a:r>
              <a:t>Shared does not mean unclear. Shared means both sides have explicit duties and evidence commitments that should be documented in advance.</a:t>
            </a:r>
          </a:p>
          <a:p/>
          <a:p>
            <a:r>
              <a:t>Use the why-it-matters column to connect ownership errors to incident outcomes like missed patches, weak access control, and poor triage due to unavailable logs.</a:t>
            </a:r>
          </a:p>
          <a:p/>
          <a:p>
            <a:r>
              <a:t>Their section D and section F quality improves immediately when they name owner roles with this level of precision.</a:t>
            </a:r>
          </a:p>
          <a:p/>
          <a:p>
            <a:r>
              <a:t>Here is a concrete example: A practical line to deliver is this: if owner is unclear, treat that ambiguity itself as an active risk and create an immediate clarification action.</a:t>
            </a:r>
          </a:p>
          <a:p/>
          <a:p>
            <a:r>
              <a:t>I want you to answer this question out loud: Which row in this matrix is most likely to be misassigned in campus environments, and what specific impact follows?</a:t>
            </a:r>
          </a:p>
          <a:p/>
          <a:p>
            <a:r>
              <a:t>A strong answer should sound like this: A strong answer often points to logging retention or incident communication and explains delayed detection and delayed stakeholder updates.</a:t>
            </a:r>
          </a:p>
          <a:p/>
          <a:p>
            <a:r>
              <a:t>When weak reasoning appears, this is the immediate correction: The common mistake is writing shared responsibility as a slogan. Correct by requiring row-level ownership statements with consequences.</a:t>
            </a:r>
          </a:p>
          <a:p/>
          <a:p>
            <a:r>
              <a:t>Now we move into Chapter 8.3 and build the cloud control stack students need for section E prioritization.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  <a:p/>
          <a:p>
            <a:r>
              <a:t>Push students to map control choices to service models. A good answer explains why the same control is handled differently in IaaS, PaaS, and SaaS.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layered model teaches that cloud security is a system of complementary controls, not a single tool purchase.</a:t>
            </a:r>
          </a:p>
          <a:p/>
          <a:p>
            <a:r>
              <a:t>Read each layer from governance through recovery and explain how each layer addresses a distinct failure class.</a:t>
            </a:r>
          </a:p>
          <a:p/>
          <a:p>
            <a:r>
              <a:t>Highlight that identity and configuration layers are frequent first failure points, but detection and recovery layers determine whether incidents remain small or become damaging.</a:t>
            </a:r>
          </a:p>
          <a:p/>
          <a:p>
            <a:r>
              <a:t>To map section E control picks to layers so their plan shows balanced coverage instead of one-layer concentration.</a:t>
            </a:r>
          </a:p>
          <a:p/>
          <a:p>
            <a:r>
              <a:t>Use this slide to show why layered thinking supports both technical resilience and clearer executive communication.</a:t>
            </a:r>
          </a:p>
          <a:p/>
          <a:p>
            <a:r>
              <a:t>Here is a concrete example: A strong practical line is this: mature security programs fail less often not because they have one perfect control, but because they do not rely on one control.</a:t>
            </a:r>
          </a:p>
          <a:p/>
          <a:p>
            <a:r>
              <a:t>I want you to answer this question out loud: If you remove one layer from this stack, which removal creates the fastest path to major incident escalation and why?</a:t>
            </a:r>
          </a:p>
          <a:p/>
          <a:p>
            <a:r>
              <a:t>A strong answer should sound like this: A strong answer often identifies identity or detection layer removal and explains how abuse persists longer without early containment signals.</a:t>
            </a:r>
          </a:p>
          <a:p/>
          <a:p>
            <a:r>
              <a:t>When weak reasoning appears, this is the immediate correction: The common mistake is listing controls without layer purpose. Correct by asking which failure mode each control prevents or shortens.</a:t>
            </a:r>
          </a:p>
          <a:p/>
          <a:p>
            <a:r>
              <a:t>Next we zoom in on Chapter 8.4 identity controls and token lifecycle because those are critical in this case.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  <a:p/>
          <a:p>
            <a:r>
              <a:t>Push students to map control choices to service models. A good answer explains why the same control is handled differently in IaaS, PaaS, and SaaS.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teaches identity response sequence in a way students can apply directly to section E and section F communication.</a:t>
            </a:r>
          </a:p>
          <a:p/>
          <a:p>
            <a:r>
              <a:t>Let's walk the flow left to right and emphasize that detection alone does not contain abuse. Revocation and re-authentication are required to regain control confidence.</a:t>
            </a:r>
          </a:p>
          <a:p/>
          <a:p>
            <a:r>
              <a:t>Explain why step-up authentication is placed before replacement token issuance. It raises confidence that valid users, not attackers, regain access.</a:t>
            </a:r>
          </a:p>
          <a:p/>
          <a:p>
            <a:r>
              <a:t>Use the policy logic block to show automation intent. Students are not coding here, but they should be fluent in the control logic analysts and engineers coordinate around.</a:t>
            </a:r>
          </a:p>
          <a:p/>
          <a:p>
            <a:r>
              <a:t>Connect this to owner roles: IAM engineers and security operations must coordinate execution and validation quickly.</a:t>
            </a:r>
          </a:p>
          <a:p/>
          <a:p>
            <a:r>
              <a:t>Here is a concrete example: A practical line to give students is this: token rotation without re-authentication and source verification can leave the same misuse pathway active.</a:t>
            </a:r>
          </a:p>
          <a:p/>
          <a:p>
            <a:r>
              <a:t>I want you to answer this question out loud: What evidence would prove this identity response sequence actually reduced active risk in the first hour?</a:t>
            </a:r>
          </a:p>
          <a:p/>
          <a:p>
            <a:r>
              <a:t>A strong answer should sound like this: A strong answer cites reduced anomalous token activity, successful step-up challenges, and clean post-rotation access patterns.</a:t>
            </a:r>
          </a:p>
          <a:p/>
          <a:p>
            <a:r>
              <a:t>When weak reasoning appears, this is the immediate correction: The common mistake is assuming revocation alone completes response. Correct by requiring validation signals and owner handoff clarity.</a:t>
            </a:r>
          </a:p>
          <a:p/>
          <a:p>
            <a:r>
              <a:t>Next we move to Chapter 8.5 and map IaaS hardening controls that close network and admin exposure paths.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  <a:p/>
          <a:p>
            <a:r>
              <a:t>Push students to map control choices to service models. A good answer explains why the same control is handled differently in IaaS, PaaS, and SaaS.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teaches IaaS security as path control plus baseline hardening, not just perimeter filtering.</a:t>
            </a:r>
          </a:p>
          <a:p/>
          <a:p>
            <a:r>
              <a:t>Explain the public and private subnet separation first, then discuss why administrative access should be funneled through controlled jump paths with strong authentication and logging.</a:t>
            </a:r>
          </a:p>
          <a:p/>
          <a:p>
            <a:r>
              <a:t>Use security groups to teach default-deny posture and explicit minimal ingress rules. This directly addresses the open-admin-port finding in the case packet.</a:t>
            </a:r>
          </a:p>
          <a:p/>
          <a:p>
            <a:r>
              <a:t>Highlight baseline controls in the lower-right card. Hardened images, patch cadence, and drift detection are essential for preventing recurrence after initial containment.</a:t>
            </a:r>
          </a:p>
          <a:p/>
          <a:p>
            <a:r>
              <a:t>Connect these controls to section E and section F language by naming owner roles and validation evidence for each hardening step.</a:t>
            </a:r>
          </a:p>
          <a:p/>
          <a:p>
            <a:r>
              <a:t>Here is a concrete example: A practical statement for class is this: if admin exposure remains broad, every other hardening effort becomes easier for attackers to bypass.</a:t>
            </a:r>
          </a:p>
          <a:p/>
          <a:p>
            <a:r>
              <a:t>I want you to answer this question out loud: Which single configuration change in this diagram delivers the fastest reduction in lateral movement risk?</a:t>
            </a:r>
          </a:p>
          <a:p/>
          <a:p>
            <a:r>
              <a:t>A strong answer should sound like this: A strong answer focuses on restricting admin ingress to controlled jump paths and closing direct exposure from wide source ranges.</a:t>
            </a:r>
          </a:p>
          <a:p/>
          <a:p>
            <a:r>
              <a:t>When weak reasoning appears, this is the immediate correction: The common mistake is drawing segmentation without enforcing privileged path restrictions. Correct by requiring explicit admin-path rules.</a:t>
            </a:r>
          </a:p>
          <a:p/>
          <a:p>
            <a:r>
              <a:t>Now we synthesize Chapter 7 and 8 into control-priority scoring that students will use for section E.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  <a:p/>
          <a:p>
            <a:r>
              <a:t>Push students to map control choices to service models. A good answer explains why the same control is handled differently in IaaS, PaaS, and SaaS.</a:t>
            </a:r>
          </a:p>
          <a:p/>
          <a:p>
            <a:r>
              <a:t>In Chapter 8, keep ownership clarity in front of everything else. If responsibility is unclear, controls are delayed, alerts are ignored, and incident communication becomes inconsistent.</a:t>
            </a:r>
          </a:p>
          <a:p/>
          <a:p>
            <a:r>
              <a:t>Tie every cloud concept to operational decisions: who configures it, who monitors it, what failure mode appears when it is misconfigured, and how quickly it can be corrected.</a:t>
            </a:r>
          </a:p>
          <a:p/>
          <a:p>
            <a:r>
              <a:t>Push students to map control choices to service models. A good answer explains why the same control is handled differently in IaaS, PaaS, and SaaS.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synthesis slide teaches ranking discipline so section E responses are evidence-based and defensible.</a:t>
            </a:r>
          </a:p>
          <a:p/>
          <a:p>
            <a:r>
              <a:t>Explain the score criteria and stress consistency: all control options should be evaluated against the same criteria before final ordering.</a:t>
            </a:r>
          </a:p>
          <a:p/>
          <a:p>
            <a:r>
              <a:t>Let's walk one example score out loud to model reasoning transparency. Show how immediate risk reduction and execution speed often dominate first-position decisions.</a:t>
            </a:r>
          </a:p>
          <a:p/>
          <a:p>
            <a:r>
              <a:t>Use the CSF mapping reminder to ensure plans are not purely preventive. Students should show detection, response, and recovery awareness too.</a:t>
            </a:r>
          </a:p>
          <a:p/>
          <a:p>
            <a:r>
              <a:t>Alternate rankings are acceptable when justified with stronger evidence and coherent logic.</a:t>
            </a:r>
          </a:p>
          <a:p/>
          <a:p>
            <a:r>
              <a:t>Here is a concrete example: A practical line is this: ranking quality matters because teams always have more control ideas than immediate execution capacity.</a:t>
            </a:r>
          </a:p>
          <a:p/>
          <a:p>
            <a:r>
              <a:t>I want you to answer this question out loud: If you moved one control up or down from this chart, what evidence would justify the change?</a:t>
            </a:r>
          </a:p>
          <a:p/>
          <a:p>
            <a:r>
              <a:t>A strong answer should sound like this: A strong answer names a specific dependency, active exploit path, or monitoring gap that changes immediate risk reduction value.</a:t>
            </a:r>
          </a:p>
          <a:p/>
          <a:p>
            <a:r>
              <a:t>When weak reasoning appears, this is the immediate correction: The common mistake is copying an order without rationale. Correct by requiring one sentence per rank position with evidence linkage.</a:t>
            </a:r>
          </a:p>
          <a:p/>
          <a:p>
            <a:r>
              <a:t>Next we translate technical decisions into the executive memo format students need for section F.</a:t>
            </a:r>
          </a:p>
          <a:p/>
          <a:p>
            <a:r>
              <a:t>In synthesis slides, require sequence discipline. Students should show why one action happens now, why another is scheduled today, and what must wait for confirmed evidence.</a:t>
            </a:r>
          </a:p>
          <a:p/>
          <a:p>
            <a:r>
              <a:t>Model concise executive language. Leaders need status, first priorities, ownership boundaries, and near-term timeline clarity more than technical detail.</a:t>
            </a:r>
          </a:p>
          <a:p/>
          <a:p>
            <a:r>
              <a:t>When reviewing answers, reward coherence across sections. The best memo is consistent with earlier control decisions and does not introduce contradictions.</a:t>
            </a:r>
          </a:p>
          <a:p/>
          <a:p>
            <a:r>
              <a:t>In synthesis slides, require sequence discipline. Students should show why one action happens now, why another is scheduled today, and what must wait for confirmed evidence.</a:t>
            </a:r>
          </a:p>
          <a:p/>
          <a:p>
            <a:r>
              <a:t>Model concise executive language. Leaders need status, first priorities, ownership boundaries, and near-term timeline clarity more than technical detail.</a:t>
            </a:r>
          </a:p>
          <a:p/>
          <a:p>
            <a:r>
              <a:t>When reviewing answers, reward coherence across sections. The best memo is consistent with earlier control decisions and does not introduce contradictions.</a:t>
            </a:r>
          </a:p>
          <a:p/>
          <a:p>
            <a:r>
              <a:t>In synthesis slides, require sequence discipline. Students should show why one action happens now, why another is scheduled today, and what must wait for confirmed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teaches how to compress technical analysis into leadership-ready language without losing accountability detail.</a:t>
            </a:r>
          </a:p>
          <a:p/>
          <a:p>
            <a:r>
              <a:t>Section F is not extra writing. It is the synthesis of sections A through E and should be consistent with earlier control choices.</a:t>
            </a:r>
          </a:p>
          <a:p/>
          <a:p>
            <a:r>
              <a:t>Let's walk each line and show where content comes from: situation from evidence packet, priorities from section E, CIA status from sections B and C, ownership from section D.</a:t>
            </a:r>
          </a:p>
          <a:p/>
          <a:p>
            <a:r>
              <a:t>A strong response needs active voice and concrete timing. Leaders need to know what is happening now, who is executing next actions, and when the next validated update arrives.</a:t>
            </a:r>
          </a:p>
          <a:p/>
          <a:p>
            <a:r>
              <a:t>To avoid jargon-heavy writing in this section. Clarity and accountability are more important than technical density for executive audiences.</a:t>
            </a:r>
          </a:p>
          <a:p/>
          <a:p>
            <a:r>
              <a:t>Here is a concrete example: A strong teaching sentence is this: a memo is good when another decision-maker can act on it immediately without asking what do you actually want us to do.</a:t>
            </a:r>
          </a:p>
          <a:p/>
          <a:p>
            <a:r>
              <a:t>I want you to answer this question out loud: Which blueprint line is easiest to write vaguely, and how would you make it operational in one sentence?</a:t>
            </a:r>
          </a:p>
          <a:p/>
          <a:p>
            <a:r>
              <a:t>A strong answer should sound like this: A strong answer often identifies next 24 hours and fixes it by adding owner role, action, success signal, and update timestamp.</a:t>
            </a:r>
          </a:p>
          <a:p/>
          <a:p>
            <a:r>
              <a:t>When weak reasoning appears, this is the immediate correction: The common mistake is repeating technical terms without decision implications. Correct by requiring explicit owner-action-outcome phrasing.</a:t>
            </a:r>
          </a:p>
          <a:p/>
          <a:p>
            <a:r>
              <a:t>Now we bridge directly into the lab by mapping every packet section to the concept slides we just taught.</a:t>
            </a:r>
          </a:p>
          <a:p/>
          <a:p>
            <a:r>
              <a:t>In synthesis slides, require sequence discipline. Students should show why one action happens now, why another is scheduled today, and what must wait for confirmed evidence.</a:t>
            </a:r>
          </a:p>
          <a:p/>
          <a:p>
            <a:r>
              <a:t>Model concise executive language. Leaders need status, first priorities, ownership boundaries, and near-term timeline clarity more than technical detail.</a:t>
            </a:r>
          </a:p>
          <a:p/>
          <a:p>
            <a:r>
              <a:t>When reviewing answers, reward coherence across sections. The best memo is consistent with earlier control decisions and does not introduce contradictions.</a:t>
            </a:r>
          </a:p>
          <a:p/>
          <a:p>
            <a:r>
              <a:t>In synthesis slides, require sequence discipline. Students should show why one action happens now, why another is scheduled today, and what must wait for confirmed evidence.</a:t>
            </a:r>
          </a:p>
          <a:p/>
          <a:p>
            <a:r>
              <a:t>Model concise executive language. Leaders need status, first priorities, ownership boundaries, and near-term timeline clarity more than technical detail.</a:t>
            </a:r>
          </a:p>
          <a:p/>
          <a:p>
            <a:r>
              <a:t>When reviewing answers, reward coherence across sections. The best memo is consistent with earlier control decisions and does not introduce contradictions.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transition slide where concept teaching becomes packet execution with no ambiguity about scope or expectations.</a:t>
            </a:r>
          </a:p>
          <a:p/>
          <a:p>
            <a:r>
              <a:t>Let's walk each row and explicitly point students to the concept slide range that teaches the needed reasoning for that section.</a:t>
            </a:r>
          </a:p>
          <a:p/>
          <a:p>
            <a:r>
              <a:t>The rightmost column is the quality checklist. If those elements are missing, answers lose operational value even if terminology is correct.</a:t>
            </a:r>
          </a:p>
          <a:p/>
          <a:p>
            <a:r>
              <a:t>The packet is individual, but support is available through targeted clarification questions about mechanism, priority, and ownership logic.</a:t>
            </a:r>
          </a:p>
          <a:p/>
          <a:p>
            <a:r>
              <a:t>Reinforce pacing: complete all required sections first, then refine wording and optional artifacts if time remains.</a:t>
            </a:r>
          </a:p>
          <a:p/>
          <a:p>
            <a:r>
              <a:t>Here is a concrete example: A practical line is this: your goal is not to write the longest response, your goal is to write the clearest defensible response that another professional could execute.</a:t>
            </a:r>
          </a:p>
          <a:p/>
          <a:p>
            <a:r>
              <a:t>I want you to answer this question out loud: Which section do you expect to be hardest for you, and which concept slide from today should you revisit first when you start?</a:t>
            </a:r>
          </a:p>
          <a:p/>
          <a:p>
            <a:r>
              <a:t>A strong answer should sound like this: A strong answer names one section and one concept area, showing a concrete plan instead of generalized uncertainty.</a:t>
            </a:r>
          </a:p>
          <a:p/>
          <a:p>
            <a:r>
              <a:t>When weak reasoning appears, this is the immediate correction: The common mistake is skipping section F until the last minute without synthesizing earlier decisions. Correct by reserving dedicated memo time.</a:t>
            </a:r>
          </a:p>
          <a:p/>
          <a:p>
            <a:r>
              <a:t>Final slide lists references so students can revisit sources after class and strengthen their understanding.</a:t>
            </a:r>
          </a:p>
          <a:p/>
          <a:p>
            <a:r>
              <a:t>Before lab launch, to complete one full pass through required sections before polishing. Complete and coherent work is stronger than one detailed section and one missing section.</a:t>
            </a:r>
          </a:p>
          <a:p/>
          <a:p>
            <a:r>
              <a:t>Remember this packet mirrors real analyst work: identify mechanism, prioritize control, assign owner, verify outcome, and communicate clearly to mixed audiences.</a:t>
            </a:r>
          </a:p>
          <a:p/>
          <a:p>
            <a:r>
              <a:t>Use time checkpoints to reduce panic and maintain quality. Good pacing leads to better decision quality than last-minute writing.</a:t>
            </a:r>
          </a:p>
          <a:p/>
          <a:p>
            <a:r>
              <a:t>Before lab launch, to complete one full pass through required sections before polishing. Complete and coherent work is stronger than one detailed section and one missing section.</a:t>
            </a:r>
          </a:p>
          <a:p/>
          <a:p>
            <a:r>
              <a:t>Remember this packet mirrors real analyst work: identify mechanism, prioritize control, assign owner, verify outcome, and communicate clearly to mixed audiences.</a:t>
            </a:r>
          </a:p>
          <a:p/>
          <a:p>
            <a:r>
              <a:t>Use time checkpoints to reduce panic and maintain quality. Good pacing leads to better decision quality than last-minute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closing references slide models source transparency and gives students a path to review both foundational and current-practice materials after class.</a:t>
            </a:r>
          </a:p>
          <a:p/>
          <a:p>
            <a:r>
              <a:t>Course grading is still anchored in the textbook sections, but these external references are included to make their reasoning current and career-relevant.</a:t>
            </a:r>
          </a:p>
          <a:p/>
          <a:p>
            <a:r>
              <a:t>Encourage them to revisit one source after class based on the section they found hardest, especially shared responsibility or disclosure mitigation tradeoffs.</a:t>
            </a:r>
          </a:p>
          <a:p/>
          <a:p>
            <a:r>
              <a:t>Professional security work always benefits from source-backed decisions, not memory-only claims.</a:t>
            </a:r>
          </a:p>
          <a:p/>
          <a:p>
            <a:r>
              <a:t>The combination of chapter mastery and standards familiarity is what turns class performance into practical analyst readiness.</a:t>
            </a:r>
          </a:p>
          <a:p/>
          <a:p>
            <a:r>
              <a:t>Here is a concrete example: A useful final statement is this: strong security professionals can explain what they decided, why they decided it, and which sources support that decision.</a:t>
            </a:r>
          </a:p>
          <a:p/>
          <a:p>
            <a:r>
              <a:t>I want you to answer this question out loud: Which reference on this list are you most likely to use again in another class or internship task, and why?</a:t>
            </a:r>
          </a:p>
          <a:p/>
          <a:p>
            <a:r>
              <a:t>A strong answer should sound like this: A strong answer connects a source to a recurring task, such as CSF for control mapping or OWASP for input and API risk reasoning.</a:t>
            </a:r>
          </a:p>
          <a:p/>
          <a:p>
            <a:r>
              <a:t>When weak reasoning appears, this is the immediate correction: The common mistake is treating references as optional reading. Correct by tying each source to one practical decision pattern from today.</a:t>
            </a:r>
          </a:p>
          <a:p/>
          <a:p>
            <a:r>
              <a:t>That completes the instructional module. We now launch lab execution with concept-first preparation complete.</a:t>
            </a:r>
          </a:p>
          <a:p/>
          <a:p>
            <a:r>
              <a:t>Before lab launch, to complete one full pass through required sections before polishing. Complete and coherent work is stronger than one detailed section and one missing section.</a:t>
            </a:r>
          </a:p>
          <a:p/>
          <a:p>
            <a:r>
              <a:t>Remember this packet mirrors real analyst work: identify mechanism, prioritize control, assign owner, verify outcome, and communicate clearly to mixed audiences.</a:t>
            </a:r>
          </a:p>
          <a:p/>
          <a:p>
            <a:r>
              <a:t>Use time checkpoints to reduce panic and maintain quality. Good pacing leads to better decision quality than last-minute writing.</a:t>
            </a:r>
          </a:p>
          <a:p/>
          <a:p>
            <a:r>
              <a:t>Before lab launch, to complete one full pass through required sections before polishing. Complete and coherent work is stronger than one detailed section and one missing section.</a:t>
            </a:r>
          </a:p>
          <a:p/>
          <a:p>
            <a:r>
              <a:t>Remember this packet mirrors real analyst work: identify mechanism, prioritize control, assign owner, verify outcome, and communicate clearly to mixed audiences.</a:t>
            </a:r>
          </a:p>
          <a:p/>
          <a:p>
            <a:r>
              <a:t>Use time checkpoints to reduce panic and maintain quality. Good pacing leads to better decision quality than last-minute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8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Instructional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Week 5 Day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4D3E7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2F7FF"/>
                </a:solidFill>
                <a:latin typeface="Avenir Next"/>
              </a:defRPr>
            </a:pPr>
            <a:r>
              <a:t>1/27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2F7FF"/>
                </a:solidFill>
                <a:latin typeface="Avenir Next"/>
              </a:defRPr>
            </a:pPr>
            <a:r>
              <a:t>Database and Cloud Security 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4D3E7"/>
                </a:solidFill>
                <a:latin typeface="Helvetica"/>
              </a:defRPr>
            </a:pPr>
            <a:r>
              <a:t>Teach-first class deck: Chapter 7-8 concepts, then lab application</a:t>
            </a:r>
          </a:p>
        </p:txBody>
      </p:sp>
      <p:sp>
        <p:nvSpPr>
          <p:cNvPr id="14" name="Hexagon 13"/>
          <p:cNvSpPr/>
          <p:nvPr/>
        </p:nvSpPr>
        <p:spPr>
          <a:xfrm>
            <a:off x="4736592" y="2834640"/>
            <a:ext cx="2743200" cy="1783080"/>
          </a:xfrm>
          <a:prstGeom prst="hexagon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92D4C"/>
                </a:solidFill>
                <a:latin typeface="Avenir Next"/>
              </a:defRPr>
            </a:pPr>
            <a:r>
              <a:t>LEARN</a:t>
            </a:r>
            <a:br/>
            <a:r>
              <a:t>MODEL</a:t>
            </a:r>
            <a:br/>
            <a:r>
              <a:t>APPLY</a:t>
            </a:r>
          </a:p>
        </p:txBody>
      </p:sp>
      <p:sp>
        <p:nvSpPr>
          <p:cNvPr id="15" name="Oval 14"/>
          <p:cNvSpPr/>
          <p:nvPr/>
        </p:nvSpPr>
        <p:spPr>
          <a:xfrm>
            <a:off x="1325880" y="3200400"/>
            <a:ext cx="2240280" cy="1234440"/>
          </a:xfrm>
          <a:prstGeom prst="ellipse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D4C"/>
                </a:solidFill>
                <a:latin typeface="Avenir Next"/>
              </a:defRPr>
            </a:pPr>
            <a:r>
              <a:t>Book concepts</a:t>
            </a:r>
            <a:br/>
            <a:r>
              <a:t>(7.2-8.5)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4663440"/>
            <a:ext cx="2240280" cy="1234440"/>
          </a:xfrm>
          <a:prstGeom prst="ellipse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D4C"/>
                </a:solidFill>
                <a:latin typeface="Avenir Next"/>
              </a:defRPr>
            </a:pPr>
            <a:r>
              <a:t>Real-world</a:t>
            </a:r>
            <a:br/>
            <a:r>
              <a:t>standards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3200400"/>
            <a:ext cx="2240280" cy="1234440"/>
          </a:xfrm>
          <a:prstGeom prst="ellipse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2D4C"/>
                </a:solidFill>
                <a:latin typeface="Avenir Next"/>
              </a:defRPr>
            </a:pPr>
            <a:r>
              <a:t>Lab-quality</a:t>
            </a:r>
            <a:br/>
            <a:r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8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Source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Book + Internet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4D3E7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2F7FF"/>
                </a:solidFill>
                <a:latin typeface="Avenir Next"/>
              </a:defRPr>
            </a:pPr>
            <a:r>
              <a:t>2/27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2F7FF"/>
                </a:solidFill>
                <a:latin typeface="Avenir Next"/>
              </a:defRPr>
            </a:pPr>
            <a:r>
              <a:t>Where This Material Comes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4D3E7"/>
                </a:solidFill>
                <a:latin typeface="Helvetica"/>
              </a:defRPr>
            </a:pPr>
            <a:r>
              <a:t>Textbook core plus current industry sources students should know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18288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4937760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046"/>
                          </a:solidFill>
                          <a:latin typeface="Avenir Next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046"/>
                          </a:solidFill>
                          <a:latin typeface="Avenir Next"/>
                        </a:defRPr>
                      </a:pPr>
                      <a:r>
                        <a:t>Textbook anchor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046"/>
                          </a:solidFill>
                          <a:latin typeface="Avenir Next"/>
                        </a:defRPr>
                      </a:pPr>
                      <a:r>
                        <a:t>Internet supplement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DB security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OWASP SQL Injection Prevention Cheat 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Reliability and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NIST SP 800-61r3 incident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Disclosure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OWASP API Security Top 10 (authorization/misconfig)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Cloud concepts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NIST SP 800-145 cloud definition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Moving to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AWS/Azure shared responsibility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Cloud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NIST CSF 2.0 Quick Start Guides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Cloud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CISA CPGs + IAM hardening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Securing IaaS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Azure Security Benchmark v3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Threat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Verizon 2025 DBIR findings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4D3E7"/>
                </a:solidFill>
                <a:latin typeface="Helvetica"/>
              </a:defRPr>
            </a:pPr>
            <a:r>
              <a:t>Primary internet sources: nist.gov, csrc.nist.gov, owasp.org, cisa.gov, verizon.com, docs.aws.amazon.com, learn.microsoft.com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8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Threat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Verizon DBIR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4D3E7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2F7FF"/>
                </a:solidFill>
                <a:latin typeface="Avenir Next"/>
              </a:defRPr>
            </a:pPr>
            <a:r>
              <a:t>3/27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2F7FF"/>
                </a:solidFill>
                <a:latin typeface="Avenir Next"/>
              </a:defRPr>
            </a:pPr>
            <a:r>
              <a:t>Current Breach Patterns We Must Design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4D3E7"/>
                </a:solidFill>
                <a:latin typeface="Helvetica"/>
              </a:defRPr>
            </a:pPr>
            <a:r>
              <a:t>Real data signals that shape control priorities in this course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93392"/>
            <a:ext cx="67208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C3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822960" y="2103120"/>
          <a:ext cx="65836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680960" y="2011680"/>
            <a:ext cx="365760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How this changes teaching priorities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Third-party exposure means ownership mapping is essential.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Credential abuse pushes identity controls earlier in sequence.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Ransomware prevalence elevates containment and recovery readiness.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Vulnerability exploitation growth raises patching and config hygiene urgency.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4D3E7"/>
                </a:solidFill>
                <a:latin typeface="Helvetica"/>
              </a:defRPr>
            </a:pPr>
            <a:r>
              <a:t>Source: Verizon 2025 Data Breach Investigations Report release (global findings, April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8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Case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CampusBridge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4D3E7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2F7FF"/>
                </a:solidFill>
                <a:latin typeface="Avenir Next"/>
              </a:defRPr>
            </a:pPr>
            <a:r>
              <a:t>4/27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2F7FF"/>
                </a:solidFill>
                <a:latin typeface="Avenir Next"/>
              </a:defRPr>
            </a:pPr>
            <a:r>
              <a:t>Shared Case Architecture Used Throughout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4D3E7"/>
                </a:solidFill>
                <a:latin typeface="Helvetica"/>
              </a:defRPr>
            </a:pPr>
            <a:r>
              <a:t>One system model so every concept is grounded in the same environment</a:t>
            </a:r>
          </a:p>
        </p:txBody>
      </p:sp>
      <p:sp>
        <p:nvSpPr>
          <p:cNvPr id="14" name="Can 13"/>
          <p:cNvSpPr/>
          <p:nvPr/>
        </p:nvSpPr>
        <p:spPr>
          <a:xfrm>
            <a:off x="914400" y="2103120"/>
            <a:ext cx="1920240" cy="1371600"/>
          </a:xfrm>
          <a:prstGeom prst="can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E44"/>
                </a:solidFill>
                <a:latin typeface="Avenir Next"/>
              </a:defRPr>
            </a:pPr>
            <a:r>
              <a:t>PostgreSQL</a:t>
            </a:r>
            <a:br/>
            <a:r>
              <a:t>records</a:t>
            </a:r>
          </a:p>
        </p:txBody>
      </p:sp>
      <p:sp>
        <p:nvSpPr>
          <p:cNvPr id="15" name="Cloud 14"/>
          <p:cNvSpPr/>
          <p:nvPr/>
        </p:nvSpPr>
        <p:spPr>
          <a:xfrm>
            <a:off x="3657600" y="2011680"/>
            <a:ext cx="2194560" cy="1554480"/>
          </a:xfrm>
          <a:prstGeom prst="cloud">
            <a:avLst/>
          </a:prstGeom>
          <a:solidFill>
            <a:srgbClr val="FFFFFF"/>
          </a:solidFill>
          <a:ln>
            <a:solidFill>
              <a:srgbClr val="76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E44"/>
                </a:solidFill>
                <a:latin typeface="Avenir Next"/>
              </a:defRPr>
            </a:pPr>
            <a:r>
              <a:t>Object</a:t>
            </a:r>
            <a:br/>
            <a: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03120"/>
            <a:ext cx="1920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E44"/>
                </a:solidFill>
                <a:latin typeface="Avenir Next"/>
              </a:defRPr>
            </a:pPr>
            <a:r>
              <a:t>API</a:t>
            </a:r>
            <a:br/>
            <a:r>
              <a:t>integrations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057400"/>
            <a:ext cx="2103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9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E44"/>
                </a:solidFill>
                <a:latin typeface="Avenir Next"/>
              </a:defRPr>
            </a:pPr>
            <a:r>
              <a:t>Analytics</a:t>
            </a:r>
            <a:br/>
            <a:r>
              <a:t>SaaS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069080"/>
            <a:ext cx="19202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CE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E44"/>
                </a:solidFill>
                <a:latin typeface="Avenir Next"/>
              </a:defRPr>
            </a:pPr>
            <a:r>
              <a:t>IaaS VM</a:t>
            </a:r>
            <a:br/>
            <a:r>
              <a:t>batch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788920"/>
            <a:ext cx="777240" cy="54864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2788920"/>
            <a:ext cx="548640" cy="54864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2788920"/>
            <a:ext cx="731520" cy="54864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3488" y="3474720"/>
            <a:ext cx="54864" cy="594360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70916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Observed signals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Abnormal reads from storage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Policy drift during business hours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OAuth token used from unfamiliar range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70916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What concepts must answer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Where trust failed first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Which control action is first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How to verify and communicate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8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Concept -&gt;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4D3E7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2F7FF"/>
                </a:solidFill>
                <a:latin typeface="Avenir Next"/>
              </a:defRPr>
            </a:pPr>
            <a:r>
              <a:t>5/27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2F7FF"/>
                </a:solidFill>
                <a:latin typeface="Avenir Next"/>
              </a:defRPr>
            </a:pPr>
            <a:r>
              <a:t>How We Move from Learning to Lab-Ready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4D3E7"/>
                </a:solidFill>
                <a:latin typeface="Helvetica"/>
              </a:defRPr>
            </a:pPr>
            <a:r>
              <a:t>Concept modules first, worked examples second, lab packet last</a:t>
            </a:r>
          </a:p>
        </p:txBody>
      </p:sp>
      <p:sp>
        <p:nvSpPr>
          <p:cNvPr id="14" name="Chevron 13"/>
          <p:cNvSpPr/>
          <p:nvPr/>
        </p:nvSpPr>
        <p:spPr>
          <a:xfrm>
            <a:off x="868680" y="2514600"/>
            <a:ext cx="2651760" cy="1554480"/>
          </a:xfrm>
          <a:prstGeom prst="chevron">
            <a:avLst/>
          </a:prstGeom>
          <a:solidFill>
            <a:srgbClr val="68D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293A"/>
                </a:solidFill>
                <a:latin typeface="Avenir Next"/>
              </a:defRPr>
            </a:pPr>
            <a:r>
              <a:t>Module 1</a:t>
            </a:r>
            <a:br/>
            <a:r>
              <a:t>7.2-7.4</a:t>
            </a:r>
            <a:br/>
            <a:r>
              <a:t>Database trust</a:t>
            </a:r>
          </a:p>
        </p:txBody>
      </p:sp>
      <p:sp>
        <p:nvSpPr>
          <p:cNvPr id="15" name="Chevron 14"/>
          <p:cNvSpPr/>
          <p:nvPr/>
        </p:nvSpPr>
        <p:spPr>
          <a:xfrm>
            <a:off x="3566160" y="2514600"/>
            <a:ext cx="2651760" cy="1554480"/>
          </a:xfrm>
          <a:prstGeom prst="chevron">
            <a:avLst/>
          </a:prstGeom>
          <a:solidFill>
            <a:srgbClr val="76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293A"/>
                </a:solidFill>
                <a:latin typeface="Avenir Next"/>
              </a:defRPr>
            </a:pPr>
            <a:r>
              <a:t>Module 2</a:t>
            </a:r>
            <a:br/>
            <a:r>
              <a:t>8.1-8.5</a:t>
            </a:r>
            <a:br/>
            <a:r>
              <a:t>Cloud ownership</a:t>
            </a:r>
          </a:p>
        </p:txBody>
      </p:sp>
      <p:sp>
        <p:nvSpPr>
          <p:cNvPr id="16" name="Chevron 15"/>
          <p:cNvSpPr/>
          <p:nvPr/>
        </p:nvSpPr>
        <p:spPr>
          <a:xfrm>
            <a:off x="6263640" y="2514600"/>
            <a:ext cx="2651760" cy="1554480"/>
          </a:xfrm>
          <a:prstGeom prst="chevron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293A"/>
                </a:solidFill>
                <a:latin typeface="Avenir Next"/>
              </a:defRPr>
            </a:pPr>
            <a:r>
              <a:t>Module 3</a:t>
            </a:r>
            <a:br/>
            <a:r>
              <a:t>Synthesis</a:t>
            </a:r>
            <a:br/>
            <a:r>
              <a:t>Control order</a:t>
            </a:r>
          </a:p>
        </p:txBody>
      </p:sp>
      <p:sp>
        <p:nvSpPr>
          <p:cNvPr id="17" name="Chevron 16"/>
          <p:cNvSpPr/>
          <p:nvPr/>
        </p:nvSpPr>
        <p:spPr>
          <a:xfrm>
            <a:off x="8961120" y="2514600"/>
            <a:ext cx="2651760" cy="1554480"/>
          </a:xfrm>
          <a:prstGeom prst="chevron">
            <a:avLst/>
          </a:prstGeom>
          <a:solidFill>
            <a:srgbClr val="9CE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293A"/>
                </a:solidFill>
                <a:latin typeface="Avenir Next"/>
              </a:defRPr>
            </a:pPr>
            <a:r>
              <a:t>Module 4</a:t>
            </a:r>
            <a:br/>
            <a:r>
              <a:t>Lab bridge</a:t>
            </a:r>
            <a:br/>
            <a:r>
              <a:t>Write + submit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43400"/>
            <a:ext cx="10972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Teaching contract for the day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No concept slide is filler; each one answers a specific part of the packet.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You will see one model response pattern after each concept block.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The lab is the final application phase, not the first explanation phase.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You will leave with both chapter understanding and analyst-ready decision language.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DB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6/27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7.2 Security Requirements of Databases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A secure database is a set of outcomes, not one product</a:t>
            </a:r>
          </a:p>
        </p:txBody>
      </p:sp>
      <p:sp>
        <p:nvSpPr>
          <p:cNvPr id="14" name="Hexagon 13"/>
          <p:cNvSpPr/>
          <p:nvPr/>
        </p:nvSpPr>
        <p:spPr>
          <a:xfrm>
            <a:off x="4828032" y="2926080"/>
            <a:ext cx="2468880" cy="1508760"/>
          </a:xfrm>
          <a:prstGeom prst="hexagon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C384A"/>
                </a:solidFill>
                <a:latin typeface="Avenir Next"/>
              </a:defRPr>
            </a:pPr>
            <a:r>
              <a:t>Trusted</a:t>
            </a:r>
            <a:br/>
            <a:r>
              <a:t>DB</a:t>
            </a:r>
            <a:br/>
            <a:r>
              <a:t>Operation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1737360" y="2103120"/>
            <a:ext cx="182880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384A"/>
                </a:solidFill>
                <a:latin typeface="Avenir Next"/>
              </a:defRPr>
            </a:pPr>
            <a:r>
              <a:t>Authentication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3749039" y="1920240"/>
            <a:ext cx="182880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384A"/>
                </a:solidFill>
                <a:latin typeface="Avenir Next"/>
              </a:defRPr>
            </a:pPr>
            <a:r>
              <a:t>Access</a:t>
            </a:r>
            <a:br/>
            <a:r>
              <a:t>control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1920240"/>
            <a:ext cx="182880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384A"/>
                </a:solidFill>
                <a:latin typeface="Avenir Next"/>
              </a:defRPr>
            </a:pPr>
            <a:r>
              <a:t>Auditability</a:t>
            </a:r>
          </a:p>
        </p:txBody>
      </p:sp>
      <p:sp>
        <p:nvSpPr>
          <p:cNvPr id="18" name="Oval 17"/>
          <p:cNvSpPr/>
          <p:nvPr/>
        </p:nvSpPr>
        <p:spPr>
          <a:xfrm>
            <a:off x="9235440" y="2103120"/>
            <a:ext cx="182880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384A"/>
                </a:solidFill>
                <a:latin typeface="Avenir Next"/>
              </a:defRPr>
            </a:pPr>
            <a:r>
              <a:t>Availability</a:t>
            </a:r>
          </a:p>
        </p:txBody>
      </p:sp>
      <p:sp>
        <p:nvSpPr>
          <p:cNvPr id="19" name="Oval 18"/>
          <p:cNvSpPr/>
          <p:nvPr/>
        </p:nvSpPr>
        <p:spPr>
          <a:xfrm>
            <a:off x="7498079" y="4480560"/>
            <a:ext cx="182880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384A"/>
                </a:solidFill>
                <a:latin typeface="Avenir Next"/>
              </a:defRPr>
            </a:pPr>
            <a:r>
              <a:t>CIA</a:t>
            </a:r>
            <a:br/>
            <a:r>
              <a:t>balance</a:t>
            </a:r>
          </a:p>
        </p:txBody>
      </p:sp>
      <p:sp>
        <p:nvSpPr>
          <p:cNvPr id="20" name="Oval 19"/>
          <p:cNvSpPr/>
          <p:nvPr/>
        </p:nvSpPr>
        <p:spPr>
          <a:xfrm>
            <a:off x="1828800" y="4480560"/>
            <a:ext cx="1828800" cy="1097280"/>
          </a:xfrm>
          <a:prstGeom prst="ellipse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384A"/>
                </a:solidFill>
                <a:latin typeface="Avenir Next"/>
              </a:defRPr>
            </a:pPr>
            <a:r>
              <a:t>Element</a:t>
            </a:r>
            <a:br/>
            <a:r>
              <a:t>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6E2E3"/>
                </a:solidFill>
                <a:latin typeface="Helvetica"/>
              </a:defRPr>
            </a:pPr>
            <a:r>
              <a:t>Textbook anchors: Security in Computing Ch 7 (pp. 530-531): "controlled, shared access" and trust in data value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Identity and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7/27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Authentication, Authorization, and Auditability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Three controls that must work together to contain misuse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18288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651760"/>
                <a:gridCol w="3108960"/>
                <a:gridCol w="3291840"/>
              </a:tblGrid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246"/>
                          </a:solidFill>
                          <a:latin typeface="Avenir Next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246"/>
                          </a:solidFill>
                          <a:latin typeface="Avenir Next"/>
                        </a:defRPr>
                      </a:pPr>
                      <a:r>
                        <a:t>Core question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246"/>
                          </a:solidFill>
                          <a:latin typeface="Avenir Next"/>
                        </a:defRPr>
                      </a:pPr>
                      <a:r>
                        <a:t>Failure mode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3246"/>
                          </a:solidFill>
                          <a:latin typeface="Avenir Next"/>
                        </a:defRPr>
                      </a:pPr>
                      <a:r>
                        <a:t>Evidence artifact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Who are you?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Stolen credential, weak MFA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Auth challenge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Authorization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What can you do?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Excessive privilege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Role policy diffs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Auditability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Can we prove what happened?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Missing or noisy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Query and change trails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Containment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How fast can we cut misuse?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Owner ambiguity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53548"/>
                          </a:solidFill>
                          <a:latin typeface="Helvetica"/>
                        </a:defRPr>
                      </a:pPr>
                      <a:r>
                        <a:t>Revocation event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Least privilege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8/27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Least Privilege Role Design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Role scope design is a primary data-containment control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18288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828800"/>
                <a:gridCol w="1920240"/>
                <a:gridCol w="1920240"/>
                <a:gridCol w="2926080"/>
              </a:tblGrid>
              <a:tr h="896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247"/>
                          </a:solidFill>
                          <a:latin typeface="Avenir Next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247"/>
                          </a:solidFill>
                          <a:latin typeface="Avenir Next"/>
                        </a:defRPr>
                      </a:pPr>
                      <a:r>
                        <a:t>Read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247"/>
                          </a:solidFill>
                          <a:latin typeface="Avenir Next"/>
                        </a:defRPr>
                      </a:pPr>
                      <a:r>
                        <a:t>Write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247"/>
                          </a:solidFill>
                          <a:latin typeface="Avenir Next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247"/>
                          </a:solidFill>
                          <a:latin typeface="Avenir Next"/>
                        </a:defRPr>
                      </a:pPr>
                      <a:r>
                        <a:t>Monitoring / limits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DB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System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Schema-level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MFA + break-glass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App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Mapped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Mapped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No direct console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Analyst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Approved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Export thresholds + masking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Auditor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Audit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43447"/>
                          </a:solidFill>
                          <a:latin typeface="Helvetica"/>
                        </a:defRPr>
                      </a:pPr>
                      <a:r>
                        <a:t>Immutable retention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6E2E3"/>
                </a:solidFill>
                <a:latin typeface="Helvetica"/>
              </a:defRPr>
            </a:pPr>
            <a:r>
              <a:t>OWASP SQL Injection Prevention Cheat Sheet: do not assign admin access to application accounts; enforce least privilege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Injection defenses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9/27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SQL Injection: Code/Data Separation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Unsafe string building versus prepared statements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920240"/>
            <a:ext cx="5440680" cy="4206240"/>
          </a:xfrm>
          <a:prstGeom prst="roundRect">
            <a:avLst/>
          </a:prstGeom>
          <a:solidFill>
            <a:srgbClr val="101928"/>
          </a:solidFill>
          <a:ln>
            <a:solidFill>
              <a:srgbClr val="528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AD4FF"/>
                </a:solidFill>
                <a:latin typeface="Avenir Next"/>
              </a:defRPr>
            </a:pPr>
            <a:r>
              <a:t>Unsafe pattern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query = "SELECT balance FROM users WHERE name='" + input_name + "'"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result = db.execute(query)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920240"/>
            <a:ext cx="5440680" cy="4206240"/>
          </a:xfrm>
          <a:prstGeom prst="roundRect">
            <a:avLst/>
          </a:prstGeom>
          <a:solidFill>
            <a:srgbClr val="101928"/>
          </a:solidFill>
          <a:ln>
            <a:solidFill>
              <a:srgbClr val="528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AD4FF"/>
                </a:solidFill>
                <a:latin typeface="Avenir Next"/>
              </a:defRPr>
            </a:pPr>
            <a:r>
              <a:t>Safer pattern (parameterized)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query = "SELECT balance FROM users WHERE name = ?"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stmt = db.prepare(query)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stmt.bind(1, input_name)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result = stmt.execute()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3520440"/>
            <a:ext cx="502920" cy="457200"/>
          </a:xfrm>
          <a:prstGeom prst="rightArrow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6E2E3"/>
                </a:solidFill>
                <a:latin typeface="Helvetica"/>
              </a:defRPr>
            </a:pPr>
            <a:r>
              <a:t>OWASP SQL Injection Prevention Cheat Sheet: primary defense is prepared statements with parameterized queries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Practice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10/27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7.2 Practice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How to write a strong requirement-mapping answer in three moves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01168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Move 1: Map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Map each evidence item to one requirement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Avoid double-counting unless justified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Keep labels explicit and consistent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01168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Move 2: Prioritize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Name the weakest requirement now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State why it is weakest in this case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Choose one immediate control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Move 3: Verify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Name one artifact proving action worked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Name owner role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Name urgency window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Reliability and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11/27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7.3 Reliability and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Data can be available and still be unsafe to trust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1920240"/>
            <a:ext cx="2560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Atomicity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All-or-none updates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No partial commit state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Rollback on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920240"/>
            <a:ext cx="2560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Consistency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Constraints preserved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Valid state transitions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No contradictory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20240"/>
            <a:ext cx="2560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Isolation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Concurrent ops controlled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No dirty or lost writes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Predictable reads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920240"/>
            <a:ext cx="2560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Durability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Committed data persists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Crash resilience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Recoverable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6E2E3"/>
                </a:solidFill>
                <a:latin typeface="Helvetica"/>
              </a:defRPr>
            </a:pPr>
            <a:r>
              <a:t>Textbook anchors: two-phase update and backup+audit-log recovery discussion (Security in Computing Ch 7, pp. 537, 540)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Concurrency anomalies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12/27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Concurrency Failure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Why parallel writes without guardrails create hidden integrity drift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01168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Transaction A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Read record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Compute update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Write value = 42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01168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Transaction B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Read same record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Compute update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Write value = 39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200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Result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Lost update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Inconsistent downstream report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Integrity verification required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43400" y="3383280"/>
            <a:ext cx="182880" cy="320040"/>
          </a:xfrm>
          <a:prstGeom prst="rightArrow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955279" y="3383280"/>
            <a:ext cx="182880" cy="320040"/>
          </a:xfrm>
          <a:prstGeom prst="rightArrow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5715000"/>
            <a:ext cx="10469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Response rule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When integrity is uncertain, stop propagation, restore trust state, and verify before broad resumption.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Recovery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13/27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Recovery Design: RPO and 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Backup existence is not enough; recovery objectives must be explicit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965960"/>
            <a:ext cx="6812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3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868680" y="2057400"/>
          <a:ext cx="6629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726679" y="1965960"/>
            <a:ext cx="36118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Teaching point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RPO defines tolerated data-loss window.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RTO defines tolerated service-recovery time.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Strong answers tie first response to both constraints.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Restoration must include post-restore integrity checks.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Decision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14/27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Integrity Incident First-Action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Choose first step by trust state and evidence quality</a:t>
            </a:r>
          </a:p>
        </p:txBody>
      </p:sp>
      <p:sp>
        <p:nvSpPr>
          <p:cNvPr id="14" name="Diamond 13"/>
          <p:cNvSpPr/>
          <p:nvPr/>
        </p:nvSpPr>
        <p:spPr>
          <a:xfrm>
            <a:off x="4892040" y="2057400"/>
            <a:ext cx="2468880" cy="1280160"/>
          </a:xfrm>
          <a:prstGeom prst="diamond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C3749"/>
                </a:solidFill>
                <a:latin typeface="Avenir Next"/>
              </a:defRPr>
            </a:pPr>
            <a:r>
              <a:t>Do we trust</a:t>
            </a:r>
            <a:br/>
            <a:r>
              <a:t>current values?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40480"/>
            <a:ext cx="3840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76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64B"/>
                </a:solidFill>
                <a:latin typeface="Avenir Next"/>
              </a:defRPr>
            </a:pPr>
            <a:r>
              <a:t>Yes branch</a:t>
            </a:r>
            <a:br/>
            <a:r>
              <a:t>Contain writes, verify high-risk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840480"/>
            <a:ext cx="3840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9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64B"/>
                </a:solidFill>
                <a:latin typeface="Avenir Next"/>
              </a:defRPr>
            </a:pPr>
            <a:r>
              <a:t>No branch</a:t>
            </a:r>
            <a:br/>
            <a:r>
              <a:t>Restore known-good and controlled replay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3337560"/>
            <a:ext cx="64008" cy="502920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3794760"/>
            <a:ext cx="64008" cy="45720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3794760"/>
            <a:ext cx="64008" cy="45720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5486400"/>
            <a:ext cx="1092708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Required evidence line in student answers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State one log or report that validates branch choice before additional system changes are approved.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Disclosure mechanisms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15/27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7.4 Database Disclosure Mechanisms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Direct, inference, and linkage disclosure require different mitigations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0312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Direct disclosure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Sensitive value visible directly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Clear confidentiality breach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Mitigate with access restrictions and masking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10312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Inference disclosure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Sensitive fact derived from non-sensitive fields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Often appears in small subgroups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Mitigate with thresholds and generalization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10312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Linkage / aggregation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Multiple sets combined reveal identity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Risk rises with auxiliary data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Mitigate with minimization and controlled joins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6E2E3"/>
                </a:solidFill>
                <a:latin typeface="Helvetica"/>
              </a:defRPr>
            </a:pPr>
            <a:r>
              <a:t>Textbook anchors: inference definition and limits of perfect solutions (Security in Computing Ch 7, pp. 544, 552, 558)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Inference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16/27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Inference Walkthrough with Small Subgroups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How re-identification risk appears even without direct identifiers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22960" y="1874519"/>
          <a:ext cx="75895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/>
                <a:gridCol w="1517904"/>
                <a:gridCol w="1517904"/>
                <a:gridCol w="1517904"/>
                <a:gridCol w="1517904"/>
              </a:tblGrid>
              <a:tr h="7391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246"/>
                          </a:solidFill>
                          <a:latin typeface="Avenir Next"/>
                        </a:defRPr>
                      </a:pPr>
                      <a:r>
                        <a:t>Row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246"/>
                          </a:solidFill>
                          <a:latin typeface="Avenir Next"/>
                        </a:defRPr>
                      </a:pPr>
                      <a:r>
                        <a:t>Program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246"/>
                          </a:solidFill>
                          <a:latin typeface="Avenir Next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246"/>
                          </a:solidFill>
                          <a:latin typeface="Avenir Next"/>
                        </a:defRPr>
                      </a:pPr>
                      <a:r>
                        <a:t>Scholarship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246"/>
                          </a:solidFill>
                          <a:latin typeface="Avenir Next"/>
                        </a:defRPr>
                      </a:pPr>
                      <a:r>
                        <a:t>Risk label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641080" y="1874519"/>
            <a:ext cx="2743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Interpretation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Row 5 is unique in this sample.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Uniqueness raises inference and linkage risk.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First mitigation candidate: subgroup threshold.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Tradeoff: less granularity for analytics output.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17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70E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7.4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Mitigation tradeoff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6E2E3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3FCFC"/>
                </a:solidFill>
                <a:latin typeface="Avenir Next"/>
              </a:defRPr>
            </a:pPr>
            <a:r>
              <a:t>17/27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CFC"/>
                </a:solidFill>
                <a:latin typeface="Avenir Next"/>
              </a:defRPr>
            </a:pPr>
            <a:r>
              <a:t>Disclosure Mitigation Tradeoffs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6E2E3"/>
                </a:solidFill>
                <a:latin typeface="Helvetica"/>
              </a:defRPr>
            </a:pPr>
            <a:r>
              <a:t>Privacy risk reduction and analytics utility must be balanced explicitly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938528"/>
            <a:ext cx="71323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3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914400" y="2057400"/>
          <a:ext cx="694944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183879" y="1938528"/>
            <a:ext cx="31089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70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Decision language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Name dominant mechanism first.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Choose first mitigation for current risk.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State explicit utility loss.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Define review point for adjustment.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2F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8.1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Service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0D8CA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AF6F0"/>
                </a:solidFill>
                <a:latin typeface="Avenir Next"/>
              </a:defRPr>
            </a:pPr>
            <a:r>
              <a:t>18/27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AF6F0"/>
                </a:solidFill>
                <a:latin typeface="Avenir Next"/>
              </a:defRPr>
            </a:pPr>
            <a:r>
              <a:t>8.1 Cloud Service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0D8CA"/>
                </a:solidFill>
                <a:latin typeface="Helvetica"/>
              </a:defRPr>
            </a:pPr>
            <a:r>
              <a:t>IaaS, PaaS, and SaaS define responsibility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057400"/>
            <a:ext cx="3566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IaaS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Customer controls OS, runtime, many network rules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Provider controls physical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Highest customer operational burden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057400"/>
            <a:ext cx="3566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PaaS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Provider manages platform runtime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Customer manages app logic and data policy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Shared operational burden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057400"/>
            <a:ext cx="3566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SaaS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Provider manages most stack layers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Customer still owns data and identity governance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Lower infra burden, not zero responsibility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0D8CA"/>
                </a:solidFill>
                <a:latin typeface="Helvetica"/>
              </a:defRPr>
            </a:pPr>
            <a:r>
              <a:t>NIST SP 800-145 (cloud service models) + Security in Computing Ch 8 cloud concepts section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2F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8.2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Migration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0D8CA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AF6F0"/>
                </a:solidFill>
                <a:latin typeface="Avenir Next"/>
              </a:defRPr>
            </a:pPr>
            <a:r>
              <a:t>19/27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AF6F0"/>
                </a:solidFill>
                <a:latin typeface="Avenir Next"/>
              </a:defRPr>
            </a:pPr>
            <a:r>
              <a:t>8.2 Moving to the Cloud: Risk Questions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0D8CA"/>
                </a:solidFill>
                <a:latin typeface="Helvetica"/>
              </a:defRPr>
            </a:pPr>
            <a:r>
              <a:t>Migration is a security decision, not only a technology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1920240"/>
            <a:ext cx="5577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Migration risk checklist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What assets and data classes are moving?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What new exposure paths appear during transition?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What rollback path exists if cutover fails?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Which controls are inherited versus customer-managed?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What evidence proves controls work before go-live?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920240"/>
            <a:ext cx="4754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Provider due diligence questions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Incident notification SLA and escalation path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Log access depth and retention commitments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Tenant isolation testing transparency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Forensic evidence support process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Contract language for shared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0D8CA"/>
                </a:solidFill>
                <a:latin typeface="Helvetica"/>
              </a:defRPr>
            </a:pPr>
            <a:r>
              <a:t>Textbook anchor: moving to cloud can be difficult/expensive and risk analysis is required (Security in Computing Ch 8, p. 577)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2F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8.2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Shared 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0D8CA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AF6F0"/>
                </a:solidFill>
                <a:latin typeface="Avenir Next"/>
              </a:defRPr>
            </a:pPr>
            <a:r>
              <a:t>20/27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AF6F0"/>
                </a:solidFill>
                <a:latin typeface="Avenir Next"/>
              </a:defRPr>
            </a:pPr>
            <a:r>
              <a:t>Shared Responsibility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0D8CA"/>
                </a:solidFill>
                <a:latin typeface="Helvetica"/>
              </a:defRPr>
            </a:pPr>
            <a:r>
              <a:t>Cloud provider and customer duties must be explicit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182880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20240"/>
                <a:gridCol w="1920240"/>
                <a:gridCol w="1920240"/>
                <a:gridCol w="2926080"/>
              </a:tblGrid>
              <a:tr h="75438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F3146"/>
                          </a:solidFill>
                          <a:latin typeface="Avenir Next"/>
                        </a:defRPr>
                      </a:pPr>
                      <a:r>
                        <a:t>Control area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F3146"/>
                          </a:solidFill>
                          <a:latin typeface="Avenir Next"/>
                        </a:defRPr>
                      </a:pPr>
                      <a:r>
                        <a:t>IaaS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F3146"/>
                          </a:solidFill>
                          <a:latin typeface="Avenir Next"/>
                        </a:defRPr>
                      </a:pPr>
                      <a:r>
                        <a:t>PaaS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F3146"/>
                          </a:solidFill>
                          <a:latin typeface="Avenir Next"/>
                        </a:defRPr>
                      </a:pPr>
                      <a:r>
                        <a:t>SaaS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F3146"/>
                          </a:solidFill>
                          <a:latin typeface="Avenir Next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Patching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Scope errors leave exploitable surfaces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Identity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Access misuse remains customer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Data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Compliance and ethics accountability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Logging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Delayed triage if logs unavailable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Incident comms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53448"/>
                          </a:solidFill>
                          <a:latin typeface="Helvetica"/>
                        </a:defRPr>
                      </a:pPr>
                      <a:r>
                        <a:t>Escalation clarity affects response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0D8CA"/>
                </a:solidFill>
                <a:latin typeface="Helvetica"/>
              </a:defRPr>
            </a:pPr>
            <a:r>
              <a:t>Sources: AWS Shared Responsibility Model docs + Microsoft Learn shared responsibility guidance + NIST SP 800-145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2F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8.3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Tool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0D8CA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AF6F0"/>
                </a:solidFill>
                <a:latin typeface="Avenir Next"/>
              </a:defRPr>
            </a:pPr>
            <a:r>
              <a:t>21/27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AF6F0"/>
                </a:solidFill>
                <a:latin typeface="Avenir Next"/>
              </a:defRPr>
            </a:pPr>
            <a:r>
              <a:t>8.3 Cloud Security Tool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0D8CA"/>
                </a:solidFill>
                <a:latin typeface="Helvetica"/>
              </a:defRPr>
            </a:pPr>
            <a:r>
              <a:t>Layered controls reduce single-point failure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828800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344A"/>
                </a:solidFill>
                <a:latin typeface="Avenir Next"/>
              </a:defRPr>
            </a:pPr>
            <a:r>
              <a:t>Governance layer</a:t>
            </a:r>
          </a:p>
          <a:p>
            <a:pPr>
              <a:defRPr sz="1000">
                <a:solidFill>
                  <a:srgbClr val="27374A"/>
                </a:solidFill>
                <a:latin typeface="Helvetica"/>
              </a:defRPr>
            </a:pPr>
            <a:r>
              <a:t>Policy-as-code, control owners, approval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560320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76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344A"/>
                </a:solidFill>
                <a:latin typeface="Avenir Next"/>
              </a:defRPr>
            </a:pPr>
            <a:r>
              <a:t>Identity layer</a:t>
            </a:r>
          </a:p>
          <a:p>
            <a:pPr>
              <a:defRPr sz="1000">
                <a:solidFill>
                  <a:srgbClr val="27374A"/>
                </a:solidFill>
                <a:latin typeface="Helvetica"/>
              </a:defRPr>
            </a:pPr>
            <a:r>
              <a:t>MFA, role boundaries, JIT privilege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291839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344A"/>
                </a:solidFill>
                <a:latin typeface="Avenir Next"/>
              </a:defRPr>
            </a:pPr>
            <a:r>
              <a:t>Data layer</a:t>
            </a:r>
          </a:p>
          <a:p>
            <a:pPr>
              <a:defRPr sz="1000">
                <a:solidFill>
                  <a:srgbClr val="27374A"/>
                </a:solidFill>
                <a:latin typeface="Helvetica"/>
              </a:defRPr>
            </a:pPr>
            <a:r>
              <a:t>Encryption, key lifecycle, classification labels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023359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9CE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344A"/>
                </a:solidFill>
                <a:latin typeface="Avenir Next"/>
              </a:defRPr>
            </a:pPr>
            <a:r>
              <a:t>Network layer</a:t>
            </a:r>
          </a:p>
          <a:p>
            <a:pPr>
              <a:defRPr sz="1000">
                <a:solidFill>
                  <a:srgbClr val="27374A"/>
                </a:solidFill>
                <a:latin typeface="Helvetica"/>
              </a:defRPr>
            </a:pPr>
            <a:r>
              <a:t>Segmentation, ingress control, private paths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754879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9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344A"/>
                </a:solidFill>
                <a:latin typeface="Avenir Next"/>
              </a:defRPr>
            </a:pPr>
            <a:r>
              <a:t>Detection layer</a:t>
            </a:r>
          </a:p>
          <a:p>
            <a:pPr>
              <a:defRPr sz="1000">
                <a:solidFill>
                  <a:srgbClr val="27374A"/>
                </a:solidFill>
                <a:latin typeface="Helvetica"/>
              </a:defRPr>
            </a:pPr>
            <a:r>
              <a:t>Control-plane logs, high-confidence detections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86399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3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344A"/>
                </a:solidFill>
                <a:latin typeface="Avenir Next"/>
              </a:defRPr>
            </a:pPr>
            <a:r>
              <a:t>Recovery layer</a:t>
            </a:r>
          </a:p>
          <a:p>
            <a:pPr>
              <a:defRPr sz="1000">
                <a:solidFill>
                  <a:srgbClr val="27374A"/>
                </a:solidFill>
                <a:latin typeface="Helvetica"/>
              </a:defRPr>
            </a:pPr>
            <a:r>
              <a:t>Backups, tested restore paths, communication runbooks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2F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8.4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Identity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0D8CA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AF6F0"/>
                </a:solidFill>
                <a:latin typeface="Avenir Next"/>
              </a:defRPr>
            </a:pPr>
            <a:r>
              <a:t>22/27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AF6F0"/>
                </a:solidFill>
                <a:latin typeface="Avenir Next"/>
              </a:defRPr>
            </a:pPr>
            <a:r>
              <a:t>8.4 Cloud Identity and Token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0D8CA"/>
                </a:solidFill>
                <a:latin typeface="Helvetica"/>
              </a:defRPr>
            </a:pPr>
            <a:r>
              <a:t>Contain credential misuse fast, then harden recurrence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031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33449"/>
                </a:solidFill>
                <a:latin typeface="Avenir Next"/>
              </a:defRPr>
            </a:pPr>
            <a:r>
              <a:t>Detect anomalous token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1031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9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33449"/>
                </a:solidFill>
                <a:latin typeface="Avenir Next"/>
              </a:defRPr>
            </a:pPr>
            <a:r>
              <a:t>Revoke active token 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1031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76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33449"/>
                </a:solidFill>
                <a:latin typeface="Avenir Next"/>
              </a:defRPr>
            </a:pPr>
            <a:r>
              <a:t>Force step-up authentication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1031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33449"/>
                </a:solidFill>
                <a:latin typeface="Avenir Next"/>
              </a:defRPr>
            </a:pPr>
            <a:r>
              <a:t>Issue short-lived replacement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63240" y="2697480"/>
            <a:ext cx="502920" cy="320040"/>
          </a:xfrm>
          <a:prstGeom prst="rightArrow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806440" y="2697480"/>
            <a:ext cx="502920" cy="320040"/>
          </a:xfrm>
          <a:prstGeom prst="rightArrow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549640" y="2697480"/>
            <a:ext cx="502920" cy="320040"/>
          </a:xfrm>
          <a:prstGeom prst="rightArrow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840480"/>
            <a:ext cx="10607040" cy="2148840"/>
          </a:xfrm>
          <a:prstGeom prst="roundRect">
            <a:avLst/>
          </a:prstGeom>
          <a:solidFill>
            <a:srgbClr val="101928"/>
          </a:solidFill>
          <a:ln>
            <a:solidFill>
              <a:srgbClr val="528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AD4FF"/>
                </a:solidFill>
                <a:latin typeface="Avenir Next"/>
              </a:defRPr>
            </a:pPr>
            <a:r>
              <a:t>Policy logic sketch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if token.source_ip not in approved_ranges: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    revoke(token_id)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    require_mfa_step_up(user_id)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    issue_token(ttl_minutes=15)</a:t>
            </a:r>
          </a:p>
          <a:p>
            <a:pPr>
              <a:spcAft>
                <a:spcPts val="0"/>
              </a:spcAft>
              <a:defRPr sz="950">
                <a:solidFill>
                  <a:srgbClr val="E7F0FD"/>
                </a:solidFill>
                <a:latin typeface="Menlo"/>
              </a:defRPr>
            </a:pPr>
            <a:r>
              <a:t>    notify(security_on_call)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0D8CA"/>
                </a:solidFill>
                <a:latin typeface="Helvetica"/>
              </a:defRPr>
            </a:pPr>
            <a:r>
              <a:t>Supplemental references: OWASP API Security Top 10 2023 (broken auth/authorization, misconfiguration) + cloud IAM guidance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2F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FFC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Chapter 8.5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IaaS 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0D8CA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AF6F0"/>
                </a:solidFill>
                <a:latin typeface="Avenir Next"/>
              </a:defRPr>
            </a:pPr>
            <a:r>
              <a:t>23/27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AF6F0"/>
                </a:solidFill>
                <a:latin typeface="Avenir Next"/>
              </a:defRPr>
            </a:pPr>
            <a:r>
              <a:t>8.5 Securing IaaS Workloads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0D8CA"/>
                </a:solidFill>
                <a:latin typeface="Helvetica"/>
              </a:defRPr>
            </a:pPr>
            <a:r>
              <a:t>Segmentation, admin-path control, and baseline hardening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1920240"/>
            <a:ext cx="10927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2331720"/>
            <a:ext cx="4480560" cy="1371600"/>
          </a:xfrm>
          <a:prstGeom prst="rect">
            <a:avLst/>
          </a:prstGeom>
          <a:solidFill>
            <a:srgbClr val="FFE9DC"/>
          </a:solidFill>
          <a:ln>
            <a:solidFill>
              <a:srgbClr val="FF9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D3B2B"/>
                </a:solidFill>
                <a:latin typeface="Avenir Next"/>
              </a:defRPr>
            </a:pPr>
            <a:r>
              <a:t>Public subnet</a:t>
            </a:r>
            <a:br/>
            <a:r>
              <a:t>App ingress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4023360"/>
            <a:ext cx="4480560" cy="1417320"/>
          </a:xfrm>
          <a:prstGeom prst="rect">
            <a:avLst/>
          </a:prstGeom>
          <a:solidFill>
            <a:srgbClr val="E0F2FD"/>
          </a:solidFill>
          <a:ln>
            <a:solidFill>
              <a:srgbClr val="76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9425E"/>
                </a:solidFill>
                <a:latin typeface="Avenir Next"/>
              </a:defRPr>
            </a:pPr>
            <a:r>
              <a:t>Private subnet</a:t>
            </a:r>
            <a:br/>
            <a:r>
              <a:t>DB + admin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97480"/>
            <a:ext cx="2103120" cy="1143000"/>
          </a:xfrm>
          <a:prstGeom prst="roundRect">
            <a:avLst/>
          </a:prstGeom>
          <a:solidFill>
            <a:srgbClr val="F5F9FF"/>
          </a:solidFill>
          <a:ln>
            <a:solidFill>
              <a:srgbClr val="9CE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B413A"/>
                </a:solidFill>
                <a:latin typeface="Avenir Next"/>
              </a:defRPr>
            </a:pPr>
            <a:r>
              <a:t>Admin jump host</a:t>
            </a:r>
            <a:br/>
            <a:r>
              <a:t>MFA + session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2697480"/>
            <a:ext cx="2377440" cy="1143000"/>
          </a:xfrm>
          <a:prstGeom prst="roundRect">
            <a:avLst/>
          </a:prstGeom>
          <a:solidFill>
            <a:srgbClr val="F5F9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E3E2A"/>
                </a:solidFill>
                <a:latin typeface="Avenir Next"/>
              </a:defRPr>
            </a:pPr>
            <a:r>
              <a:t>Security groups</a:t>
            </a:r>
            <a:br/>
            <a:r>
              <a:t>default deny + least ingress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069080"/>
            <a:ext cx="4846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FFC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Baseline controls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Hardened images and patch cadence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Host telemetry and drift detection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Admin port exposure eliminated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3C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FF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FF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FF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Synthesis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Control prioritization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9D7C6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EF7F0"/>
                </a:solidFill>
                <a:latin typeface="Avenir Next"/>
              </a:defRPr>
            </a:pPr>
            <a:r>
              <a:t>24/27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EF7F0"/>
                </a:solidFill>
                <a:latin typeface="Avenir Next"/>
              </a:defRPr>
            </a:pPr>
            <a:r>
              <a:t>Prioritizing the First Five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9D7C6"/>
                </a:solidFill>
                <a:latin typeface="Helvetica"/>
              </a:defRPr>
            </a:pPr>
            <a:r>
              <a:t>Use transparent scoring and CSF function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1993392"/>
            <a:ext cx="70408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3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868680" y="21031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001000" y="1993392"/>
            <a:ext cx="32918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FF9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D2B3D"/>
                </a:solidFill>
                <a:latin typeface="Avenir Next"/>
              </a:defRPr>
            </a:pPr>
            <a:r>
              <a:t>Scoring criteria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Risk reduction now (0-40)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Execution speed (0-30)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Dependency overhead (0-20)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Evidence gain (0-10)</a:t>
            </a:r>
          </a:p>
          <a:p>
            <a:pPr>
              <a:spcAft>
                <a:spcPts val="400"/>
              </a:spcAft>
              <a:defRPr sz="1100">
                <a:solidFill>
                  <a:srgbClr val="253449"/>
                </a:solidFill>
                <a:latin typeface="Helvetica"/>
              </a:defRPr>
            </a:pPr>
            <a:r>
              <a:t>- Add one CSF tag per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9D7C6"/>
                </a:solidFill>
                <a:latin typeface="Helvetica"/>
              </a:defRPr>
            </a:pPr>
            <a:r>
              <a:t>Supplemental alignment: NIST CSF 2.0 functions (GV/ID/PR/DE/RS/RC) + CISA CPG baseline prioritization mindset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3C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FF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FF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FF9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Synthesis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Executive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9D7C6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EF7F0"/>
                </a:solidFill>
                <a:latin typeface="Avenir Next"/>
              </a:defRPr>
            </a:pPr>
            <a:r>
              <a:t>25/27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EF7F0"/>
                </a:solidFill>
                <a:latin typeface="Avenir Next"/>
              </a:defRPr>
            </a:pPr>
            <a:r>
              <a:t>Executive Memo Blueprint (Section 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9D7C6"/>
                </a:solidFill>
                <a:latin typeface="Helvetica"/>
              </a:defRPr>
            </a:pPr>
            <a:r>
              <a:t>Translate technical choices into clear action language for leadership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1965960"/>
            <a:ext cx="10972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FF9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2F27"/>
                </a:solidFill>
                <a:latin typeface="Avenir Next"/>
              </a:defRPr>
            </a:pPr>
            <a:r>
              <a:t>1. Situation</a:t>
            </a:r>
          </a:p>
          <a:p>
            <a:pPr>
              <a:defRPr sz="1050">
                <a:solidFill>
                  <a:srgbClr val="41352F"/>
                </a:solidFill>
                <a:latin typeface="Helvetica"/>
              </a:defRPr>
            </a:pPr>
            <a:r>
              <a:t>What happened in one factual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816352"/>
            <a:ext cx="10972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FFB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2F27"/>
                </a:solidFill>
                <a:latin typeface="Avenir Next"/>
              </a:defRPr>
            </a:pPr>
            <a:r>
              <a:t>2. First priorities</a:t>
            </a:r>
          </a:p>
          <a:p>
            <a:pPr>
              <a:defRPr sz="1050">
                <a:solidFill>
                  <a:srgbClr val="41352F"/>
                </a:solidFill>
                <a:latin typeface="Helvetica"/>
              </a:defRPr>
            </a:pPr>
            <a:r>
              <a:t>Top controls and why they were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66744"/>
            <a:ext cx="10972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76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2F27"/>
                </a:solidFill>
                <a:latin typeface="Avenir Next"/>
              </a:defRPr>
            </a:pPr>
            <a:r>
              <a:t>3. CIA status</a:t>
            </a:r>
          </a:p>
          <a:p>
            <a:pPr>
              <a:defRPr sz="1050">
                <a:solidFill>
                  <a:srgbClr val="41352F"/>
                </a:solidFill>
                <a:latin typeface="Helvetica"/>
              </a:defRPr>
            </a:pPr>
            <a:r>
              <a:t>Current confidentiality, integrity, availability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517136"/>
            <a:ext cx="10972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68D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2F27"/>
                </a:solidFill>
                <a:latin typeface="Avenir Next"/>
              </a:defRPr>
            </a:pPr>
            <a:r>
              <a:t>4. Next 24 hours</a:t>
            </a:r>
          </a:p>
          <a:p>
            <a:pPr>
              <a:defRPr sz="1050">
                <a:solidFill>
                  <a:srgbClr val="41352F"/>
                </a:solidFill>
                <a:latin typeface="Helvetica"/>
              </a:defRPr>
            </a:pPr>
            <a:r>
              <a:t>Owner, action, verification, timing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367527"/>
            <a:ext cx="10972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3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2F27"/>
                </a:solidFill>
                <a:latin typeface="Avenir Next"/>
              </a:defRPr>
            </a:pPr>
            <a:r>
              <a:t>5. Shared responsibility</a:t>
            </a:r>
          </a:p>
          <a:p>
            <a:pPr>
              <a:defRPr sz="1050">
                <a:solidFill>
                  <a:srgbClr val="41352F"/>
                </a:solidFill>
                <a:latin typeface="Helvetica"/>
              </a:defRPr>
            </a:pPr>
            <a:r>
              <a:t>Provider-owned vs customer-owned duties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23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CE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9CE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9CE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9CE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Lab 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Concept -&gt; Packet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DCCB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4FCF6"/>
                </a:solidFill>
                <a:latin typeface="Avenir Next"/>
              </a:defRPr>
            </a:pPr>
            <a:r>
              <a:t>26/27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CF6"/>
                </a:solidFill>
                <a:latin typeface="Avenir Next"/>
              </a:defRPr>
            </a:pPr>
            <a:r>
              <a:t>Concept-to-Lab Crosswalk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9DCCB"/>
                </a:solidFill>
                <a:latin typeface="Helvetica"/>
              </a:defRPr>
            </a:pPr>
            <a:r>
              <a:t>You now have the exact concepts needed for each required section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18288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3931920"/>
                <a:gridCol w="3931920"/>
              </a:tblGrid>
              <a:tr h="64008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223831"/>
                          </a:solidFill>
                          <a:latin typeface="Avenir Next"/>
                        </a:defRPr>
                      </a:pPr>
                      <a:r>
                        <a:t>Lab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223831"/>
                          </a:solidFill>
                          <a:latin typeface="Avenir Next"/>
                        </a:defRPr>
                      </a:pPr>
                      <a:r>
                        <a:t>Book section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223831"/>
                          </a:solidFill>
                          <a:latin typeface="Avenir Next"/>
                        </a:defRPr>
                      </a:pPr>
                      <a:r>
                        <a:t>Concept slides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223831"/>
                          </a:solidFill>
                          <a:latin typeface="Avenir Next"/>
                        </a:defRPr>
                      </a:pPr>
                      <a:r>
                        <a:t>What strong answers include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Slides 6-10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Requirement map + weakest gap + first control + artifact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Slides 11-14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Integrity risk + first branch + verification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Slides 15-17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Disclosure type + mitigation + utility tradeoff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8.1-8.2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Slides 18-20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Model classification + owner matrix + provider 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8.3-8.5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Slides 21-24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First-five order + rationale + owner + CSF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Slide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73A34"/>
                          </a:solidFill>
                          <a:latin typeface="Helvetica"/>
                        </a:defRPr>
                      </a:pPr>
                      <a:r>
                        <a:t>150-180 words with CIA status and next 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201168"/>
            <a:ext cx="11795760" cy="6446520"/>
          </a:xfrm>
          <a:prstGeom prst="roundRect">
            <a:avLst/>
          </a:prstGeom>
          <a:solidFill>
            <a:srgbClr val="23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CE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9CE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1371600"/>
            <a:ext cx="4389120" cy="4389120"/>
          </a:xfrm>
          <a:prstGeom prst="ellipse">
            <a:avLst/>
          </a:prstGeom>
          <a:solidFill>
            <a:srgbClr val="9CE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5577840"/>
            <a:ext cx="3840480" cy="2743200"/>
          </a:xfrm>
          <a:prstGeom prst="ellipse">
            <a:avLst/>
          </a:prstGeom>
          <a:solidFill>
            <a:srgbClr val="9CE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228600"/>
            <a:ext cx="27432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3B52"/>
                </a:solidFill>
                <a:latin typeface="Avenir Next"/>
              </a:defRPr>
            </a:pPr>
            <a:r>
              <a:t>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28600"/>
            <a:ext cx="22677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04054"/>
                </a:solidFill>
                <a:latin typeface="Avenir Next"/>
              </a:defRPr>
            </a:pPr>
            <a:r>
              <a:t>Book + Internet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6437376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9DCCB"/>
                </a:solidFill>
                <a:latin typeface="Avenir Next"/>
              </a:defRPr>
            </a:pPr>
            <a:r>
              <a:t>CST 2412 | Week 5 Day 2 | Databases, Cloud, and Big 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190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4FCF6"/>
                </a:solidFill>
                <a:latin typeface="Avenir Next"/>
              </a:defRPr>
            </a:pPr>
            <a:r>
              <a:t>27/27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0467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CF6"/>
                </a:solidFill>
                <a:latin typeface="Avenir Next"/>
              </a:defRPr>
            </a:pPr>
            <a:r>
              <a:t>References for This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2224"/>
            <a:ext cx="10424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9DCCB"/>
                </a:solidFill>
                <a:latin typeface="Helvetica"/>
              </a:defRPr>
            </a:pPr>
            <a:r>
              <a:t>Assigned reading plus primary-source supplements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828800"/>
            <a:ext cx="10972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9CE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1. Security in Computing (assigned textbook), Chapter 7 and Chapter 8 sections used in class</a:t>
            </a:r>
          </a:p>
          <a:p>
            <a:pPr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2. NIST SP 800-145: The NIST Definition of Cloud Computing (csrc.nist.gov/pubs/sp/800/145/final)</a:t>
            </a:r>
          </a:p>
          <a:p>
            <a:pPr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3. NIST SP 800-61r3: Incident Response Recommendations (csrc.nist.gov/pubs/sp/800/61/r3/final)</a:t>
            </a:r>
          </a:p>
          <a:p>
            <a:pPr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4. NIST CSF 2.0 Quick Start Guides (nist.gov/cyberframework/quick-start-guides)</a:t>
            </a:r>
          </a:p>
          <a:p>
            <a:pPr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5. CISA Cross-Sector Cybersecurity Performance Goals (cisa.gov/cybersecurity-performance-goals)</a:t>
            </a:r>
          </a:p>
          <a:p>
            <a:pPr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6. OWASP SQL Injection Prevention Cheat Sheet (cheatsheetseries.owasp.org)</a:t>
            </a:r>
          </a:p>
          <a:p>
            <a:pPr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7. OWASP API Security Top 10 2023 (owasp.org/API-Security/editions/2023)</a:t>
            </a:r>
          </a:p>
          <a:p>
            <a:pPr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8. AWS Shared Responsibility Model documentation (docs.aws.amazon.com)</a:t>
            </a:r>
          </a:p>
          <a:p>
            <a:pPr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9. Microsoft Learn: Shared responsibility in the cloud + Azure Security Benchmark v3</a:t>
            </a:r>
          </a:p>
          <a:p>
            <a:pPr>
              <a:spcAft>
                <a:spcPts val="500"/>
              </a:spcAft>
              <a:defRPr sz="1050">
                <a:solidFill>
                  <a:srgbClr val="233731"/>
                </a:solidFill>
                <a:latin typeface="Helvetica"/>
              </a:defRPr>
            </a:pPr>
            <a:r>
              <a:t>10. Verizon 2025 Data Breach Investigations Report summary and report hub (verizon.com)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