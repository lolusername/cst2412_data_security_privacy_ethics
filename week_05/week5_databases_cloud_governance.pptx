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9" r:id="rId3"/>
    <p:sldId id="260"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54194"/>
  </p:normalViewPr>
  <p:slideViewPr>
    <p:cSldViewPr snapToGrid="0" snapToObjects="1">
      <p:cViewPr varScale="1">
        <p:scale>
          <a:sx n="83" d="100"/>
          <a:sy n="83" d="100"/>
        </p:scale>
        <p:origin x="275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3313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we begin Week 5 with Week 5 Module: Databases, Cloud, and Big Data Security. </a:t>
            </a:r>
            <a:r>
              <a:rPr dirty="0"/>
              <a:t>In the official syllabus this corresponds to the Week 8 topic on databases, cloud, and big data security. This section sets the method for the class: identify trust failures, map immediate impact, and select first controls with clear ownership.</a:t>
            </a:r>
          </a:p>
          <a:p>
            <a:endParaRPr dirty="0"/>
          </a:p>
          <a:p>
            <a:r>
              <a:rPr dirty="0"/>
              <a:t>The practical method remains consistent across topics: identify the trust boundary, determine the active risk, choose the first control action, and name the owner.</a:t>
            </a:r>
          </a:p>
          <a:p>
            <a:endParaRPr dirty="0"/>
          </a:p>
          <a:p>
            <a:r>
              <a:rPr dirty="0"/>
              <a:t>First, Textbook focus: Chapter 7 and Chapter 8. The practical priority is mapping this risk to one concrete control and one accountable owner.</a:t>
            </a:r>
          </a:p>
          <a:p>
            <a:endParaRPr dirty="0"/>
          </a:p>
          <a:p>
            <a:r>
              <a:rPr dirty="0"/>
              <a:t>Second, Theme: protecting data trust across storage, processing, and cloud services. The practical priority is mapping this risk to one concrete control and one accountable owner.</a:t>
            </a:r>
          </a:p>
          <a:p>
            <a:endParaRPr dirty="0"/>
          </a:p>
          <a:p>
            <a:r>
              <a:rPr dirty="0"/>
              <a:t>Third, Deliverables: applied walkthrough, quick lab, and in-class reading response. The response structure should stay concise and repeatable: concern, impact, first action, verification, owner, urgency.</a:t>
            </a:r>
          </a:p>
          <a:p>
            <a:endParaRPr dirty="0"/>
          </a:p>
          <a:p>
            <a:r>
              <a:rPr dirty="0"/>
              <a:t>The practical takeaway is to prioritize one immediate control action that reduces harm while preserving evidence quality.</a:t>
            </a:r>
          </a:p>
          <a:p>
            <a:endParaRPr dirty="0"/>
          </a:p>
          <a:p>
            <a:r>
              <a:rPr dirty="0"/>
              <a:t>Carry this structure into each technical section so decisions stay consistent and defensible.</a:t>
            </a:r>
          </a:p>
          <a:p>
            <a:endParaRPr dirty="0"/>
          </a:p>
          <a:p>
            <a:r>
              <a:rPr dirty="0"/>
              <a:t>Maintain the same decision order throughout: what happened, what impact is active now, what control executes first, and who owns execution.</a:t>
            </a:r>
          </a:p>
          <a:p>
            <a:endParaRPr dirty="0"/>
          </a:p>
          <a:p>
            <a:r>
              <a:rPr dirty="0"/>
              <a:t>When two controls seem equally valid, select the one that reduces current harm fastest while preserving evidence needed for follow-up decisions.</a:t>
            </a:r>
          </a:p>
          <a:p>
            <a:endParaRPr dirty="0"/>
          </a:p>
          <a:p>
            <a:r>
              <a:rPr dirty="0"/>
              <a:t>Avoid broad statements that are not testable. Favor a concrete control, a concrete owner role, and a concrete validation step.</a:t>
            </a:r>
          </a:p>
          <a:p>
            <a:endParaRPr dirty="0"/>
          </a:p>
          <a:p>
            <a:r>
              <a:rPr dirty="0"/>
              <a:t>This framing keeps technical quality and ethical quality connected instead of treating them as separate conversations.</a:t>
            </a:r>
          </a:p>
          <a:p>
            <a:endParaRPr dirty="0"/>
          </a:p>
          <a:p>
            <a:r>
              <a:rPr dirty="0"/>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we begin Week 5 with Learning Objectives. In the official syllabus this corresponds to the Week 8 topic on databases, cloud, and big data security. This section sets the method for the class: identify trust failures, map immediate impact, and select first controls with clear ownership.</a:t>
            </a:r>
          </a:p>
          <a:p>
            <a:endParaRPr/>
          </a:p>
          <a:p>
            <a:r>
              <a:t>The practical method remains consistent across topics: identify the trust boundary, determine the active risk, choose the first control action, and name the owner.</a:t>
            </a:r>
          </a:p>
          <a:p>
            <a:endParaRPr/>
          </a:p>
          <a:p>
            <a:r>
              <a:t>First, Explain database security goals and common failure paths. The practical priority is mapping this risk to one concrete control and one accountable owner.</a:t>
            </a:r>
          </a:p>
          <a:p>
            <a:endParaRPr/>
          </a:p>
          <a:p>
            <a:r>
              <a:t>Second, Map cloud risks to layered controls and ownership. The practical priority is mapping this risk to one concrete control and one accountable owner.</a:t>
            </a:r>
          </a:p>
          <a:p>
            <a:endParaRPr/>
          </a:p>
          <a:p>
            <a:r>
              <a:t>Third, Prioritize controls for data confidentiality, integrity, and availability. The response structure should stay concise and repeatable: concern, impact, first action, verification, owner, urgency.</a:t>
            </a:r>
          </a:p>
          <a:p>
            <a:endParaRPr/>
          </a:p>
          <a:p>
            <a:r>
              <a:t>Fourth, Evaluate privacy tradeoffs in big-data and cloud monitoring practices. Monitoring should be proportional and purpose-limited to reduce avoidable privacy harm while preserving security value.</a:t>
            </a:r>
          </a:p>
          <a:p>
            <a:endParaRPr/>
          </a:p>
          <a:p>
            <a:r>
              <a:t>Fifth, Produce concise incident-analysis outputs with accountable owners.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Carry this structure into each technical section so decisions stay consistent and defensible.</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we begin Week 5 with Essential Questions. In the official syllabus this corresponds to the Week 8 topic on databases, cloud, and big data security. This section sets the method for the class: identify trust failures, map immediate impact, and select first controls with clear ownership.</a:t>
            </a:r>
          </a:p>
          <a:p>
            <a:endParaRPr/>
          </a:p>
          <a:p>
            <a:r>
              <a:t>The practical method remains consistent across topics: identify the trust boundary, determine the active risk, choose the first control action, and name the owner.</a:t>
            </a:r>
          </a:p>
          <a:p>
            <a:endParaRPr/>
          </a:p>
          <a:p>
            <a:r>
              <a:t>First, Why do database incidents often start with access design mistakes?. The key idea is scope discipline. Narrow access scope limits both accidental misuse and attacker leverage.</a:t>
            </a:r>
          </a:p>
          <a:p>
            <a:endParaRPr/>
          </a:p>
          <a:p>
            <a:r>
              <a:t>Second, How does shared responsibility change cloud risk decisions?. Ownership clarity is critical in cloud incidents. Ambiguous responsibility causes control gaps and delayed response.</a:t>
            </a:r>
          </a:p>
          <a:p>
            <a:endParaRPr/>
          </a:p>
          <a:p>
            <a:r>
              <a:t>Third, Which controls reduce data harm fastest during active incidents?. The practical priority is mapping this risk to one concrete control and one accountable owner.</a:t>
            </a:r>
          </a:p>
          <a:p>
            <a:endParaRPr/>
          </a:p>
          <a:p>
            <a:r>
              <a:t>Fourth, How can monitoring protect systems without over-collecting user data?.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Carry this structure into each technical section so decisions stay consistent and defensible.</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Chapter 7 Overview: Database Security.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Databases concentrate high-value assets and trust decisions. The practical priority is mapping this risk to one concrete control and one accountable owner.</a:t>
            </a:r>
          </a:p>
          <a:p>
            <a:endParaRPr/>
          </a:p>
          <a:p>
            <a:r>
              <a:t>Second, Security goals include confidentiality, integrity, availability, and accountability. Logs only help when they are trustworthy, reviewed, and tied to clear escalation workflows.</a:t>
            </a:r>
          </a:p>
          <a:p>
            <a:endParaRPr/>
          </a:p>
          <a:p>
            <a:r>
              <a:t>Third, Design choices in schema, roles, and queries shape exposure. The key idea is scope discipline. Narrow access scope limits both accidental misuse and attacker leverage.</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Database Security Requirements.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Element integrity: data values remain correct and protected. The practical priority is mapping this risk to one concrete control and one accountable owner.</a:t>
            </a:r>
          </a:p>
          <a:p>
            <a:endParaRPr/>
          </a:p>
          <a:p>
            <a:r>
              <a:t>Second, Access control: only authorized roles can read or modify data. The key idea is scope discipline. Narrow access scope limits both accidental misuse and attacker leverage.</a:t>
            </a:r>
          </a:p>
          <a:p>
            <a:endParaRPr/>
          </a:p>
          <a:p>
            <a:r>
              <a:t>Third, Availability: service remains usable under failure and attack conditions. The response structure should stay concise and repeatable: concern, impact, first action, verification, owner, urgency.</a:t>
            </a:r>
          </a:p>
          <a:p>
            <a:endParaRPr/>
          </a:p>
          <a:p>
            <a:r>
              <a:t>Fourth, Auditability: actions are logged and attributable. Logs only help when they are trustworthy, reviewed, and tied to clear escalation workflows.</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Authentication and Authorization in Databases.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Identity proof and role assignment are separate controls. The key idea is scope discipline. Narrow access scope limits both accidental misuse and attacker leverage.</a:t>
            </a:r>
          </a:p>
          <a:p>
            <a:endParaRPr/>
          </a:p>
          <a:p>
            <a:r>
              <a:t>Second, Role design should follow least privilege and separation of duties. The key idea is scope discipline. Narrow access scope limits both accidental misuse and attacker leverage.</a:t>
            </a:r>
          </a:p>
          <a:p>
            <a:endParaRPr/>
          </a:p>
          <a:p>
            <a:r>
              <a:t>Third, Application accounts should not have broad admin rights.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Query Safety and Injection Risk at the Data Layer.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Unsafe query construction can expose or alter protected records. Unsafe query behavior turns user-controlled input into command behavior, which can expose or alter protected records.</a:t>
            </a:r>
          </a:p>
          <a:p>
            <a:endParaRPr/>
          </a:p>
          <a:p>
            <a:r>
              <a:t>Second, Parameterized queries reduce command-versus-data confusion. The practical priority is mapping this risk to one concrete control and one accountable owner.</a:t>
            </a:r>
          </a:p>
          <a:p>
            <a:endParaRPr/>
          </a:p>
          <a:p>
            <a:r>
              <a:t>Third, Input handling and error behavior influence exploitability.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Least Privilege Database Roles.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Read, write, admin, and maintenance actions need distinct boundaries. The practical priority is mapping this risk to one concrete control and one accountable owner.</a:t>
            </a:r>
          </a:p>
          <a:p>
            <a:endParaRPr/>
          </a:p>
          <a:p>
            <a:r>
              <a:t>Second, Service accounts should be scoped to specific tables and actions. The practical priority is mapping this risk to one concrete control and one accountable owner.</a:t>
            </a:r>
          </a:p>
          <a:p>
            <a:endParaRPr/>
          </a:p>
          <a:p>
            <a:r>
              <a:t>Third, Privilege review should be periodic and evidence-based.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Encryption and Key Management for Databases.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In-transit protection and at-rest protection solve different risks. The practical priority is mapping this risk to one concrete control and one accountable owner.</a:t>
            </a:r>
          </a:p>
          <a:p>
            <a:endParaRPr/>
          </a:p>
          <a:p>
            <a:r>
              <a:t>Second, Key custody and rotation policies determine long-term assurance. Cryptography depends on lifecycle discipline. Weak key and token governance can nullify otherwise strong controls.</a:t>
            </a:r>
          </a:p>
          <a:p>
            <a:endParaRPr/>
          </a:p>
          <a:p>
            <a:r>
              <a:t>Third, Encrypted data with weak key governance is still high risk. Cryptography depends on lifecycle discipline. Weak key and token governance can nullify otherwise strong controls.</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Auditing, Logging, and Accountability.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Sensitive queries and privilege changes should be logged reliably. The practical priority is mapping this risk to one concrete control and one accountable owner.</a:t>
            </a:r>
          </a:p>
          <a:p>
            <a:endParaRPr/>
          </a:p>
          <a:p>
            <a:r>
              <a:t>Second, Audit trails need retention, integrity, and review workflows. Logs only help when they are trustworthy, reviewed, and tied to clear escalation workflows.</a:t>
            </a:r>
          </a:p>
          <a:p>
            <a:endParaRPr/>
          </a:p>
          <a:p>
            <a:r>
              <a:t>Third, Useful logs support fast triage and post-incident reconstruction.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Backup, Recovery, and Resilience.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Backups reduce downtime and data-loss impact. Recovery readiness is proven by restore testing, not by backup existence alone.</a:t>
            </a:r>
          </a:p>
          <a:p>
            <a:endParaRPr/>
          </a:p>
          <a:p>
            <a:r>
              <a:t>Second, Restore testing is required to prove recovery readiness. Recovery readiness is proven by restore testing, not by backup existence alone.</a:t>
            </a:r>
          </a:p>
          <a:p>
            <a:endParaRPr/>
          </a:p>
          <a:p>
            <a:r>
              <a:t>Third, Recovery plans should define roles, sequencing, and communication. The key idea is scope discipline. Narrow access scope limits both accidental misuse and attacker leverage.</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we are in the database-security section with Concurrency, Consistency, and Data Integrity. The central theme is data trust: who can access what, under which controls, and with what evidence.</a:t>
            </a:r>
          </a:p>
          <a:p>
            <a:endParaRPr dirty="0"/>
          </a:p>
          <a:p>
            <a:r>
              <a:rPr dirty="0"/>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dirty="0"/>
          </a:p>
          <a:p>
            <a:r>
              <a:rPr dirty="0"/>
              <a:t>First, Concurrent operations can create integrity errors without proper controls. The practical priority is mapping this risk to one concrete control and one accountable owner.</a:t>
            </a:r>
          </a:p>
          <a:p>
            <a:endParaRPr dirty="0"/>
          </a:p>
          <a:p>
            <a:r>
              <a:rPr dirty="0"/>
              <a:t>Second, Transaction models and locking strategies reduce inconsistency. The practical priority is mapping this risk to one concrete control and one accountable owner.</a:t>
            </a:r>
          </a:p>
          <a:p>
            <a:endParaRPr dirty="0"/>
          </a:p>
          <a:p>
            <a:r>
              <a:rPr dirty="0"/>
              <a:t>Third, Integrity failures can be silent and operationally expensive. The practical priority is mapping this risk to one concrete control and one accountable owner.</a:t>
            </a:r>
          </a:p>
          <a:p>
            <a:endParaRPr dirty="0"/>
          </a:p>
          <a:p>
            <a:r>
              <a:rPr dirty="0"/>
              <a:t>The practical takeaway is to prioritize one immediate control action that reduces harm while preserving evidence quality.</a:t>
            </a:r>
          </a:p>
          <a:p>
            <a:endParaRPr dirty="0"/>
          </a:p>
          <a:p>
            <a:r>
              <a:rPr dirty="0"/>
              <a:t>Keep the database decision test simple: is access scope appropriate, and can we prove accountability when something goes wrong.</a:t>
            </a:r>
          </a:p>
          <a:p>
            <a:endParaRPr dirty="0"/>
          </a:p>
          <a:p>
            <a:r>
              <a:rPr dirty="0"/>
              <a:t>Maintain the same decision order throughout: what happened, what impact is active now, what control executes first, and who owns execution.</a:t>
            </a:r>
          </a:p>
          <a:p>
            <a:endParaRPr dirty="0"/>
          </a:p>
          <a:p>
            <a:r>
              <a:rPr dirty="0"/>
              <a:t>When two controls seem equally valid, select the one that reduces current harm fastest while preserving evidence needed for follow-up decisions.</a:t>
            </a:r>
          </a:p>
          <a:p>
            <a:endParaRPr dirty="0"/>
          </a:p>
          <a:p>
            <a:r>
              <a:rPr dirty="0"/>
              <a:t>Avoid broad statements that are not testable. Favor a concrete control, a concrete owner role, and a concrete validation step.</a:t>
            </a:r>
          </a:p>
          <a:p>
            <a:endParaRPr dirty="0"/>
          </a:p>
          <a:p>
            <a:r>
              <a:rPr dirty="0"/>
              <a:t>This framing keeps technical quality and ethical quality connected instead of treating them as separate conversations.</a:t>
            </a:r>
          </a:p>
          <a:p>
            <a:endParaRPr dirty="0"/>
          </a:p>
          <a:p>
            <a:r>
              <a:rPr dirty="0"/>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Database Disclosure Risks.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Direct disclosure exposes raw sensitive records. Disclosure risk includes both direct exposure and inference through combined fields that appear harmless in isolation.</a:t>
            </a:r>
          </a:p>
          <a:p>
            <a:endParaRPr/>
          </a:p>
          <a:p>
            <a:r>
              <a:t>Second, Inference disclosure combines harmless fields into sensitive conclusions. Disclosure risk includes both direct exposure and inference through combined fields that appear harmless in isolation.</a:t>
            </a:r>
          </a:p>
          <a:p>
            <a:endParaRPr/>
          </a:p>
          <a:p>
            <a:r>
              <a:t>Third, Linkage across datasets can re-identify users unexpectedly. Disclosure risk includes both direct exposure and inference through combined fields that appear harmless in isolation.</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Suppression, Anonymization, and Their Limits.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Masking and suppression can reduce risk but may reduce utility. The practical priority is mapping this risk to one concrete control and one accountable owner.</a:t>
            </a:r>
          </a:p>
          <a:p>
            <a:endParaRPr/>
          </a:p>
          <a:p>
            <a:r>
              <a:t>Second, De-identification is not equivalent to zero re-identification risk. Disclosure risk includes both direct exposure and inference through combined fields that appear harmless in isolation.</a:t>
            </a:r>
          </a:p>
          <a:p>
            <a:endParaRPr/>
          </a:p>
          <a:p>
            <a:r>
              <a:t>Third, Risk decisions should be documented with purpose and retention limits. Monitoring should be proportional and purpose-limited to reduce avoidable privacy harm while preserving security value.</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Big Data Security Concerns.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Scale and velocity increase attack surface and governance complexity. The practical priority is mapping this risk to one concrete control and one accountable owner.</a:t>
            </a:r>
          </a:p>
          <a:p>
            <a:endParaRPr/>
          </a:p>
          <a:p>
            <a:r>
              <a:t>Second, Data pipelines create multiple trust boundaries. Scale multiplies trust boundaries, so governance controls must be explicit at each pipeline stage.</a:t>
            </a:r>
          </a:p>
          <a:p>
            <a:endParaRPr/>
          </a:p>
          <a:p>
            <a:r>
              <a:t>Third, Collection without purpose control becomes privacy and compliance risk. Monitoring should be proportional and purpose-limited to reduce avoidable privacy harm while preserving security value.</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database-security section with Database Incident Response Pattern. The central theme is data trust: who can access what, under which controls, and with what evidence.</a:t>
            </a:r>
          </a:p>
          <a:p>
            <a:endParaRPr/>
          </a:p>
          <a:p>
            <a:r>
              <a:t>Database security failures are often quiet at first. The initial symptom is frequently an unusual query pattern or a role doing more than its intended purpose. That means prevention is mostly about access design and query discipline, while detection is about recognizing behavior that violates normal trust boundaries.</a:t>
            </a:r>
          </a:p>
          <a:p>
            <a:endParaRPr/>
          </a:p>
          <a:p>
            <a:r>
              <a:t>First, Detect abnormal access or query behavior. The key idea is scope discipline. Narrow access scope limits both accidental misuse and attacker leverage.</a:t>
            </a:r>
          </a:p>
          <a:p>
            <a:endParaRPr/>
          </a:p>
          <a:p>
            <a:r>
              <a:t>Second, Contain access scope and rotate exposed credentials. The key idea is scope discipline. Narrow access scope limits both accidental misuse and attacker leverage.</a:t>
            </a:r>
          </a:p>
          <a:p>
            <a:endParaRPr/>
          </a:p>
          <a:p>
            <a:r>
              <a:t>Third, Validate integrity, recover service, and document root cause.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database decision test simple: is access scope appropriate, and can we prove accountability when something goes wrong.</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Chapter 8 Overview: Cloud Security.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Cloud security combines technical controls and provider governance. Ownership clarity is critical in cloud incidents. Ambiguous responsibility causes control gaps and delayed response.</a:t>
            </a:r>
          </a:p>
          <a:p>
            <a:endParaRPr/>
          </a:p>
          <a:p>
            <a:r>
              <a:t>Second, Risk depends on service model and deployment model choices. The practical priority is mapping this risk to one concrete control and one accountable owner.</a:t>
            </a:r>
          </a:p>
          <a:p>
            <a:endParaRPr/>
          </a:p>
          <a:p>
            <a:r>
              <a:t>Third, Strong outcomes require clear ownership boundaries.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Cloud Service Models.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IaaS: customer controls more infrastructure decisions. Ownership clarity is critical in cloud incidents. Ambiguous responsibility causes control gaps and delayed response.</a:t>
            </a:r>
          </a:p>
          <a:p>
            <a:endParaRPr/>
          </a:p>
          <a:p>
            <a:r>
              <a:t>Second, PaaS: provider manages platform layer while customer manages app/data. Ownership clarity is critical in cloud incidents. Ambiguous responsibility causes control gaps and delayed response.</a:t>
            </a:r>
          </a:p>
          <a:p>
            <a:endParaRPr/>
          </a:p>
          <a:p>
            <a:r>
              <a:t>Third, SaaS: provider handles most stack operations, customer governs use and data policy. Ownership clarity is critical in cloud incidents. Ambiguous responsibility causes control gaps and delayed response.</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Cloud Deployment Models.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Public cloud prioritizes elasticity and shared infrastructure. The practical priority is mapping this risk to one concrete control and one accountable owner.</a:t>
            </a:r>
          </a:p>
          <a:p>
            <a:endParaRPr/>
          </a:p>
          <a:p>
            <a:r>
              <a:t>Second, Private cloud can improve control but increases local management burden. The practical priority is mapping this risk to one concrete control and one accountable owner.</a:t>
            </a:r>
          </a:p>
          <a:p>
            <a:endParaRPr/>
          </a:p>
          <a:p>
            <a:r>
              <a:t>Third, Hybrid models require clear boundary governance to avoid drift.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Shared Responsibility Model.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Provider and customer responsibilities are different, not interchangeable. Ownership clarity is critical in cloud incidents. Ambiguous responsibility causes control gaps and delayed response.</a:t>
            </a:r>
          </a:p>
          <a:p>
            <a:endParaRPr/>
          </a:p>
          <a:p>
            <a:r>
              <a:t>Second, Misunderstood ownership is a common root cause in cloud incidents. The practical priority is mapping this risk to one concrete control and one accountable owner.</a:t>
            </a:r>
          </a:p>
          <a:p>
            <a:endParaRPr/>
          </a:p>
          <a:p>
            <a:r>
              <a:t>Third, Control maps should name owner and validation evidence. The practical priority is mapping this risk to one concrete control and one accountable owner.</a:t>
            </a:r>
          </a:p>
          <a:p>
            <a:endParaRPr/>
          </a:p>
          <a:p>
            <a:r>
              <a:t>A common failure is assuming the provider secures an application configuration that is actually the customer's responsibility.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Cloud Identity and Access Control.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Centralized identity and role design reduce privilege sprawl. The key idea is scope discipline. Narrow access scope limits both accidental misuse and attacker leverage.</a:t>
            </a:r>
          </a:p>
          <a:p>
            <a:endParaRPr/>
          </a:p>
          <a:p>
            <a:r>
              <a:t>Second, Strong MFA and conditional access reduce account takeover risk. The key idea is scope discipline. Narrow access scope limits both accidental misuse and attacker leverage.</a:t>
            </a:r>
          </a:p>
          <a:p>
            <a:endParaRPr/>
          </a:p>
          <a:p>
            <a:r>
              <a:t>Third, Temporary elevated access should be short-lived and auditable. The key idea is scope discipline. Narrow access scope limits both accidental misuse and attacker leverage.</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Storage Misconfiguration Risk.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Public bucket or object exposure is a high-frequency cloud failure. Configuration drift is a common root cause in cloud incidents, so guardrails and continuous validation are essential.</a:t>
            </a:r>
          </a:p>
          <a:p>
            <a:endParaRPr/>
          </a:p>
          <a:p>
            <a:r>
              <a:t>Second, Default-deny policies and policy-as-code reduce misconfiguration risk. Configuration drift is a common root cause in cloud incidents, so guardrails and continuous validation are essential.</a:t>
            </a:r>
          </a:p>
          <a:p>
            <a:endParaRPr/>
          </a:p>
          <a:p>
            <a:r>
              <a:t>Third, Continuous configuration scanning improves detection speed. Detection value comes from signal quality and correlation, not alert volume.</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Secrets and Key Management in Cloud Workloads.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Hard-coded secrets create persistent compromise risk. Cryptography depends on lifecycle discipline. Weak key and token governance can nullify otherwise strong controls.</a:t>
            </a:r>
          </a:p>
          <a:p>
            <a:endParaRPr/>
          </a:p>
          <a:p>
            <a:r>
              <a:t>Second, Managed secret stores and rotation workflows reduce exposure time. Cryptography depends on lifecycle discipline. Weak key and token governance can nullify otherwise strong controls.</a:t>
            </a:r>
          </a:p>
          <a:p>
            <a:endParaRPr/>
          </a:p>
          <a:p>
            <a:r>
              <a:t>Third, Access to keys and secrets should be role-limited and monitored. The key idea is scope discipline. Narrow access scope limits both accidental misuse and attacker leverage.</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Cloud Network Security Controls.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Security groups and network ACLs implement path-level trust boundaries. Cloud path controls should follow business sensitivity boundaries so compromise in one zone does not spread broadly.</a:t>
            </a:r>
          </a:p>
          <a:p>
            <a:endParaRPr/>
          </a:p>
          <a:p>
            <a:r>
              <a:t>Second, Segmentation should align to workload sensitivity and business function. Cloud path controls should follow business sensitivity boundaries so compromise in one zone does not spread broadly.</a:t>
            </a:r>
          </a:p>
          <a:p>
            <a:endParaRPr/>
          </a:p>
          <a:p>
            <a:r>
              <a:t>Third, East-west traffic visibility improves lateral movement detection. Detection value comes from signal quality and correlation, not alert volume.</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Cloud Logging and Detection.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Control-plane logs and workload logs provide complementary visibility. The practical priority is mapping this risk to one concrete control and one accountable owner.</a:t>
            </a:r>
          </a:p>
          <a:p>
            <a:endParaRPr/>
          </a:p>
          <a:p>
            <a:r>
              <a:t>Second, Detection rules should prioritize high-confidence abuse patterns. Detection value comes from signal quality and correlation, not alert volume.</a:t>
            </a:r>
          </a:p>
          <a:p>
            <a:endParaRPr/>
          </a:p>
          <a:p>
            <a:r>
              <a:t>Third, Alert quality determines whether teams act early or late. Detection value comes from signal quality and correlation, not alert volume.</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Container and Workload Security Basics.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Base image hygiene and runtime controls reduce workload risk. The practical priority is mapping this risk to one concrete control and one accountable owner.</a:t>
            </a:r>
          </a:p>
          <a:p>
            <a:endParaRPr/>
          </a:p>
          <a:p>
            <a:r>
              <a:t>Second, Supply-chain integrity is a cloud-security dependency. The practical priority is mapping this risk to one concrete control and one accountable owner.</a:t>
            </a:r>
          </a:p>
          <a:p>
            <a:endParaRPr/>
          </a:p>
          <a:p>
            <a:r>
              <a:t>Third, Least privilege applies to workload identity too. The key idea is scope discipline. Narrow access scope limits both accidental misuse and attacker leverage.</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Cloud Provider Assessment and Governance.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Provider evaluation should include security capability and incident transparency. Ownership clarity is critical in cloud incidents. Ambiguous responsibility causes control gaps and delayed response.</a:t>
            </a:r>
          </a:p>
          <a:p>
            <a:endParaRPr/>
          </a:p>
          <a:p>
            <a:r>
              <a:t>Second, Contract terms should define logging, notification, and recovery obligations. Logs only help when they are trustworthy, reviewed, and tied to clear escalation workflows.</a:t>
            </a:r>
          </a:p>
          <a:p>
            <a:endParaRPr/>
          </a:p>
          <a:p>
            <a:r>
              <a:t>Third, Governance reviews should revisit risk assumptions as environments change.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Cloud Incident Response.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Contain by reducing exposed access paths and rotating credentials. The key idea is scope discipline. Narrow access scope limits both accidental misuse and attacker leverage.</a:t>
            </a:r>
          </a:p>
          <a:p>
            <a:endParaRPr/>
          </a:p>
          <a:p>
            <a:r>
              <a:t>Second, Preserve cloud logs and snapshots for evidence integrity. The practical priority is mapping this risk to one concrete control and one accountable owner.</a:t>
            </a:r>
          </a:p>
          <a:p>
            <a:endParaRPr/>
          </a:p>
          <a:p>
            <a:r>
              <a:t>Third, Recover with validated configuration baselines and post-incident control updates. The practical priority is mapping this risk to one concrete control and one accountable owner.</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Privacy and Compliance in Cloud Data Processing.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Data location, retention, and access scope affect legal and ethical risk. The key idea is scope discipline. Narrow access scope limits both accidental misuse and attacker leverage.</a:t>
            </a:r>
          </a:p>
          <a:p>
            <a:endParaRPr/>
          </a:p>
          <a:p>
            <a:r>
              <a:t>Second, Purpose limitation and minimization reduce privacy harm. Monitoring should be proportional and purpose-limited to reduce avoidable privacy harm while preserving security value.</a:t>
            </a:r>
          </a:p>
          <a:p>
            <a:endParaRPr/>
          </a:p>
          <a:p>
            <a:r>
              <a:t>Third, Governance quality is measured by enforceable policy, not policy wording. Configuration drift is a common root cause in cloud incidents, so guardrails and continuous validation are essential.</a:t>
            </a:r>
          </a:p>
          <a:p>
            <a:endParaRPr/>
          </a:p>
          <a:p>
            <a:r>
              <a:t>The practical takeaway is to prioritize one immediate control action that reduces harm while preserving evidence quality.</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the cloud-security section with Chapter 8 Checkpoint. The central theme is ownership clarity and control placement across shared responsibility boundaries.</a:t>
            </a:r>
          </a:p>
          <a:p>
            <a:endParaRPr/>
          </a:p>
          <a:p>
            <a:r>
              <a:t>Cloud security decisions are less about a single product and more about control placement. The critical question is always ownership: which control belongs to the provider, which belongs to the customer, and how each side proves control effectiveness over time.</a:t>
            </a:r>
          </a:p>
          <a:p>
            <a:endParaRPr/>
          </a:p>
          <a:p>
            <a:r>
              <a:t>First, Prompt 1: explain one shared-responsibility failure path. Treat this as a short performance check: mechanism, impact, first control action, and accountable owner.</a:t>
            </a:r>
          </a:p>
          <a:p>
            <a:endParaRPr/>
          </a:p>
          <a:p>
            <a:r>
              <a:t>Second, Prompt 2: pick one cloud control that reduces disclosure risk fastest. Disclosure risk includes both direct exposure and inference through combined fields that appear harmless in isolation.</a:t>
            </a:r>
          </a:p>
          <a:p>
            <a:endParaRPr/>
          </a:p>
          <a:p>
            <a:r>
              <a:t>Third, Prompt 3: connect one cloud monitoring choice to an ethical boundary. Treat this as a short performance check: mechanism, impact, first control action, and accountable owner.</a:t>
            </a:r>
          </a:p>
          <a:p>
            <a:endParaRPr/>
          </a:p>
          <a:p>
            <a:r>
              <a:t>Strong checkpoint answers are specific. Weak answers list tools without mechanism or ownership.</a:t>
            </a:r>
          </a:p>
          <a:p>
            <a:endParaRPr/>
          </a:p>
          <a:p>
            <a:r>
              <a:t>Keep the cloud decision test simple: who owns this control, and how do we validate it continuously.</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applied walkthrough section covers Applied Walkthrough: Misconfigured Cloud Database Exposure. The focus is incident sequencing under time pressure with confidentiality and governance implications.</a:t>
            </a:r>
          </a:p>
          <a:p>
            <a:endParaRPr/>
          </a:p>
          <a:p>
            <a:r>
              <a:t>In an active incident, technical accuracy alone is not enough. Control sequencing and communication timing determine whether harm shrinks quickly or continues while teams debate low-priority details.</a:t>
            </a:r>
          </a:p>
          <a:p>
            <a:endParaRPr/>
          </a:p>
          <a:p>
            <a:r>
              <a:t>First, Issue: cloud storage policy drift exposed sensitive student-support exports. Configuration drift is a common root cause in cloud incidents, so guardrails and continuous validation are essential.</a:t>
            </a:r>
          </a:p>
          <a:p>
            <a:endParaRPr/>
          </a:p>
          <a:p>
            <a:r>
              <a:t>Second, Complication: API token reuse enabled repeated unauthorized data pulls. Cryptography depends on lifecycle discipline. Weak key and token governance can nullify otherwise strong controls.</a:t>
            </a:r>
          </a:p>
          <a:p>
            <a:endParaRPr/>
          </a:p>
          <a:p>
            <a:r>
              <a:t>Third, Impact: confidentiality risk increased while portal performance remained mostly normal. The practical priority is sequencing. Pick one first action that reduces active harm and can be executed immediately by a named owner.</a:t>
            </a:r>
          </a:p>
          <a:p>
            <a:endParaRPr/>
          </a:p>
          <a:p>
            <a:r>
              <a:t>Fourth, Challenge: contain quietly but communicate transparently and quickly. The practical priority is sequencing. Pick one first action that reduces active harm and can be executed immediately by a named owner.</a:t>
            </a:r>
          </a:p>
          <a:p>
            <a:endParaRPr/>
          </a:p>
          <a:p>
            <a:r>
              <a:t>In this scenario, one policy drift plus one reused token created repeatable unauthorized data access without immediate service outage.</a:t>
            </a:r>
          </a:p>
          <a:p>
            <a:endParaRPr/>
          </a:p>
          <a:p>
            <a:r>
              <a:t>That is the applied pattern used in the lab responses that follow.</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applied walkthrough section covers Incident Timeline. The focus is incident sequencing under time pressure with confidentiality and governance implications.</a:t>
            </a:r>
          </a:p>
          <a:p>
            <a:endParaRPr/>
          </a:p>
          <a:p>
            <a:r>
              <a:t>In an active incident, technical accuracy alone is not enough. Control sequencing and communication timing determine whether harm shrinks quickly or continues while teams debate low-priority details.</a:t>
            </a:r>
          </a:p>
          <a:p>
            <a:endParaRPr/>
          </a:p>
          <a:p>
            <a:r>
              <a:t>First, 09:05 policy change unintentionally widened object access scope. The key idea is scope discipline. Narrow access scope limits both accidental misuse and attacker leverage.</a:t>
            </a:r>
          </a:p>
          <a:p>
            <a:endParaRPr/>
          </a:p>
          <a:p>
            <a:r>
              <a:t>Second, 09:22 unusual API read volume began from unfamiliar source. The practical priority is sequencing. Pick one first action that reduces active harm and can be executed immediately by a named owner.</a:t>
            </a:r>
          </a:p>
          <a:p>
            <a:endParaRPr/>
          </a:p>
          <a:p>
            <a:r>
              <a:t>Third, 09:40 security monitoring flagged repeated export patterns. The practical priority is sequencing. Pick one first action that reduces active harm and can be executed immediately by a named owner.</a:t>
            </a:r>
          </a:p>
          <a:p>
            <a:endParaRPr/>
          </a:p>
          <a:p>
            <a:r>
              <a:t>Fourth, 10:05 token rotation and access tightening started. The key idea is scope discipline. Narrow access scope limits both accidental misuse and attacker leverage.</a:t>
            </a:r>
          </a:p>
          <a:p>
            <a:endParaRPr/>
          </a:p>
          <a:p>
            <a:r>
              <a:t>Fifth, 10:30 communication and user-support workflow initiated. The practical priority is sequencing. Pick one first action that reduces active harm and can be executed immediately by a named owner.</a:t>
            </a:r>
          </a:p>
          <a:p>
            <a:endParaRPr/>
          </a:p>
          <a:p>
            <a:r>
              <a:t>The practical takeaway is to prioritize one immediate control action that reduces harm while preserving evidence quality.</a:t>
            </a:r>
          </a:p>
          <a:p>
            <a:endParaRPr/>
          </a:p>
          <a:p>
            <a:r>
              <a:t>That is the applied pattern used in the lab responses that follow.</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applied walkthrough section covers Root Causes and Trust Failures. The focus is incident sequencing under time pressure with confidentiality and governance implications.</a:t>
            </a:r>
          </a:p>
          <a:p>
            <a:endParaRPr/>
          </a:p>
          <a:p>
            <a:r>
              <a:t>In an active incident, technical accuracy alone is not enough. Control sequencing and communication timing determine whether harm shrinks quickly or continues while teams debate low-priority details.</a:t>
            </a:r>
          </a:p>
          <a:p>
            <a:endParaRPr/>
          </a:p>
          <a:p>
            <a:r>
              <a:t>First, Configuration review controls were incomplete for one deployment path. The practical priority is sequencing. Pick one first action that reduces active harm and can be executed immediately by a named owner.</a:t>
            </a:r>
          </a:p>
          <a:p>
            <a:endParaRPr/>
          </a:p>
          <a:p>
            <a:r>
              <a:t>Second, Token lifecycle governance allowed excessive reuse duration. Cryptography depends on lifecycle discipline. Weak key and token governance can nullify otherwise strong controls.</a:t>
            </a:r>
          </a:p>
          <a:p>
            <a:endParaRPr/>
          </a:p>
          <a:p>
            <a:r>
              <a:t>Third, Detection rules existed but escalation threshold was too conservative. Detection value comes from signal quality and correlation, not alert volume.</a:t>
            </a:r>
          </a:p>
          <a:p>
            <a:endParaRPr/>
          </a:p>
          <a:p>
            <a:r>
              <a:t>The practical takeaway is to prioritize one immediate control action that reduces harm while preserving evidence quality.</a:t>
            </a:r>
          </a:p>
          <a:p>
            <a:endParaRPr/>
          </a:p>
          <a:p>
            <a:r>
              <a:t>That is the applied pattern used in the lab responses that follow.</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applied walkthrough section covers Control Prioritization: First 30 Days. The focus is incident sequencing under time pressure with confidentiality and governance implications.</a:t>
            </a:r>
          </a:p>
          <a:p>
            <a:endParaRPr/>
          </a:p>
          <a:p>
            <a:r>
              <a:t>In an active incident, technical accuracy alone is not enough. Control sequencing and communication timing determine whether harm shrinks quickly or continues while teams debate low-priority details.</a:t>
            </a:r>
          </a:p>
          <a:p>
            <a:endParaRPr/>
          </a:p>
          <a:p>
            <a:r>
              <a:t>First, Days 1-3: close exposure paths and rotate credentials/tokens. Cryptography depends on lifecycle discipline. Weak key and token governance can nullify otherwise strong controls.</a:t>
            </a:r>
          </a:p>
          <a:p>
            <a:endParaRPr/>
          </a:p>
          <a:p>
            <a:r>
              <a:t>Second, Week 1: enforce configuration guardrails and policy-as-code checks. Configuration drift is a common root cause in cloud incidents, so guardrails and continuous validation are essential.</a:t>
            </a:r>
          </a:p>
          <a:p>
            <a:endParaRPr/>
          </a:p>
          <a:p>
            <a:r>
              <a:t>Third, Week 2-3: improve high-confidence detections and escalation triggers. Detection value comes from signal quality and correlation, not alert volume.</a:t>
            </a:r>
          </a:p>
          <a:p>
            <a:endParaRPr/>
          </a:p>
          <a:p>
            <a:r>
              <a:t>Fourth, Week 4: finalize communication, support, and governance updates. The practical priority is sequencing. Pick one first action that reduces active harm and can be executed immediately by a named owner.</a:t>
            </a:r>
          </a:p>
          <a:p>
            <a:endParaRPr/>
          </a:p>
          <a:p>
            <a:r>
              <a:t>The practical takeaway is to prioritize one immediate control action that reduces harm while preserving evidence quality.</a:t>
            </a:r>
          </a:p>
          <a:p>
            <a:endParaRPr/>
          </a:p>
          <a:p>
            <a:r>
              <a:t>That is the applied pattern used in the lab responses that follow.</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applied walkthrough section covers Ethics and Communication. The focus is incident sequencing under time pressure with confidentiality and governance implications.</a:t>
            </a:r>
          </a:p>
          <a:p>
            <a:endParaRPr/>
          </a:p>
          <a:p>
            <a:r>
              <a:t>In an active incident, technical accuracy alone is not enough. Control sequencing and communication timing determine whether harm shrinks quickly or continues while teams debate low-priority details.</a:t>
            </a:r>
          </a:p>
          <a:p>
            <a:endParaRPr/>
          </a:p>
          <a:p>
            <a:r>
              <a:t>First, Notify affected users with clear actions they can take immediately. The practical priority is sequencing. Pick one first action that reduces active harm and can be executed immediately by a named owner.</a:t>
            </a:r>
          </a:p>
          <a:p>
            <a:endParaRPr/>
          </a:p>
          <a:p>
            <a:r>
              <a:t>Second, Provide support channels and realistic recovery guidance. Recovery readiness is proven by restore testing, not by backup existence alone.</a:t>
            </a:r>
          </a:p>
          <a:p>
            <a:endParaRPr/>
          </a:p>
          <a:p>
            <a:r>
              <a:t>Third, Explain what changed to reduce recurrence risk. The practical priority is sequencing. Pick one first action that reduces active harm and can be executed immediately by a named owner.</a:t>
            </a:r>
          </a:p>
          <a:p>
            <a:endParaRPr/>
          </a:p>
          <a:p>
            <a:r>
              <a:t>The practical takeaway is to prioritize one immediate control action that reduces harm while preserving evidence quality.</a:t>
            </a:r>
          </a:p>
          <a:p>
            <a:endParaRPr/>
          </a:p>
          <a:p>
            <a:r>
              <a:t>That is the applied pattern used in the lab responses that follow.</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transition to the lab sequence with Quick Lab: Overview. The goal is concise, defensible analysis that another professional can execute.</a:t>
            </a:r>
          </a:p>
          <a:p>
            <a:endParaRPr/>
          </a:p>
          <a:p>
            <a:r>
              <a:t>The lab is structured to build operational judgment under constraint. A strong answer is specific, actionable, and accountable even when evidence is incomplete.</a:t>
            </a:r>
          </a:p>
          <a:p>
            <a:endParaRPr/>
          </a:p>
          <a:p>
            <a:r>
              <a:t>First, Duration: 20-25 minutes, individual work. The practical priority is sequencing. Pick one first action that reduces active harm and can be executed immediately by a named owner.</a:t>
            </a:r>
          </a:p>
          <a:p>
            <a:endParaRPr/>
          </a:p>
          <a:p>
            <a:r>
              <a:t>Second, Task: analyze database and cloud evidence samples. The response structure should stay concise and repeatable: concern, impact, first action, verification, owner, urgency.</a:t>
            </a:r>
          </a:p>
          <a:p>
            <a:endParaRPr/>
          </a:p>
          <a:p>
            <a:r>
              <a:t>Third, Lab samples are distinct from the walkthrough scenario. The response structure should stay concise and repeatable: concern, impact, first action, verification, owner, urgency.</a:t>
            </a:r>
          </a:p>
          <a:p>
            <a:endParaRPr/>
          </a:p>
          <a:p>
            <a:r>
              <a:t>Fourth, Output: one-page mitigation brief with owner and urgency for each action. The practical priority is sequencing. Pick one first action that reduces active harm and can be executed immediately by a named owner.</a:t>
            </a:r>
          </a:p>
          <a:p>
            <a:endParaRPr/>
          </a:p>
          <a:p>
            <a:r>
              <a:t>The practical takeaway is to prioritize one immediate control action that reduces harm while preserving evidence quality.</a:t>
            </a:r>
          </a:p>
          <a:p>
            <a:endParaRPr/>
          </a:p>
          <a:p>
            <a:r>
              <a:t>Use the same short structure for every sample to keep quality high under time constraints.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transition to the lab sequence with How to Answer the Lab Questions. The goal is concise, defensible analysis that another professional can execute.</a:t>
            </a:r>
          </a:p>
          <a:p>
            <a:endParaRPr/>
          </a:p>
          <a:p>
            <a:r>
              <a:t>The lab is structured to build operational judgment under constraint. A strong answer is specific, actionable, and accountable even when evidence is incomplete.</a:t>
            </a:r>
          </a:p>
          <a:p>
            <a:endParaRPr/>
          </a:p>
          <a:p>
            <a:r>
              <a:t>First, Step 1: one-sentence concern based on evidence. The practical priority is sequencing. Pick one first action that reduces active harm and can be executed immediately by a named owner.</a:t>
            </a:r>
          </a:p>
          <a:p>
            <a:endParaRPr/>
          </a:p>
          <a:p>
            <a:r>
              <a:t>Second, Step 2: choose primary CIA impact and explain why. The practical priority is sequencing. Pick one first action that reduces active harm and can be executed immediately by a named owner.</a:t>
            </a:r>
          </a:p>
          <a:p>
            <a:endParaRPr/>
          </a:p>
          <a:p>
            <a:r>
              <a:t>Third, Step 3: choose one first containment action. The practical priority is sequencing. Pick one first action that reduces active harm and can be executed immediately by a named owner.</a:t>
            </a:r>
          </a:p>
          <a:p>
            <a:endParaRPr/>
          </a:p>
          <a:p>
            <a:r>
              <a:t>Fourth, Step 4: add one verification step and one owner role. The key idea is scope discipline. Narrow access scope limits both accidental misuse and attacker leverage.</a:t>
            </a:r>
          </a:p>
          <a:p>
            <a:endParaRPr/>
          </a:p>
          <a:p>
            <a:r>
              <a:t>Fifth, Step 5: assign urgency now/today/sprint with reason. The practical priority is sequencing. Pick one first action that reduces active harm and can be executed immediately by a named owner.</a:t>
            </a:r>
          </a:p>
          <a:p>
            <a:endParaRPr/>
          </a:p>
          <a:p>
            <a:r>
              <a:t>If you are uncertain, write your best evidence-based hypothesis, label uncertainty clearly, and still choose one first action with an owner.</a:t>
            </a:r>
          </a:p>
          <a:p>
            <a:endParaRPr/>
          </a:p>
          <a:p>
            <a:r>
              <a:t>Use the same short structure for every sample to keep quality high under time constraints.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transition to the lab sequence with Lab Sample A: Database Access Anomaly. The goal is concise, defensible analysis that another professional can execute.</a:t>
            </a:r>
          </a:p>
          <a:p>
            <a:endParaRPr/>
          </a:p>
          <a:p>
            <a:r>
              <a:t>The lab is structured to build operational judgment under constraint. A strong answer is specific, actionable, and accountable even when evidence is incomplete.</a:t>
            </a:r>
          </a:p>
          <a:p>
            <a:endParaRPr/>
          </a:p>
          <a:p>
            <a:r>
              <a:t>First, Evidence: privileged query burst outside normal schedule. Unsafe query behavior turns user-controlled input into command behavior, which can expose or alter protected records.</a:t>
            </a:r>
          </a:p>
          <a:p>
            <a:endParaRPr/>
          </a:p>
          <a:p>
            <a:r>
              <a:t>Second, Question: integrity misuse, disclosure, or both. Disclosure risk includes both direct exposure and inference through combined fields that appear harmless in isolation.</a:t>
            </a:r>
          </a:p>
          <a:p>
            <a:endParaRPr/>
          </a:p>
          <a:p>
            <a:r>
              <a:t>Third, Required output: first control action + one verification step. The practical priority is sequencing. Pick one first action that reduces active harm and can be executed immediately by a named owner.</a:t>
            </a:r>
          </a:p>
          <a:p>
            <a:endParaRPr/>
          </a:p>
          <a:p>
            <a:r>
              <a:t>The practical takeaway is to prioritize one immediate control action that reduces harm while preserving evidence quality.</a:t>
            </a:r>
          </a:p>
          <a:p>
            <a:endParaRPr/>
          </a:p>
          <a:p>
            <a:r>
              <a:t>Use the same short structure for every sample to keep quality high under time constraints.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transition to the lab sequence with Lab Sample B: Cloud Storage Misconfiguration. The goal is concise, defensible analysis that another professional can execute.</a:t>
            </a:r>
          </a:p>
          <a:p>
            <a:endParaRPr/>
          </a:p>
          <a:p>
            <a:r>
              <a:t>The lab is structured to build operational judgment under constraint. A strong answer is specific, actionable, and accountable even when evidence is incomplete.</a:t>
            </a:r>
          </a:p>
          <a:p>
            <a:endParaRPr/>
          </a:p>
          <a:p>
            <a:r>
              <a:t>First, Evidence: object access policy drift and unfamiliar read sources. The key idea is scope discipline. Narrow access scope limits both accidental misuse and attacker leverage.</a:t>
            </a:r>
          </a:p>
          <a:p>
            <a:endParaRPr/>
          </a:p>
          <a:p>
            <a:r>
              <a:t>Second, Question: where trust failed first. The practical priority is sequencing. Pick one first action that reduces active harm and can be executed immediately by a named owner.</a:t>
            </a:r>
          </a:p>
          <a:p>
            <a:endParaRPr/>
          </a:p>
          <a:p>
            <a:r>
              <a:t>Third, Required output: one cloud control and one governance fix. The practical priority is sequencing. Pick one first action that reduces active harm and can be executed immediately by a named owner.</a:t>
            </a:r>
          </a:p>
          <a:p>
            <a:endParaRPr/>
          </a:p>
          <a:p>
            <a:r>
              <a:t>The practical takeaway is to prioritize one immediate control action that reduces harm while preserving evidence quality.</a:t>
            </a:r>
          </a:p>
          <a:p>
            <a:endParaRPr/>
          </a:p>
          <a:p>
            <a:r>
              <a:t>Use the same short structure for every sample to keep quality high under time constraints.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transition to the lab sequence with Lab Sample C: API Token Abuse. The goal is concise, defensible analysis that another professional can execute.</a:t>
            </a:r>
          </a:p>
          <a:p>
            <a:endParaRPr/>
          </a:p>
          <a:p>
            <a:r>
              <a:t>The lab is structured to build operational judgment under constraint. A strong answer is specific, actionable, and accountable even when evidence is incomplete.</a:t>
            </a:r>
          </a:p>
          <a:p>
            <a:endParaRPr/>
          </a:p>
          <a:p>
            <a:r>
              <a:t>First, Evidence: repeated token reuse across unusual source addresses. Cryptography depends on lifecycle discipline. Weak key and token governance can nullify otherwise strong controls.</a:t>
            </a:r>
          </a:p>
          <a:p>
            <a:endParaRPr/>
          </a:p>
          <a:p>
            <a:r>
              <a:t>Second, Question: likely objective and highest-leverage first action. The practical priority is sequencing. Pick one first action that reduces active harm and can be executed immediately by a named owner.</a:t>
            </a:r>
          </a:p>
          <a:p>
            <a:endParaRPr/>
          </a:p>
          <a:p>
            <a:r>
              <a:t>Third, Required output: one identity/secret control and one user-support step. Cryptography depends on lifecycle discipline. Weak key and token governance can nullify otherwise strong controls.</a:t>
            </a:r>
          </a:p>
          <a:p>
            <a:endParaRPr/>
          </a:p>
          <a:p>
            <a:r>
              <a:t>The practical takeaway is to prioritize one immediate control action that reduces harm while preserving evidence quality.</a:t>
            </a:r>
          </a:p>
          <a:p>
            <a:endParaRPr/>
          </a:p>
          <a:p>
            <a:r>
              <a:t>Use the same short structure for every sample to keep quality high under time constraints.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transition to the lab sequence with Lab Rubric and Submission Checklist. The goal is concise, defensible analysis that another professional can execute.</a:t>
            </a:r>
          </a:p>
          <a:p>
            <a:endParaRPr/>
          </a:p>
          <a:p>
            <a:r>
              <a:t>The lab is structured to build operational judgment under constraint. A strong answer is specific, actionable, and accountable even when evidence is incomplete.</a:t>
            </a:r>
          </a:p>
          <a:p>
            <a:endParaRPr/>
          </a:p>
          <a:p>
            <a:r>
              <a:t>First, Accuracy of mechanism and CIA mapping. The practical priority is sequencing. Pick one first action that reduces active harm and can be executed immediately by a named owner.</a:t>
            </a:r>
          </a:p>
          <a:p>
            <a:endParaRPr/>
          </a:p>
          <a:p>
            <a:r>
              <a:t>Second, Feasibility of mitigation in realistic constraints. The practical priority is sequencing. Pick one first action that reduces active harm and can be executed immediately by a named owner.</a:t>
            </a:r>
          </a:p>
          <a:p>
            <a:endParaRPr/>
          </a:p>
          <a:p>
            <a:r>
              <a:t>Third, Owner clarity and urgency rationale. The practical priority is sequencing. Pick one first action that reduces active harm and can be executed immediately by a named owner.</a:t>
            </a:r>
          </a:p>
          <a:p>
            <a:endParaRPr/>
          </a:p>
          <a:p>
            <a:r>
              <a:t>Fourth, Professional writing clarity and structure. The practical priority is sequencing. Pick one first action that reduces active harm and can be executed immediately by a named owner.</a:t>
            </a:r>
          </a:p>
          <a:p>
            <a:endParaRPr/>
          </a:p>
          <a:p>
            <a:r>
              <a:t>The practical takeaway is to prioritize one immediate control action that reduces harm while preserving evidence quality.</a:t>
            </a:r>
          </a:p>
          <a:p>
            <a:endParaRPr/>
          </a:p>
          <a:p>
            <a:r>
              <a:t>Use the same short structure for every sample to keep quality high under time constraints.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closing section covers In-Class Reading Response (10-12 Minutes). The goal is to convert technical reasoning into clear communication and next-step action.</a:t>
            </a:r>
          </a:p>
          <a:p>
            <a:endParaRPr/>
          </a:p>
          <a:p>
            <a:r>
              <a:t>The closing sequence is where technical knowledge becomes professional output. Strong security work is measured not only by the selected control but by whether the rationale is clear enough for others to execute without ambiguity.</a:t>
            </a:r>
          </a:p>
          <a:p>
            <a:endParaRPr/>
          </a:p>
          <a:p>
            <a:r>
              <a:t>First, Read excerpt on shared responsibility and data minimization. Ownership clarity is critical in cloud incidents. Ambiguous responsibility causes control gaps and delayed response.</a:t>
            </a:r>
          </a:p>
          <a:p>
            <a:endParaRPr/>
          </a:p>
          <a:p>
            <a:r>
              <a:t>Second, Write 250-300 words using claim, evidence, counterargument, and ethics connection. The writing prompt measures decision quality and communication quality together.</a:t>
            </a:r>
          </a:p>
          <a:p>
            <a:endParaRPr/>
          </a:p>
          <a:p>
            <a:r>
              <a:t>Third, Conclude with one first control decision and why. The practical priority is mapping this risk to one concrete control and one accountable owner.</a:t>
            </a:r>
          </a:p>
          <a:p>
            <a:endParaRPr/>
          </a:p>
          <a:p>
            <a:r>
              <a:t>A strong response names one first control, supports it with excerpt evidence, addresses one objection, and connects to one ethical principle.</a:t>
            </a:r>
          </a:p>
          <a:p>
            <a:endParaRPr/>
          </a:p>
          <a:p>
            <a:r>
              <a:t>Use this output as both class evidence and professional practice evidence.</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closing section covers Career Pathway Connection. The goal is to convert technical reasoning into clear communication and next-step action.</a:t>
            </a:r>
          </a:p>
          <a:p>
            <a:endParaRPr/>
          </a:p>
          <a:p>
            <a:r>
              <a:t>The closing sequence is where technical knowledge becomes professional output. Strong security work is measured not only by the selected control but by whether the rationale is clear enough for others to execute without ambiguity.</a:t>
            </a:r>
          </a:p>
          <a:p>
            <a:endParaRPr/>
          </a:p>
          <a:p>
            <a:r>
              <a:t>First, Database security analyst: access governance, auditing, and disclosure risk control. The key idea is scope discipline. Narrow access scope limits both accidental misuse and attacker leverage.</a:t>
            </a:r>
          </a:p>
          <a:p>
            <a:endParaRPr/>
          </a:p>
          <a:p>
            <a:r>
              <a:t>Second, Cloud security analyst: configuration assurance, identity hardening, incident triage. The practical priority is mapping this risk to one concrete control and one accountable owner.</a:t>
            </a:r>
          </a:p>
          <a:p>
            <a:endParaRPr/>
          </a:p>
          <a:p>
            <a:r>
              <a:t>Third, Governance/risk roles: policy enforcement, communication quality, accountability. The key idea is scope discipline. Narrow access scope limits both accidental misuse and attacker leverage.</a:t>
            </a:r>
          </a:p>
          <a:p>
            <a:endParaRPr/>
          </a:p>
          <a:p>
            <a:r>
              <a:t>The practical takeaway is to prioritize one immediate control action that reduces harm while preserving evidence quality.</a:t>
            </a:r>
          </a:p>
          <a:p>
            <a:endParaRPr/>
          </a:p>
          <a:p>
            <a:r>
              <a:t>Use this output as both class evidence and professional practice evidence.</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closing section covers Portfolio Artifacts from Week 5. The goal is to convert technical reasoning into clear communication and next-step action.</a:t>
            </a:r>
          </a:p>
          <a:p>
            <a:endParaRPr/>
          </a:p>
          <a:p>
            <a:r>
              <a:t>The closing sequence is where technical knowledge becomes professional output. Strong security work is measured not only by the selected control but by whether the rationale is clear enough for others to execute without ambiguity.</a:t>
            </a:r>
          </a:p>
          <a:p>
            <a:endParaRPr/>
          </a:p>
          <a:p>
            <a:r>
              <a:t>First, Lab mitigation brief with concrete owner and urgency. The response structure should stay concise and repeatable: concern, impact, first action, verification, owner, urgency.</a:t>
            </a:r>
          </a:p>
          <a:p>
            <a:endParaRPr/>
          </a:p>
          <a:p>
            <a:r>
              <a:t>Second, Applied scenario control-prioritization note. The practical priority is mapping this risk to one concrete control and one accountable owner.</a:t>
            </a:r>
          </a:p>
          <a:p>
            <a:endParaRPr/>
          </a:p>
          <a:p>
            <a:r>
              <a:t>Third, Reading response with technical and ethical argument quality. The writing prompt measures decision quality and communication quality together.</a:t>
            </a:r>
          </a:p>
          <a:p>
            <a:endParaRPr/>
          </a:p>
          <a:p>
            <a:r>
              <a:t>The practical takeaway is to prioritize one immediate control action that reduces harm while preserving evidence quality.</a:t>
            </a:r>
          </a:p>
          <a:p>
            <a:endParaRPr/>
          </a:p>
          <a:p>
            <a:r>
              <a:t>Use this output as both class evidence and professional practice evidence.</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closing section covers Exit Ticket and Next Module Preview. The goal is to convert technical reasoning into clear communication and next-step action.</a:t>
            </a:r>
          </a:p>
          <a:p>
            <a:endParaRPr/>
          </a:p>
          <a:p>
            <a:r>
              <a:t>The closing sequence is where technical knowledge becomes professional output. Strong security work is measured not only by the selected control but by whether the rationale is clear enough for others to execute without ambiguity.</a:t>
            </a:r>
          </a:p>
          <a:p>
            <a:endParaRPr/>
          </a:p>
          <a:p>
            <a:r>
              <a:t>First, Exit Q1: one control decision you can defend confidently now. The practical priority is mapping this risk to one concrete control and one accountable owner.</a:t>
            </a:r>
          </a:p>
          <a:p>
            <a:endParaRPr/>
          </a:p>
          <a:p>
            <a:r>
              <a:t>Second, Exit Q2: one concept still unclear. The practical priority is mapping this risk to one concrete control and one accountable owner.</a:t>
            </a:r>
          </a:p>
          <a:p>
            <a:endParaRPr/>
          </a:p>
          <a:p>
            <a:r>
              <a:t>Third, Exit Q3: one artifact you will refine this week. The practical priority is mapping this risk to one concrete control and one accountable owner.</a:t>
            </a:r>
          </a:p>
          <a:p>
            <a:endParaRPr/>
          </a:p>
          <a:p>
            <a:r>
              <a:t>Fourth, Next syllabus focus: Privacy, Law, and Ethics (Chapters 9 and 11). Monitoring should be proportional and purpose-limited to reduce avoidable privacy harm while preserving security value.</a:t>
            </a:r>
          </a:p>
          <a:p>
            <a:endParaRPr/>
          </a:p>
          <a:p>
            <a:r>
              <a:t>The practical takeaway is to prioritize one immediate control action that reduces harm while preserving evidence quality.</a:t>
            </a:r>
          </a:p>
          <a:p>
            <a:endParaRPr/>
          </a:p>
          <a:p>
            <a:r>
              <a:t>Use this output as both class evidence and professional practice evidence.</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closing section covers References and Preparation. The goal is to convert technical reasoning into clear communication and next-step action.</a:t>
            </a:r>
          </a:p>
          <a:p>
            <a:endParaRPr/>
          </a:p>
          <a:p>
            <a:r>
              <a:t>The closing sequence is where technical knowledge becomes professional output. Strong security work is measured not only by the selected control but by whether the rationale is clear enough for others to execute without ambiguity.</a:t>
            </a:r>
          </a:p>
          <a:p>
            <a:endParaRPr/>
          </a:p>
          <a:p>
            <a:r>
              <a:t>First, Security in Computing Chapters 7 and 8. The practical priority is mapping this risk to one concrete control and one accountable owner.</a:t>
            </a:r>
          </a:p>
          <a:p>
            <a:endParaRPr/>
          </a:p>
          <a:p>
            <a:r>
              <a:t>Second, NIST Cybersecurity Framework 2.0 core functions. The practical priority is mapping this risk to one concrete control and one accountable owner.</a:t>
            </a:r>
          </a:p>
          <a:p>
            <a:endParaRPr/>
          </a:p>
          <a:p>
            <a:r>
              <a:t>Third, NIST SSDF and cloud security control references. The practical priority is mapping this risk to one concrete control and one accountable owner.</a:t>
            </a:r>
          </a:p>
          <a:p>
            <a:endParaRPr/>
          </a:p>
          <a:p>
            <a:r>
              <a:t>Fourth, Course files: week 5 deck, lab handout, and reading response prompt. Treat this as a short performance check: mechanism, impact, first control action, and accountable owner.</a:t>
            </a:r>
          </a:p>
          <a:p>
            <a:endParaRPr/>
          </a:p>
          <a:p>
            <a:r>
              <a:t>The practical takeaway is to prioritize one immediate control action that reduces harm while preserving evidence quality.</a:t>
            </a:r>
          </a:p>
          <a:p>
            <a:endParaRPr/>
          </a:p>
          <a:p>
            <a:r>
              <a:t>Use this output as both class evidence and professional practice evidence.</a:t>
            </a:r>
          </a:p>
          <a:p>
            <a:endParaRPr/>
          </a:p>
          <a:p>
            <a:r>
              <a:t>Maintain the same decision order throughout: what happened, what impact is active now, what control executes first, and who owns execution.</a:t>
            </a:r>
          </a:p>
          <a:p>
            <a:endParaRPr/>
          </a:p>
          <a:p>
            <a:r>
              <a:t>When two controls seem equally valid, select the one that reduces current harm fastest while preserving evidence needed for follow-up decisions.</a:t>
            </a:r>
          </a:p>
          <a:p>
            <a:endParaRPr/>
          </a:p>
          <a:p>
            <a:r>
              <a:t>Avoid broad statements that are not testable. Favor a concrete control, a concrete owner role, and a concrete validation step.</a:t>
            </a:r>
          </a:p>
          <a:p>
            <a:endParaRPr/>
          </a:p>
          <a:p>
            <a:r>
              <a:t>This framing keeps technical quality and ethical quality connected instead of treating them as separate conversations.</a:t>
            </a:r>
          </a:p>
          <a:p>
            <a:endParaRPr/>
          </a:p>
          <a:p>
            <a:r>
              <a:t>Maintain the same decision order throughout: what happened, what impact is active now, what control executes first, and who owns execution.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3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55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55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Week 5 Foundation</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Week 5 Module: Databases, Cloud, and Big Data Security</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Textbook focus: Chapter 7 and Chapter 8</a:t>
            </a:r>
          </a:p>
          <a:p>
            <a:pPr>
              <a:lnSpc>
                <a:spcPct val="118000"/>
              </a:lnSpc>
              <a:spcAft>
                <a:spcPts val="1400"/>
              </a:spcAft>
              <a:defRPr sz="2400">
                <a:solidFill>
                  <a:srgbClr val="EEF4FF"/>
                </a:solidFill>
                <a:latin typeface="Calibri"/>
              </a:defRPr>
            </a:pPr>
            <a:r>
              <a:t>Theme: protecting data trust across storage, processing, and cloud services</a:t>
            </a:r>
          </a:p>
          <a:p>
            <a:pPr>
              <a:lnSpc>
                <a:spcPct val="118000"/>
              </a:lnSpc>
              <a:spcAft>
                <a:spcPts val="1400"/>
              </a:spcAft>
              <a:defRPr sz="2400">
                <a:solidFill>
                  <a:srgbClr val="EEF4FF"/>
                </a:solidFill>
                <a:latin typeface="Calibri"/>
              </a:defRPr>
            </a:pPr>
            <a:r>
              <a:t>Deliverables: applied walkthrough, quick lab, and in-class reading response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1/50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3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55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55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Week 5 Foundation</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Learning Objectives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Explain database security goals and common failure paths</a:t>
            </a:r>
          </a:p>
          <a:p>
            <a:pPr>
              <a:lnSpc>
                <a:spcPct val="118000"/>
              </a:lnSpc>
              <a:spcAft>
                <a:spcPts val="1400"/>
              </a:spcAft>
              <a:defRPr sz="2400">
                <a:solidFill>
                  <a:srgbClr val="EEF4FF"/>
                </a:solidFill>
                <a:latin typeface="Calibri"/>
              </a:defRPr>
            </a:pPr>
            <a:r>
              <a:t>Map cloud risks to layered controls and ownership</a:t>
            </a:r>
          </a:p>
          <a:p>
            <a:pPr>
              <a:lnSpc>
                <a:spcPct val="118000"/>
              </a:lnSpc>
              <a:spcAft>
                <a:spcPts val="1400"/>
              </a:spcAft>
              <a:defRPr sz="2400">
                <a:solidFill>
                  <a:srgbClr val="EEF4FF"/>
                </a:solidFill>
                <a:latin typeface="Calibri"/>
              </a:defRPr>
            </a:pPr>
            <a:r>
              <a:t>Prioritize controls for data confidentiality, integrity, and availability</a:t>
            </a:r>
          </a:p>
          <a:p>
            <a:pPr>
              <a:lnSpc>
                <a:spcPct val="118000"/>
              </a:lnSpc>
              <a:spcAft>
                <a:spcPts val="1400"/>
              </a:spcAft>
              <a:defRPr sz="2400">
                <a:solidFill>
                  <a:srgbClr val="EEF4FF"/>
                </a:solidFill>
                <a:latin typeface="Calibri"/>
              </a:defRPr>
            </a:pPr>
            <a:r>
              <a:t>Evaluate privacy tradeoffs in big-data and cloud monitoring practices</a:t>
            </a:r>
          </a:p>
          <a:p>
            <a:pPr>
              <a:lnSpc>
                <a:spcPct val="118000"/>
              </a:lnSpc>
              <a:spcAft>
                <a:spcPts val="1400"/>
              </a:spcAft>
              <a:defRPr sz="2400">
                <a:solidFill>
                  <a:srgbClr val="EEF4FF"/>
                </a:solidFill>
                <a:latin typeface="Calibri"/>
              </a:defRPr>
            </a:pPr>
            <a:r>
              <a:t>Produce concise incident-analysis outputs with accountable owners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4/50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3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55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55C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Week 5 Foundation</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Essential Questions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Why do database incidents often start with access design mistakes?</a:t>
            </a:r>
          </a:p>
          <a:p>
            <a:pPr>
              <a:lnSpc>
                <a:spcPct val="118000"/>
              </a:lnSpc>
              <a:spcAft>
                <a:spcPts val="1400"/>
              </a:spcAft>
              <a:defRPr sz="2400">
                <a:solidFill>
                  <a:srgbClr val="EEF4FF"/>
                </a:solidFill>
                <a:latin typeface="Calibri"/>
              </a:defRPr>
            </a:pPr>
            <a:r>
              <a:t>How does shared responsibility change cloud risk decisions?</a:t>
            </a:r>
          </a:p>
          <a:p>
            <a:pPr>
              <a:lnSpc>
                <a:spcPct val="118000"/>
              </a:lnSpc>
              <a:spcAft>
                <a:spcPts val="1400"/>
              </a:spcAft>
              <a:defRPr sz="2400">
                <a:solidFill>
                  <a:srgbClr val="EEF4FF"/>
                </a:solidFill>
                <a:latin typeface="Calibri"/>
              </a:defRPr>
            </a:pPr>
            <a:r>
              <a:t>Which controls reduce data harm fastest during active incidents?</a:t>
            </a:r>
          </a:p>
          <a:p>
            <a:pPr>
              <a:lnSpc>
                <a:spcPct val="118000"/>
              </a:lnSpc>
              <a:spcAft>
                <a:spcPts val="1400"/>
              </a:spcAft>
              <a:defRPr sz="2400">
                <a:solidFill>
                  <a:srgbClr val="EEF4FF"/>
                </a:solidFill>
                <a:latin typeface="Calibri"/>
              </a:defRPr>
            </a:pPr>
            <a:r>
              <a:t>How can monitoring protect systems without over-collecting user data?</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5/50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Chapter 7 Overview: Database Security</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Databases concentrate high-value assets and trust decisions</a:t>
            </a:r>
          </a:p>
          <a:p>
            <a:pPr>
              <a:lnSpc>
                <a:spcPct val="118000"/>
              </a:lnSpc>
              <a:spcAft>
                <a:spcPts val="1400"/>
              </a:spcAft>
              <a:defRPr sz="2400">
                <a:solidFill>
                  <a:srgbClr val="EEF4FF"/>
                </a:solidFill>
                <a:latin typeface="Calibri"/>
              </a:defRPr>
            </a:pPr>
            <a:r>
              <a:t>Security goals include confidentiality, integrity, availability, and accountability</a:t>
            </a:r>
          </a:p>
          <a:p>
            <a:pPr>
              <a:lnSpc>
                <a:spcPct val="118000"/>
              </a:lnSpc>
              <a:spcAft>
                <a:spcPts val="1400"/>
              </a:spcAft>
              <a:defRPr sz="2400">
                <a:solidFill>
                  <a:srgbClr val="EEF4FF"/>
                </a:solidFill>
                <a:latin typeface="Calibri"/>
              </a:defRPr>
            </a:pPr>
            <a:r>
              <a:t>Design choices in schema, roles, and queries shape exposure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7/50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Database Security Requirements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Element integrity: data values remain correct and protected</a:t>
            </a:r>
          </a:p>
          <a:p>
            <a:pPr>
              <a:lnSpc>
                <a:spcPct val="118000"/>
              </a:lnSpc>
              <a:spcAft>
                <a:spcPts val="1400"/>
              </a:spcAft>
              <a:defRPr sz="2400">
                <a:solidFill>
                  <a:srgbClr val="EEF4FF"/>
                </a:solidFill>
                <a:latin typeface="Calibri"/>
              </a:defRPr>
            </a:pPr>
            <a:r>
              <a:t>Access control: only authorized roles can read or modify data</a:t>
            </a:r>
          </a:p>
          <a:p>
            <a:pPr>
              <a:lnSpc>
                <a:spcPct val="118000"/>
              </a:lnSpc>
              <a:spcAft>
                <a:spcPts val="1400"/>
              </a:spcAft>
              <a:defRPr sz="2400">
                <a:solidFill>
                  <a:srgbClr val="EEF4FF"/>
                </a:solidFill>
                <a:latin typeface="Calibri"/>
              </a:defRPr>
            </a:pPr>
            <a:r>
              <a:t>Availability: service remains usable under failure and attack conditions</a:t>
            </a:r>
          </a:p>
          <a:p>
            <a:pPr>
              <a:lnSpc>
                <a:spcPct val="118000"/>
              </a:lnSpc>
              <a:spcAft>
                <a:spcPts val="1400"/>
              </a:spcAft>
              <a:defRPr sz="2400">
                <a:solidFill>
                  <a:srgbClr val="EEF4FF"/>
                </a:solidFill>
                <a:latin typeface="Calibri"/>
              </a:defRPr>
            </a:pPr>
            <a:r>
              <a:t>Auditability: actions are logged and attributable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8/50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Authentication and Authorization in Databases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Identity proof and role assignment are separate controls</a:t>
            </a:r>
          </a:p>
          <a:p>
            <a:pPr>
              <a:lnSpc>
                <a:spcPct val="118000"/>
              </a:lnSpc>
              <a:spcAft>
                <a:spcPts val="1400"/>
              </a:spcAft>
              <a:defRPr sz="2400">
                <a:solidFill>
                  <a:srgbClr val="EEF4FF"/>
                </a:solidFill>
                <a:latin typeface="Calibri"/>
              </a:defRPr>
            </a:pPr>
            <a:r>
              <a:t>Role design should follow least privilege and separation of duties</a:t>
            </a:r>
          </a:p>
          <a:p>
            <a:pPr>
              <a:lnSpc>
                <a:spcPct val="118000"/>
              </a:lnSpc>
              <a:spcAft>
                <a:spcPts val="1400"/>
              </a:spcAft>
              <a:defRPr sz="2400">
                <a:solidFill>
                  <a:srgbClr val="EEF4FF"/>
                </a:solidFill>
                <a:latin typeface="Calibri"/>
              </a:defRPr>
            </a:pPr>
            <a:r>
              <a:t>Application accounts should not have broad admin rights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9/50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Query Safety and Injection Risk at the Data Layer</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Unsafe query construction can expose or alter protected records</a:t>
            </a:r>
          </a:p>
          <a:p>
            <a:pPr>
              <a:lnSpc>
                <a:spcPct val="118000"/>
              </a:lnSpc>
              <a:spcAft>
                <a:spcPts val="1400"/>
              </a:spcAft>
              <a:defRPr sz="2400">
                <a:solidFill>
                  <a:srgbClr val="EEF4FF"/>
                </a:solidFill>
                <a:latin typeface="Calibri"/>
              </a:defRPr>
            </a:pPr>
            <a:r>
              <a:t>Parameterized queries reduce command-versus-data confusion</a:t>
            </a:r>
          </a:p>
          <a:p>
            <a:pPr>
              <a:lnSpc>
                <a:spcPct val="118000"/>
              </a:lnSpc>
              <a:spcAft>
                <a:spcPts val="1400"/>
              </a:spcAft>
              <a:defRPr sz="2400">
                <a:solidFill>
                  <a:srgbClr val="EEF4FF"/>
                </a:solidFill>
                <a:latin typeface="Calibri"/>
              </a:defRPr>
            </a:pPr>
            <a:r>
              <a:t>Input handling and error behavior influence exploitability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10/50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Least Privilege Database Roles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Read, write, admin, and maintenance actions need distinct boundaries</a:t>
            </a:r>
          </a:p>
          <a:p>
            <a:pPr>
              <a:lnSpc>
                <a:spcPct val="118000"/>
              </a:lnSpc>
              <a:spcAft>
                <a:spcPts val="1400"/>
              </a:spcAft>
              <a:defRPr sz="2400">
                <a:solidFill>
                  <a:srgbClr val="EEF4FF"/>
                </a:solidFill>
                <a:latin typeface="Calibri"/>
              </a:defRPr>
            </a:pPr>
            <a:r>
              <a:t>Service accounts should be scoped to specific tables and actions</a:t>
            </a:r>
          </a:p>
          <a:p>
            <a:pPr>
              <a:lnSpc>
                <a:spcPct val="118000"/>
              </a:lnSpc>
              <a:spcAft>
                <a:spcPts val="1400"/>
              </a:spcAft>
              <a:defRPr sz="2400">
                <a:solidFill>
                  <a:srgbClr val="EEF4FF"/>
                </a:solidFill>
                <a:latin typeface="Calibri"/>
              </a:defRPr>
            </a:pPr>
            <a:r>
              <a:t>Privilege review should be periodic and evidence-based</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11/50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Encryption and Key Management for Databases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In-transit protection and at-rest protection solve different risks</a:t>
            </a:r>
          </a:p>
          <a:p>
            <a:pPr>
              <a:lnSpc>
                <a:spcPct val="118000"/>
              </a:lnSpc>
              <a:spcAft>
                <a:spcPts val="1400"/>
              </a:spcAft>
              <a:defRPr sz="2400">
                <a:solidFill>
                  <a:srgbClr val="EEF4FF"/>
                </a:solidFill>
                <a:latin typeface="Calibri"/>
              </a:defRPr>
            </a:pPr>
            <a:r>
              <a:t>Key custody and rotation policies determine long-term assurance</a:t>
            </a:r>
          </a:p>
          <a:p>
            <a:pPr>
              <a:lnSpc>
                <a:spcPct val="118000"/>
              </a:lnSpc>
              <a:spcAft>
                <a:spcPts val="1400"/>
              </a:spcAft>
              <a:defRPr sz="2400">
                <a:solidFill>
                  <a:srgbClr val="EEF4FF"/>
                </a:solidFill>
                <a:latin typeface="Calibri"/>
              </a:defRPr>
            </a:pPr>
            <a:r>
              <a:t>Encrypted data with weak key governance is still high risk</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12/50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Auditing, Logging, and Accountability</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Sensitive queries and privilege changes should be logged reliably</a:t>
            </a:r>
          </a:p>
          <a:p>
            <a:pPr>
              <a:lnSpc>
                <a:spcPct val="118000"/>
              </a:lnSpc>
              <a:spcAft>
                <a:spcPts val="1400"/>
              </a:spcAft>
              <a:defRPr sz="2400">
                <a:solidFill>
                  <a:srgbClr val="EEF4FF"/>
                </a:solidFill>
                <a:latin typeface="Calibri"/>
              </a:defRPr>
            </a:pPr>
            <a:r>
              <a:t>Audit trails need retention, integrity, and review workflows</a:t>
            </a:r>
          </a:p>
          <a:p>
            <a:pPr>
              <a:lnSpc>
                <a:spcPct val="118000"/>
              </a:lnSpc>
              <a:spcAft>
                <a:spcPts val="1400"/>
              </a:spcAft>
              <a:defRPr sz="2400">
                <a:solidFill>
                  <a:srgbClr val="EEF4FF"/>
                </a:solidFill>
                <a:latin typeface="Calibri"/>
              </a:defRPr>
            </a:pPr>
            <a:r>
              <a:t>Useful logs support fast triage and post-incident reconstruction</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13/50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Backup, Recovery, and Resilience</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Backups reduce downtime and data-loss impact</a:t>
            </a:r>
          </a:p>
          <a:p>
            <a:pPr>
              <a:lnSpc>
                <a:spcPct val="118000"/>
              </a:lnSpc>
              <a:spcAft>
                <a:spcPts val="1400"/>
              </a:spcAft>
              <a:defRPr sz="2400">
                <a:solidFill>
                  <a:srgbClr val="EEF4FF"/>
                </a:solidFill>
                <a:latin typeface="Calibri"/>
              </a:defRPr>
            </a:pPr>
            <a:r>
              <a:t>Restore testing is required to prove recovery readiness</a:t>
            </a:r>
          </a:p>
          <a:p>
            <a:pPr>
              <a:lnSpc>
                <a:spcPct val="118000"/>
              </a:lnSpc>
              <a:spcAft>
                <a:spcPts val="1400"/>
              </a:spcAft>
              <a:defRPr sz="2400">
                <a:solidFill>
                  <a:srgbClr val="EEF4FF"/>
                </a:solidFill>
                <a:latin typeface="Calibri"/>
              </a:defRPr>
            </a:pPr>
            <a:r>
              <a:t>Recovery plans should define roles, sequencing, and communication</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14/50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Concurrency, Consistency, and Data Integrity</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Concurrent operations can create integrity errors without proper controls</a:t>
            </a:r>
          </a:p>
          <a:p>
            <a:pPr>
              <a:lnSpc>
                <a:spcPct val="118000"/>
              </a:lnSpc>
              <a:spcAft>
                <a:spcPts val="1400"/>
              </a:spcAft>
              <a:defRPr sz="2400">
                <a:solidFill>
                  <a:srgbClr val="EEF4FF"/>
                </a:solidFill>
                <a:latin typeface="Calibri"/>
              </a:defRPr>
            </a:pPr>
            <a:r>
              <a:t>Transaction models and locking strategies reduce inconsistency</a:t>
            </a:r>
          </a:p>
          <a:p>
            <a:pPr>
              <a:lnSpc>
                <a:spcPct val="118000"/>
              </a:lnSpc>
              <a:spcAft>
                <a:spcPts val="1400"/>
              </a:spcAft>
              <a:defRPr sz="2400">
                <a:solidFill>
                  <a:srgbClr val="EEF4FF"/>
                </a:solidFill>
                <a:latin typeface="Calibri"/>
              </a:defRPr>
            </a:pPr>
            <a:r>
              <a:t>Integrity failures can be silent and operationally expensive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15/50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Database Disclosure Risks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Direct disclosure exposes raw sensitive records</a:t>
            </a:r>
          </a:p>
          <a:p>
            <a:pPr>
              <a:lnSpc>
                <a:spcPct val="118000"/>
              </a:lnSpc>
              <a:spcAft>
                <a:spcPts val="1400"/>
              </a:spcAft>
              <a:defRPr sz="2400">
                <a:solidFill>
                  <a:srgbClr val="EEF4FF"/>
                </a:solidFill>
                <a:latin typeface="Calibri"/>
              </a:defRPr>
            </a:pPr>
            <a:r>
              <a:t>Inference disclosure combines harmless fields into sensitive conclusions</a:t>
            </a:r>
          </a:p>
          <a:p>
            <a:pPr>
              <a:lnSpc>
                <a:spcPct val="118000"/>
              </a:lnSpc>
              <a:spcAft>
                <a:spcPts val="1400"/>
              </a:spcAft>
              <a:defRPr sz="2400">
                <a:solidFill>
                  <a:srgbClr val="EEF4FF"/>
                </a:solidFill>
                <a:latin typeface="Calibri"/>
              </a:defRPr>
            </a:pPr>
            <a:r>
              <a:t>Linkage across datasets can re-identify users unexpectedly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16/50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Suppression, Anonymization, and Their Limits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Masking and suppression can reduce risk but may reduce utility</a:t>
            </a:r>
          </a:p>
          <a:p>
            <a:pPr>
              <a:lnSpc>
                <a:spcPct val="118000"/>
              </a:lnSpc>
              <a:spcAft>
                <a:spcPts val="1400"/>
              </a:spcAft>
              <a:defRPr sz="2400">
                <a:solidFill>
                  <a:srgbClr val="EEF4FF"/>
                </a:solidFill>
                <a:latin typeface="Calibri"/>
              </a:defRPr>
            </a:pPr>
            <a:r>
              <a:t>De-identification is not equivalent to zero re-identification risk</a:t>
            </a:r>
          </a:p>
          <a:p>
            <a:pPr>
              <a:lnSpc>
                <a:spcPct val="118000"/>
              </a:lnSpc>
              <a:spcAft>
                <a:spcPts val="1400"/>
              </a:spcAft>
              <a:defRPr sz="2400">
                <a:solidFill>
                  <a:srgbClr val="EEF4FF"/>
                </a:solidFill>
                <a:latin typeface="Calibri"/>
              </a:defRPr>
            </a:pPr>
            <a:r>
              <a:t>Risk decisions should be documented with purpose and retention limits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17/50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Big Data Security Concerns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Scale and velocity increase attack surface and governance complexity</a:t>
            </a:r>
          </a:p>
          <a:p>
            <a:pPr>
              <a:lnSpc>
                <a:spcPct val="118000"/>
              </a:lnSpc>
              <a:spcAft>
                <a:spcPts val="1400"/>
              </a:spcAft>
              <a:defRPr sz="2400">
                <a:solidFill>
                  <a:srgbClr val="EEF4FF"/>
                </a:solidFill>
                <a:latin typeface="Calibri"/>
              </a:defRPr>
            </a:pPr>
            <a:r>
              <a:t>Data pipelines create multiple trust boundaries</a:t>
            </a:r>
          </a:p>
          <a:p>
            <a:pPr>
              <a:lnSpc>
                <a:spcPct val="118000"/>
              </a:lnSpc>
              <a:spcAft>
                <a:spcPts val="1400"/>
              </a:spcAft>
              <a:defRPr sz="2400">
                <a:solidFill>
                  <a:srgbClr val="EEF4FF"/>
                </a:solidFill>
                <a:latin typeface="Calibri"/>
              </a:defRPr>
            </a:pPr>
            <a:r>
              <a:t>Collection without purpose control becomes privacy and compliance risk</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18/50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7BD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7 Databases</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Database Incident Response Pattern</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Detect abnormal access or query behavior</a:t>
            </a:r>
          </a:p>
          <a:p>
            <a:pPr>
              <a:lnSpc>
                <a:spcPct val="118000"/>
              </a:lnSpc>
              <a:spcAft>
                <a:spcPts val="1400"/>
              </a:spcAft>
              <a:defRPr sz="2400">
                <a:solidFill>
                  <a:srgbClr val="EEF4FF"/>
                </a:solidFill>
                <a:latin typeface="Calibri"/>
              </a:defRPr>
            </a:pPr>
            <a:r>
              <a:t>Contain access scope and rotate exposed credentials</a:t>
            </a:r>
          </a:p>
          <a:p>
            <a:pPr>
              <a:lnSpc>
                <a:spcPct val="118000"/>
              </a:lnSpc>
              <a:spcAft>
                <a:spcPts val="1400"/>
              </a:spcAft>
              <a:defRPr sz="2400">
                <a:solidFill>
                  <a:srgbClr val="EEF4FF"/>
                </a:solidFill>
                <a:latin typeface="Calibri"/>
              </a:defRPr>
            </a:pPr>
            <a:r>
              <a:t>Validate integrity, recover service, and document root cause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19/50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Chapter 8 Overview: Cloud Security</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Cloud security combines technical controls and provider governance</a:t>
            </a:r>
          </a:p>
          <a:p>
            <a:pPr>
              <a:lnSpc>
                <a:spcPct val="118000"/>
              </a:lnSpc>
              <a:spcAft>
                <a:spcPts val="1400"/>
              </a:spcAft>
              <a:defRPr sz="2400">
                <a:solidFill>
                  <a:srgbClr val="EEF4FF"/>
                </a:solidFill>
                <a:latin typeface="Calibri"/>
              </a:defRPr>
            </a:pPr>
            <a:r>
              <a:t>Risk depends on service model and deployment model choices</a:t>
            </a:r>
          </a:p>
          <a:p>
            <a:pPr>
              <a:lnSpc>
                <a:spcPct val="118000"/>
              </a:lnSpc>
              <a:spcAft>
                <a:spcPts val="1400"/>
              </a:spcAft>
              <a:defRPr sz="2400">
                <a:solidFill>
                  <a:srgbClr val="EEF4FF"/>
                </a:solidFill>
                <a:latin typeface="Calibri"/>
              </a:defRPr>
            </a:pPr>
            <a:r>
              <a:t>Strong outcomes require clear ownership boundaries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21/50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Cloud Service Models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IaaS: customer controls more infrastructure decisions</a:t>
            </a:r>
          </a:p>
          <a:p>
            <a:pPr>
              <a:lnSpc>
                <a:spcPct val="118000"/>
              </a:lnSpc>
              <a:spcAft>
                <a:spcPts val="1400"/>
              </a:spcAft>
              <a:defRPr sz="2400">
                <a:solidFill>
                  <a:srgbClr val="EEF4FF"/>
                </a:solidFill>
                <a:latin typeface="Calibri"/>
              </a:defRPr>
            </a:pPr>
            <a:r>
              <a:t>PaaS: provider manages platform layer while customer manages app/data</a:t>
            </a:r>
          </a:p>
          <a:p>
            <a:pPr>
              <a:lnSpc>
                <a:spcPct val="118000"/>
              </a:lnSpc>
              <a:spcAft>
                <a:spcPts val="1400"/>
              </a:spcAft>
              <a:defRPr sz="2400">
                <a:solidFill>
                  <a:srgbClr val="EEF4FF"/>
                </a:solidFill>
                <a:latin typeface="Calibri"/>
              </a:defRPr>
            </a:pPr>
            <a:r>
              <a:t>SaaS: provider handles most stack operations, customer governs use and data policy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22/50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Cloud Deployment Models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Public cloud prioritizes elasticity and shared infrastructure</a:t>
            </a:r>
          </a:p>
          <a:p>
            <a:pPr>
              <a:lnSpc>
                <a:spcPct val="118000"/>
              </a:lnSpc>
              <a:spcAft>
                <a:spcPts val="1400"/>
              </a:spcAft>
              <a:defRPr sz="2400">
                <a:solidFill>
                  <a:srgbClr val="EEF4FF"/>
                </a:solidFill>
                <a:latin typeface="Calibri"/>
              </a:defRPr>
            </a:pPr>
            <a:r>
              <a:t>Private cloud can improve control but increases local management burden</a:t>
            </a:r>
          </a:p>
          <a:p>
            <a:pPr>
              <a:lnSpc>
                <a:spcPct val="118000"/>
              </a:lnSpc>
              <a:spcAft>
                <a:spcPts val="1400"/>
              </a:spcAft>
              <a:defRPr sz="2400">
                <a:solidFill>
                  <a:srgbClr val="EEF4FF"/>
                </a:solidFill>
                <a:latin typeface="Calibri"/>
              </a:defRPr>
            </a:pPr>
            <a:r>
              <a:t>Hybrid models require clear boundary governance to avoid drift</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23/50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Shared Responsibility Model</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Provider and customer responsibilities are different, not interchangeable</a:t>
            </a:r>
          </a:p>
          <a:p>
            <a:pPr>
              <a:lnSpc>
                <a:spcPct val="118000"/>
              </a:lnSpc>
              <a:spcAft>
                <a:spcPts val="1400"/>
              </a:spcAft>
              <a:defRPr sz="2400">
                <a:solidFill>
                  <a:srgbClr val="EEF4FF"/>
                </a:solidFill>
                <a:latin typeface="Calibri"/>
              </a:defRPr>
            </a:pPr>
            <a:r>
              <a:t>Misunderstood ownership is a common root cause in cloud incidents</a:t>
            </a:r>
          </a:p>
          <a:p>
            <a:pPr>
              <a:lnSpc>
                <a:spcPct val="118000"/>
              </a:lnSpc>
              <a:spcAft>
                <a:spcPts val="1400"/>
              </a:spcAft>
              <a:defRPr sz="2400">
                <a:solidFill>
                  <a:srgbClr val="EEF4FF"/>
                </a:solidFill>
                <a:latin typeface="Calibri"/>
              </a:defRPr>
            </a:pPr>
            <a:r>
              <a:t>Control maps should name owner and validation evidence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24/50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Cloud Identity and Access Control</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Centralized identity and role design reduce privilege sprawl</a:t>
            </a:r>
          </a:p>
          <a:p>
            <a:pPr>
              <a:lnSpc>
                <a:spcPct val="118000"/>
              </a:lnSpc>
              <a:spcAft>
                <a:spcPts val="1400"/>
              </a:spcAft>
              <a:defRPr sz="2400">
                <a:solidFill>
                  <a:srgbClr val="EEF4FF"/>
                </a:solidFill>
                <a:latin typeface="Calibri"/>
              </a:defRPr>
            </a:pPr>
            <a:r>
              <a:t>Strong MFA and conditional access reduce account takeover risk</a:t>
            </a:r>
          </a:p>
          <a:p>
            <a:pPr>
              <a:lnSpc>
                <a:spcPct val="118000"/>
              </a:lnSpc>
              <a:spcAft>
                <a:spcPts val="1400"/>
              </a:spcAft>
              <a:defRPr sz="2400">
                <a:solidFill>
                  <a:srgbClr val="EEF4FF"/>
                </a:solidFill>
                <a:latin typeface="Calibri"/>
              </a:defRPr>
            </a:pPr>
            <a:r>
              <a:t>Temporary elevated access should be short-lived and auditable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25/50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Storage Misconfiguration Risk</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Public bucket or object exposure is a high-frequency cloud failure</a:t>
            </a:r>
          </a:p>
          <a:p>
            <a:pPr>
              <a:lnSpc>
                <a:spcPct val="118000"/>
              </a:lnSpc>
              <a:spcAft>
                <a:spcPts val="1400"/>
              </a:spcAft>
              <a:defRPr sz="2400">
                <a:solidFill>
                  <a:srgbClr val="EEF4FF"/>
                </a:solidFill>
                <a:latin typeface="Calibri"/>
              </a:defRPr>
            </a:pPr>
            <a:r>
              <a:t>Default-deny policies and policy-as-code reduce misconfiguration risk</a:t>
            </a:r>
          </a:p>
          <a:p>
            <a:pPr>
              <a:lnSpc>
                <a:spcPct val="118000"/>
              </a:lnSpc>
              <a:spcAft>
                <a:spcPts val="1400"/>
              </a:spcAft>
              <a:defRPr sz="2400">
                <a:solidFill>
                  <a:srgbClr val="EEF4FF"/>
                </a:solidFill>
                <a:latin typeface="Calibri"/>
              </a:defRPr>
            </a:pPr>
            <a:r>
              <a:t>Continuous configuration scanning improves detection speed</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26/50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Secrets and Key Management in Cloud Workloads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Hard-coded secrets create persistent compromise risk</a:t>
            </a:r>
          </a:p>
          <a:p>
            <a:pPr>
              <a:lnSpc>
                <a:spcPct val="118000"/>
              </a:lnSpc>
              <a:spcAft>
                <a:spcPts val="1400"/>
              </a:spcAft>
              <a:defRPr sz="2400">
                <a:solidFill>
                  <a:srgbClr val="EEF4FF"/>
                </a:solidFill>
                <a:latin typeface="Calibri"/>
              </a:defRPr>
            </a:pPr>
            <a:r>
              <a:t>Managed secret stores and rotation workflows reduce exposure time</a:t>
            </a:r>
          </a:p>
          <a:p>
            <a:pPr>
              <a:lnSpc>
                <a:spcPct val="118000"/>
              </a:lnSpc>
              <a:spcAft>
                <a:spcPts val="1400"/>
              </a:spcAft>
              <a:defRPr sz="2400">
                <a:solidFill>
                  <a:srgbClr val="EEF4FF"/>
                </a:solidFill>
                <a:latin typeface="Calibri"/>
              </a:defRPr>
            </a:pPr>
            <a:r>
              <a:t>Access to keys and secrets should be role-limited and monitored</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27/50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Cloud Network Security Controls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Security groups and network ACLs implement path-level trust boundaries</a:t>
            </a:r>
          </a:p>
          <a:p>
            <a:pPr>
              <a:lnSpc>
                <a:spcPct val="118000"/>
              </a:lnSpc>
              <a:spcAft>
                <a:spcPts val="1400"/>
              </a:spcAft>
              <a:defRPr sz="2400">
                <a:solidFill>
                  <a:srgbClr val="EEF4FF"/>
                </a:solidFill>
                <a:latin typeface="Calibri"/>
              </a:defRPr>
            </a:pPr>
            <a:r>
              <a:t>Segmentation should align to workload sensitivity and business function</a:t>
            </a:r>
          </a:p>
          <a:p>
            <a:pPr>
              <a:lnSpc>
                <a:spcPct val="118000"/>
              </a:lnSpc>
              <a:spcAft>
                <a:spcPts val="1400"/>
              </a:spcAft>
              <a:defRPr sz="2400">
                <a:solidFill>
                  <a:srgbClr val="EEF4FF"/>
                </a:solidFill>
                <a:latin typeface="Calibri"/>
              </a:defRPr>
            </a:pPr>
            <a:r>
              <a:t>East-west traffic visibility improves lateral movement detection</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28/50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Cloud Logging and Detection</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Control-plane logs and workload logs provide complementary visibility</a:t>
            </a:r>
          </a:p>
          <a:p>
            <a:pPr>
              <a:lnSpc>
                <a:spcPct val="118000"/>
              </a:lnSpc>
              <a:spcAft>
                <a:spcPts val="1400"/>
              </a:spcAft>
              <a:defRPr sz="2400">
                <a:solidFill>
                  <a:srgbClr val="EEF4FF"/>
                </a:solidFill>
                <a:latin typeface="Calibri"/>
              </a:defRPr>
            </a:pPr>
            <a:r>
              <a:t>Detection rules should prioritize high-confidence abuse patterns</a:t>
            </a:r>
          </a:p>
          <a:p>
            <a:pPr>
              <a:lnSpc>
                <a:spcPct val="118000"/>
              </a:lnSpc>
              <a:spcAft>
                <a:spcPts val="1400"/>
              </a:spcAft>
              <a:defRPr sz="2400">
                <a:solidFill>
                  <a:srgbClr val="EEF4FF"/>
                </a:solidFill>
                <a:latin typeface="Calibri"/>
              </a:defRPr>
            </a:pPr>
            <a:r>
              <a:t>Alert quality determines whether teams act early or late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29/50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Container and Workload Security Basics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Base image hygiene and runtime controls reduce workload risk</a:t>
            </a:r>
          </a:p>
          <a:p>
            <a:pPr>
              <a:lnSpc>
                <a:spcPct val="118000"/>
              </a:lnSpc>
              <a:spcAft>
                <a:spcPts val="1400"/>
              </a:spcAft>
              <a:defRPr sz="2400">
                <a:solidFill>
                  <a:srgbClr val="EEF4FF"/>
                </a:solidFill>
                <a:latin typeface="Calibri"/>
              </a:defRPr>
            </a:pPr>
            <a:r>
              <a:t>Supply-chain integrity is a cloud-security dependency</a:t>
            </a:r>
          </a:p>
          <a:p>
            <a:pPr>
              <a:lnSpc>
                <a:spcPct val="118000"/>
              </a:lnSpc>
              <a:spcAft>
                <a:spcPts val="1400"/>
              </a:spcAft>
              <a:defRPr sz="2400">
                <a:solidFill>
                  <a:srgbClr val="EEF4FF"/>
                </a:solidFill>
                <a:latin typeface="Calibri"/>
              </a:defRPr>
            </a:pPr>
            <a:r>
              <a:t>Least privilege applies to workload identity too</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30/50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Cloud Provider Assessment and Governance</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Provider evaluation should include security capability and incident transparency</a:t>
            </a:r>
          </a:p>
          <a:p>
            <a:pPr>
              <a:lnSpc>
                <a:spcPct val="118000"/>
              </a:lnSpc>
              <a:spcAft>
                <a:spcPts val="1400"/>
              </a:spcAft>
              <a:defRPr sz="2400">
                <a:solidFill>
                  <a:srgbClr val="EEF4FF"/>
                </a:solidFill>
                <a:latin typeface="Calibri"/>
              </a:defRPr>
            </a:pPr>
            <a:r>
              <a:t>Contract terms should define logging, notification, and recovery obligations</a:t>
            </a:r>
          </a:p>
          <a:p>
            <a:pPr>
              <a:lnSpc>
                <a:spcPct val="118000"/>
              </a:lnSpc>
              <a:spcAft>
                <a:spcPts val="1400"/>
              </a:spcAft>
              <a:defRPr sz="2400">
                <a:solidFill>
                  <a:srgbClr val="EEF4FF"/>
                </a:solidFill>
                <a:latin typeface="Calibri"/>
              </a:defRPr>
            </a:pPr>
            <a:r>
              <a:t>Governance reviews should revisit risk assumptions as environments change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31/50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Cloud Incident Response</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Contain by reducing exposed access paths and rotating credentials</a:t>
            </a:r>
          </a:p>
          <a:p>
            <a:pPr>
              <a:lnSpc>
                <a:spcPct val="118000"/>
              </a:lnSpc>
              <a:spcAft>
                <a:spcPts val="1400"/>
              </a:spcAft>
              <a:defRPr sz="2400">
                <a:solidFill>
                  <a:srgbClr val="EEF4FF"/>
                </a:solidFill>
                <a:latin typeface="Calibri"/>
              </a:defRPr>
            </a:pPr>
            <a:r>
              <a:t>Preserve cloud logs and snapshots for evidence integrity</a:t>
            </a:r>
          </a:p>
          <a:p>
            <a:pPr>
              <a:lnSpc>
                <a:spcPct val="118000"/>
              </a:lnSpc>
              <a:spcAft>
                <a:spcPts val="1400"/>
              </a:spcAft>
              <a:defRPr sz="2400">
                <a:solidFill>
                  <a:srgbClr val="EEF4FF"/>
                </a:solidFill>
                <a:latin typeface="Calibri"/>
              </a:defRPr>
            </a:pPr>
            <a:r>
              <a:t>Recover with validated configuration baselines and post-incident control updates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32/50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Privacy and Compliance in Cloud Data Processing</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Data location, retention, and access scope affect legal and ethical risk</a:t>
            </a:r>
          </a:p>
          <a:p>
            <a:pPr>
              <a:lnSpc>
                <a:spcPct val="118000"/>
              </a:lnSpc>
              <a:spcAft>
                <a:spcPts val="1400"/>
              </a:spcAft>
              <a:defRPr sz="2400">
                <a:solidFill>
                  <a:srgbClr val="EEF4FF"/>
                </a:solidFill>
                <a:latin typeface="Calibri"/>
              </a:defRPr>
            </a:pPr>
            <a:r>
              <a:t>Purpose limitation and minimization reduce privacy harm</a:t>
            </a:r>
          </a:p>
          <a:p>
            <a:pPr>
              <a:lnSpc>
                <a:spcPct val="118000"/>
              </a:lnSpc>
              <a:spcAft>
                <a:spcPts val="1400"/>
              </a:spcAft>
              <a:defRPr sz="2400">
                <a:solidFill>
                  <a:srgbClr val="EEF4FF"/>
                </a:solidFill>
                <a:latin typeface="Calibri"/>
              </a:defRPr>
            </a:pPr>
            <a:r>
              <a:t>Governance quality is measured by enforceable policy, not policy wording</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33/50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8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6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Chapter 8 Cloud</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Chapter 8 Checkpoint</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Prompt 1: explain one shared-responsibility failure path</a:t>
            </a:r>
          </a:p>
          <a:p>
            <a:pPr>
              <a:lnSpc>
                <a:spcPct val="118000"/>
              </a:lnSpc>
              <a:spcAft>
                <a:spcPts val="1400"/>
              </a:spcAft>
              <a:defRPr sz="2400">
                <a:solidFill>
                  <a:srgbClr val="EEF4FF"/>
                </a:solidFill>
                <a:latin typeface="Calibri"/>
              </a:defRPr>
            </a:pPr>
            <a:r>
              <a:t>Prompt 2: pick one cloud control that reduces disclosure risk fastest</a:t>
            </a:r>
          </a:p>
          <a:p>
            <a:pPr>
              <a:lnSpc>
                <a:spcPct val="118000"/>
              </a:lnSpc>
              <a:spcAft>
                <a:spcPts val="1400"/>
              </a:spcAft>
              <a:defRPr sz="2400">
                <a:solidFill>
                  <a:srgbClr val="EEF4FF"/>
                </a:solidFill>
                <a:latin typeface="Calibri"/>
              </a:defRPr>
            </a:pPr>
            <a:r>
              <a:t>Prompt 3: connect one cloud monitoring choice to an ethical boundary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34/50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E2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Applied Walkthrough: Misconfigured Cloud Database Exposure</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Issue: cloud storage policy drift exposed sensitive student-support exports</a:t>
            </a:r>
          </a:p>
          <a:p>
            <a:pPr>
              <a:lnSpc>
                <a:spcPct val="118000"/>
              </a:lnSpc>
              <a:spcAft>
                <a:spcPts val="1400"/>
              </a:spcAft>
              <a:defRPr sz="2400">
                <a:solidFill>
                  <a:srgbClr val="EEF4FF"/>
                </a:solidFill>
                <a:latin typeface="Calibri"/>
              </a:defRPr>
            </a:pPr>
            <a:r>
              <a:t>Complication: API token reuse enabled repeated unauthorized data pulls</a:t>
            </a:r>
          </a:p>
          <a:p>
            <a:pPr>
              <a:lnSpc>
                <a:spcPct val="118000"/>
              </a:lnSpc>
              <a:spcAft>
                <a:spcPts val="1400"/>
              </a:spcAft>
              <a:defRPr sz="2400">
                <a:solidFill>
                  <a:srgbClr val="EEF4FF"/>
                </a:solidFill>
                <a:latin typeface="Calibri"/>
              </a:defRPr>
            </a:pPr>
            <a:r>
              <a:t>Impact: confidentiality risk increased while portal performance remained mostly normal</a:t>
            </a:r>
          </a:p>
          <a:p>
            <a:pPr>
              <a:lnSpc>
                <a:spcPct val="118000"/>
              </a:lnSpc>
              <a:spcAft>
                <a:spcPts val="1400"/>
              </a:spcAft>
              <a:defRPr sz="2400">
                <a:solidFill>
                  <a:srgbClr val="EEF4FF"/>
                </a:solidFill>
                <a:latin typeface="Calibri"/>
              </a:defRPr>
            </a:pPr>
            <a:r>
              <a:t>Challenge: contain quietly but communicate transparently and quickly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35/50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E2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Incident Timeline</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09:05 policy change unintentionally widened object access scope</a:t>
            </a:r>
          </a:p>
          <a:p>
            <a:pPr>
              <a:lnSpc>
                <a:spcPct val="118000"/>
              </a:lnSpc>
              <a:spcAft>
                <a:spcPts val="1400"/>
              </a:spcAft>
              <a:defRPr sz="2400">
                <a:solidFill>
                  <a:srgbClr val="EEF4FF"/>
                </a:solidFill>
                <a:latin typeface="Calibri"/>
              </a:defRPr>
            </a:pPr>
            <a:r>
              <a:t>09:22 unusual API read volume began from unfamiliar source</a:t>
            </a:r>
          </a:p>
          <a:p>
            <a:pPr>
              <a:lnSpc>
                <a:spcPct val="118000"/>
              </a:lnSpc>
              <a:spcAft>
                <a:spcPts val="1400"/>
              </a:spcAft>
              <a:defRPr sz="2400">
                <a:solidFill>
                  <a:srgbClr val="EEF4FF"/>
                </a:solidFill>
                <a:latin typeface="Calibri"/>
              </a:defRPr>
            </a:pPr>
            <a:r>
              <a:t>09:40 security monitoring flagged repeated export patterns</a:t>
            </a:r>
          </a:p>
          <a:p>
            <a:pPr>
              <a:lnSpc>
                <a:spcPct val="118000"/>
              </a:lnSpc>
              <a:spcAft>
                <a:spcPts val="1400"/>
              </a:spcAft>
              <a:defRPr sz="2400">
                <a:solidFill>
                  <a:srgbClr val="EEF4FF"/>
                </a:solidFill>
                <a:latin typeface="Calibri"/>
              </a:defRPr>
            </a:pPr>
            <a:r>
              <a:t>10:05 token rotation and access tightening started</a:t>
            </a:r>
          </a:p>
          <a:p>
            <a:pPr>
              <a:lnSpc>
                <a:spcPct val="118000"/>
              </a:lnSpc>
              <a:spcAft>
                <a:spcPts val="1400"/>
              </a:spcAft>
              <a:defRPr sz="2400">
                <a:solidFill>
                  <a:srgbClr val="EEF4FF"/>
                </a:solidFill>
                <a:latin typeface="Calibri"/>
              </a:defRPr>
            </a:pPr>
            <a:r>
              <a:t>10:30 communication and user-support workflow initiated</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36/50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E2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Root Causes and Trust Failures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Configuration review controls were incomplete for one deployment path</a:t>
            </a:r>
          </a:p>
          <a:p>
            <a:pPr>
              <a:lnSpc>
                <a:spcPct val="118000"/>
              </a:lnSpc>
              <a:spcAft>
                <a:spcPts val="1400"/>
              </a:spcAft>
              <a:defRPr sz="2400">
                <a:solidFill>
                  <a:srgbClr val="EEF4FF"/>
                </a:solidFill>
                <a:latin typeface="Calibri"/>
              </a:defRPr>
            </a:pPr>
            <a:r>
              <a:t>Token lifecycle governance allowed excessive reuse duration</a:t>
            </a:r>
          </a:p>
          <a:p>
            <a:pPr>
              <a:lnSpc>
                <a:spcPct val="118000"/>
              </a:lnSpc>
              <a:spcAft>
                <a:spcPts val="1400"/>
              </a:spcAft>
              <a:defRPr sz="2400">
                <a:solidFill>
                  <a:srgbClr val="EEF4FF"/>
                </a:solidFill>
                <a:latin typeface="Calibri"/>
              </a:defRPr>
            </a:pPr>
            <a:r>
              <a:t>Detection rules existed but escalation threshold was too conservative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37/50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E2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Control Prioritization: First 30 Days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Days 1-3: close exposure paths and rotate credentials/tokens</a:t>
            </a:r>
          </a:p>
          <a:p>
            <a:pPr>
              <a:lnSpc>
                <a:spcPct val="118000"/>
              </a:lnSpc>
              <a:spcAft>
                <a:spcPts val="1400"/>
              </a:spcAft>
              <a:defRPr sz="2400">
                <a:solidFill>
                  <a:srgbClr val="EEF4FF"/>
                </a:solidFill>
                <a:latin typeface="Calibri"/>
              </a:defRPr>
            </a:pPr>
            <a:r>
              <a:t>Week 1: enforce configuration guardrails and policy-as-code checks</a:t>
            </a:r>
          </a:p>
          <a:p>
            <a:pPr>
              <a:lnSpc>
                <a:spcPct val="118000"/>
              </a:lnSpc>
              <a:spcAft>
                <a:spcPts val="1400"/>
              </a:spcAft>
              <a:defRPr sz="2400">
                <a:solidFill>
                  <a:srgbClr val="EEF4FF"/>
                </a:solidFill>
                <a:latin typeface="Calibri"/>
              </a:defRPr>
            </a:pPr>
            <a:r>
              <a:t>Week 2-3: improve high-confidence detections and escalation triggers</a:t>
            </a:r>
          </a:p>
          <a:p>
            <a:pPr>
              <a:lnSpc>
                <a:spcPct val="118000"/>
              </a:lnSpc>
              <a:spcAft>
                <a:spcPts val="1400"/>
              </a:spcAft>
              <a:defRPr sz="2400">
                <a:solidFill>
                  <a:srgbClr val="EEF4FF"/>
                </a:solidFill>
                <a:latin typeface="Calibri"/>
              </a:defRPr>
            </a:pPr>
            <a:r>
              <a:t>Week 4: finalize communication, support, and governance updates</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38/50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E2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FFB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Applied Walkthrough</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Ethics and Communication</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Notify affected users with clear actions they can take immediately</a:t>
            </a:r>
          </a:p>
          <a:p>
            <a:pPr>
              <a:lnSpc>
                <a:spcPct val="118000"/>
              </a:lnSpc>
              <a:spcAft>
                <a:spcPts val="1400"/>
              </a:spcAft>
              <a:defRPr sz="2400">
                <a:solidFill>
                  <a:srgbClr val="EEF4FF"/>
                </a:solidFill>
                <a:latin typeface="Calibri"/>
              </a:defRPr>
            </a:pPr>
            <a:r>
              <a:t>Provide support channels and realistic recovery guidance</a:t>
            </a:r>
          </a:p>
          <a:p>
            <a:pPr>
              <a:lnSpc>
                <a:spcPct val="118000"/>
              </a:lnSpc>
              <a:spcAft>
                <a:spcPts val="1400"/>
              </a:spcAft>
              <a:defRPr sz="2400">
                <a:solidFill>
                  <a:srgbClr val="EEF4FF"/>
                </a:solidFill>
                <a:latin typeface="Calibri"/>
              </a:defRPr>
            </a:pPr>
            <a:r>
              <a:t>Explain what changed to reduce recurrence risk</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39/50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23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Quick Lab</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Quick Lab: Overview</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Duration: 20-25 minutes, individual work</a:t>
            </a:r>
          </a:p>
          <a:p>
            <a:pPr>
              <a:lnSpc>
                <a:spcPct val="118000"/>
              </a:lnSpc>
              <a:spcAft>
                <a:spcPts val="1400"/>
              </a:spcAft>
              <a:defRPr sz="2400">
                <a:solidFill>
                  <a:srgbClr val="EEF4FF"/>
                </a:solidFill>
                <a:latin typeface="Calibri"/>
              </a:defRPr>
            </a:pPr>
            <a:r>
              <a:t>Task: analyze database and cloud evidence samples</a:t>
            </a:r>
          </a:p>
          <a:p>
            <a:pPr>
              <a:lnSpc>
                <a:spcPct val="118000"/>
              </a:lnSpc>
              <a:spcAft>
                <a:spcPts val="1400"/>
              </a:spcAft>
              <a:defRPr sz="2400">
                <a:solidFill>
                  <a:srgbClr val="EEF4FF"/>
                </a:solidFill>
                <a:latin typeface="Calibri"/>
              </a:defRPr>
            </a:pPr>
            <a:r>
              <a:t>Lab samples are distinct from the walkthrough scenario</a:t>
            </a:r>
          </a:p>
          <a:p>
            <a:pPr>
              <a:lnSpc>
                <a:spcPct val="118000"/>
              </a:lnSpc>
              <a:spcAft>
                <a:spcPts val="1400"/>
              </a:spcAft>
              <a:defRPr sz="2400">
                <a:solidFill>
                  <a:srgbClr val="EEF4FF"/>
                </a:solidFill>
                <a:latin typeface="Calibri"/>
              </a:defRPr>
            </a:pPr>
            <a:r>
              <a:t>Output: one-page mitigation brief with owner and urgency for each action</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40/50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23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Quick Lab</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How to Answer the Lab Questions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Step 1: one-sentence concern based on evidence</a:t>
            </a:r>
          </a:p>
          <a:p>
            <a:pPr>
              <a:lnSpc>
                <a:spcPct val="118000"/>
              </a:lnSpc>
              <a:spcAft>
                <a:spcPts val="1400"/>
              </a:spcAft>
              <a:defRPr sz="2400">
                <a:solidFill>
                  <a:srgbClr val="EEF4FF"/>
                </a:solidFill>
                <a:latin typeface="Calibri"/>
              </a:defRPr>
            </a:pPr>
            <a:r>
              <a:t>Step 2: choose primary CIA impact and explain why</a:t>
            </a:r>
          </a:p>
          <a:p>
            <a:pPr>
              <a:lnSpc>
                <a:spcPct val="118000"/>
              </a:lnSpc>
              <a:spcAft>
                <a:spcPts val="1400"/>
              </a:spcAft>
              <a:defRPr sz="2400">
                <a:solidFill>
                  <a:srgbClr val="EEF4FF"/>
                </a:solidFill>
                <a:latin typeface="Calibri"/>
              </a:defRPr>
            </a:pPr>
            <a:r>
              <a:t>Step 3: choose one first containment action</a:t>
            </a:r>
          </a:p>
          <a:p>
            <a:pPr>
              <a:lnSpc>
                <a:spcPct val="118000"/>
              </a:lnSpc>
              <a:spcAft>
                <a:spcPts val="1400"/>
              </a:spcAft>
              <a:defRPr sz="2400">
                <a:solidFill>
                  <a:srgbClr val="EEF4FF"/>
                </a:solidFill>
                <a:latin typeface="Calibri"/>
              </a:defRPr>
            </a:pPr>
            <a:r>
              <a:t>Step 4: add one verification step and one owner role</a:t>
            </a:r>
          </a:p>
          <a:p>
            <a:pPr>
              <a:lnSpc>
                <a:spcPct val="118000"/>
              </a:lnSpc>
              <a:spcAft>
                <a:spcPts val="1400"/>
              </a:spcAft>
              <a:defRPr sz="2400">
                <a:solidFill>
                  <a:srgbClr val="EEF4FF"/>
                </a:solidFill>
                <a:latin typeface="Calibri"/>
              </a:defRPr>
            </a:pPr>
            <a:r>
              <a:t>Step 5: assign urgency now/today/sprint with reason</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41/50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23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Quick Lab</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Lab Sample A: Database Access Anomaly</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Evidence: privileged query burst outside normal schedule</a:t>
            </a:r>
          </a:p>
          <a:p>
            <a:pPr>
              <a:lnSpc>
                <a:spcPct val="118000"/>
              </a:lnSpc>
              <a:spcAft>
                <a:spcPts val="1400"/>
              </a:spcAft>
              <a:defRPr sz="2400">
                <a:solidFill>
                  <a:srgbClr val="EEF4FF"/>
                </a:solidFill>
                <a:latin typeface="Calibri"/>
              </a:defRPr>
            </a:pPr>
            <a:r>
              <a:t>Question: integrity misuse, disclosure, or both</a:t>
            </a:r>
          </a:p>
          <a:p>
            <a:pPr>
              <a:lnSpc>
                <a:spcPct val="118000"/>
              </a:lnSpc>
              <a:spcAft>
                <a:spcPts val="1400"/>
              </a:spcAft>
              <a:defRPr sz="2400">
                <a:solidFill>
                  <a:srgbClr val="EEF4FF"/>
                </a:solidFill>
                <a:latin typeface="Calibri"/>
              </a:defRPr>
            </a:pPr>
            <a:r>
              <a:t>Required output: first control action + one verification step</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42/50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23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Quick Lab</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Lab Sample B: Cloud Storage Misconfiguration</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Evidence: object access policy drift and unfamiliar read sources</a:t>
            </a:r>
          </a:p>
          <a:p>
            <a:pPr>
              <a:lnSpc>
                <a:spcPct val="118000"/>
              </a:lnSpc>
              <a:spcAft>
                <a:spcPts val="1400"/>
              </a:spcAft>
              <a:defRPr sz="2400">
                <a:solidFill>
                  <a:srgbClr val="EEF4FF"/>
                </a:solidFill>
                <a:latin typeface="Calibri"/>
              </a:defRPr>
            </a:pPr>
            <a:r>
              <a:t>Question: where trust failed first</a:t>
            </a:r>
          </a:p>
          <a:p>
            <a:pPr>
              <a:lnSpc>
                <a:spcPct val="118000"/>
              </a:lnSpc>
              <a:spcAft>
                <a:spcPts val="1400"/>
              </a:spcAft>
              <a:defRPr sz="2400">
                <a:solidFill>
                  <a:srgbClr val="EEF4FF"/>
                </a:solidFill>
                <a:latin typeface="Calibri"/>
              </a:defRPr>
            </a:pPr>
            <a:r>
              <a:t>Required output: one cloud control and one governance fix</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43/50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23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Quick Lab</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Lab Sample C: API Token Abuse</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Evidence: repeated token reuse across unusual source addresses</a:t>
            </a:r>
          </a:p>
          <a:p>
            <a:pPr>
              <a:lnSpc>
                <a:spcPct val="118000"/>
              </a:lnSpc>
              <a:spcAft>
                <a:spcPts val="1400"/>
              </a:spcAft>
              <a:defRPr sz="2400">
                <a:solidFill>
                  <a:srgbClr val="EEF4FF"/>
                </a:solidFill>
                <a:latin typeface="Calibri"/>
              </a:defRPr>
            </a:pPr>
            <a:r>
              <a:t>Question: likely objective and highest-leverage first action</a:t>
            </a:r>
          </a:p>
          <a:p>
            <a:pPr>
              <a:lnSpc>
                <a:spcPct val="118000"/>
              </a:lnSpc>
              <a:spcAft>
                <a:spcPts val="1400"/>
              </a:spcAft>
              <a:defRPr sz="2400">
                <a:solidFill>
                  <a:srgbClr val="EEF4FF"/>
                </a:solidFill>
                <a:latin typeface="Calibri"/>
              </a:defRPr>
            </a:pPr>
            <a:r>
              <a:t>Required output: one identity/secret control and one user-support step</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44/50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423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ECD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Quick Lab</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Lab Rubric and Submission Checklist</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Accuracy of mechanism and CIA mapping</a:t>
            </a:r>
          </a:p>
          <a:p>
            <a:pPr>
              <a:lnSpc>
                <a:spcPct val="118000"/>
              </a:lnSpc>
              <a:spcAft>
                <a:spcPts val="1400"/>
              </a:spcAft>
              <a:defRPr sz="2400">
                <a:solidFill>
                  <a:srgbClr val="EEF4FF"/>
                </a:solidFill>
                <a:latin typeface="Calibri"/>
              </a:defRPr>
            </a:pPr>
            <a:r>
              <a:t>Feasibility of mitigation in realistic constraints</a:t>
            </a:r>
          </a:p>
          <a:p>
            <a:pPr>
              <a:lnSpc>
                <a:spcPct val="118000"/>
              </a:lnSpc>
              <a:spcAft>
                <a:spcPts val="1400"/>
              </a:spcAft>
              <a:defRPr sz="2400">
                <a:solidFill>
                  <a:srgbClr val="EEF4FF"/>
                </a:solidFill>
                <a:latin typeface="Calibri"/>
              </a:defRPr>
            </a:pPr>
            <a:r>
              <a:t>Owner clarity and urgency rationale</a:t>
            </a:r>
          </a:p>
          <a:p>
            <a:pPr>
              <a:lnSpc>
                <a:spcPct val="118000"/>
              </a:lnSpc>
              <a:spcAft>
                <a:spcPts val="1400"/>
              </a:spcAft>
              <a:defRPr sz="2400">
                <a:solidFill>
                  <a:srgbClr val="EEF4FF"/>
                </a:solidFill>
                <a:latin typeface="Calibri"/>
              </a:defRPr>
            </a:pPr>
            <a:r>
              <a:t>Professional writing clarity and structure</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45/50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Assessment and Wrap</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In-Class Reading Response (10-12 Minutes)</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Read excerpt on shared responsibility and data minimization</a:t>
            </a:r>
          </a:p>
          <a:p>
            <a:pPr>
              <a:lnSpc>
                <a:spcPct val="118000"/>
              </a:lnSpc>
              <a:spcAft>
                <a:spcPts val="1400"/>
              </a:spcAft>
              <a:defRPr sz="2400">
                <a:solidFill>
                  <a:srgbClr val="EEF4FF"/>
                </a:solidFill>
                <a:latin typeface="Calibri"/>
              </a:defRPr>
            </a:pPr>
            <a:r>
              <a:t>Write 250-300 words using claim, evidence, counterargument, and ethics connection</a:t>
            </a:r>
          </a:p>
          <a:p>
            <a:pPr>
              <a:lnSpc>
                <a:spcPct val="118000"/>
              </a:lnSpc>
              <a:spcAft>
                <a:spcPts val="1400"/>
              </a:spcAft>
              <a:defRPr sz="2400">
                <a:solidFill>
                  <a:srgbClr val="EEF4FF"/>
                </a:solidFill>
                <a:latin typeface="Calibri"/>
              </a:defRPr>
            </a:pPr>
            <a:r>
              <a:t>Conclude with one first control decision and why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46/50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Assessment and Wrap</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Career Pathway Connection</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Database security analyst: access governance, auditing, and disclosure risk control</a:t>
            </a:r>
          </a:p>
          <a:p>
            <a:pPr>
              <a:lnSpc>
                <a:spcPct val="118000"/>
              </a:lnSpc>
              <a:spcAft>
                <a:spcPts val="1400"/>
              </a:spcAft>
              <a:defRPr sz="2400">
                <a:solidFill>
                  <a:srgbClr val="EEF4FF"/>
                </a:solidFill>
                <a:latin typeface="Calibri"/>
              </a:defRPr>
            </a:pPr>
            <a:r>
              <a:t>Cloud security analyst: configuration assurance, identity hardening, incident triage</a:t>
            </a:r>
          </a:p>
          <a:p>
            <a:pPr>
              <a:lnSpc>
                <a:spcPct val="118000"/>
              </a:lnSpc>
              <a:spcAft>
                <a:spcPts val="1400"/>
              </a:spcAft>
              <a:defRPr sz="2400">
                <a:solidFill>
                  <a:srgbClr val="EEF4FF"/>
                </a:solidFill>
                <a:latin typeface="Calibri"/>
              </a:defRPr>
            </a:pPr>
            <a:r>
              <a:t>Governance/risk roles: policy enforcement, communication quality, accountability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47/50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Assessment and Wrap</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Portfolio Artifacts from Week 5</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Lab mitigation brief with concrete owner and urgency</a:t>
            </a:r>
          </a:p>
          <a:p>
            <a:pPr>
              <a:lnSpc>
                <a:spcPct val="118000"/>
              </a:lnSpc>
              <a:spcAft>
                <a:spcPts val="1400"/>
              </a:spcAft>
              <a:defRPr sz="2400">
                <a:solidFill>
                  <a:srgbClr val="EEF4FF"/>
                </a:solidFill>
                <a:latin typeface="Calibri"/>
              </a:defRPr>
            </a:pPr>
            <a:r>
              <a:t>Applied scenario control-prioritization note</a:t>
            </a:r>
          </a:p>
          <a:p>
            <a:pPr>
              <a:lnSpc>
                <a:spcPct val="118000"/>
              </a:lnSpc>
              <a:spcAft>
                <a:spcPts val="1400"/>
              </a:spcAft>
              <a:defRPr sz="2400">
                <a:solidFill>
                  <a:srgbClr val="EEF4FF"/>
                </a:solidFill>
                <a:latin typeface="Calibri"/>
              </a:defRPr>
            </a:pPr>
            <a:r>
              <a:t>Reading response with technical and ethical argument quality</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48/50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Assessment and Wrap</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Exit Ticket and Next Module Preview</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Exit Q1: one control decision you can defend confidently now</a:t>
            </a:r>
          </a:p>
          <a:p>
            <a:pPr>
              <a:lnSpc>
                <a:spcPct val="118000"/>
              </a:lnSpc>
              <a:spcAft>
                <a:spcPts val="1400"/>
              </a:spcAft>
              <a:defRPr sz="2400">
                <a:solidFill>
                  <a:srgbClr val="EEF4FF"/>
                </a:solidFill>
                <a:latin typeface="Calibri"/>
              </a:defRPr>
            </a:pPr>
            <a:r>
              <a:t>Exit Q2: one concept still unclear</a:t>
            </a:r>
          </a:p>
          <a:p>
            <a:pPr>
              <a:lnSpc>
                <a:spcPct val="118000"/>
              </a:lnSpc>
              <a:spcAft>
                <a:spcPts val="1400"/>
              </a:spcAft>
              <a:defRPr sz="2400">
                <a:solidFill>
                  <a:srgbClr val="EEF4FF"/>
                </a:solidFill>
                <a:latin typeface="Calibri"/>
              </a:defRPr>
            </a:pPr>
            <a:r>
              <a:t>Exit Q3: one artifact you will refine this week</a:t>
            </a:r>
          </a:p>
          <a:p>
            <a:pPr>
              <a:lnSpc>
                <a:spcPct val="118000"/>
              </a:lnSpc>
              <a:spcAft>
                <a:spcPts val="1400"/>
              </a:spcAft>
              <a:defRPr sz="2400">
                <a:solidFill>
                  <a:srgbClr val="EEF4FF"/>
                </a:solidFill>
                <a:latin typeface="Calibri"/>
              </a:defRPr>
            </a:pPr>
            <a:r>
              <a:t>Next syllabus focus: Privacy, Law, and Ethics (Chapters 9 and 11)</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49/50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B2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19456"/>
            <a:ext cx="146304" cy="6638544"/>
          </a:xfrm>
          <a:prstGeom prst="rect">
            <a:avLst/>
          </a:prstGeom>
          <a:solidFill>
            <a:srgbClr val="B7C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92608"/>
            <a:ext cx="214884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8344E"/>
                </a:solidFill>
                <a:latin typeface="Calibri"/>
              </a:defRPr>
            </a:pPr>
            <a:r>
              <a:t>Assessment and Wrap</a:t>
            </a:r>
          </a:p>
        </p:txBody>
      </p:sp>
      <p:sp>
        <p:nvSpPr>
          <p:cNvPr id="6" name="TextBox 5"/>
          <p:cNvSpPr txBox="1"/>
          <p:nvPr/>
        </p:nvSpPr>
        <p:spPr>
          <a:xfrm>
            <a:off x="502920" y="768096"/>
            <a:ext cx="11201400" cy="896112"/>
          </a:xfrm>
          <a:prstGeom prst="rect">
            <a:avLst/>
          </a:prstGeom>
          <a:noFill/>
        </p:spPr>
        <p:txBody>
          <a:bodyPr wrap="none">
            <a:spAutoFit/>
          </a:bodyPr>
          <a:lstStyle/>
          <a:p>
            <a:pPr>
              <a:defRPr sz="3400" b="1">
                <a:solidFill>
                  <a:srgbClr val="FFFFFF"/>
                </a:solidFill>
                <a:latin typeface="Calibri"/>
              </a:defRPr>
            </a:pPr>
            <a:r>
              <a:t>References and Preparation</a:t>
            </a:r>
          </a:p>
        </p:txBody>
      </p:sp>
      <p:sp>
        <p:nvSpPr>
          <p:cNvPr id="7" name="TextBox 6"/>
          <p:cNvSpPr txBox="1"/>
          <p:nvPr/>
        </p:nvSpPr>
        <p:spPr>
          <a:xfrm>
            <a:off x="868680" y="1783080"/>
            <a:ext cx="10881360" cy="4343400"/>
          </a:xfrm>
          <a:prstGeom prst="rect">
            <a:avLst/>
          </a:prstGeom>
          <a:noFill/>
        </p:spPr>
        <p:txBody>
          <a:bodyPr wrap="square">
            <a:spAutoFit/>
          </a:bodyPr>
          <a:lstStyle/>
          <a:p>
            <a:pPr>
              <a:lnSpc>
                <a:spcPct val="118000"/>
              </a:lnSpc>
              <a:spcAft>
                <a:spcPts val="1400"/>
              </a:spcAft>
              <a:defRPr sz="2400">
                <a:solidFill>
                  <a:srgbClr val="EEF4FF"/>
                </a:solidFill>
                <a:latin typeface="Calibri"/>
              </a:defRPr>
            </a:pPr>
            <a:r>
              <a:t>Security in Computing Chapters 7 and 8</a:t>
            </a:r>
          </a:p>
          <a:p>
            <a:pPr>
              <a:lnSpc>
                <a:spcPct val="118000"/>
              </a:lnSpc>
              <a:spcAft>
                <a:spcPts val="1400"/>
              </a:spcAft>
              <a:defRPr sz="2400">
                <a:solidFill>
                  <a:srgbClr val="EEF4FF"/>
                </a:solidFill>
                <a:latin typeface="Calibri"/>
              </a:defRPr>
            </a:pPr>
            <a:r>
              <a:t>NIST Cybersecurity Framework 2.0 core functions</a:t>
            </a:r>
          </a:p>
          <a:p>
            <a:pPr>
              <a:lnSpc>
                <a:spcPct val="118000"/>
              </a:lnSpc>
              <a:spcAft>
                <a:spcPts val="1400"/>
              </a:spcAft>
              <a:defRPr sz="2400">
                <a:solidFill>
                  <a:srgbClr val="EEF4FF"/>
                </a:solidFill>
                <a:latin typeface="Calibri"/>
              </a:defRPr>
            </a:pPr>
            <a:r>
              <a:t>NIST SSDF and cloud security control references</a:t>
            </a:r>
          </a:p>
          <a:p>
            <a:pPr>
              <a:lnSpc>
                <a:spcPct val="118000"/>
              </a:lnSpc>
              <a:spcAft>
                <a:spcPts val="1400"/>
              </a:spcAft>
              <a:defRPr sz="2400">
                <a:solidFill>
                  <a:srgbClr val="EEF4FF"/>
                </a:solidFill>
                <a:latin typeface="Calibri"/>
              </a:defRPr>
            </a:pPr>
            <a:r>
              <a:t>Course files: week 5 deck, lab handout, and reading response prompt</a:t>
            </a:r>
          </a:p>
        </p:txBody>
      </p:sp>
      <p:sp>
        <p:nvSpPr>
          <p:cNvPr id="8" name="TextBox 7"/>
          <p:cNvSpPr txBox="1"/>
          <p:nvPr/>
        </p:nvSpPr>
        <p:spPr>
          <a:xfrm>
            <a:off x="502920" y="6428232"/>
            <a:ext cx="11201400" cy="274320"/>
          </a:xfrm>
          <a:prstGeom prst="rect">
            <a:avLst/>
          </a:prstGeom>
          <a:noFill/>
        </p:spPr>
        <p:txBody>
          <a:bodyPr wrap="none">
            <a:spAutoFit/>
          </a:bodyPr>
          <a:lstStyle/>
          <a:p>
            <a:pPr>
              <a:defRPr sz="1100" b="1">
                <a:solidFill>
                  <a:srgbClr val="B4D0FC"/>
                </a:solidFill>
                <a:latin typeface="Calibri"/>
              </a:defRPr>
            </a:pPr>
            <a:r>
              <a:t>CST 2412 | Data Security, Privacy, and Ethics</a:t>
            </a:r>
          </a:p>
        </p:txBody>
      </p:sp>
      <p:sp>
        <p:nvSpPr>
          <p:cNvPr id="9" name="TextBox 8"/>
          <p:cNvSpPr txBox="1"/>
          <p:nvPr/>
        </p:nvSpPr>
        <p:spPr>
          <a:xfrm>
            <a:off x="10972800" y="6400800"/>
            <a:ext cx="914400" cy="292608"/>
          </a:xfrm>
          <a:prstGeom prst="rect">
            <a:avLst/>
          </a:prstGeom>
          <a:noFill/>
        </p:spPr>
        <p:txBody>
          <a:bodyPr wrap="none">
            <a:spAutoFit/>
          </a:bodyPr>
          <a:lstStyle/>
          <a:p>
            <a:pPr algn="r">
              <a:defRPr sz="1100" b="1">
                <a:solidFill>
                  <a:srgbClr val="E1E9F8"/>
                </a:solidFill>
                <a:latin typeface="Calibri"/>
              </a:defRPr>
            </a:pPr>
            <a:r>
              <a:t>50/50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17372</Words>
  <Application>Microsoft Macintosh PowerPoint</Application>
  <PresentationFormat>Widescreen</PresentationFormat>
  <Paragraphs>1450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Atilio Barreda</cp:lastModifiedBy>
  <cp:revision>2</cp:revision>
  <dcterms:created xsi:type="dcterms:W3CDTF">2013-01-27T09:14:16Z</dcterms:created>
  <dcterms:modified xsi:type="dcterms:W3CDTF">2026-02-24T22:50:39Z</dcterms:modified>
  <cp:category/>
</cp:coreProperties>
</file>