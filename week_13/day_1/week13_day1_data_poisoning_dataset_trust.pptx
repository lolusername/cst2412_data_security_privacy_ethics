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88db37f74a4e0f" /><Relationship Type="http://schemas.openxmlformats.org/officeDocument/2006/relationships/extended-properties" Target="/docProps/app.xml" Id="R1dd6e6a843494d3e" /><Relationship Type="http://schemas.openxmlformats.org/officeDocument/2006/relationships/officeDocument" Target="/ppt/presentation.xml" Id="R18714d8c07b94fc5" /></Relationships>
</file>

<file path=ppt/presentation.xml><?xml version="1.0" encoding="utf-8"?>
<p:presentation xmlns:p="http://schemas.openxmlformats.org/presentationml/2006/main">
  <p:sldMasterIdLst>
    <p:sldMasterId xmlns:r="http://schemas.openxmlformats.org/officeDocument/2006/relationships" id="2147483648" r:id="Rf318a548f2434c46"/>
  </p:sldMasterIdLst>
  <p:notesMasterIdLst>
    <p:notesMasterId xmlns:r="http://schemas.openxmlformats.org/officeDocument/2006/relationships" r:id="R6919473e564f4c41"/>
  </p:notesMasterIdLst>
  <p:sldIdLst>
    <p:sldId xmlns:r="http://schemas.openxmlformats.org/officeDocument/2006/relationships" id="256" r:id="R75705220336b4530"/>
    <p:sldId xmlns:r="http://schemas.openxmlformats.org/officeDocument/2006/relationships" id="257" r:id="Rc4b99e739544460b"/>
    <p:sldId xmlns:r="http://schemas.openxmlformats.org/officeDocument/2006/relationships" id="258" r:id="R3414630c38d8447c"/>
    <p:sldId xmlns:r="http://schemas.openxmlformats.org/officeDocument/2006/relationships" id="259" r:id="Rbe3895b9f4bf4a1a"/>
    <p:sldId xmlns:r="http://schemas.openxmlformats.org/officeDocument/2006/relationships" id="260" r:id="R7b4ec3f4f3c74d78"/>
    <p:sldId xmlns:r="http://schemas.openxmlformats.org/officeDocument/2006/relationships" id="261" r:id="R9669a99583f04d7f"/>
    <p:sldId xmlns:r="http://schemas.openxmlformats.org/officeDocument/2006/relationships" id="262" r:id="R9a734496b15f4e1b"/>
    <p:sldId xmlns:r="http://schemas.openxmlformats.org/officeDocument/2006/relationships" id="263" r:id="R89c7e4b0ff684dcb"/>
    <p:sldId xmlns:r="http://schemas.openxmlformats.org/officeDocument/2006/relationships" id="264" r:id="Rc87b020169c04334"/>
    <p:sldId xmlns:r="http://schemas.openxmlformats.org/officeDocument/2006/relationships" id="265" r:id="R29136061727449ee"/>
    <p:sldId xmlns:r="http://schemas.openxmlformats.org/officeDocument/2006/relationships" id="266" r:id="R7499f0edaff245cd"/>
    <p:sldId xmlns:r="http://schemas.openxmlformats.org/officeDocument/2006/relationships" id="267" r:id="Rd5a8c406ff184ab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f318a548f2434c46" /><Relationship Type="http://schemas.openxmlformats.org/officeDocument/2006/relationships/theme" Target="/ppt/theme/theme1.xml" Id="R1cee8db0eda642bc" /><Relationship Type="http://schemas.openxmlformats.org/officeDocument/2006/relationships/notesMaster" Target="/ppt/notesMasters/notesMaster1.xml" Id="R6919473e564f4c41" /><Relationship Type="http://schemas.openxmlformats.org/officeDocument/2006/relationships/presProps" Target="/ppt/presProps.xml" Id="Rcff7cddbbda147c6" /><Relationship Type="http://schemas.openxmlformats.org/officeDocument/2006/relationships/viewProps" Target="/ppt/viewProps.xml" Id="Rf2f144ab80974fb2" /><Relationship Type="http://schemas.openxmlformats.org/officeDocument/2006/relationships/tableStyles" Target="/ppt/tableStyles.xml" Id="Ra8081b8272024d7e" /><Relationship Type="http://schemas.openxmlformats.org/officeDocument/2006/relationships/slide" Target="/ppt/slides/slide1.xml" Id="R75705220336b4530" /><Relationship Type="http://schemas.openxmlformats.org/officeDocument/2006/relationships/slide" Target="/ppt/slides/slide2.xml" Id="Rc4b99e739544460b" /><Relationship Type="http://schemas.openxmlformats.org/officeDocument/2006/relationships/slide" Target="/ppt/slides/slide3.xml" Id="R3414630c38d8447c" /><Relationship Type="http://schemas.openxmlformats.org/officeDocument/2006/relationships/slide" Target="/ppt/slides/slide4.xml" Id="Rbe3895b9f4bf4a1a" /><Relationship Type="http://schemas.openxmlformats.org/officeDocument/2006/relationships/slide" Target="/ppt/slides/slide5.xml" Id="R7b4ec3f4f3c74d78" /><Relationship Type="http://schemas.openxmlformats.org/officeDocument/2006/relationships/slide" Target="/ppt/slides/slide6.xml" Id="R9669a99583f04d7f" /><Relationship Type="http://schemas.openxmlformats.org/officeDocument/2006/relationships/slide" Target="/ppt/slides/slide7.xml" Id="R9a734496b15f4e1b" /><Relationship Type="http://schemas.openxmlformats.org/officeDocument/2006/relationships/slide" Target="/ppt/slides/slide8.xml" Id="R89c7e4b0ff684dcb" /><Relationship Type="http://schemas.openxmlformats.org/officeDocument/2006/relationships/slide" Target="/ppt/slides/slide9.xml" Id="Rc87b020169c04334" /><Relationship Type="http://schemas.openxmlformats.org/officeDocument/2006/relationships/slide" Target="/ppt/slides/slide10.xml" Id="R29136061727449ee" /><Relationship Type="http://schemas.openxmlformats.org/officeDocument/2006/relationships/slide" Target="/ppt/slides/slide11.xml" Id="R7499f0edaff245cd" /><Relationship Type="http://schemas.openxmlformats.org/officeDocument/2006/relationships/slide" Target="/ppt/slides/slide12.xml" Id="Rd5a8c406ff184a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3218d590a1744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a981a237b64d32" /><Relationship Type="http://schemas.openxmlformats.org/officeDocument/2006/relationships/notesMaster" Target="/ppt/notesMasters/notesMaster1.xml" Id="R5a7ee332973041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aa6c8f30cc4b2c" /><Relationship Type="http://schemas.openxmlformats.org/officeDocument/2006/relationships/notesMaster" Target="/ppt/notesMasters/notesMaster1.xml" Id="Rb39bcbd63a264f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3ee3a84fa4e2d" /><Relationship Type="http://schemas.openxmlformats.org/officeDocument/2006/relationships/notesMaster" Target="/ppt/notesMasters/notesMaster1.xml" Id="Rfcb9fd8f859844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5730fd1153445e" /><Relationship Type="http://schemas.openxmlformats.org/officeDocument/2006/relationships/notesMaster" Target="/ppt/notesMasters/notesMaster1.xml" Id="R843d6657035c4b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bc072e1ae7418c" /><Relationship Type="http://schemas.openxmlformats.org/officeDocument/2006/relationships/notesMaster" Target="/ppt/notesMasters/notesMaster1.xml" Id="R34f165067ea04d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ffa56378874454" /><Relationship Type="http://schemas.openxmlformats.org/officeDocument/2006/relationships/notesMaster" Target="/ppt/notesMasters/notesMaster1.xml" Id="R427849a332514c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3609beb5204179" /><Relationship Type="http://schemas.openxmlformats.org/officeDocument/2006/relationships/notesMaster" Target="/ppt/notesMasters/notesMaster1.xml" Id="Rac5c0cf80ad245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9b0b5df62a48e2" /><Relationship Type="http://schemas.openxmlformats.org/officeDocument/2006/relationships/notesMaster" Target="/ppt/notesMasters/notesMaster1.xml" Id="R59cdb86993ee4c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d9a8b0f6734b5d" /><Relationship Type="http://schemas.openxmlformats.org/officeDocument/2006/relationships/notesMaster" Target="/ppt/notesMasters/notesMaster1.xml" Id="Rc8a7fef9b37e47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534155276b4e8a" /><Relationship Type="http://schemas.openxmlformats.org/officeDocument/2006/relationships/notesMaster" Target="/ppt/notesMasters/notesMaster1.xml" Id="R9418eeb811604b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b01bf97b824ff3" /><Relationship Type="http://schemas.openxmlformats.org/officeDocument/2006/relationships/notesMaster" Target="/ppt/notesMasters/notesMaster1.xml" Id="Rf4447084c4f148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920b137c434169" /><Relationship Type="http://schemas.openxmlformats.org/officeDocument/2006/relationships/notesMaster" Target="/ppt/notesMasters/notesMaster1.xml" Id="R470fb450fbde40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Today is about a simple question: can we trust the evidence we are using? The term data poisoning sounds technical, but the basic idea is easy. If the data going into a system is bad, manipulated, incomplete, mislabeled, or biased, the conclusion that comes out can also be bad. We will use that idea to improve your final project. By the end of class, you should have a clearer sense of what evidence you are using, where it came from, and what could make it misleading.</a:t>
            </a:r>
          </a:p>
          <a:p xmlns:a="http://schemas.openxmlformats.org/drawingml/2006/main">
            <a:r>
              <a:t/>
            </a:r>
          </a:p>
          <a:p xmlns:a="http://schemas.openxmlformats.org/drawingml/2006/main">
            <a:r>
              <a:t>THINGS TO MENTION:</a:t>
            </a:r>
          </a:p>
          <a:p xmlns:a="http://schemas.openxmlformats.org/drawingml/2006/main">
            <a:r>
              <a:t>- Connect immediately to final project evidence.</a:t>
            </a:r>
          </a:p>
          <a:p xmlns:a="http://schemas.openxmlformats.org/drawingml/2006/main">
            <a:r>
              <a:t>- Emphasize that students do not need to build a model.</a:t>
            </a:r>
          </a:p>
          <a:p xmlns:a="http://schemas.openxmlformats.org/drawingml/2006/main">
            <a:r>
              <a:t>- Due date: May 26,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Data poisoning means that the data used to build, train, tune, or evaluate a system has been corrupted or shaped in a harmful way. In a machine learning setting, this might mean bad examples are added to training data. In a final project setting, we can use the same idea more broadly. If your dataset is missing important cases, if your source only tells one side of the story, or if a column is misunderstood, then your conclusion can be weaker than it looks.</a:t>
            </a:r>
          </a:p>
          <a:p xmlns:a="http://schemas.openxmlformats.org/drawingml/2006/main">
            <a:r>
              <a:t/>
            </a:r>
          </a:p>
          <a:p xmlns:a="http://schemas.openxmlformats.org/drawingml/2006/main">
            <a:r>
              <a:t>THINGS TO MENTION:</a:t>
            </a:r>
          </a:p>
          <a:p xmlns:a="http://schemas.openxmlformats.org/drawingml/2006/main">
            <a:r>
              <a:t>- Bad input leads to bad output.</a:t>
            </a:r>
          </a:p>
          <a:p xmlns:a="http://schemas.openxmlformats.org/drawingml/2006/main">
            <a:r>
              <a:t>- Translate machine learning language into evidence language.</a:t>
            </a:r>
          </a:p>
          <a:p xmlns:a="http://schemas.openxmlformats.org/drawingml/2006/main">
            <a:r>
              <a:t>- Students should think about their own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table can look objective because it has rows and columns. But a table is still made by people, institutions, systems, forms, sensors, categories, and policies. That means the table has a history. Someone decided what to collect. Someone decided what not to collect. Someone chose categories, labels, and update rules. Before you use a dataset as evidence, ask who made it, what structure it has, and what claim you want it to support.</a:t>
            </a:r>
          </a:p>
          <a:p xmlns:a="http://schemas.openxmlformats.org/drawingml/2006/main">
            <a:r>
              <a:t/>
            </a:r>
          </a:p>
          <a:p xmlns:a="http://schemas.openxmlformats.org/drawingml/2006/main">
            <a:r>
              <a:t>THINGS TO MENTION:</a:t>
            </a:r>
          </a:p>
          <a:p xmlns:a="http://schemas.openxmlformats.org/drawingml/2006/main">
            <a:r>
              <a:t>- Do not treat CSVs as automatic truth.</a:t>
            </a:r>
          </a:p>
          <a:p xmlns:a="http://schemas.openxmlformats.org/drawingml/2006/main">
            <a:r>
              <a:t>- Connect back to data dictionaries from Week 12.</a:t>
            </a:r>
          </a:p>
          <a:p xmlns:a="http://schemas.openxmlformats.org/drawingml/2006/main">
            <a:r>
              <a:t>- Good evidence still needs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For final projects, the most common evidence problems are not dramatic hacks. They are ordinary problems. A dataset can be incomplete. A source can be outdated. A category can be unclear. A public dataset can show reported incidents, but not unreported incidents. A company blog post can explain benefits but not harms. A security metric can show alerts but not impact. Your job is not to find perfect evidence. Your job is to explain what your evidence can and cannot show.</a:t>
            </a:r>
          </a:p>
          <a:p xmlns:a="http://schemas.openxmlformats.org/drawingml/2006/main">
            <a:r>
              <a:t/>
            </a:r>
          </a:p>
          <a:p xmlns:a="http://schemas.openxmlformats.org/drawingml/2006/main">
            <a:r>
              <a:t>THINGS TO MENTION:</a:t>
            </a:r>
          </a:p>
          <a:p xmlns:a="http://schemas.openxmlformats.org/drawingml/2006/main">
            <a:r>
              <a:t>- Keep this practical and non-scary.</a:t>
            </a:r>
          </a:p>
          <a:p xmlns:a="http://schemas.openxmlformats.org/drawingml/2006/main">
            <a:r>
              <a:t>- Use examples students can apply today.</a:t>
            </a:r>
          </a:p>
          <a:p xmlns:a="http://schemas.openxmlformats.org/drawingml/2006/main">
            <a:r>
              <a:t>- Tie to limitation paragraphs.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good final project does not just say, I found a dataset, or I found three sources. It explains the role of the evidence. What are you using it to show? What does it not show? If you are writing a coding project, this might mean explaining what each row represents and why your score is only a priority tool. If you are writing an MLA essay, this might mean explaining why one case study illustrates a problem but does not prove every case works the same way.</a:t>
            </a:r>
          </a:p>
          <a:p xmlns:a="http://schemas.openxmlformats.org/drawingml/2006/main">
            <a:r>
              <a:t/>
            </a:r>
          </a:p>
          <a:p xmlns:a="http://schemas.openxmlformats.org/drawingml/2006/main">
            <a:r>
              <a:t>THINGS TO MENTION:</a:t>
            </a:r>
          </a:p>
          <a:p xmlns:a="http://schemas.openxmlformats.org/drawingml/2006/main">
            <a:r>
              <a:t>- Students need evidence plus interpretation.</a:t>
            </a:r>
          </a:p>
          <a:p xmlns:a="http://schemas.openxmlformats.org/drawingml/2006/main">
            <a:r>
              <a:t>- Mention coding and essay paths equally.</a:t>
            </a:r>
          </a:p>
          <a:p xmlns:a="http://schemas.openxmlformats.org/drawingml/2006/main">
            <a:r>
              <a:t>- This slide leads into the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doing the coding path, the biggest mistake is jumping straight to a chart or score before understanding the table. Start with the basics. What does one row mean? Which columns are measurements, and which columns are descriptions? Are there missing values? Are there codes that need explanation? If you create a score, remember that a score is a tool for ranking or summarizing. It is not proof that an incident happened.</a:t>
            </a:r>
          </a:p>
          <a:p xmlns:a="http://schemas.openxmlformats.org/drawingml/2006/main">
            <a:r>
              <a:t/>
            </a:r>
          </a:p>
          <a:p xmlns:a="http://schemas.openxmlformats.org/drawingml/2006/main">
            <a:r>
              <a:t>THINGS TO MENTION:</a:t>
            </a:r>
          </a:p>
          <a:p xmlns:a="http://schemas.openxmlformats.org/drawingml/2006/main">
            <a:r>
              <a:t>- Reference Week 11 and Week 12 CSV work.</a:t>
            </a:r>
          </a:p>
          <a:p xmlns:a="http://schemas.openxmlformats.org/drawingml/2006/main">
            <a:r>
              <a:t>- Scores are useful but limited.</a:t>
            </a:r>
          </a:p>
          <a:p xmlns:a="http://schemas.openxmlformats.org/drawingml/2006/main">
            <a:r>
              <a:t>- Encourage comments in 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writing the MLA essay, the same trust questions apply. A source can be credible and still incomplete. A government report, a company page, an academic article, or an investigative article can all be useful, but each has a point of view and a purpose. Ask what the source is trying to explain. Ask what evidence it uses. Ask what it leaves out. A stronger essay usually compares sources instead of leaning on only one.</a:t>
            </a:r>
          </a:p>
          <a:p xmlns:a="http://schemas.openxmlformats.org/drawingml/2006/main">
            <a:r>
              <a:t/>
            </a:r>
          </a:p>
          <a:p xmlns:a="http://schemas.openxmlformats.org/drawingml/2006/main">
            <a:r>
              <a:t>THINGS TO MENTION:</a:t>
            </a:r>
          </a:p>
          <a:p xmlns:a="http://schemas.openxmlformats.org/drawingml/2006/main">
            <a:r>
              <a:t>- Do not make the essay path feel secondary.</a:t>
            </a:r>
          </a:p>
          <a:p xmlns:a="http://schemas.openxmlformats.org/drawingml/2006/main">
            <a:r>
              <a:t>- MLA sources still need evaluation.</a:t>
            </a:r>
          </a:p>
          <a:p xmlns:a="http://schemas.openxmlformats.org/drawingml/2006/main">
            <a:r>
              <a:t>- At least three credible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Evidence quality is not only a technical issue. It is also a privacy and ethics issue. A dataset might not include names, but it can still describe people through location, time, school, workplace, health status, neighborhood, or behavior. A project can also be unfair if missing data makes one group look safer, riskier, more compliant, or more suspicious than it really is. Your final project should name at least one privacy or ethics concern, even if your main topic is technical.</a:t>
            </a:r>
          </a:p>
          <a:p xmlns:a="http://schemas.openxmlformats.org/drawingml/2006/main">
            <a:r>
              <a:t/>
            </a:r>
          </a:p>
          <a:p xmlns:a="http://schemas.openxmlformats.org/drawingml/2006/main">
            <a:r>
              <a:t>THINGS TO MENTION:</a:t>
            </a:r>
          </a:p>
          <a:p xmlns:a="http://schemas.openxmlformats.org/drawingml/2006/main">
            <a:r>
              <a:t>- Connect Chun and Benjamin if useful.</a:t>
            </a:r>
          </a:p>
          <a:p xmlns:a="http://schemas.openxmlformats.org/drawingml/2006/main">
            <a:r>
              <a:t>- Privacy can be indirect.</a:t>
            </a:r>
          </a:p>
          <a:p xmlns:a="http://schemas.openxmlformats.org/drawingml/2006/main">
            <a:r>
              <a:t>- Missing data can create unfair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lab is designed to be easy and useful. You will not finish the final project today. You will make the project safer and clearer. Start by choosing your current path. Then list the evidence you have so far. Next, choose the most important evidence item and run a trust check on it. The most important part is not whether the evidence is perfect. It is whether you can explain its strengths and limits.</a:t>
            </a:r>
          </a:p>
          <a:p xmlns:a="http://schemas.openxmlformats.org/drawingml/2006/main">
            <a:r>
              <a:t/>
            </a:r>
          </a:p>
          <a:p xmlns:a="http://schemas.openxmlformats.org/drawingml/2006/main">
            <a:r>
              <a:t>THINGS TO MENTION:</a:t>
            </a:r>
          </a:p>
          <a:p xmlns:a="http://schemas.openxmlformats.org/drawingml/2006/main">
            <a:r>
              <a:t>- Tell students to use current best idea, not perfect idea.</a:t>
            </a:r>
          </a:p>
          <a:p xmlns:a="http://schemas.openxmlformats.org/drawingml/2006/main">
            <a:r>
              <a:t>- They can revise later.</a:t>
            </a:r>
          </a:p>
          <a:p xmlns:a="http://schemas.openxmlformats.org/drawingml/2006/main">
            <a:r>
              <a:t>- This is due end of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exit writing asks you to name what could make your evidence misleading. This is not a confession that your project is bad. It is a sign that your analysis is careful. Strong final projects admit limits. A weak project says, this proves everything. A stronger project says, this evidence suggests one pattern, but it has limits, so my recommendation is focused and realistic.</a:t>
            </a:r>
          </a:p>
          <a:p xmlns:a="http://schemas.openxmlformats.org/drawingml/2006/main">
            <a:r>
              <a:t/>
            </a:r>
          </a:p>
          <a:p xmlns:a="http://schemas.openxmlformats.org/drawingml/2006/main">
            <a:r>
              <a:t>THINGS TO MENTION:</a:t>
            </a:r>
          </a:p>
          <a:p xmlns:a="http://schemas.openxmlformats.org/drawingml/2006/main">
            <a:r>
              <a:t>- Limitations improve credibility.</a:t>
            </a:r>
          </a:p>
          <a:p xmlns:a="http://schemas.openxmlformats.org/drawingml/2006/main">
            <a:r>
              <a:t>- Make sure students submit the exit writing.</a:t>
            </a:r>
          </a:p>
          <a:p xmlns:a="http://schemas.openxmlformats.org/drawingml/2006/main">
            <a:r>
              <a:t>- Use this as a future paragraph.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source anchors for today are NIST and OWASP. You do not need to memorize their documents. The important connection is that security professionals know systems can be shaped by bad data and bad assumptions. We are borrowing that professional habit for your final project. Before trusting an output, a chart, a score, or a source, ask what went into it and what could have gone wrong.</a:t>
            </a:r>
          </a:p>
          <a:p xmlns:a="http://schemas.openxmlformats.org/drawingml/2006/main">
            <a:r>
              <a:t/>
            </a:r>
          </a:p>
          <a:p xmlns:a="http://schemas.openxmlformats.org/drawingml/2006/main">
            <a:r>
              <a:t>THINGS TO MENTION:</a:t>
            </a:r>
          </a:p>
          <a:p xmlns:a="http://schemas.openxmlformats.org/drawingml/2006/main">
            <a:r>
              <a:t>- Mention NIST and OWASP briefly.</a:t>
            </a:r>
          </a:p>
          <a:p xmlns:a="http://schemas.openxmlformats.org/drawingml/2006/main">
            <a:r>
              <a:t>- No need for deep theory.</a:t>
            </a:r>
          </a:p>
          <a:p xmlns:a="http://schemas.openxmlformats.org/drawingml/2006/main">
            <a:r>
              <a:t>- Focus on professional habit.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For the rest of class, work through the lab handout. If your topic still feels too broad, ask for help narrowing it. If you do not know what evidence to use, start with one class CSV, one public dataset, or one credible source. The goal is progress, not perfection. Submit the completed lab by the end of class so you have a usable project-planning artifact.</a:t>
            </a:r>
          </a:p>
          <a:p xmlns:a="http://schemas.openxmlformats.org/drawingml/2006/main">
            <a:r>
              <a:t/>
            </a:r>
          </a:p>
          <a:p xmlns:a="http://schemas.openxmlformats.org/drawingml/2006/main">
            <a:r>
              <a:t>THINGS TO MENTION:</a:t>
            </a:r>
          </a:p>
          <a:p xmlns:a="http://schemas.openxmlformats.org/drawingml/2006/main">
            <a:r>
              <a:t>- Keep class calm and work-focused.</a:t>
            </a:r>
          </a:p>
          <a:p xmlns:a="http://schemas.openxmlformats.org/drawingml/2006/main">
            <a:r>
              <a:t>- Encourage narrow topics.</a:t>
            </a:r>
          </a:p>
          <a:p xmlns:a="http://schemas.openxmlformats.org/drawingml/2006/main">
            <a:r>
              <a:t>- This should reduce instructor 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19d06428274441"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e1861011d6a489b" /><Relationship Type="http://schemas.openxmlformats.org/officeDocument/2006/relationships/slideLayout" Target="/ppt/slideLayouts/slideLayout2.xml" Id="R841b551d09c24f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1b551d09c24f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7fec90f23de4e1e" /><Relationship Type="http://schemas.openxmlformats.org/officeDocument/2006/relationships/notesSlide" Target="/ppt/notesSlides/notesSlide1.xml" Id="Ra56b81caa24e48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d04b2a4b1fb434c" /><Relationship Type="http://schemas.openxmlformats.org/officeDocument/2006/relationships/notesSlide" Target="/ppt/notesSlides/notesSlide2.xml" Id="R91ed61a8316641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38d3b52396c42d2" /><Relationship Type="http://schemas.openxmlformats.org/officeDocument/2006/relationships/notesSlide" Target="/ppt/notesSlides/notesSlide3.xml" Id="Rbf8a9aae0e2f41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01aa2f794614d3d" /><Relationship Type="http://schemas.openxmlformats.org/officeDocument/2006/relationships/notesSlide" Target="/ppt/notesSlides/notesSlide4.xml" Id="Ra255515161544a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a361c6e23d4404e" /><Relationship Type="http://schemas.openxmlformats.org/officeDocument/2006/relationships/notesSlide" Target="/ppt/notesSlides/notesSlide5.xml" Id="R08bd50519c0f476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9f289ffcf63440f" /><Relationship Type="http://schemas.openxmlformats.org/officeDocument/2006/relationships/notesSlide" Target="/ppt/notesSlides/notesSlide6.xml" Id="R4d8a752c36314b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e13a6c84a9145e3" /><Relationship Type="http://schemas.openxmlformats.org/officeDocument/2006/relationships/notesSlide" Target="/ppt/notesSlides/notesSlide7.xml" Id="Rc72261c3afd14b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7411ad37f1f4f70" /><Relationship Type="http://schemas.openxmlformats.org/officeDocument/2006/relationships/notesSlide" Target="/ppt/notesSlides/notesSlide8.xml" Id="Rbd297e21d0e54c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57e4dd66b234cb9" /><Relationship Type="http://schemas.openxmlformats.org/officeDocument/2006/relationships/notesSlide" Target="/ppt/notesSlides/notesSlide9.xml" Id="R1d099be44d7d40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37c00231a744135" /><Relationship Type="http://schemas.openxmlformats.org/officeDocument/2006/relationships/notesSlide" Target="/ppt/notesSlides/notesSlide10.xml" Id="Ra02e26329fa9462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a3df1bc788a4574" /><Relationship Type="http://schemas.openxmlformats.org/officeDocument/2006/relationships/notesSlide" Target="/ppt/notesSlides/notesSlide11.xml" Id="R038644c703e44c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b3cfadada5842cc" /><Relationship Type="http://schemas.openxmlformats.org/officeDocument/2006/relationships/notesSlide" Target="/ppt/notesSlides/notesSlide12.xml" Id="R948d3fc3136846d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494795-16B9-45D1-957F-F96E3AD542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84D313E-FC06-4F4E-AF4B-FADEC518F8E0}"/>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FDD5228-54A0-46D5-A683-B81111F6C3DE}"/>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2494AEA4-8B05-4555-8BB9-6AE36DAD369B}"/>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1/12</a:t>
            </a:r>
          </a:p>
        </p:txBody>
      </p:sp>
      <p:sp>
        <p:nvSpPr>
          <p:cNvPr id="5" name="">
            <a:extLst xmlns:a="http://schemas.openxmlformats.org/drawingml/2006/main">
              <a:ext uri="{FF2B5EF4-FFF2-40B4-BE49-F238E27FC236}">
                <a16:creationId xmlns:a16="http://schemas.microsoft.com/office/drawing/2014/main" id="{EE4FA89A-0936-46A6-A8CC-F7DFF23E945E}"/>
              </a:ext>
            </a:extLst>
          </p:cNvPr>
          <p:cNvSpPr>
            <a:spLocks xmlns:a="http://schemas.openxmlformats.org/drawingml/2006/main" noGrp="1"/>
          </p:cNvSpPr>
          <p:nvPr/>
        </p:nvSpPr>
        <p:spPr>
          <a:xfrm xmlns:a="http://schemas.openxmlformats.org/drawingml/2006/main">
            <a:off x="819150" y="1047750"/>
            <a:ext cx="6477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62D6C9"/>
                </a:solidFill>
                <a:latin typeface="Aptos"/>
                <a:ea typeface="Aptos"/>
                <a:cs typeface="Aptos"/>
              </a:defRPr>
            </a:pPr>
            <a:r>
              <a:rPr sz="1500" b="1">
                <a:solidFill>
                  <a:srgbClr val="62D6C9"/>
                </a:solidFill>
                <a:latin typeface="Aptos"/>
                <a:ea typeface="Aptos"/>
                <a:cs typeface="Aptos"/>
              </a:rPr>
              <a:t>Data Poisoning and Dataset Trust</a:t>
            </a:r>
          </a:p>
        </p:txBody>
      </p:sp>
      <p:sp>
        <p:nvSpPr>
          <p:cNvPr id="6" name="">
            <a:extLst xmlns:a="http://schemas.openxmlformats.org/drawingml/2006/main">
              <a:ext uri="{FF2B5EF4-FFF2-40B4-BE49-F238E27FC236}">
                <a16:creationId xmlns:a16="http://schemas.microsoft.com/office/drawing/2014/main" id="{F40D364E-8152-4120-A88E-534C30E5B690}"/>
              </a:ext>
            </a:extLst>
          </p:cNvPr>
          <p:cNvSpPr>
            <a:spLocks xmlns:a="http://schemas.openxmlformats.org/drawingml/2006/main" noGrp="1"/>
          </p:cNvSpPr>
          <p:nvPr/>
        </p:nvSpPr>
        <p:spPr>
          <a:xfrm xmlns:a="http://schemas.openxmlformats.org/drawingml/2006/main">
            <a:off x="819150" y="1571625"/>
            <a:ext cx="73342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600" b="1">
                <a:solidFill>
                  <a:srgbClr val="F7F3E8"/>
                </a:solidFill>
                <a:latin typeface="Aptos Display"/>
                <a:ea typeface="Aptos Display"/>
                <a:cs typeface="Aptos Display"/>
              </a:defRPr>
            </a:pPr>
            <a:r>
              <a:rPr sz="3600" b="1">
                <a:solidFill>
                  <a:srgbClr val="F7F3E8"/>
                </a:solidFill>
                <a:latin typeface="Aptos Display"/>
                <a:ea typeface="Aptos Display"/>
                <a:cs typeface="Aptos Display"/>
              </a:rPr>
              <a:t>Can We Trust the Evidence?</a:t>
            </a:r>
          </a:p>
        </p:txBody>
      </p:sp>
      <p:sp>
        <p:nvSpPr>
          <p:cNvPr id="7" name="">
            <a:extLst xmlns:a="http://schemas.openxmlformats.org/drawingml/2006/main">
              <a:ext uri="{FF2B5EF4-FFF2-40B4-BE49-F238E27FC236}">
                <a16:creationId xmlns:a16="http://schemas.microsoft.com/office/drawing/2014/main" id="{0F244481-F4C5-45BF-A99F-1AF0BF37AAEF}"/>
              </a:ext>
            </a:extLst>
          </p:cNvPr>
          <p:cNvSpPr>
            <a:spLocks xmlns:a="http://schemas.openxmlformats.org/drawingml/2006/main" noGrp="1"/>
          </p:cNvSpPr>
          <p:nvPr/>
        </p:nvSpPr>
        <p:spPr>
          <a:xfrm xmlns:a="http://schemas.openxmlformats.org/drawingml/2006/main">
            <a:off x="876300" y="3476625"/>
            <a:ext cx="6572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C9D3D8"/>
                </a:solidFill>
                <a:latin typeface="Aptos"/>
                <a:ea typeface="Aptos"/>
                <a:cs typeface="Aptos"/>
              </a:defRPr>
            </a:pPr>
            <a:r>
              <a:rPr sz="2100" b="0">
                <a:solidFill>
                  <a:srgbClr val="C9D3D8"/>
                </a:solidFill>
                <a:latin typeface="Aptos"/>
                <a:ea typeface="Aptos"/>
                <a:cs typeface="Aptos"/>
              </a:rPr>
              <a:t>Today we use data poisoning as a practical way to check the sources, datasets, and claims behind your final project.</a:t>
            </a:r>
          </a:p>
        </p:txBody>
      </p:sp>
      <p:sp>
        <p:nvSpPr>
          <p:cNvPr id="8" name="">
            <a:extLst xmlns:a="http://schemas.openxmlformats.org/drawingml/2006/main">
              <a:ext uri="{FF2B5EF4-FFF2-40B4-BE49-F238E27FC236}">
                <a16:creationId xmlns:a16="http://schemas.microsoft.com/office/drawing/2014/main" id="{50DFCC69-C23F-4C49-BF9E-BCD58CA7CAE1}"/>
              </a:ext>
            </a:extLst>
          </p:cNvPr>
          <p:cNvSpPr>
            <a:spLocks xmlns:a="http://schemas.openxmlformats.org/drawingml/2006/main" noGrp="1"/>
          </p:cNvSpPr>
          <p:nvPr/>
        </p:nvSpPr>
        <p:spPr>
          <a:xfrm xmlns:a="http://schemas.openxmlformats.org/drawingml/2006/main">
            <a:off x="8667750" y="1428750"/>
            <a:ext cx="2190750" cy="2190750"/>
          </a:xfrm>
          <a:prstGeom xmlns:a="http://schemas.openxmlformats.org/drawingml/2006/main" prst="roundRect">
            <a:avLst>
              <a:gd name="adj" fmla="val 3478"/>
            </a:avLst>
          </a:prstGeom>
          <a:solidFill xmlns:a="http://schemas.openxmlformats.org/drawingml/2006/main">
            <a:srgbClr val="2139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D030BB42-399B-499E-90FD-B8E91FF26607}"/>
              </a:ext>
            </a:extLst>
          </p:cNvPr>
          <p:cNvSpPr>
            <a:spLocks xmlns:a="http://schemas.openxmlformats.org/drawingml/2006/main" noGrp="1"/>
          </p:cNvSpPr>
          <p:nvPr/>
        </p:nvSpPr>
        <p:spPr>
          <a:xfrm xmlns:a="http://schemas.openxmlformats.org/drawingml/2006/main">
            <a:off x="8858250" y="2047875"/>
            <a:ext cx="18097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400" b="1">
                <a:solidFill>
                  <a:srgbClr val="F0B84F"/>
                </a:solidFill>
                <a:latin typeface="Aptos"/>
                <a:ea typeface="Aptos"/>
                <a:cs typeface="Aptos"/>
              </a:defRPr>
            </a:pPr>
            <a:r>
              <a:rPr sz="2400" b="1">
                <a:solidFill>
                  <a:srgbClr val="F0B84F"/>
                </a:solidFill>
                <a:latin typeface="Aptos"/>
                <a:ea typeface="Aptos"/>
                <a:cs typeface="Aptos"/>
              </a:rPr>
              <a:t>DATA</a:t>
            </a:r>
          </a:p>
          <a:p xmlns:a="http://schemas.openxmlformats.org/drawingml/2006/main">
            <a:pPr algn="ctr">
              <a:defRPr sz="2400" b="1">
                <a:solidFill>
                  <a:srgbClr val="F0B84F"/>
                </a:solidFill>
                <a:latin typeface="Aptos"/>
                <a:ea typeface="Aptos"/>
                <a:cs typeface="Aptos"/>
              </a:defRPr>
            </a:pPr>
            <a:r>
              <a:rPr sz="2400" b="1">
                <a:solidFill>
                  <a:srgbClr val="F0B84F"/>
                </a:solidFill>
                <a:latin typeface="Aptos"/>
                <a:ea typeface="Aptos"/>
                <a:cs typeface="Aptos"/>
              </a:rPr>
              <a:t>TRUST</a:t>
            </a:r>
          </a:p>
        </p:txBody>
      </p:sp>
      <p:sp>
        <p:nvSpPr>
          <p:cNvPr id="10" name="">
            <a:extLst xmlns:a="http://schemas.openxmlformats.org/drawingml/2006/main">
              <a:ext uri="{FF2B5EF4-FFF2-40B4-BE49-F238E27FC236}">
                <a16:creationId xmlns:a16="http://schemas.microsoft.com/office/drawing/2014/main" id="{DB565473-89E6-4CD0-8156-742BFBEADC36}"/>
              </a:ext>
            </a:extLst>
          </p:cNvPr>
          <p:cNvSpPr>
            <a:spLocks xmlns:a="http://schemas.openxmlformats.org/drawingml/2006/main" noGrp="1"/>
          </p:cNvSpPr>
          <p:nvPr/>
        </p:nvSpPr>
        <p:spPr>
          <a:xfrm xmlns:a="http://schemas.openxmlformats.org/drawingml/2006/main">
            <a:off x="876300" y="5572125"/>
            <a:ext cx="342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0B84F"/>
                </a:solidFill>
                <a:latin typeface="Aptos"/>
                <a:ea typeface="Aptos"/>
                <a:cs typeface="Aptos"/>
              </a:defRPr>
            </a:pPr>
            <a:r>
              <a:rPr sz="1650" b="1">
                <a:solidFill>
                  <a:srgbClr val="F0B84F"/>
                </a:solidFill>
                <a:latin typeface="Aptos"/>
                <a:ea typeface="Aptos"/>
                <a:cs typeface="Aptos"/>
              </a:rPr>
              <a:t>Due May 26, 2026</a:t>
            </a:r>
          </a:p>
        </p:txBody>
      </p:sp>
    </p:spTree>
    <p:extLst>
      <p:ext uri="{BB962C8B-B14F-4D97-AF65-F5344CB8AC3E}">
        <p14:creationId xmlns:p14="http://schemas.microsoft.com/office/powerpoint/2010/main" val="179245268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A1D307-6FDD-4BA1-B951-E2C4CE91B6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87F8716-CC4F-4FBF-BD79-1748599990E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4CCCD79-82FC-45F5-BCE7-11A9B8888FA2}"/>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0D4462FB-00F9-490A-8838-F521438E89DF}"/>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2/12</a:t>
            </a:r>
          </a:p>
        </p:txBody>
      </p:sp>
      <p:sp>
        <p:nvSpPr>
          <p:cNvPr id="5" name="">
            <a:extLst xmlns:a="http://schemas.openxmlformats.org/drawingml/2006/main">
              <a:ext uri="{FF2B5EF4-FFF2-40B4-BE49-F238E27FC236}">
                <a16:creationId xmlns:a16="http://schemas.microsoft.com/office/drawing/2014/main" id="{6784165C-305E-407B-B0E0-54129A5D2D0E}"/>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Plain-language definition</a:t>
            </a:r>
          </a:p>
        </p:txBody>
      </p:sp>
      <p:sp>
        <p:nvSpPr>
          <p:cNvPr id="6" name="">
            <a:extLst xmlns:a="http://schemas.openxmlformats.org/drawingml/2006/main">
              <a:ext uri="{FF2B5EF4-FFF2-40B4-BE49-F238E27FC236}">
                <a16:creationId xmlns:a16="http://schemas.microsoft.com/office/drawing/2014/main" id="{FD90B046-20B9-4B54-922E-881C503DF555}"/>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Data poisoning means bad inputs can shape bad outputs</a:t>
            </a:r>
          </a:p>
        </p:txBody>
      </p:sp>
      <p:sp>
        <p:nvSpPr>
          <p:cNvPr id="7" name="">
            <a:extLst xmlns:a="http://schemas.openxmlformats.org/drawingml/2006/main">
              <a:ext uri="{FF2B5EF4-FFF2-40B4-BE49-F238E27FC236}">
                <a16:creationId xmlns:a16="http://schemas.microsoft.com/office/drawing/2014/main" id="{C72354F4-4493-416A-8923-AFE174457C44}"/>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72635"/>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7F3E8"/>
                </a:solidFill>
                <a:latin typeface="Aptos"/>
                <a:ea typeface="Aptos"/>
                <a:cs typeface="Aptos"/>
              </a:defRPr>
            </a:pPr>
            <a:r>
              <a:rPr sz="2550" b="1">
                <a:solidFill>
                  <a:srgbClr val="F7F3E8"/>
                </a:solidFill>
                <a:latin typeface="Aptos"/>
                <a:ea typeface="Aptos"/>
                <a:cs typeface="Aptos"/>
              </a:rPr>
              <a:t>Bad data can train bad decisions.</a:t>
            </a:r>
          </a:p>
        </p:txBody>
      </p:sp>
      <p:sp>
        <p:nvSpPr>
          <p:cNvPr id="8" name="">
            <a:extLst xmlns:a="http://schemas.openxmlformats.org/drawingml/2006/main">
              <a:ext uri="{FF2B5EF4-FFF2-40B4-BE49-F238E27FC236}">
                <a16:creationId xmlns:a16="http://schemas.microsoft.com/office/drawing/2014/main" id="{B15C60B4-2ECE-4E13-9AB5-DB5297F02AA5}"/>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B5027D3-A65C-4382-8152-8E364143923E}"/>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Wrong labels can teach the wrong pattern</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Missing data can hide harm</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Manipulated data can make a system trust the wrong signal</a:t>
            </a:r>
          </a:p>
        </p:txBody>
      </p:sp>
    </p:spTree>
    <p:extLst>
      <p:ext uri="{BB962C8B-B14F-4D97-AF65-F5344CB8AC3E}">
        <p14:creationId xmlns:p14="http://schemas.microsoft.com/office/powerpoint/2010/main" val="206019066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D4294D-4AC4-460E-B4A1-37D1417A92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829762F-B8DB-4293-BD12-F9C76EFA659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6439C6A-15F7-4EFC-9F0B-5623002F0F78}"/>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A1165FC3-CE5B-4610-99ED-3D18501AE018}"/>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3/12</a:t>
            </a:r>
          </a:p>
        </p:txBody>
      </p:sp>
      <p:sp>
        <p:nvSpPr>
          <p:cNvPr id="5" name="">
            <a:extLst xmlns:a="http://schemas.openxmlformats.org/drawingml/2006/main">
              <a:ext uri="{FF2B5EF4-FFF2-40B4-BE49-F238E27FC236}">
                <a16:creationId xmlns:a16="http://schemas.microsoft.com/office/drawing/2014/main" id="{07BD7595-DAB9-455F-9FEF-545C9668A1C8}"/>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Why this matters</a:t>
            </a:r>
          </a:p>
        </p:txBody>
      </p:sp>
      <p:sp>
        <p:nvSpPr>
          <p:cNvPr id="6" name="">
            <a:extLst xmlns:a="http://schemas.openxmlformats.org/drawingml/2006/main">
              <a:ext uri="{FF2B5EF4-FFF2-40B4-BE49-F238E27FC236}">
                <a16:creationId xmlns:a16="http://schemas.microsoft.com/office/drawing/2014/main" id="{72086044-4046-498D-8D18-7CA1CD5110DC}"/>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Evidence is never neutral just because it is in a table</a:t>
            </a:r>
          </a:p>
        </p:txBody>
      </p:sp>
      <p:sp>
        <p:nvSpPr>
          <p:cNvPr id="7" name="">
            <a:extLst xmlns:a="http://schemas.openxmlformats.org/drawingml/2006/main">
              <a:ext uri="{FF2B5EF4-FFF2-40B4-BE49-F238E27FC236}">
                <a16:creationId xmlns:a16="http://schemas.microsoft.com/office/drawing/2014/main" id="{435EB461-261F-4509-95ED-A9E5A00FA3E7}"/>
              </a:ext>
            </a:extLst>
          </p:cNvPr>
          <p:cNvSpPr>
            <a:spLocks xmlns:a="http://schemas.openxmlformats.org/drawingml/2006/main" noGrp="1"/>
          </p:cNvSpPr>
          <p:nvPr/>
        </p:nvSpPr>
        <p:spPr>
          <a:xfrm xmlns:a="http://schemas.openxmlformats.org/drawingml/2006/main">
            <a:off x="762000" y="2428875"/>
            <a:ext cx="3257550" cy="2476500"/>
          </a:xfrm>
          <a:prstGeom xmlns:a="http://schemas.openxmlformats.org/drawingml/2006/main" prst="roundRect">
            <a:avLst>
              <a:gd name="adj" fmla="val 3077"/>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6AF714E-4860-428A-8DB3-71C24A685F4C}"/>
              </a:ext>
            </a:extLst>
          </p:cNvPr>
          <p:cNvSpPr>
            <a:spLocks xmlns:a="http://schemas.openxmlformats.org/drawingml/2006/main" noGrp="1"/>
          </p:cNvSpPr>
          <p:nvPr/>
        </p:nvSpPr>
        <p:spPr>
          <a:xfrm xmlns:a="http://schemas.openxmlformats.org/drawingml/2006/main">
            <a:off x="97155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0B84F"/>
                </a:solidFill>
                <a:latin typeface="Aptos"/>
                <a:ea typeface="Aptos"/>
                <a:cs typeface="Aptos"/>
              </a:defRPr>
            </a:pPr>
            <a:r>
              <a:rPr sz="1650" b="1">
                <a:solidFill>
                  <a:srgbClr val="F0B84F"/>
                </a:solidFill>
                <a:latin typeface="Aptos"/>
                <a:ea typeface="Aptos"/>
                <a:cs typeface="Aptos"/>
              </a:rPr>
              <a:t>Source</a:t>
            </a:r>
          </a:p>
        </p:txBody>
      </p:sp>
      <p:sp>
        <p:nvSpPr>
          <p:cNvPr id="9" name="">
            <a:extLst xmlns:a="http://schemas.openxmlformats.org/drawingml/2006/main">
              <a:ext uri="{FF2B5EF4-FFF2-40B4-BE49-F238E27FC236}">
                <a16:creationId xmlns:a16="http://schemas.microsoft.com/office/drawing/2014/main" id="{9335A076-4B7D-4086-B1EF-16D8E4F65E8D}"/>
              </a:ext>
            </a:extLst>
          </p:cNvPr>
          <p:cNvSpPr>
            <a:spLocks xmlns:a="http://schemas.openxmlformats.org/drawingml/2006/main" noGrp="1"/>
          </p:cNvSpPr>
          <p:nvPr/>
        </p:nvSpPr>
        <p:spPr>
          <a:xfrm xmlns:a="http://schemas.openxmlformats.org/drawingml/2006/main">
            <a:off x="97155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7F3E8"/>
                </a:solidFill>
                <a:latin typeface="Aptos"/>
                <a:ea typeface="Aptos"/>
                <a:cs typeface="Aptos"/>
              </a:defRPr>
            </a:pPr>
            <a:r>
              <a:rPr sz="1800" b="0">
                <a:solidFill>
                  <a:srgbClr val="F7F3E8"/>
                </a:solidFill>
                <a:latin typeface="Aptos"/>
                <a:ea typeface="Aptos"/>
                <a:cs typeface="Aptos"/>
              </a:rPr>
              <a:t>Who collected the data and why?</a:t>
            </a:r>
          </a:p>
        </p:txBody>
      </p:sp>
      <p:sp>
        <p:nvSpPr>
          <p:cNvPr id="10" name="">
            <a:extLst xmlns:a="http://schemas.openxmlformats.org/drawingml/2006/main">
              <a:ext uri="{FF2B5EF4-FFF2-40B4-BE49-F238E27FC236}">
                <a16:creationId xmlns:a16="http://schemas.microsoft.com/office/drawing/2014/main" id="{E51513A9-B810-4453-963B-D327252B25E8}"/>
              </a:ext>
            </a:extLst>
          </p:cNvPr>
          <p:cNvSpPr>
            <a:spLocks xmlns:a="http://schemas.openxmlformats.org/drawingml/2006/main" noGrp="1"/>
          </p:cNvSpPr>
          <p:nvPr/>
        </p:nvSpPr>
        <p:spPr>
          <a:xfrm xmlns:a="http://schemas.openxmlformats.org/drawingml/2006/main">
            <a:off x="4438650" y="2428875"/>
            <a:ext cx="3257550" cy="2476500"/>
          </a:xfrm>
          <a:prstGeom xmlns:a="http://schemas.openxmlformats.org/drawingml/2006/main" prst="roundRect">
            <a:avLst>
              <a:gd name="adj" fmla="val 3077"/>
            </a:avLst>
          </a:prstGeom>
          <a:solidFill xmlns:a="http://schemas.openxmlformats.org/drawingml/2006/main">
            <a:srgbClr val="21394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45A23A7-9441-4046-9070-695C1F95A82D}"/>
              </a:ext>
            </a:extLst>
          </p:cNvPr>
          <p:cNvSpPr>
            <a:spLocks xmlns:a="http://schemas.openxmlformats.org/drawingml/2006/main" noGrp="1"/>
          </p:cNvSpPr>
          <p:nvPr/>
        </p:nvSpPr>
        <p:spPr>
          <a:xfrm xmlns:a="http://schemas.openxmlformats.org/drawingml/2006/main">
            <a:off x="464820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0B84F"/>
                </a:solidFill>
                <a:latin typeface="Aptos"/>
                <a:ea typeface="Aptos"/>
                <a:cs typeface="Aptos"/>
              </a:defRPr>
            </a:pPr>
            <a:r>
              <a:rPr sz="1650" b="1">
                <a:solidFill>
                  <a:srgbClr val="F0B84F"/>
                </a:solidFill>
                <a:latin typeface="Aptos"/>
                <a:ea typeface="Aptos"/>
                <a:cs typeface="Aptos"/>
              </a:rPr>
              <a:t>Structure</a:t>
            </a:r>
          </a:p>
        </p:txBody>
      </p:sp>
      <p:sp>
        <p:nvSpPr>
          <p:cNvPr id="12" name="">
            <a:extLst xmlns:a="http://schemas.openxmlformats.org/drawingml/2006/main">
              <a:ext uri="{FF2B5EF4-FFF2-40B4-BE49-F238E27FC236}">
                <a16:creationId xmlns:a16="http://schemas.microsoft.com/office/drawing/2014/main" id="{E16569EB-F3A4-4509-AD6B-5214B34232AC}"/>
              </a:ext>
            </a:extLst>
          </p:cNvPr>
          <p:cNvSpPr>
            <a:spLocks xmlns:a="http://schemas.openxmlformats.org/drawingml/2006/main" noGrp="1"/>
          </p:cNvSpPr>
          <p:nvPr/>
        </p:nvSpPr>
        <p:spPr>
          <a:xfrm xmlns:a="http://schemas.openxmlformats.org/drawingml/2006/main">
            <a:off x="464820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7F3E8"/>
                </a:solidFill>
                <a:latin typeface="Aptos"/>
                <a:ea typeface="Aptos"/>
                <a:cs typeface="Aptos"/>
              </a:defRPr>
            </a:pPr>
            <a:r>
              <a:rPr sz="1800" b="0">
                <a:solidFill>
                  <a:srgbClr val="F7F3E8"/>
                </a:solidFill>
                <a:latin typeface="Aptos"/>
                <a:ea typeface="Aptos"/>
                <a:cs typeface="Aptos"/>
              </a:rPr>
              <a:t>What does one row mean, and what do the columns leave out?</a:t>
            </a:r>
          </a:p>
        </p:txBody>
      </p:sp>
      <p:sp>
        <p:nvSpPr>
          <p:cNvPr id="13" name="">
            <a:extLst xmlns:a="http://schemas.openxmlformats.org/drawingml/2006/main">
              <a:ext uri="{FF2B5EF4-FFF2-40B4-BE49-F238E27FC236}">
                <a16:creationId xmlns:a16="http://schemas.microsoft.com/office/drawing/2014/main" id="{AF0BA3E9-B30D-4687-BB5C-8912FB710010}"/>
              </a:ext>
            </a:extLst>
          </p:cNvPr>
          <p:cNvSpPr>
            <a:spLocks xmlns:a="http://schemas.openxmlformats.org/drawingml/2006/main" noGrp="1"/>
          </p:cNvSpPr>
          <p:nvPr/>
        </p:nvSpPr>
        <p:spPr>
          <a:xfrm xmlns:a="http://schemas.openxmlformats.org/drawingml/2006/main">
            <a:off x="8115300" y="2428875"/>
            <a:ext cx="3257550" cy="2476500"/>
          </a:xfrm>
          <a:prstGeom xmlns:a="http://schemas.openxmlformats.org/drawingml/2006/main" prst="roundRect">
            <a:avLst>
              <a:gd name="adj" fmla="val 3077"/>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A59BFC5-5A74-4EBB-9EB3-16DECC008CAA}"/>
              </a:ext>
            </a:extLst>
          </p:cNvPr>
          <p:cNvSpPr>
            <a:spLocks xmlns:a="http://schemas.openxmlformats.org/drawingml/2006/main" noGrp="1"/>
          </p:cNvSpPr>
          <p:nvPr/>
        </p:nvSpPr>
        <p:spPr>
          <a:xfrm xmlns:a="http://schemas.openxmlformats.org/drawingml/2006/main">
            <a:off x="832485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F0B84F"/>
                </a:solidFill>
                <a:latin typeface="Aptos"/>
                <a:ea typeface="Aptos"/>
                <a:cs typeface="Aptos"/>
              </a:defRPr>
            </a:pPr>
            <a:r>
              <a:rPr sz="1650" b="1">
                <a:solidFill>
                  <a:srgbClr val="F0B84F"/>
                </a:solidFill>
                <a:latin typeface="Aptos"/>
                <a:ea typeface="Aptos"/>
                <a:cs typeface="Aptos"/>
              </a:rPr>
              <a:t>Use</a:t>
            </a:r>
          </a:p>
        </p:txBody>
      </p:sp>
      <p:sp>
        <p:nvSpPr>
          <p:cNvPr id="15" name="">
            <a:extLst xmlns:a="http://schemas.openxmlformats.org/drawingml/2006/main">
              <a:ext uri="{FF2B5EF4-FFF2-40B4-BE49-F238E27FC236}">
                <a16:creationId xmlns:a16="http://schemas.microsoft.com/office/drawing/2014/main" id="{2CC2009E-9741-4518-8746-474F7A38796B}"/>
              </a:ext>
            </a:extLst>
          </p:cNvPr>
          <p:cNvSpPr>
            <a:spLocks xmlns:a="http://schemas.openxmlformats.org/drawingml/2006/main" noGrp="1"/>
          </p:cNvSpPr>
          <p:nvPr/>
        </p:nvSpPr>
        <p:spPr>
          <a:xfrm xmlns:a="http://schemas.openxmlformats.org/drawingml/2006/main">
            <a:off x="832485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7F3E8"/>
                </a:solidFill>
                <a:latin typeface="Aptos"/>
                <a:ea typeface="Aptos"/>
                <a:cs typeface="Aptos"/>
              </a:defRPr>
            </a:pPr>
            <a:r>
              <a:rPr sz="1800" b="0">
                <a:solidFill>
                  <a:srgbClr val="F7F3E8"/>
                </a:solidFill>
                <a:latin typeface="Aptos"/>
                <a:ea typeface="Aptos"/>
                <a:cs typeface="Aptos"/>
              </a:rPr>
              <a:t>What claim are you trying to support with it?</a:t>
            </a:r>
          </a:p>
        </p:txBody>
      </p:sp>
    </p:spTree>
    <p:extLst>
      <p:ext uri="{BB962C8B-B14F-4D97-AF65-F5344CB8AC3E}">
        <p14:creationId xmlns:p14="http://schemas.microsoft.com/office/powerpoint/2010/main" val="13429448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16D81B6-844D-415A-BD1B-151BC88071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5C813A5-2838-4F12-8D8C-3593F4A0571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E415B55-AA96-41AB-8D02-F0D0E4114F51}"/>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AD195252-37C3-4679-ACC0-83A8844D3B98}"/>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4/12</a:t>
            </a:r>
          </a:p>
        </p:txBody>
      </p:sp>
      <p:sp>
        <p:nvSpPr>
          <p:cNvPr id="5" name="">
            <a:extLst xmlns:a="http://schemas.openxmlformats.org/drawingml/2006/main">
              <a:ext uri="{FF2B5EF4-FFF2-40B4-BE49-F238E27FC236}">
                <a16:creationId xmlns:a16="http://schemas.microsoft.com/office/drawing/2014/main" id="{C8DE7A5E-E985-4B94-80C3-675549B9E204}"/>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Three easy failure modes</a:t>
            </a:r>
          </a:p>
        </p:txBody>
      </p:sp>
      <p:sp>
        <p:nvSpPr>
          <p:cNvPr id="6" name="">
            <a:extLst xmlns:a="http://schemas.openxmlformats.org/drawingml/2006/main">
              <a:ext uri="{FF2B5EF4-FFF2-40B4-BE49-F238E27FC236}">
                <a16:creationId xmlns:a16="http://schemas.microsoft.com/office/drawing/2014/main" id="{9B5C4E6A-F624-4907-9839-15F451CABE40}"/>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How final project evidence can mislead you</a:t>
            </a:r>
          </a:p>
        </p:txBody>
      </p:sp>
      <p:sp>
        <p:nvSpPr>
          <p:cNvPr id="7" name="">
            <a:extLst xmlns:a="http://schemas.openxmlformats.org/drawingml/2006/main">
              <a:ext uri="{FF2B5EF4-FFF2-40B4-BE49-F238E27FC236}">
                <a16:creationId xmlns:a16="http://schemas.microsoft.com/office/drawing/2014/main" id="{EFB533DE-67B3-4114-9F66-C63A6AF9759D}"/>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A1744B0-76FD-4700-9063-BE2BBD6CE2F8}"/>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The dataset is incomplete: important cases are missing</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The labels are unclear: categories hide important differences</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The source is one-sided: the evidence supports only part of the story</a:t>
            </a:r>
          </a:p>
        </p:txBody>
      </p:sp>
    </p:spTree>
    <p:extLst>
      <p:ext uri="{BB962C8B-B14F-4D97-AF65-F5344CB8AC3E}">
        <p14:creationId xmlns:p14="http://schemas.microsoft.com/office/powerpoint/2010/main" val="182906075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2E05B4-F71A-4875-8B57-1F125365EB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D56E112-FB06-432A-94F7-094609E9918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384C3FD-89E9-457B-AE32-A4B756080479}"/>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3E676C5C-3FE9-4AFC-B21C-5E068C8F49FF}"/>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5/12</a:t>
            </a:r>
          </a:p>
        </p:txBody>
      </p:sp>
      <p:sp>
        <p:nvSpPr>
          <p:cNvPr id="5" name="">
            <a:extLst xmlns:a="http://schemas.openxmlformats.org/drawingml/2006/main">
              <a:ext uri="{FF2B5EF4-FFF2-40B4-BE49-F238E27FC236}">
                <a16:creationId xmlns:a16="http://schemas.microsoft.com/office/drawing/2014/main" id="{B23E987E-5214-42DF-AD12-842842ABA7A1}"/>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Final project use</a:t>
            </a:r>
          </a:p>
        </p:txBody>
      </p:sp>
      <p:sp>
        <p:nvSpPr>
          <p:cNvPr id="6" name="">
            <a:extLst xmlns:a="http://schemas.openxmlformats.org/drawingml/2006/main">
              <a:ext uri="{FF2B5EF4-FFF2-40B4-BE49-F238E27FC236}">
                <a16:creationId xmlns:a16="http://schemas.microsoft.com/office/drawing/2014/main" id="{9F1E159B-0311-4100-BC82-E1863EDB2902}"/>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Your project needs an evidence plan</a:t>
            </a:r>
          </a:p>
        </p:txBody>
      </p:sp>
      <p:sp>
        <p:nvSpPr>
          <p:cNvPr id="7" name="">
            <a:extLst xmlns:a="http://schemas.openxmlformats.org/drawingml/2006/main">
              <a:ext uri="{FF2B5EF4-FFF2-40B4-BE49-F238E27FC236}">
                <a16:creationId xmlns:a16="http://schemas.microsoft.com/office/drawing/2014/main" id="{B289C572-85BA-4251-9E30-F1CFDE85F129}"/>
              </a:ext>
            </a:extLst>
          </p:cNvPr>
          <p:cNvSpPr>
            <a:spLocks xmlns:a="http://schemas.openxmlformats.org/drawingml/2006/main" noGrp="1"/>
          </p:cNvSpPr>
          <p:nvPr/>
        </p:nvSpPr>
        <p:spPr>
          <a:xfrm xmlns:a="http://schemas.openxmlformats.org/drawingml/2006/main">
            <a:off x="876300" y="2333625"/>
            <a:ext cx="685800" cy="514350"/>
          </a:xfrm>
          <a:prstGeom xmlns:a="http://schemas.openxmlformats.org/drawingml/2006/main" prst="roundRect">
            <a:avLst>
              <a:gd name="adj" fmla="val 14815"/>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D5D3010-8AA8-4056-B9CE-93ABCD607FF6}"/>
              </a:ext>
            </a:extLst>
          </p:cNvPr>
          <p:cNvSpPr>
            <a:spLocks xmlns:a="http://schemas.openxmlformats.org/drawingml/2006/main" noGrp="1"/>
          </p:cNvSpPr>
          <p:nvPr/>
        </p:nvSpPr>
        <p:spPr>
          <a:xfrm xmlns:a="http://schemas.openxmlformats.org/drawingml/2006/main">
            <a:off x="1028700" y="24003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01820"/>
                </a:solidFill>
                <a:latin typeface="Aptos"/>
                <a:ea typeface="Aptos"/>
                <a:cs typeface="Aptos"/>
              </a:defRPr>
            </a:pPr>
            <a:r>
              <a:rPr sz="1800" b="1">
                <a:solidFill>
                  <a:srgbClr val="101820"/>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7B71F5A2-BD7B-4CB0-B551-DA18EDD8B69F}"/>
              </a:ext>
            </a:extLst>
          </p:cNvPr>
          <p:cNvSpPr>
            <a:spLocks xmlns:a="http://schemas.openxmlformats.org/drawingml/2006/main" noGrp="1"/>
          </p:cNvSpPr>
          <p:nvPr/>
        </p:nvSpPr>
        <p:spPr>
          <a:xfrm xmlns:a="http://schemas.openxmlformats.org/drawingml/2006/main">
            <a:off x="1790700" y="22955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7F3E8"/>
                </a:solidFill>
                <a:latin typeface="Aptos"/>
                <a:ea typeface="Aptos"/>
                <a:cs typeface="Aptos"/>
              </a:defRPr>
            </a:pPr>
            <a:r>
              <a:rPr sz="1950" b="0">
                <a:solidFill>
                  <a:srgbClr val="F7F3E8"/>
                </a:solidFill>
                <a:latin typeface="Aptos"/>
                <a:ea typeface="Aptos"/>
                <a:cs typeface="Aptos"/>
              </a:rPr>
              <a:t>Name the evidence you will use.</a:t>
            </a:r>
          </a:p>
        </p:txBody>
      </p:sp>
      <p:sp>
        <p:nvSpPr>
          <p:cNvPr id="10" name="">
            <a:extLst xmlns:a="http://schemas.openxmlformats.org/drawingml/2006/main">
              <a:ext uri="{FF2B5EF4-FFF2-40B4-BE49-F238E27FC236}">
                <a16:creationId xmlns:a16="http://schemas.microsoft.com/office/drawing/2014/main" id="{8BE4C33F-4C51-4407-B9FB-C79B48DE7B7D}"/>
              </a:ext>
            </a:extLst>
          </p:cNvPr>
          <p:cNvSpPr>
            <a:spLocks xmlns:a="http://schemas.openxmlformats.org/drawingml/2006/main" noGrp="1"/>
          </p:cNvSpPr>
          <p:nvPr/>
        </p:nvSpPr>
        <p:spPr>
          <a:xfrm xmlns:a="http://schemas.openxmlformats.org/drawingml/2006/main">
            <a:off x="876300" y="3114675"/>
            <a:ext cx="685800" cy="514350"/>
          </a:xfrm>
          <a:prstGeom xmlns:a="http://schemas.openxmlformats.org/drawingml/2006/main" prst="roundRect">
            <a:avLst>
              <a:gd name="adj" fmla="val 14815"/>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2453C19-7B55-4CC8-8146-8269C994591C}"/>
              </a:ext>
            </a:extLst>
          </p:cNvPr>
          <p:cNvSpPr>
            <a:spLocks xmlns:a="http://schemas.openxmlformats.org/drawingml/2006/main" noGrp="1"/>
          </p:cNvSpPr>
          <p:nvPr/>
        </p:nvSpPr>
        <p:spPr>
          <a:xfrm xmlns:a="http://schemas.openxmlformats.org/drawingml/2006/main">
            <a:off x="1028700" y="318135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01820"/>
                </a:solidFill>
                <a:latin typeface="Aptos"/>
                <a:ea typeface="Aptos"/>
                <a:cs typeface="Aptos"/>
              </a:defRPr>
            </a:pPr>
            <a:r>
              <a:rPr sz="1800" b="1">
                <a:solidFill>
                  <a:srgbClr val="101820"/>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B0795831-CA71-4100-8D6F-9E9A0A671C22}"/>
              </a:ext>
            </a:extLst>
          </p:cNvPr>
          <p:cNvSpPr>
            <a:spLocks xmlns:a="http://schemas.openxmlformats.org/drawingml/2006/main" noGrp="1"/>
          </p:cNvSpPr>
          <p:nvPr/>
        </p:nvSpPr>
        <p:spPr>
          <a:xfrm xmlns:a="http://schemas.openxmlformats.org/drawingml/2006/main">
            <a:off x="1790700" y="307657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7F3E8"/>
                </a:solidFill>
                <a:latin typeface="Aptos"/>
                <a:ea typeface="Aptos"/>
                <a:cs typeface="Aptos"/>
              </a:defRPr>
            </a:pPr>
            <a:r>
              <a:rPr sz="1950" b="0">
                <a:solidFill>
                  <a:srgbClr val="F7F3E8"/>
                </a:solidFill>
                <a:latin typeface="Aptos"/>
                <a:ea typeface="Aptos"/>
                <a:cs typeface="Aptos"/>
              </a:rPr>
              <a:t>Explain where it came from.</a:t>
            </a:r>
          </a:p>
        </p:txBody>
      </p:sp>
      <p:sp>
        <p:nvSpPr>
          <p:cNvPr id="13" name="">
            <a:extLst xmlns:a="http://schemas.openxmlformats.org/drawingml/2006/main">
              <a:ext uri="{FF2B5EF4-FFF2-40B4-BE49-F238E27FC236}">
                <a16:creationId xmlns:a16="http://schemas.microsoft.com/office/drawing/2014/main" id="{72DD7AEE-4942-4684-803E-7AB6DDCDB50B}"/>
              </a:ext>
            </a:extLst>
          </p:cNvPr>
          <p:cNvSpPr>
            <a:spLocks xmlns:a="http://schemas.openxmlformats.org/drawingml/2006/main" noGrp="1"/>
          </p:cNvSpPr>
          <p:nvPr/>
        </p:nvSpPr>
        <p:spPr>
          <a:xfrm xmlns:a="http://schemas.openxmlformats.org/drawingml/2006/main">
            <a:off x="876300" y="3895725"/>
            <a:ext cx="685800" cy="514350"/>
          </a:xfrm>
          <a:prstGeom xmlns:a="http://schemas.openxmlformats.org/drawingml/2006/main" prst="roundRect">
            <a:avLst>
              <a:gd name="adj" fmla="val 14815"/>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F494FAB-BB7B-4378-918A-74EE42336CFA}"/>
              </a:ext>
            </a:extLst>
          </p:cNvPr>
          <p:cNvSpPr>
            <a:spLocks xmlns:a="http://schemas.openxmlformats.org/drawingml/2006/main" noGrp="1"/>
          </p:cNvSpPr>
          <p:nvPr/>
        </p:nvSpPr>
        <p:spPr>
          <a:xfrm xmlns:a="http://schemas.openxmlformats.org/drawingml/2006/main">
            <a:off x="1028700" y="39624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01820"/>
                </a:solidFill>
                <a:latin typeface="Aptos"/>
                <a:ea typeface="Aptos"/>
                <a:cs typeface="Aptos"/>
              </a:defRPr>
            </a:pPr>
            <a:r>
              <a:rPr sz="1800" b="1">
                <a:solidFill>
                  <a:srgbClr val="101820"/>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1BF420CC-31BC-4B5C-8DF5-BFF72410AC6A}"/>
              </a:ext>
            </a:extLst>
          </p:cNvPr>
          <p:cNvSpPr>
            <a:spLocks xmlns:a="http://schemas.openxmlformats.org/drawingml/2006/main" noGrp="1"/>
          </p:cNvSpPr>
          <p:nvPr/>
        </p:nvSpPr>
        <p:spPr>
          <a:xfrm xmlns:a="http://schemas.openxmlformats.org/drawingml/2006/main">
            <a:off x="1790700" y="38576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7F3E8"/>
                </a:solidFill>
                <a:latin typeface="Aptos"/>
                <a:ea typeface="Aptos"/>
                <a:cs typeface="Aptos"/>
              </a:defRPr>
            </a:pPr>
            <a:r>
              <a:rPr sz="1950" b="0">
                <a:solidFill>
                  <a:srgbClr val="F7F3E8"/>
                </a:solidFill>
                <a:latin typeface="Aptos"/>
                <a:ea typeface="Aptos"/>
                <a:cs typeface="Aptos"/>
              </a:rPr>
              <a:t>Say what it can show.</a:t>
            </a:r>
          </a:p>
        </p:txBody>
      </p:sp>
      <p:sp>
        <p:nvSpPr>
          <p:cNvPr id="16" name="">
            <a:extLst xmlns:a="http://schemas.openxmlformats.org/drawingml/2006/main">
              <a:ext uri="{FF2B5EF4-FFF2-40B4-BE49-F238E27FC236}">
                <a16:creationId xmlns:a16="http://schemas.microsoft.com/office/drawing/2014/main" id="{C35A60AB-ED30-4DA0-B1C1-84B13BF957FD}"/>
              </a:ext>
            </a:extLst>
          </p:cNvPr>
          <p:cNvSpPr>
            <a:spLocks xmlns:a="http://schemas.openxmlformats.org/drawingml/2006/main" noGrp="1"/>
          </p:cNvSpPr>
          <p:nvPr/>
        </p:nvSpPr>
        <p:spPr>
          <a:xfrm xmlns:a="http://schemas.openxmlformats.org/drawingml/2006/main">
            <a:off x="876300" y="4676775"/>
            <a:ext cx="685800" cy="514350"/>
          </a:xfrm>
          <a:prstGeom xmlns:a="http://schemas.openxmlformats.org/drawingml/2006/main" prst="roundRect">
            <a:avLst>
              <a:gd name="adj" fmla="val 14815"/>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A3FE4DB-413B-4661-A813-9C109170B861}"/>
              </a:ext>
            </a:extLst>
          </p:cNvPr>
          <p:cNvSpPr>
            <a:spLocks xmlns:a="http://schemas.openxmlformats.org/drawingml/2006/main" noGrp="1"/>
          </p:cNvSpPr>
          <p:nvPr/>
        </p:nvSpPr>
        <p:spPr>
          <a:xfrm xmlns:a="http://schemas.openxmlformats.org/drawingml/2006/main">
            <a:off x="1028700" y="474345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01820"/>
                </a:solidFill>
                <a:latin typeface="Aptos"/>
                <a:ea typeface="Aptos"/>
                <a:cs typeface="Aptos"/>
              </a:defRPr>
            </a:pPr>
            <a:r>
              <a:rPr sz="1800" b="1">
                <a:solidFill>
                  <a:srgbClr val="101820"/>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A09182FF-6EF4-4AD0-83A0-E74EBDFB025E}"/>
              </a:ext>
            </a:extLst>
          </p:cNvPr>
          <p:cNvSpPr>
            <a:spLocks xmlns:a="http://schemas.openxmlformats.org/drawingml/2006/main" noGrp="1"/>
          </p:cNvSpPr>
          <p:nvPr/>
        </p:nvSpPr>
        <p:spPr>
          <a:xfrm xmlns:a="http://schemas.openxmlformats.org/drawingml/2006/main">
            <a:off x="1790700" y="463867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7F3E8"/>
                </a:solidFill>
                <a:latin typeface="Aptos"/>
                <a:ea typeface="Aptos"/>
                <a:cs typeface="Aptos"/>
              </a:defRPr>
            </a:pPr>
            <a:r>
              <a:rPr sz="1950" b="0">
                <a:solidFill>
                  <a:srgbClr val="F7F3E8"/>
                </a:solidFill>
                <a:latin typeface="Aptos"/>
                <a:ea typeface="Aptos"/>
                <a:cs typeface="Aptos"/>
              </a:rPr>
              <a:t>Say what it cannot prove.</a:t>
            </a:r>
          </a:p>
        </p:txBody>
      </p:sp>
      <p:sp>
        <p:nvSpPr>
          <p:cNvPr id="19" name="">
            <a:extLst xmlns:a="http://schemas.openxmlformats.org/drawingml/2006/main">
              <a:ext uri="{FF2B5EF4-FFF2-40B4-BE49-F238E27FC236}">
                <a16:creationId xmlns:a16="http://schemas.microsoft.com/office/drawing/2014/main" id="{8A4E97FE-28F5-40EE-8F25-A891F09AFF0E}"/>
              </a:ext>
            </a:extLst>
          </p:cNvPr>
          <p:cNvSpPr>
            <a:spLocks xmlns:a="http://schemas.openxmlformats.org/drawingml/2006/main" noGrp="1"/>
          </p:cNvSpPr>
          <p:nvPr/>
        </p:nvSpPr>
        <p:spPr>
          <a:xfrm xmlns:a="http://schemas.openxmlformats.org/drawingml/2006/main">
            <a:off x="876300" y="5457825"/>
            <a:ext cx="685800" cy="514350"/>
          </a:xfrm>
          <a:prstGeom xmlns:a="http://schemas.openxmlformats.org/drawingml/2006/main" prst="roundRect">
            <a:avLst>
              <a:gd name="adj" fmla="val 14815"/>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B5507247-73E5-484E-955A-4C43AC6B5F6B}"/>
              </a:ext>
            </a:extLst>
          </p:cNvPr>
          <p:cNvSpPr>
            <a:spLocks xmlns:a="http://schemas.openxmlformats.org/drawingml/2006/main" noGrp="1"/>
          </p:cNvSpPr>
          <p:nvPr/>
        </p:nvSpPr>
        <p:spPr>
          <a:xfrm xmlns:a="http://schemas.openxmlformats.org/drawingml/2006/main">
            <a:off x="1028700" y="55245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101820"/>
                </a:solidFill>
                <a:latin typeface="Aptos"/>
                <a:ea typeface="Aptos"/>
                <a:cs typeface="Aptos"/>
              </a:defRPr>
            </a:pPr>
            <a:r>
              <a:rPr sz="1800" b="1">
                <a:solidFill>
                  <a:srgbClr val="101820"/>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AEDE922C-27A3-4203-A346-CE20AD2143FA}"/>
              </a:ext>
            </a:extLst>
          </p:cNvPr>
          <p:cNvSpPr>
            <a:spLocks xmlns:a="http://schemas.openxmlformats.org/drawingml/2006/main" noGrp="1"/>
          </p:cNvSpPr>
          <p:nvPr/>
        </p:nvSpPr>
        <p:spPr>
          <a:xfrm xmlns:a="http://schemas.openxmlformats.org/drawingml/2006/main">
            <a:off x="1790700" y="54197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7F3E8"/>
                </a:solidFill>
                <a:latin typeface="Aptos"/>
                <a:ea typeface="Aptos"/>
                <a:cs typeface="Aptos"/>
              </a:defRPr>
            </a:pPr>
            <a:r>
              <a:rPr sz="1950" b="0">
                <a:solidFill>
                  <a:srgbClr val="F7F3E8"/>
                </a:solidFill>
                <a:latin typeface="Aptos"/>
                <a:ea typeface="Aptos"/>
                <a:cs typeface="Aptos"/>
              </a:rPr>
              <a:t>Use that limit to avoid overclaiming.</a:t>
            </a:r>
          </a:p>
        </p:txBody>
      </p:sp>
    </p:spTree>
    <p:extLst>
      <p:ext uri="{BB962C8B-B14F-4D97-AF65-F5344CB8AC3E}">
        <p14:creationId xmlns:p14="http://schemas.microsoft.com/office/powerpoint/2010/main" val="157073043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CD76C26-E209-4FAE-A585-E9BFD48CB5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226D27B-5D3C-47BD-9CDC-B40D5AF83FCE}"/>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F5C0C38-8C44-4D62-8859-97C936086062}"/>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D171CB81-138B-41F4-969B-324D0DC31990}"/>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6/12</a:t>
            </a:r>
          </a:p>
        </p:txBody>
      </p:sp>
      <p:sp>
        <p:nvSpPr>
          <p:cNvPr id="5" name="">
            <a:extLst xmlns:a="http://schemas.openxmlformats.org/drawingml/2006/main">
              <a:ext uri="{FF2B5EF4-FFF2-40B4-BE49-F238E27FC236}">
                <a16:creationId xmlns:a16="http://schemas.microsoft.com/office/drawing/2014/main" id="{FEBB29E0-6A49-48C6-8EA1-A51103200523}"/>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Coding path</a:t>
            </a:r>
          </a:p>
        </p:txBody>
      </p:sp>
      <p:sp>
        <p:nvSpPr>
          <p:cNvPr id="6" name="">
            <a:extLst xmlns:a="http://schemas.openxmlformats.org/drawingml/2006/main">
              <a:ext uri="{FF2B5EF4-FFF2-40B4-BE49-F238E27FC236}">
                <a16:creationId xmlns:a16="http://schemas.microsoft.com/office/drawing/2014/main" id="{74DC33D7-4061-47A8-86EE-459D1020C020}"/>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For coding projects: inspect before you calculate</a:t>
            </a:r>
          </a:p>
        </p:txBody>
      </p:sp>
      <p:sp>
        <p:nvSpPr>
          <p:cNvPr id="7" name="">
            <a:extLst xmlns:a="http://schemas.openxmlformats.org/drawingml/2006/main">
              <a:ext uri="{FF2B5EF4-FFF2-40B4-BE49-F238E27FC236}">
                <a16:creationId xmlns:a16="http://schemas.microsoft.com/office/drawing/2014/main" id="{04AC07CE-B3AA-434D-82E5-8C38B50E6C1C}"/>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3F3ACB0-4030-45E6-91D1-621DE79545E0}"/>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What does one row represent?</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Which columns are signals, and which are context?</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Are there missing, unclear, or coded values?</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Could your score or chart overstate what happened?</a:t>
            </a:r>
          </a:p>
        </p:txBody>
      </p:sp>
    </p:spTree>
    <p:extLst>
      <p:ext uri="{BB962C8B-B14F-4D97-AF65-F5344CB8AC3E}">
        <p14:creationId xmlns:p14="http://schemas.microsoft.com/office/powerpoint/2010/main" val="131225906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9F9428-3F78-40B2-A38E-78E8343A21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03397F3-B7E6-41C1-B126-B682432880F7}"/>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E4E7E54-3CBC-40AD-9A1C-6B1D13B79569}"/>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E7C48C46-9CEE-4E99-88E9-15F876BC5C38}"/>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7/12</a:t>
            </a:r>
          </a:p>
        </p:txBody>
      </p:sp>
      <p:sp>
        <p:nvSpPr>
          <p:cNvPr id="5" name="">
            <a:extLst xmlns:a="http://schemas.openxmlformats.org/drawingml/2006/main">
              <a:ext uri="{FF2B5EF4-FFF2-40B4-BE49-F238E27FC236}">
                <a16:creationId xmlns:a16="http://schemas.microsoft.com/office/drawing/2014/main" id="{2C5C3134-720E-4D6F-B791-BE81C5D62E48}"/>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Essay path</a:t>
            </a:r>
          </a:p>
        </p:txBody>
      </p:sp>
      <p:sp>
        <p:nvSpPr>
          <p:cNvPr id="6" name="">
            <a:extLst xmlns:a="http://schemas.openxmlformats.org/drawingml/2006/main">
              <a:ext uri="{FF2B5EF4-FFF2-40B4-BE49-F238E27FC236}">
                <a16:creationId xmlns:a16="http://schemas.microsoft.com/office/drawing/2014/main" id="{AB57BA2A-823F-411D-BA1D-D2BA92D51AD4}"/>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For MLA essays: sources also need trust checks</a:t>
            </a:r>
          </a:p>
        </p:txBody>
      </p:sp>
      <p:sp>
        <p:nvSpPr>
          <p:cNvPr id="7" name="">
            <a:extLst xmlns:a="http://schemas.openxmlformats.org/drawingml/2006/main">
              <a:ext uri="{FF2B5EF4-FFF2-40B4-BE49-F238E27FC236}">
                <a16:creationId xmlns:a16="http://schemas.microsoft.com/office/drawing/2014/main" id="{A8F7B934-5B5E-4456-B781-6F6B363B87E9}"/>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65E1117-7228-4393-A3F5-C46C469516C7}"/>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Who wrote it, and what is their purpose?</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What evidence does the source use?</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What does the source leave out?</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What other source could balance it?</a:t>
            </a:r>
          </a:p>
        </p:txBody>
      </p:sp>
    </p:spTree>
    <p:extLst>
      <p:ext uri="{BB962C8B-B14F-4D97-AF65-F5344CB8AC3E}">
        <p14:creationId xmlns:p14="http://schemas.microsoft.com/office/powerpoint/2010/main" val="19240452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45D6D21-8D7A-4F1B-8FD0-61DBAAFB2C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571F7F1-66BC-4FAA-A849-FE0529BB5407}"/>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4035A9B-BAEA-45CF-82C3-6611962A5AE1}"/>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12BBF0CA-E968-4398-9EB0-C096D7256A1A}"/>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8/12</a:t>
            </a:r>
          </a:p>
        </p:txBody>
      </p:sp>
      <p:sp>
        <p:nvSpPr>
          <p:cNvPr id="5" name="">
            <a:extLst xmlns:a="http://schemas.openxmlformats.org/drawingml/2006/main">
              <a:ext uri="{FF2B5EF4-FFF2-40B4-BE49-F238E27FC236}">
                <a16:creationId xmlns:a16="http://schemas.microsoft.com/office/drawing/2014/main" id="{B931AFF2-6008-44CE-B9E9-4AA2F32AE64F}"/>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Privacy and ethics</a:t>
            </a:r>
          </a:p>
        </p:txBody>
      </p:sp>
      <p:sp>
        <p:nvSpPr>
          <p:cNvPr id="6" name="">
            <a:extLst xmlns:a="http://schemas.openxmlformats.org/drawingml/2006/main">
              <a:ext uri="{FF2B5EF4-FFF2-40B4-BE49-F238E27FC236}">
                <a16:creationId xmlns:a16="http://schemas.microsoft.com/office/drawing/2014/main" id="{DFFF4AA7-0A40-47C3-84C3-B2DE9F6BD36B}"/>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Trust also means asking who could be harmed</a:t>
            </a:r>
          </a:p>
        </p:txBody>
      </p:sp>
      <p:sp>
        <p:nvSpPr>
          <p:cNvPr id="7" name="">
            <a:extLst xmlns:a="http://schemas.openxmlformats.org/drawingml/2006/main">
              <a:ext uri="{FF2B5EF4-FFF2-40B4-BE49-F238E27FC236}">
                <a16:creationId xmlns:a16="http://schemas.microsoft.com/office/drawing/2014/main" id="{0C07294E-5ABD-47D5-A55A-CA778A772093}"/>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6764F23-2046-495C-834E-4A838C1F97A0}"/>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Does the evidence describe people directly or indirectly?</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Could location, time, or categories expose patterns?</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Could the data be used to judge a group unfairly?</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Could missing data make the conclusion unfair?</a:t>
            </a:r>
          </a:p>
        </p:txBody>
      </p:sp>
    </p:spTree>
    <p:extLst>
      <p:ext uri="{BB962C8B-B14F-4D97-AF65-F5344CB8AC3E}">
        <p14:creationId xmlns:p14="http://schemas.microsoft.com/office/powerpoint/2010/main" val="52454919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B65182-D6D0-48D9-95DA-CC6A0A28C2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FB96915-6CCC-4275-949E-DCBFAF7C80A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E6737FC-69A9-415B-B13B-3FB51A5998D8}"/>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FB4915EC-C79E-433F-9236-B4D6469ACE28}"/>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9/12</a:t>
            </a:r>
          </a:p>
        </p:txBody>
      </p:sp>
      <p:sp>
        <p:nvSpPr>
          <p:cNvPr id="5" name="">
            <a:extLst xmlns:a="http://schemas.openxmlformats.org/drawingml/2006/main">
              <a:ext uri="{FF2B5EF4-FFF2-40B4-BE49-F238E27FC236}">
                <a16:creationId xmlns:a16="http://schemas.microsoft.com/office/drawing/2014/main" id="{B6B62895-436C-4FCE-92EB-ED770AC89B6A}"/>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Today's lab</a:t>
            </a:r>
          </a:p>
        </p:txBody>
      </p:sp>
      <p:sp>
        <p:nvSpPr>
          <p:cNvPr id="6" name="">
            <a:extLst xmlns:a="http://schemas.openxmlformats.org/drawingml/2006/main">
              <a:ext uri="{FF2B5EF4-FFF2-40B4-BE49-F238E27FC236}">
                <a16:creationId xmlns:a16="http://schemas.microsoft.com/office/drawing/2014/main" id="{5BE95E8F-E94A-4316-B756-F3F358D316E0}"/>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Lab goal: make your evidence safer to use</a:t>
            </a:r>
          </a:p>
        </p:txBody>
      </p:sp>
      <p:sp>
        <p:nvSpPr>
          <p:cNvPr id="7" name="">
            <a:extLst xmlns:a="http://schemas.openxmlformats.org/drawingml/2006/main">
              <a:ext uri="{FF2B5EF4-FFF2-40B4-BE49-F238E27FC236}">
                <a16:creationId xmlns:a16="http://schemas.microsoft.com/office/drawing/2014/main" id="{26193FBA-88DB-4453-AB18-29B617F739B4}"/>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E48967B-3892-4220-8066-9E7C960A8D0D}"/>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Choose your project path</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List your evidence</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Check your strongest source or dataset</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Explain one way it could mislead you</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Write an evidence plan</a:t>
            </a:r>
          </a:p>
        </p:txBody>
      </p:sp>
    </p:spTree>
    <p:extLst>
      <p:ext uri="{BB962C8B-B14F-4D97-AF65-F5344CB8AC3E}">
        <p14:creationId xmlns:p14="http://schemas.microsoft.com/office/powerpoint/2010/main" val="5657698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0B5130-E09B-465E-8C5A-E504506D4F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4142256-E2ED-4C3E-9F62-D24B6E163DA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7F94EEB-22A9-4B15-8745-46C7077EFE9A}"/>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5C5A1035-7192-4E69-B3EE-B602BC7E37F1}"/>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10/12</a:t>
            </a:r>
          </a:p>
        </p:txBody>
      </p:sp>
      <p:sp>
        <p:nvSpPr>
          <p:cNvPr id="5" name="">
            <a:extLst xmlns:a="http://schemas.openxmlformats.org/drawingml/2006/main">
              <a:ext uri="{FF2B5EF4-FFF2-40B4-BE49-F238E27FC236}">
                <a16:creationId xmlns:a16="http://schemas.microsoft.com/office/drawing/2014/main" id="{C5B80862-CFE8-4E34-BC7D-C2FE23E479A0}"/>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Exit writing</a:t>
            </a:r>
          </a:p>
        </p:txBody>
      </p:sp>
      <p:sp>
        <p:nvSpPr>
          <p:cNvPr id="6" name="">
            <a:extLst xmlns:a="http://schemas.openxmlformats.org/drawingml/2006/main">
              <a:ext uri="{FF2B5EF4-FFF2-40B4-BE49-F238E27FC236}">
                <a16:creationId xmlns:a16="http://schemas.microsoft.com/office/drawing/2014/main" id="{C03621CA-1055-4CD9-9FF5-3549322E0178}"/>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Before you leave: name the risk of overclaiming</a:t>
            </a:r>
          </a:p>
        </p:txBody>
      </p:sp>
      <p:sp>
        <p:nvSpPr>
          <p:cNvPr id="7" name="">
            <a:extLst xmlns:a="http://schemas.openxmlformats.org/drawingml/2006/main">
              <a:ext uri="{FF2B5EF4-FFF2-40B4-BE49-F238E27FC236}">
                <a16:creationId xmlns:a16="http://schemas.microsoft.com/office/drawing/2014/main" id="{2700049F-D3AA-4F04-B4F8-7FD7E65FDECD}"/>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72635"/>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7F3E8"/>
                </a:solidFill>
                <a:latin typeface="Aptos"/>
                <a:ea typeface="Aptos"/>
                <a:cs typeface="Aptos"/>
              </a:defRPr>
            </a:pPr>
            <a:r>
              <a:rPr sz="2550" b="1">
                <a:solidFill>
                  <a:srgbClr val="F7F3E8"/>
                </a:solidFill>
                <a:latin typeface="Aptos"/>
                <a:ea typeface="Aptos"/>
                <a:cs typeface="Aptos"/>
              </a:rPr>
              <a:t>What could make my evidence misleading?</a:t>
            </a:r>
          </a:p>
        </p:txBody>
      </p:sp>
      <p:sp>
        <p:nvSpPr>
          <p:cNvPr id="8" name="">
            <a:extLst xmlns:a="http://schemas.openxmlformats.org/drawingml/2006/main">
              <a:ext uri="{FF2B5EF4-FFF2-40B4-BE49-F238E27FC236}">
                <a16:creationId xmlns:a16="http://schemas.microsoft.com/office/drawing/2014/main" id="{3242C079-678E-41A6-A552-8D444159C80A}"/>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E07B663-A8FB-4DA8-B5F6-8FC12132F1F5}"/>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Name one evidence item</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Name one possible weakness</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Name one step you will take</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Connect to security, privacy, or ethics</a:t>
            </a:r>
          </a:p>
        </p:txBody>
      </p:sp>
    </p:spTree>
    <p:extLst>
      <p:ext uri="{BB962C8B-B14F-4D97-AF65-F5344CB8AC3E}">
        <p14:creationId xmlns:p14="http://schemas.microsoft.com/office/powerpoint/2010/main" val="5376198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E83DF3-C171-4ED8-A574-8AA3483CD3F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7646F05-AE32-496D-872C-9E49240B3AE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68D426F-41C8-475B-9041-FE9943B90FBF}"/>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D73E1261-5032-4DFE-BA4A-B509D41B5D03}"/>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11/12</a:t>
            </a:r>
          </a:p>
        </p:txBody>
      </p:sp>
      <p:sp>
        <p:nvSpPr>
          <p:cNvPr id="5" name="">
            <a:extLst xmlns:a="http://schemas.openxmlformats.org/drawingml/2006/main">
              <a:ext uri="{FF2B5EF4-FFF2-40B4-BE49-F238E27FC236}">
                <a16:creationId xmlns:a16="http://schemas.microsoft.com/office/drawing/2014/main" id="{F6EA368C-5A98-4B8A-8D98-B86760737F3C}"/>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Source anchors</a:t>
            </a:r>
          </a:p>
        </p:txBody>
      </p:sp>
      <p:sp>
        <p:nvSpPr>
          <p:cNvPr id="6" name="">
            <a:extLst xmlns:a="http://schemas.openxmlformats.org/drawingml/2006/main">
              <a:ext uri="{FF2B5EF4-FFF2-40B4-BE49-F238E27FC236}">
                <a16:creationId xmlns:a16="http://schemas.microsoft.com/office/drawing/2014/main" id="{267990C1-FB72-4849-8BD9-BAAB93480045}"/>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How today connects to security practice</a:t>
            </a:r>
          </a:p>
        </p:txBody>
      </p:sp>
      <p:sp>
        <p:nvSpPr>
          <p:cNvPr id="7" name="">
            <a:extLst xmlns:a="http://schemas.openxmlformats.org/drawingml/2006/main">
              <a:ext uri="{FF2B5EF4-FFF2-40B4-BE49-F238E27FC236}">
                <a16:creationId xmlns:a16="http://schemas.microsoft.com/office/drawing/2014/main" id="{B6F6C700-FC2B-4D1C-9A01-7A85FFC13E32}"/>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71A5CD06-D165-4E19-B9F9-82E27BBDBA0A}"/>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NIST frames adversarial machine learning as a real risk area</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OWASP identifies data poisoning as a machine learning security risk</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Your project uses the same habit: question the evidence before trusting the output</a:t>
            </a:r>
          </a:p>
        </p:txBody>
      </p:sp>
    </p:spTree>
    <p:extLst>
      <p:ext uri="{BB962C8B-B14F-4D97-AF65-F5344CB8AC3E}">
        <p14:creationId xmlns:p14="http://schemas.microsoft.com/office/powerpoint/2010/main" val="10705856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55D5E61-0CF4-4705-B2B7-8F72BAFF4C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82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D70218E-9F56-4284-A256-3961EBEB6EE7}"/>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0B84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A745490-5A55-45C2-8097-A0EF069134C2}"/>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F0B84F"/>
                </a:solidFill>
                <a:latin typeface="Aptos"/>
                <a:ea typeface="Aptos"/>
                <a:cs typeface="Aptos"/>
              </a:defRPr>
            </a:pPr>
            <a:r>
              <a:rPr sz="1200" b="1">
                <a:solidFill>
                  <a:srgbClr val="F0B84F"/>
                </a:solidFill>
                <a:latin typeface="Aptos"/>
                <a:ea typeface="Aptos"/>
                <a:cs typeface="Aptos"/>
              </a:rPr>
              <a:t>Week 13 Day 1</a:t>
            </a:r>
          </a:p>
        </p:txBody>
      </p:sp>
      <p:sp>
        <p:nvSpPr>
          <p:cNvPr id="4" name="">
            <a:extLst xmlns:a="http://schemas.openxmlformats.org/drawingml/2006/main">
              <a:ext uri="{FF2B5EF4-FFF2-40B4-BE49-F238E27FC236}">
                <a16:creationId xmlns:a16="http://schemas.microsoft.com/office/drawing/2014/main" id="{EC490A6E-A94E-49B9-9253-2B3F8EB2CA80}"/>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3D8"/>
                </a:solidFill>
                <a:latin typeface="Aptos"/>
                <a:ea typeface="Aptos"/>
                <a:cs typeface="Aptos"/>
              </a:defRPr>
            </a:pPr>
            <a:r>
              <a:rPr sz="1200" b="0">
                <a:solidFill>
                  <a:srgbClr val="C9D3D8"/>
                </a:solidFill>
                <a:latin typeface="Aptos"/>
                <a:ea typeface="Aptos"/>
                <a:cs typeface="Aptos"/>
              </a:rPr>
              <a:t>12/12</a:t>
            </a:r>
          </a:p>
        </p:txBody>
      </p:sp>
      <p:sp>
        <p:nvSpPr>
          <p:cNvPr id="5" name="">
            <a:extLst xmlns:a="http://schemas.openxmlformats.org/drawingml/2006/main">
              <a:ext uri="{FF2B5EF4-FFF2-40B4-BE49-F238E27FC236}">
                <a16:creationId xmlns:a16="http://schemas.microsoft.com/office/drawing/2014/main" id="{CB439253-CED4-45AF-B7F2-172A1A39DC35}"/>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62D6C9"/>
                </a:solidFill>
                <a:latin typeface="Aptos"/>
                <a:ea typeface="Aptos"/>
                <a:cs typeface="Aptos"/>
              </a:defRPr>
            </a:pPr>
            <a:r>
              <a:rPr sz="1350" b="1">
                <a:solidFill>
                  <a:srgbClr val="62D6C9"/>
                </a:solidFill>
                <a:latin typeface="Aptos"/>
                <a:ea typeface="Aptos"/>
                <a:cs typeface="Aptos"/>
              </a:rPr>
              <a:t>Work time</a:t>
            </a:r>
          </a:p>
        </p:txBody>
      </p:sp>
      <p:sp>
        <p:nvSpPr>
          <p:cNvPr id="6" name="">
            <a:extLst xmlns:a="http://schemas.openxmlformats.org/drawingml/2006/main">
              <a:ext uri="{FF2B5EF4-FFF2-40B4-BE49-F238E27FC236}">
                <a16:creationId xmlns:a16="http://schemas.microsoft.com/office/drawing/2014/main" id="{E88BA104-090B-4C1E-98FD-0DACADB06945}"/>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7F3E8"/>
                </a:solidFill>
                <a:latin typeface="Aptos Display"/>
                <a:ea typeface="Aptos Display"/>
                <a:cs typeface="Aptos Display"/>
              </a:defRPr>
            </a:pPr>
            <a:r>
              <a:rPr sz="3300" b="1">
                <a:solidFill>
                  <a:srgbClr val="F7F3E8"/>
                </a:solidFill>
                <a:latin typeface="Aptos Display"/>
                <a:ea typeface="Aptos Display"/>
                <a:cs typeface="Aptos Display"/>
              </a:rPr>
              <a:t>Use the rest of class to build your project</a:t>
            </a:r>
          </a:p>
        </p:txBody>
      </p:sp>
      <p:sp>
        <p:nvSpPr>
          <p:cNvPr id="7" name="">
            <a:extLst xmlns:a="http://schemas.openxmlformats.org/drawingml/2006/main">
              <a:ext uri="{FF2B5EF4-FFF2-40B4-BE49-F238E27FC236}">
                <a16:creationId xmlns:a16="http://schemas.microsoft.com/office/drawing/2014/main" id="{9888DA8E-03D4-41CC-AC14-528F187A645A}"/>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2635"/>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B420D2C-F48A-4A35-ACDF-785981388C9A}"/>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Open the lab handout</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Work individually</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Ask for help narrowing your question</a:t>
            </a:r>
          </a:p>
          <a:p xmlns:a="http://schemas.openxmlformats.org/drawingml/2006/main">
            <a:pPr algn="l">
              <a:defRPr sz="2100" b="0">
                <a:solidFill>
                  <a:srgbClr val="F7F3E8"/>
                </a:solidFill>
                <a:latin typeface="Aptos"/>
                <a:ea typeface="Aptos"/>
                <a:cs typeface="Aptos"/>
              </a:defRPr>
            </a:pPr>
            <a:r>
              <a:rPr sz="2100" b="0">
                <a:solidFill>
                  <a:srgbClr val="F7F3E8"/>
                </a:solidFill>
                <a:latin typeface="Aptos"/>
                <a:ea typeface="Aptos"/>
                <a:cs typeface="Aptos"/>
              </a:rPr>
              <a:t>- Submit the completed lab by the end of class</a:t>
            </a:r>
          </a:p>
        </p:txBody>
      </p:sp>
    </p:spTree>
    <p:extLst>
      <p:ext uri="{BB962C8B-B14F-4D97-AF65-F5344CB8AC3E}">
        <p14:creationId xmlns:p14="http://schemas.microsoft.com/office/powerpoint/2010/main" val="11607041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2026-05-04T02:06:53.3080000Z</dcterms:created>
  <dcterms:modified xsi:type="dcterms:W3CDTF">2026-05-04T02:06:53.3080000Z</dcterms:modified>
</coreProperties>
</file>