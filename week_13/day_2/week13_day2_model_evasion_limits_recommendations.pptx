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3ab75d4f471445a" /><Relationship Type="http://schemas.openxmlformats.org/officeDocument/2006/relationships/extended-properties" Target="/docProps/app.xml" Id="Red661174754047c0" /><Relationship Type="http://schemas.openxmlformats.org/officeDocument/2006/relationships/officeDocument" Target="/ppt/presentation.xml" Id="Rcd4054da154e4cc6" /></Relationships>
</file>

<file path=ppt/presentation.xml><?xml version="1.0" encoding="utf-8"?>
<p:presentation xmlns:p="http://schemas.openxmlformats.org/presentationml/2006/main">
  <p:sldMasterIdLst>
    <p:sldMasterId xmlns:r="http://schemas.openxmlformats.org/officeDocument/2006/relationships" id="2147483648" r:id="R9ad550780e3a4c47"/>
  </p:sldMasterIdLst>
  <p:notesMasterIdLst>
    <p:notesMasterId xmlns:r="http://schemas.openxmlformats.org/officeDocument/2006/relationships" r:id="Raed9973f2ce846f6"/>
  </p:notesMasterIdLst>
  <p:sldIdLst>
    <p:sldId xmlns:r="http://schemas.openxmlformats.org/officeDocument/2006/relationships" id="256" r:id="R5ef0fa7a9de1443b"/>
    <p:sldId xmlns:r="http://schemas.openxmlformats.org/officeDocument/2006/relationships" id="257" r:id="R6fe15b49a9344c49"/>
    <p:sldId xmlns:r="http://schemas.openxmlformats.org/officeDocument/2006/relationships" id="258" r:id="R2aaba17eb4b046a7"/>
    <p:sldId xmlns:r="http://schemas.openxmlformats.org/officeDocument/2006/relationships" id="259" r:id="R499138160f0748fd"/>
    <p:sldId xmlns:r="http://schemas.openxmlformats.org/officeDocument/2006/relationships" id="260" r:id="R5fb5864bfab742ac"/>
    <p:sldId xmlns:r="http://schemas.openxmlformats.org/officeDocument/2006/relationships" id="261" r:id="R4ba28de3183540b6"/>
    <p:sldId xmlns:r="http://schemas.openxmlformats.org/officeDocument/2006/relationships" id="262" r:id="R5ed24b0832f14b37"/>
    <p:sldId xmlns:r="http://schemas.openxmlformats.org/officeDocument/2006/relationships" id="263" r:id="R867cc9466a3242ad"/>
    <p:sldId xmlns:r="http://schemas.openxmlformats.org/officeDocument/2006/relationships" id="264" r:id="R2e29a4dadff7444a"/>
    <p:sldId xmlns:r="http://schemas.openxmlformats.org/officeDocument/2006/relationships" id="265" r:id="R0335104482a94b3e"/>
    <p:sldId xmlns:r="http://schemas.openxmlformats.org/officeDocument/2006/relationships" id="266" r:id="Rd42e10aebd594ec7"/>
    <p:sldId xmlns:r="http://schemas.openxmlformats.org/officeDocument/2006/relationships" id="267" r:id="R8c03b98033684838"/>
    <p:sldId xmlns:r="http://schemas.openxmlformats.org/officeDocument/2006/relationships" id="268" r:id="R2fd4475147134aa3"/>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9ad550780e3a4c47" /><Relationship Type="http://schemas.openxmlformats.org/officeDocument/2006/relationships/theme" Target="/ppt/theme/theme1.xml" Id="R5e040f06c63d4802" /><Relationship Type="http://schemas.openxmlformats.org/officeDocument/2006/relationships/notesMaster" Target="/ppt/notesMasters/notesMaster1.xml" Id="Raed9973f2ce846f6" /><Relationship Type="http://schemas.openxmlformats.org/officeDocument/2006/relationships/presProps" Target="/ppt/presProps.xml" Id="R3fc8149d354c47f2" /><Relationship Type="http://schemas.openxmlformats.org/officeDocument/2006/relationships/viewProps" Target="/ppt/viewProps.xml" Id="R786c681da67a41ba" /><Relationship Type="http://schemas.openxmlformats.org/officeDocument/2006/relationships/tableStyles" Target="/ppt/tableStyles.xml" Id="R70c77ce1268d409e" /><Relationship Type="http://schemas.openxmlformats.org/officeDocument/2006/relationships/slide" Target="/ppt/slides/slide1.xml" Id="R5ef0fa7a9de1443b" /><Relationship Type="http://schemas.openxmlformats.org/officeDocument/2006/relationships/slide" Target="/ppt/slides/slide2.xml" Id="R6fe15b49a9344c49" /><Relationship Type="http://schemas.openxmlformats.org/officeDocument/2006/relationships/slide" Target="/ppt/slides/slide3.xml" Id="R2aaba17eb4b046a7" /><Relationship Type="http://schemas.openxmlformats.org/officeDocument/2006/relationships/slide" Target="/ppt/slides/slide4.xml" Id="R499138160f0748fd" /><Relationship Type="http://schemas.openxmlformats.org/officeDocument/2006/relationships/slide" Target="/ppt/slides/slide5.xml" Id="R5fb5864bfab742ac" /><Relationship Type="http://schemas.openxmlformats.org/officeDocument/2006/relationships/slide" Target="/ppt/slides/slide6.xml" Id="R4ba28de3183540b6" /><Relationship Type="http://schemas.openxmlformats.org/officeDocument/2006/relationships/slide" Target="/ppt/slides/slide7.xml" Id="R5ed24b0832f14b37" /><Relationship Type="http://schemas.openxmlformats.org/officeDocument/2006/relationships/slide" Target="/ppt/slides/slide8.xml" Id="R867cc9466a3242ad" /><Relationship Type="http://schemas.openxmlformats.org/officeDocument/2006/relationships/slide" Target="/ppt/slides/slide9.xml" Id="R2e29a4dadff7444a" /><Relationship Type="http://schemas.openxmlformats.org/officeDocument/2006/relationships/slide" Target="/ppt/slides/slide10.xml" Id="R0335104482a94b3e" /><Relationship Type="http://schemas.openxmlformats.org/officeDocument/2006/relationships/slide" Target="/ppt/slides/slide11.xml" Id="Rd42e10aebd594ec7" /><Relationship Type="http://schemas.openxmlformats.org/officeDocument/2006/relationships/slide" Target="/ppt/slides/slide12.xml" Id="R8c03b98033684838" /><Relationship Type="http://schemas.openxmlformats.org/officeDocument/2006/relationships/slide" Target="/ppt/slides/slide13.xml" Id="R2fd4475147134aa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40791d64d25547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df1b9cb259f4dd3" /><Relationship Type="http://schemas.openxmlformats.org/officeDocument/2006/relationships/notesMaster" Target="/ppt/notesMasters/notesMaster1.xml" Id="Re7ddb7830e014f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b000fe478e04ca4" /><Relationship Type="http://schemas.openxmlformats.org/officeDocument/2006/relationships/notesMaster" Target="/ppt/notesMasters/notesMaster1.xml" Id="R5b7a3150739e45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75351114deea476f" /><Relationship Type="http://schemas.openxmlformats.org/officeDocument/2006/relationships/notesMaster" Target="/ppt/notesMasters/notesMaster1.xml" Id="Rc6b623695e69441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c3ef150b4b1429f" /><Relationship Type="http://schemas.openxmlformats.org/officeDocument/2006/relationships/notesMaster" Target="/ppt/notesMasters/notesMaster1.xml" Id="R59d77314edb940f5" /></Relationships>
</file>

<file path=ppt/notesSlides/_rels/notesSlide5.xml.rels>&#65279;<?xml version="1.0" encoding="utf-8"?><Relationships xmlns="http://schemas.openxmlformats.org/package/2006/relationships"><Relationship Type="http://schemas.openxmlformats.org/officeDocument/2006/relationships/slide" Target="/ppt/slides/slide5.xml" Id="Rfae9a32abad54a66" /><Relationship Type="http://schemas.openxmlformats.org/officeDocument/2006/relationships/notesMaster" Target="/ppt/notesMasters/notesMaster1.xml" Id="R3f49ad84f16b44cc" /></Relationships>
</file>

<file path=ppt/notesSlides/_rels/notesSlide6.xml.rels>&#65279;<?xml version="1.0" encoding="utf-8"?><Relationships xmlns="http://schemas.openxmlformats.org/package/2006/relationships"><Relationship Type="http://schemas.openxmlformats.org/officeDocument/2006/relationships/slide" Target="/ppt/slides/slide6.xml" Id="R00051da2132641e4" /><Relationship Type="http://schemas.openxmlformats.org/officeDocument/2006/relationships/notesMaster" Target="/ppt/notesMasters/notesMaster1.xml" Id="R7aa54c97a26f4662" /></Relationships>
</file>

<file path=ppt/notesSlides/_rels/notesSlide7.xml.rels>&#65279;<?xml version="1.0" encoding="utf-8"?><Relationships xmlns="http://schemas.openxmlformats.org/package/2006/relationships"><Relationship Type="http://schemas.openxmlformats.org/officeDocument/2006/relationships/slide" Target="/ppt/slides/slide7.xml" Id="Rbd7bd962dedd47f5" /><Relationship Type="http://schemas.openxmlformats.org/officeDocument/2006/relationships/notesMaster" Target="/ppt/notesMasters/notesMaster1.xml" Id="Rd6342fde357645fa" /></Relationships>
</file>

<file path=ppt/notesSlides/_rels/notesSlide8.xml.rels>&#65279;<?xml version="1.0" encoding="utf-8"?><Relationships xmlns="http://schemas.openxmlformats.org/package/2006/relationships"><Relationship Type="http://schemas.openxmlformats.org/officeDocument/2006/relationships/slide" Target="/ppt/slides/slide8.xml" Id="Rd4461406dc554e8b" /><Relationship Type="http://schemas.openxmlformats.org/officeDocument/2006/relationships/notesMaster" Target="/ppt/notesMasters/notesMaster1.xml" Id="Rdc929dcce38a467a" /></Relationships>
</file>

<file path=ppt/notesSlides/_rels/notesSlide9.xml.rels>&#65279;<?xml version="1.0" encoding="utf-8"?><Relationships xmlns="http://schemas.openxmlformats.org/package/2006/relationships"><Relationship Type="http://schemas.openxmlformats.org/officeDocument/2006/relationships/slide" Target="/ppt/slides/slide9.xml" Id="R858224fd644740b1" /><Relationship Type="http://schemas.openxmlformats.org/officeDocument/2006/relationships/notesMaster" Target="/ppt/notesMasters/notesMaster1.xml" Id="Re812b2d31745427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43f7b2826a0485a" /><Relationship Type="http://schemas.openxmlformats.org/officeDocument/2006/relationships/notesMaster" Target="/ppt/notesMasters/notesMaster1.xml" Id="R2b3206eb90ab415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4f79fcdc36f4730" /><Relationship Type="http://schemas.openxmlformats.org/officeDocument/2006/relationships/notesMaster" Target="/ppt/notesMasters/notesMaster1.xml" Id="R4d00055eaac642a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c2384fdfe054ae8" /><Relationship Type="http://schemas.openxmlformats.org/officeDocument/2006/relationships/notesMaster" Target="/ppt/notesMasters/notesMaster1.xml" Id="R48637e5a17e94c7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d928a0d6fd9459d" /><Relationship Type="http://schemas.openxmlformats.org/officeDocument/2006/relationships/notesMaster" Target="/ppt/notesMasters/notesMaster1.xml" Id="R661f04278af247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Today we continue Week 13 by looking at evasion. Evasion means a system can be fooled when it is being used. In security, that might mean an attacker changes behavior to avoid detection. In a broader final project, it means a policy, dataset, metric, or recommendation can fail under real conditions. We will use this idea to write better limitation and recommendation sections for your final project.</a:t>
            </a:r>
          </a:p>
          <a:p xmlns:a="http://schemas.openxmlformats.org/drawingml/2006/main">
            <a:r>
              <a:t/>
            </a:r>
          </a:p>
          <a:p xmlns:a="http://schemas.openxmlformats.org/drawingml/2006/main">
            <a:r>
              <a:t>THINGS TO MENTION:</a:t>
            </a:r>
          </a:p>
          <a:p xmlns:a="http://schemas.openxmlformats.org/drawingml/2006/main">
            <a:r>
              <a:t>- Keep focus on final project writing.</a:t>
            </a:r>
          </a:p>
          <a:p xmlns:a="http://schemas.openxmlformats.org/drawingml/2006/main">
            <a:r>
              <a:t>- No need to build a machine learning model.</a:t>
            </a:r>
          </a:p>
          <a:p xmlns:a="http://schemas.openxmlformats.org/drawingml/2006/main">
            <a:r>
              <a:t>- Due date: May 26,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Evasion is the idea that someone or something can avoid the rule, signal, or detector that is supposed to catch it. A spam message can be rewritten to avoid a filter. A suspicious login can use a familiar device. A policy can fail because people find a workaround. This matters for your final project because every recommendation has limits. A good recommendation reduces risk. It does not magically eliminate risk.</a:t>
            </a:r>
          </a:p>
          <a:p xmlns:a="http://schemas.openxmlformats.org/drawingml/2006/main">
            <a:r>
              <a:t/>
            </a:r>
          </a:p>
          <a:p xmlns:a="http://schemas.openxmlformats.org/drawingml/2006/main">
            <a:r>
              <a:t>THINGS TO MENTION:</a:t>
            </a:r>
          </a:p>
          <a:p xmlns:a="http://schemas.openxmlformats.org/drawingml/2006/main">
            <a:r>
              <a:t>- Define evasion without jargon.</a:t>
            </a:r>
          </a:p>
          <a:p xmlns:a="http://schemas.openxmlformats.org/drawingml/2006/main">
            <a:r>
              <a:t>- Connect to controls and recommendations.</a:t>
            </a:r>
          </a:p>
          <a:p xmlns:a="http://schemas.openxmlformats.org/drawingml/2006/main">
            <a:r>
              <a:t>- Set up false positives and false negatives.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Two terms help us talk about limits. A false positive means something normal is treated as risky. A false negative means something risky is treated as normal. Security work often has to manage both. If a login rule is too strict, it can lock out normal users. If it is too loose, it can miss suspicious access. Your final project can use these terms to explain why a recommendation needs balance.</a:t>
            </a:r>
          </a:p>
          <a:p xmlns:a="http://schemas.openxmlformats.org/drawingml/2006/main">
            <a:r>
              <a:t/>
            </a:r>
          </a:p>
          <a:p xmlns:a="http://schemas.openxmlformats.org/drawingml/2006/main">
            <a:r>
              <a:t>THINGS TO MENTION:</a:t>
            </a:r>
          </a:p>
          <a:p xmlns:a="http://schemas.openxmlformats.org/drawingml/2006/main">
            <a:r>
              <a:t>- Students can use these terms in reports.</a:t>
            </a:r>
          </a:p>
          <a:p xmlns:a="http://schemas.openxmlformats.org/drawingml/2006/main">
            <a:r>
              <a:t>- Give login example.</a:t>
            </a:r>
          </a:p>
          <a:p xmlns:a="http://schemas.openxmlformats.org/drawingml/2006/main">
            <a:r>
              <a:t>- Make clear both errors matter.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A threshold is a boundary. For example, review accounts with thirty or more failed logins. That kind of rule is useful because it gives analysts a starting point. But thresholds also create tradeoffs. Twenty-nine failed logins might still matter. Thirty failed logins might come from a normal user during password reset confusion. A threshold is not truth. It is a decision aid.</a:t>
            </a:r>
          </a:p>
          <a:p xmlns:a="http://schemas.openxmlformats.org/drawingml/2006/main">
            <a:r>
              <a:t/>
            </a:r>
          </a:p>
          <a:p xmlns:a="http://schemas.openxmlformats.org/drawingml/2006/main">
            <a:r>
              <a:t>THINGS TO MENTION:</a:t>
            </a:r>
          </a:p>
          <a:p xmlns:a="http://schemas.openxmlformats.org/drawingml/2006/main">
            <a:r>
              <a:t>- Tie to Week 12 scoring lab.</a:t>
            </a:r>
          </a:p>
          <a:p xmlns:a="http://schemas.openxmlformats.org/drawingml/2006/main">
            <a:r>
              <a:t>- Thresholds are useful but imperfect.</a:t>
            </a:r>
          </a:p>
          <a:p xmlns:a="http://schemas.openxmlformats.org/drawingml/2006/main">
            <a:r>
              <a:t>- This helps students write limitations.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A threat model is a structured way to ask what can go wrong. We are using a very simple version today. You do not need to produce a professional security assessment. You need one clear paragraph that explains the risk in your project. What needs protection? Who or what could cause harm? What weakness matters? Who would be affected? What control or recommendation could reduce the risk?</a:t>
            </a:r>
          </a:p>
          <a:p xmlns:a="http://schemas.openxmlformats.org/drawingml/2006/main">
            <a:r>
              <a:t/>
            </a:r>
          </a:p>
          <a:p xmlns:a="http://schemas.openxmlformats.org/drawingml/2006/main">
            <a:r>
              <a:t>THINGS TO MENTION:</a:t>
            </a:r>
          </a:p>
          <a:p xmlns:a="http://schemas.openxmlformats.org/drawingml/2006/main">
            <a:r>
              <a:t>- Keep it beginner-level.</a:t>
            </a:r>
          </a:p>
          <a:p xmlns:a="http://schemas.openxmlformats.org/drawingml/2006/main">
            <a:r>
              <a:t>- Threat model becomes a project paragraph.</a:t>
            </a:r>
          </a:p>
          <a:p xmlns:a="http://schemas.openxmlformats.org/drawingml/2006/main">
            <a:r>
              <a:t>- Useful for coding and essay paths.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If you are doing the coding path, remember that a score is not a verdict. A score can help decide what to review first. It cannot prove compromise by itself. A chart can show a pattern. It cannot explain every cause. Your report should say what the code does and what it does not prove. That limitation makes the project stronger, not weaker.</a:t>
            </a:r>
          </a:p>
          <a:p xmlns:a="http://schemas.openxmlformats.org/drawingml/2006/main">
            <a:r>
              <a:t/>
            </a:r>
          </a:p>
          <a:p xmlns:a="http://schemas.openxmlformats.org/drawingml/2006/main">
            <a:r>
              <a:t>THINGS TO MENTION:</a:t>
            </a:r>
          </a:p>
          <a:p xmlns:a="http://schemas.openxmlformats.org/drawingml/2006/main">
            <a:r>
              <a:t>- Prevent overclaiming from notebooks.</a:t>
            </a:r>
          </a:p>
          <a:p xmlns:a="http://schemas.openxmlformats.org/drawingml/2006/main">
            <a:r>
              <a:t>- Scoring is prioritization.</a:t>
            </a:r>
          </a:p>
          <a:p xmlns:a="http://schemas.openxmlformats.org/drawingml/2006/main">
            <a:r>
              <a:t>- Findings need evidence and caveats.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If you are writing the MLA essay, the same rule applies. A strong essay makes a clear argument, but it does not overclaim. One case study does not prove every case. One source does not tell the whole story. A good limitation paragraph can explain what your essay can show and what it cannot prove. That helps readers trust your recommendation because it sounds realistic.</a:t>
            </a:r>
          </a:p>
          <a:p xmlns:a="http://schemas.openxmlformats.org/drawingml/2006/main">
            <a:r>
              <a:t/>
            </a:r>
          </a:p>
          <a:p xmlns:a="http://schemas.openxmlformats.org/drawingml/2006/main">
            <a:r>
              <a:t>THINGS TO MENTION:</a:t>
            </a:r>
          </a:p>
          <a:p xmlns:a="http://schemas.openxmlformats.org/drawingml/2006/main">
            <a:r>
              <a:t>- MLA path also needs limitations.</a:t>
            </a:r>
          </a:p>
          <a:p xmlns:a="http://schemas.openxmlformats.org/drawingml/2006/main">
            <a:r>
              <a:t>- Avoid broad claims.</a:t>
            </a:r>
          </a:p>
          <a:p xmlns:a="http://schemas.openxmlformats.org/drawingml/2006/main">
            <a:r>
              <a:t>- Connect recommendation to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A weak recommendation says, organizations should improve security. That is too broad to be useful. A stronger recommendation names a specific action and ties it to evidence. For example, review systems that combine high criticality, sensitive data, internet exposure, and successful logins after failures. Then explain the benefit and the tradeoff. If monitoring increases, what privacy boundary should protect people?</a:t>
            </a:r>
          </a:p>
          <a:p xmlns:a="http://schemas.openxmlformats.org/drawingml/2006/main">
            <a:r>
              <a:t/>
            </a:r>
          </a:p>
          <a:p xmlns:a="http://schemas.openxmlformats.org/drawingml/2006/main">
            <a:r>
              <a:t>THINGS TO MENTION:</a:t>
            </a:r>
          </a:p>
          <a:p xmlns:a="http://schemas.openxmlformats.org/drawingml/2006/main">
            <a:r>
              <a:t>- Give concrete examples.</a:t>
            </a:r>
          </a:p>
          <a:p xmlns:a="http://schemas.openxmlformats.org/drawingml/2006/main">
            <a:r>
              <a:t>- Recommendations need evidence.</a:t>
            </a:r>
          </a:p>
          <a:p xmlns:a="http://schemas.openxmlformats.org/drawingml/2006/main">
            <a:r>
              <a:t>- Always include tradeoff.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A limitation paragraph tells readers what not to assume. It might say that a dataset includes reported incidents but not unreported incidents. It might say that a priority score ranks systems but does not prove an incident. It might say that an essay studies one technology or case but not every organization. This is one of the most important parts of the final project because it shows careful reasoning.</a:t>
            </a:r>
          </a:p>
          <a:p xmlns:a="http://schemas.openxmlformats.org/drawingml/2006/main">
            <a:r>
              <a:t/>
            </a:r>
          </a:p>
          <a:p xmlns:a="http://schemas.openxmlformats.org/drawingml/2006/main">
            <a:r>
              <a:t>THINGS TO MENTION:</a:t>
            </a:r>
          </a:p>
          <a:p xmlns:a="http://schemas.openxmlformats.org/drawingml/2006/main">
            <a:r>
              <a:t>- Students should write this today.</a:t>
            </a:r>
          </a:p>
          <a:p xmlns:a="http://schemas.openxmlformats.org/drawingml/2006/main">
            <a:r>
              <a:t>- Limitations are not apologies.</a:t>
            </a:r>
          </a:p>
          <a:p xmlns:a="http://schemas.openxmlformats.org/drawingml/2006/main">
            <a:r>
              <a:t>- They protect the project from overclaiming.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 lab today is designed to produce final-project language. Restate your project question first. Then complete the mini threat model. After that, think through evasion, false positives, and false negatives. The two most important products are the limitation paragraph and the recommendation. You may be able to reuse revised versions of those paragraphs in your final submission.</a:t>
            </a:r>
          </a:p>
          <a:p xmlns:a="http://schemas.openxmlformats.org/drawingml/2006/main">
            <a:r>
              <a:t/>
            </a:r>
          </a:p>
          <a:p xmlns:a="http://schemas.openxmlformats.org/drawingml/2006/main">
            <a:r>
              <a:t>THINGS TO MENTION:</a:t>
            </a:r>
          </a:p>
          <a:p xmlns:a="http://schemas.openxmlformats.org/drawingml/2006/main">
            <a:r>
              <a:t>- This is not busy work.</a:t>
            </a:r>
          </a:p>
          <a:p xmlns:a="http://schemas.openxmlformats.org/drawingml/2006/main">
            <a:r>
              <a:t>- They can reuse these paragraphs.</a:t>
            </a:r>
          </a:p>
          <a:p xmlns:a="http://schemas.openxmlformats.org/drawingml/2006/main">
            <a:r>
              <a:t>- Due end of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Before you leave, write a short exit ticket. The key question is what you can recommend without overclaiming. A final project does not need to solve the entire field of cybersecurity or privacy. It needs to make one focused, defensible recommendation based on the evidence you actually have. Name the recommendation, name the evidence, and name the limitation.</a:t>
            </a:r>
          </a:p>
          <a:p xmlns:a="http://schemas.openxmlformats.org/drawingml/2006/main">
            <a:r>
              <a:t/>
            </a:r>
          </a:p>
          <a:p xmlns:a="http://schemas.openxmlformats.org/drawingml/2006/main">
            <a:r>
              <a:t>THINGS TO MENTION:</a:t>
            </a:r>
          </a:p>
          <a:p xmlns:a="http://schemas.openxmlformats.org/drawingml/2006/main">
            <a:r>
              <a:t>- Keep the end-of-class task short.</a:t>
            </a:r>
          </a:p>
          <a:p xmlns:a="http://schemas.openxmlformats.org/drawingml/2006/main">
            <a:r>
              <a:t>- Students should leave with usable text.</a:t>
            </a:r>
          </a:p>
          <a:p xmlns:a="http://schemas.openxmlformats.org/drawingml/2006/main">
            <a:r>
              <a:t>- Check that recommendations are specific.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The professional connection is that security work is not only about building controls. It is about understanding how controls fail. NIST and OWASP both emphasize that systems can be attacked through data, behavior, and assumptions. For this class, the practical lesson is simple: name your risk, name your evidence, name your recommendation, and name your limit.</a:t>
            </a:r>
          </a:p>
          <a:p xmlns:a="http://schemas.openxmlformats.org/drawingml/2006/main">
            <a:r>
              <a:t/>
            </a:r>
          </a:p>
          <a:p xmlns:a="http://schemas.openxmlformats.org/drawingml/2006/main">
            <a:r>
              <a:t>THINGS TO MENTION:</a:t>
            </a:r>
          </a:p>
          <a:p xmlns:a="http://schemas.openxmlformats.org/drawingml/2006/main">
            <a:r>
              <a:t>- NIST and OWASP support the vocabulary.</a:t>
            </a:r>
          </a:p>
          <a:p xmlns:a="http://schemas.openxmlformats.org/drawingml/2006/main">
            <a:r>
              <a:t>- Keep this connected to project writing.</a:t>
            </a:r>
          </a:p>
          <a:p xmlns:a="http://schemas.openxmlformats.org/drawingml/2006/main">
            <a:r>
              <a:t>- Do not turn it into a theory lecture.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SCRIPT:</a:t>
            </a:r>
          </a:p>
          <a:p xmlns:a="http://schemas.openxmlformats.org/drawingml/2006/main">
            <a:r>
              <a:t>Use the rest of class to work through the handout. If you are stuck, start with the limitation. Ask yourself what your project cannot prove. Then write a recommendation that fits inside that limit. If the recommendation sounds too broad, narrow it until it names a specific action, audience, and reason. Submit your work by the end of class.</a:t>
            </a:r>
          </a:p>
          <a:p xmlns:a="http://schemas.openxmlformats.org/drawingml/2006/main">
            <a:r>
              <a:t/>
            </a:r>
          </a:p>
          <a:p xmlns:a="http://schemas.openxmlformats.org/drawingml/2006/main">
            <a:r>
              <a:t>THINGS TO MENTION:</a:t>
            </a:r>
          </a:p>
          <a:p xmlns:a="http://schemas.openxmlformats.org/drawingml/2006/main">
            <a:r>
              <a:t>- Prioritize independent work time.</a:t>
            </a:r>
          </a:p>
          <a:p xmlns:a="http://schemas.openxmlformats.org/drawingml/2006/main">
            <a:r>
              <a:t>- Help students narrow recommendations.</a:t>
            </a:r>
          </a:p>
          <a:p xmlns:a="http://schemas.openxmlformats.org/drawingml/2006/main">
            <a:r>
              <a:t>- Collect the checkpoint.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b8e9c1fb8f34dac"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e758cb6552284470" /><Relationship Type="http://schemas.openxmlformats.org/officeDocument/2006/relationships/slideLayout" Target="/ppt/slideLayouts/slideLayout2.xml" Id="R85546586b4224b6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5546586b4224b6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e9c4a1cec17e43aa" /><Relationship Type="http://schemas.openxmlformats.org/officeDocument/2006/relationships/notesSlide" Target="/ppt/notesSlides/notesSlide1.xml" Id="Rad64de32578c48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8464f892e7464252" /><Relationship Type="http://schemas.openxmlformats.org/officeDocument/2006/relationships/notesSlide" Target="/ppt/notesSlides/notesSlide2.xml" Id="R05cb96d710be443a"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4a92281a56924a21" /><Relationship Type="http://schemas.openxmlformats.org/officeDocument/2006/relationships/notesSlide" Target="/ppt/notesSlides/notesSlide3.xml" Id="Ra22e3aaa53084ad9"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52a80510f98a4e8d" /><Relationship Type="http://schemas.openxmlformats.org/officeDocument/2006/relationships/notesSlide" Target="/ppt/notesSlides/notesSlide4.xml" Id="R778868a1e80a49d5"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3c2d1a5ab4e14bb0" /><Relationship Type="http://schemas.openxmlformats.org/officeDocument/2006/relationships/notesSlide" Target="/ppt/notesSlides/notesSlide5.xml" Id="Rca4b6074807b4a81"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6d9dc47b42e24314" /><Relationship Type="http://schemas.openxmlformats.org/officeDocument/2006/relationships/notesSlide" Target="/ppt/notesSlides/notesSlide6.xml" Id="R991ae252d0894afc"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039e3c3251ca4e93" /><Relationship Type="http://schemas.openxmlformats.org/officeDocument/2006/relationships/notesSlide" Target="/ppt/notesSlides/notesSlide7.xml" Id="Rf062adb542b74a51"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fc65317286aa4e91" /><Relationship Type="http://schemas.openxmlformats.org/officeDocument/2006/relationships/notesSlide" Target="/ppt/notesSlides/notesSlide8.xml" Id="Rdc79425d4f6e4182"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714fb190ef264f20" /><Relationship Type="http://schemas.openxmlformats.org/officeDocument/2006/relationships/notesSlide" Target="/ppt/notesSlides/notesSlide9.xml" Id="Rfd01d3229041433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fa17536050a346a7" /><Relationship Type="http://schemas.openxmlformats.org/officeDocument/2006/relationships/notesSlide" Target="/ppt/notesSlides/notesSlide10.xml" Id="R625223f33dde461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cb7717db17d3423e" /><Relationship Type="http://schemas.openxmlformats.org/officeDocument/2006/relationships/notesSlide" Target="/ppt/notesSlides/notesSlide11.xml" Id="R58264dba2ce8475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9056e18d94f84123" /><Relationship Type="http://schemas.openxmlformats.org/officeDocument/2006/relationships/notesSlide" Target="/ppt/notesSlides/notesSlide12.xml" Id="R17e28dbbf87142f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bce58396afc94041" /><Relationship Type="http://schemas.openxmlformats.org/officeDocument/2006/relationships/notesSlide" Target="/ppt/notesSlides/notesSlide13.xml" Id="R8b4001a46be74d0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5869278-E33F-4BCF-8858-5D04D8C16CA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F1D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8232E1F-3AB8-4247-8DE0-1B3FE507F412}"/>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7BD389"/>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09BB1074-3A7B-47B2-A66F-999850017A48}"/>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7BD389"/>
                </a:solidFill>
                <a:latin typeface="Aptos"/>
                <a:ea typeface="Aptos"/>
                <a:cs typeface="Aptos"/>
              </a:defRPr>
            </a:pPr>
            <a:r>
              <a:rPr sz="1200" b="1">
                <a:solidFill>
                  <a:srgbClr val="7BD389"/>
                </a:solidFill>
                <a:latin typeface="Aptos"/>
                <a:ea typeface="Aptos"/>
                <a:cs typeface="Aptos"/>
              </a:rPr>
              <a:t>Week 13 Day 2</a:t>
            </a:r>
          </a:p>
        </p:txBody>
      </p:sp>
      <p:sp>
        <p:nvSpPr>
          <p:cNvPr id="4" name="">
            <a:extLst xmlns:a="http://schemas.openxmlformats.org/drawingml/2006/main">
              <a:ext uri="{FF2B5EF4-FFF2-40B4-BE49-F238E27FC236}">
                <a16:creationId xmlns:a16="http://schemas.microsoft.com/office/drawing/2014/main" id="{81C54C4D-A9AB-4DC9-91B7-7F89A9EEAA63}"/>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C9D7CF"/>
                </a:solidFill>
                <a:latin typeface="Aptos"/>
                <a:ea typeface="Aptos"/>
                <a:cs typeface="Aptos"/>
              </a:defRPr>
            </a:pPr>
            <a:r>
              <a:rPr sz="1200" b="0">
                <a:solidFill>
                  <a:srgbClr val="C9D7CF"/>
                </a:solidFill>
                <a:latin typeface="Aptos"/>
                <a:ea typeface="Aptos"/>
                <a:cs typeface="Aptos"/>
              </a:rPr>
              <a:t>1/13</a:t>
            </a:r>
          </a:p>
        </p:txBody>
      </p:sp>
      <p:sp>
        <p:nvSpPr>
          <p:cNvPr id="5" name="">
            <a:extLst xmlns:a="http://schemas.openxmlformats.org/drawingml/2006/main">
              <a:ext uri="{FF2B5EF4-FFF2-40B4-BE49-F238E27FC236}">
                <a16:creationId xmlns:a16="http://schemas.microsoft.com/office/drawing/2014/main" id="{513CBE84-4C9A-435B-8016-03AE0BA2D6A0}"/>
              </a:ext>
            </a:extLst>
          </p:cNvPr>
          <p:cNvSpPr>
            <a:spLocks xmlns:a="http://schemas.openxmlformats.org/drawingml/2006/main" noGrp="1"/>
          </p:cNvSpPr>
          <p:nvPr/>
        </p:nvSpPr>
        <p:spPr>
          <a:xfrm xmlns:a="http://schemas.openxmlformats.org/drawingml/2006/main">
            <a:off x="819150" y="1047750"/>
            <a:ext cx="64770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500" b="1">
                <a:solidFill>
                  <a:srgbClr val="F2C14E"/>
                </a:solidFill>
                <a:latin typeface="Aptos"/>
                <a:ea typeface="Aptos"/>
                <a:cs typeface="Aptos"/>
              </a:defRPr>
            </a:pPr>
            <a:r>
              <a:rPr sz="1500" b="1">
                <a:solidFill>
                  <a:srgbClr val="F2C14E"/>
                </a:solidFill>
                <a:latin typeface="Aptos"/>
                <a:ea typeface="Aptos"/>
                <a:cs typeface="Aptos"/>
              </a:rPr>
              <a:t>Model Evasion, Limits, and Recommendations</a:t>
            </a:r>
          </a:p>
        </p:txBody>
      </p:sp>
      <p:sp>
        <p:nvSpPr>
          <p:cNvPr id="6" name="">
            <a:extLst xmlns:a="http://schemas.openxmlformats.org/drawingml/2006/main">
              <a:ext uri="{FF2B5EF4-FFF2-40B4-BE49-F238E27FC236}">
                <a16:creationId xmlns:a16="http://schemas.microsoft.com/office/drawing/2014/main" id="{3D3ECACF-213A-42DB-A4E7-93E497358131}"/>
              </a:ext>
            </a:extLst>
          </p:cNvPr>
          <p:cNvSpPr>
            <a:spLocks xmlns:a="http://schemas.openxmlformats.org/drawingml/2006/main" noGrp="1"/>
          </p:cNvSpPr>
          <p:nvPr/>
        </p:nvSpPr>
        <p:spPr>
          <a:xfrm xmlns:a="http://schemas.openxmlformats.org/drawingml/2006/main">
            <a:off x="819150" y="1571625"/>
            <a:ext cx="7334250" cy="1695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600" b="1">
                <a:solidFill>
                  <a:srgbClr val="F5F7ED"/>
                </a:solidFill>
                <a:latin typeface="Aptos Display"/>
                <a:ea typeface="Aptos Display"/>
                <a:cs typeface="Aptos Display"/>
              </a:defRPr>
            </a:pPr>
            <a:r>
              <a:rPr sz="3600" b="1">
                <a:solidFill>
                  <a:srgbClr val="F5F7ED"/>
                </a:solidFill>
                <a:latin typeface="Aptos Display"/>
                <a:ea typeface="Aptos Display"/>
                <a:cs typeface="Aptos Display"/>
              </a:rPr>
              <a:t>Systems Can Be Fooled</a:t>
            </a:r>
          </a:p>
        </p:txBody>
      </p:sp>
      <p:sp>
        <p:nvSpPr>
          <p:cNvPr id="7" name="">
            <a:extLst xmlns:a="http://schemas.openxmlformats.org/drawingml/2006/main">
              <a:ext uri="{FF2B5EF4-FFF2-40B4-BE49-F238E27FC236}">
                <a16:creationId xmlns:a16="http://schemas.microsoft.com/office/drawing/2014/main" id="{BA26D249-0231-458C-A079-D5E526FA60AB}"/>
              </a:ext>
            </a:extLst>
          </p:cNvPr>
          <p:cNvSpPr>
            <a:spLocks xmlns:a="http://schemas.openxmlformats.org/drawingml/2006/main" noGrp="1"/>
          </p:cNvSpPr>
          <p:nvPr/>
        </p:nvSpPr>
        <p:spPr>
          <a:xfrm xmlns:a="http://schemas.openxmlformats.org/drawingml/2006/main">
            <a:off x="876300" y="3476625"/>
            <a:ext cx="6572250" cy="1143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C9D7CF"/>
                </a:solidFill>
                <a:latin typeface="Aptos"/>
                <a:ea typeface="Aptos"/>
                <a:cs typeface="Aptos"/>
              </a:defRPr>
            </a:pPr>
            <a:r>
              <a:rPr sz="2100" b="0">
                <a:solidFill>
                  <a:srgbClr val="C9D7CF"/>
                </a:solidFill>
                <a:latin typeface="Aptos"/>
                <a:ea typeface="Aptos"/>
                <a:cs typeface="Aptos"/>
              </a:rPr>
              <a:t>Today we use evasion thinking to make final project recommendations more realistic and limitations more honest.</a:t>
            </a:r>
          </a:p>
        </p:txBody>
      </p:sp>
      <p:sp>
        <p:nvSpPr>
          <p:cNvPr id="8" name="">
            <a:extLst xmlns:a="http://schemas.openxmlformats.org/drawingml/2006/main">
              <a:ext uri="{FF2B5EF4-FFF2-40B4-BE49-F238E27FC236}">
                <a16:creationId xmlns:a16="http://schemas.microsoft.com/office/drawing/2014/main" id="{DCEBE6C4-7B87-4AA1-B282-1522ED5B7634}"/>
              </a:ext>
            </a:extLst>
          </p:cNvPr>
          <p:cNvSpPr>
            <a:spLocks xmlns:a="http://schemas.openxmlformats.org/drawingml/2006/main" noGrp="1"/>
          </p:cNvSpPr>
          <p:nvPr/>
        </p:nvSpPr>
        <p:spPr>
          <a:xfrm xmlns:a="http://schemas.openxmlformats.org/drawingml/2006/main">
            <a:off x="8667750" y="1428750"/>
            <a:ext cx="2190750" cy="2190750"/>
          </a:xfrm>
          <a:prstGeom xmlns:a="http://schemas.openxmlformats.org/drawingml/2006/main" prst="roundRect">
            <a:avLst>
              <a:gd name="adj" fmla="val 3478"/>
            </a:avLst>
          </a:prstGeom>
          <a:solidFill xmlns:a="http://schemas.openxmlformats.org/drawingml/2006/main">
            <a:srgbClr val="244854"/>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B49374AD-4DB2-438B-9A0F-9DECBD7AD8CC}"/>
              </a:ext>
            </a:extLst>
          </p:cNvPr>
          <p:cNvSpPr>
            <a:spLocks xmlns:a="http://schemas.openxmlformats.org/drawingml/2006/main" noGrp="1"/>
          </p:cNvSpPr>
          <p:nvPr/>
        </p:nvSpPr>
        <p:spPr>
          <a:xfrm xmlns:a="http://schemas.openxmlformats.org/drawingml/2006/main">
            <a:off x="8858250" y="2047875"/>
            <a:ext cx="1809750" cy="1047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ctr"/>
          <a:lstStyle xmlns:a="http://schemas.openxmlformats.org/drawingml/2006/main"/>
          <a:p xmlns:a="http://schemas.openxmlformats.org/drawingml/2006/main">
            <a:pPr algn="ctr">
              <a:defRPr sz="2400" b="1">
                <a:solidFill>
                  <a:srgbClr val="7BD389"/>
                </a:solidFill>
                <a:latin typeface="Aptos"/>
                <a:ea typeface="Aptos"/>
                <a:cs typeface="Aptos"/>
              </a:defRPr>
            </a:pPr>
            <a:r>
              <a:rPr sz="2400" b="1">
                <a:solidFill>
                  <a:srgbClr val="7BD389"/>
                </a:solidFill>
                <a:latin typeface="Aptos"/>
                <a:ea typeface="Aptos"/>
                <a:cs typeface="Aptos"/>
              </a:rPr>
              <a:t>LIMITS</a:t>
            </a:r>
          </a:p>
          <a:p xmlns:a="http://schemas.openxmlformats.org/drawingml/2006/main">
            <a:pPr algn="ctr">
              <a:defRPr sz="2400" b="1">
                <a:solidFill>
                  <a:srgbClr val="7BD389"/>
                </a:solidFill>
                <a:latin typeface="Aptos"/>
                <a:ea typeface="Aptos"/>
                <a:cs typeface="Aptos"/>
              </a:defRPr>
            </a:pPr>
            <a:r>
              <a:rPr sz="2400" b="1">
                <a:solidFill>
                  <a:srgbClr val="7BD389"/>
                </a:solidFill>
                <a:latin typeface="Aptos"/>
                <a:ea typeface="Aptos"/>
                <a:cs typeface="Aptos"/>
              </a:rPr>
              <a:t>MATTER</a:t>
            </a:r>
          </a:p>
        </p:txBody>
      </p:sp>
      <p:sp>
        <p:nvSpPr>
          <p:cNvPr id="10" name="">
            <a:extLst xmlns:a="http://schemas.openxmlformats.org/drawingml/2006/main">
              <a:ext uri="{FF2B5EF4-FFF2-40B4-BE49-F238E27FC236}">
                <a16:creationId xmlns:a16="http://schemas.microsoft.com/office/drawing/2014/main" id="{9E7BAEFA-2E1E-4211-A5DF-2A3336950D38}"/>
              </a:ext>
            </a:extLst>
          </p:cNvPr>
          <p:cNvSpPr>
            <a:spLocks xmlns:a="http://schemas.openxmlformats.org/drawingml/2006/main" noGrp="1"/>
          </p:cNvSpPr>
          <p:nvPr/>
        </p:nvSpPr>
        <p:spPr>
          <a:xfrm xmlns:a="http://schemas.openxmlformats.org/drawingml/2006/main">
            <a:off x="876300" y="5572125"/>
            <a:ext cx="34290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1">
                <a:solidFill>
                  <a:srgbClr val="7BD389"/>
                </a:solidFill>
                <a:latin typeface="Aptos"/>
                <a:ea typeface="Aptos"/>
                <a:cs typeface="Aptos"/>
              </a:defRPr>
            </a:pPr>
            <a:r>
              <a:rPr sz="1650" b="1">
                <a:solidFill>
                  <a:srgbClr val="7BD389"/>
                </a:solidFill>
                <a:latin typeface="Aptos"/>
                <a:ea typeface="Aptos"/>
                <a:cs typeface="Aptos"/>
              </a:rPr>
              <a:t>Due May 26, 2026</a:t>
            </a:r>
          </a:p>
        </p:txBody>
      </p:sp>
    </p:spTree>
    <p:extLst>
      <p:ext uri="{BB962C8B-B14F-4D97-AF65-F5344CB8AC3E}">
        <p14:creationId xmlns:p14="http://schemas.microsoft.com/office/powerpoint/2010/main" val="80733659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518C886-CBA2-49FC-AFA4-52E3F8A2A5C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F1D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5F2C7BD-899B-422E-B175-65E82CBE45BD}"/>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7BD389"/>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CFD2CDB-4B3D-4F96-930B-446C328E95AF}"/>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7BD389"/>
                </a:solidFill>
                <a:latin typeface="Aptos"/>
                <a:ea typeface="Aptos"/>
                <a:cs typeface="Aptos"/>
              </a:defRPr>
            </a:pPr>
            <a:r>
              <a:rPr sz="1200" b="1">
                <a:solidFill>
                  <a:srgbClr val="7BD389"/>
                </a:solidFill>
                <a:latin typeface="Aptos"/>
                <a:ea typeface="Aptos"/>
                <a:cs typeface="Aptos"/>
              </a:rPr>
              <a:t>Week 13 Day 2</a:t>
            </a:r>
          </a:p>
        </p:txBody>
      </p:sp>
      <p:sp>
        <p:nvSpPr>
          <p:cNvPr id="4" name="">
            <a:extLst xmlns:a="http://schemas.openxmlformats.org/drawingml/2006/main">
              <a:ext uri="{FF2B5EF4-FFF2-40B4-BE49-F238E27FC236}">
                <a16:creationId xmlns:a16="http://schemas.microsoft.com/office/drawing/2014/main" id="{99C19654-7290-45FD-8577-B04B1E3BBADE}"/>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C9D7CF"/>
                </a:solidFill>
                <a:latin typeface="Aptos"/>
                <a:ea typeface="Aptos"/>
                <a:cs typeface="Aptos"/>
              </a:defRPr>
            </a:pPr>
            <a:r>
              <a:rPr sz="1200" b="0">
                <a:solidFill>
                  <a:srgbClr val="C9D7CF"/>
                </a:solidFill>
                <a:latin typeface="Aptos"/>
                <a:ea typeface="Aptos"/>
                <a:cs typeface="Aptos"/>
              </a:rPr>
              <a:t>2/13</a:t>
            </a:r>
          </a:p>
        </p:txBody>
      </p:sp>
      <p:sp>
        <p:nvSpPr>
          <p:cNvPr id="5" name="">
            <a:extLst xmlns:a="http://schemas.openxmlformats.org/drawingml/2006/main">
              <a:ext uri="{FF2B5EF4-FFF2-40B4-BE49-F238E27FC236}">
                <a16:creationId xmlns:a16="http://schemas.microsoft.com/office/drawing/2014/main" id="{0D08D175-8AD3-4087-9BDD-0241DCEF5C75}"/>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F2C14E"/>
                </a:solidFill>
                <a:latin typeface="Aptos"/>
                <a:ea typeface="Aptos"/>
                <a:cs typeface="Aptos"/>
              </a:defRPr>
            </a:pPr>
            <a:r>
              <a:rPr sz="1350" b="1">
                <a:solidFill>
                  <a:srgbClr val="F2C14E"/>
                </a:solidFill>
                <a:latin typeface="Aptos"/>
                <a:ea typeface="Aptos"/>
                <a:cs typeface="Aptos"/>
              </a:rPr>
              <a:t>Plain-language definition</a:t>
            </a:r>
          </a:p>
        </p:txBody>
      </p:sp>
      <p:sp>
        <p:nvSpPr>
          <p:cNvPr id="6" name="">
            <a:extLst xmlns:a="http://schemas.openxmlformats.org/drawingml/2006/main">
              <a:ext uri="{FF2B5EF4-FFF2-40B4-BE49-F238E27FC236}">
                <a16:creationId xmlns:a16="http://schemas.microsoft.com/office/drawing/2014/main" id="{94DE8873-5AC4-4ABD-A301-619F93C76178}"/>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5F7ED"/>
                </a:solidFill>
                <a:latin typeface="Aptos Display"/>
                <a:ea typeface="Aptos Display"/>
                <a:cs typeface="Aptos Display"/>
              </a:defRPr>
            </a:pPr>
            <a:r>
              <a:rPr sz="3300" b="1">
                <a:solidFill>
                  <a:srgbClr val="F5F7ED"/>
                </a:solidFill>
                <a:latin typeface="Aptos Display"/>
                <a:ea typeface="Aptos Display"/>
                <a:cs typeface="Aptos Display"/>
              </a:rPr>
              <a:t>Evasion means avoiding the rule, signal, or detector</a:t>
            </a:r>
          </a:p>
        </p:txBody>
      </p:sp>
      <p:sp>
        <p:nvSpPr>
          <p:cNvPr id="7" name="">
            <a:extLst xmlns:a="http://schemas.openxmlformats.org/drawingml/2006/main">
              <a:ext uri="{FF2B5EF4-FFF2-40B4-BE49-F238E27FC236}">
                <a16:creationId xmlns:a16="http://schemas.microsoft.com/office/drawing/2014/main" id="{08F39012-C504-4BDD-8C2E-3E1D0245AEF2}"/>
              </a:ext>
            </a:extLst>
          </p:cNvPr>
          <p:cNvSpPr>
            <a:spLocks xmlns:a="http://schemas.openxmlformats.org/drawingml/2006/main" noGrp="1"/>
          </p:cNvSpPr>
          <p:nvPr/>
        </p:nvSpPr>
        <p:spPr>
          <a:xfrm xmlns:a="http://schemas.openxmlformats.org/drawingml/2006/main">
            <a:off x="800100" y="2238375"/>
            <a:ext cx="4953000" cy="2095500"/>
          </a:xfrm>
          <a:prstGeom xmlns:a="http://schemas.openxmlformats.org/drawingml/2006/main" prst="rect">
            <a:avLst/>
          </a:prstGeom>
          <a:solidFill xmlns:a="http://schemas.openxmlformats.org/drawingml/2006/main">
            <a:srgbClr val="17313C"/>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550" b="1">
                <a:solidFill>
                  <a:srgbClr val="F5F7ED"/>
                </a:solidFill>
                <a:latin typeface="Aptos"/>
                <a:ea typeface="Aptos"/>
                <a:cs typeface="Aptos"/>
              </a:defRPr>
            </a:pPr>
            <a:r>
              <a:rPr sz="2550" b="1">
                <a:solidFill>
                  <a:srgbClr val="F5F7ED"/>
                </a:solidFill>
                <a:latin typeface="Aptos"/>
                <a:ea typeface="Aptos"/>
                <a:cs typeface="Aptos"/>
              </a:rPr>
              <a:t>A system can miss what it was supposed to catch.</a:t>
            </a:r>
          </a:p>
        </p:txBody>
      </p:sp>
      <p:sp>
        <p:nvSpPr>
          <p:cNvPr id="8" name="">
            <a:extLst xmlns:a="http://schemas.openxmlformats.org/drawingml/2006/main">
              <a:ext uri="{FF2B5EF4-FFF2-40B4-BE49-F238E27FC236}">
                <a16:creationId xmlns:a16="http://schemas.microsoft.com/office/drawing/2014/main" id="{C761A78C-F527-43B3-BFD5-51571CEB4233}"/>
              </a:ext>
            </a:extLst>
          </p:cNvPr>
          <p:cNvSpPr>
            <a:spLocks xmlns:a="http://schemas.openxmlformats.org/drawingml/2006/main" noGrp="1"/>
          </p:cNvSpPr>
          <p:nvPr/>
        </p:nvSpPr>
        <p:spPr>
          <a:xfrm xmlns:a="http://schemas.openxmlformats.org/drawingml/2006/main">
            <a:off x="6286500" y="2381250"/>
            <a:ext cx="4953000" cy="2952750"/>
          </a:xfrm>
          <a:prstGeom xmlns:a="http://schemas.openxmlformats.org/drawingml/2006/main" prst="roundRect">
            <a:avLst>
              <a:gd name="adj" fmla="val 2581"/>
            </a:avLst>
          </a:prstGeom>
          <a:solidFill xmlns:a="http://schemas.openxmlformats.org/drawingml/2006/main">
            <a:srgbClr val="17313C"/>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587801A8-ECCA-4B58-B370-8F943EC9F24F}"/>
              </a:ext>
            </a:extLst>
          </p:cNvPr>
          <p:cNvSpPr>
            <a:spLocks xmlns:a="http://schemas.openxmlformats.org/drawingml/2006/main" noGrp="1"/>
          </p:cNvSpPr>
          <p:nvPr/>
        </p:nvSpPr>
        <p:spPr>
          <a:xfrm xmlns:a="http://schemas.openxmlformats.org/drawingml/2006/main">
            <a:off x="6553200" y="2628900"/>
            <a:ext cx="4419600" cy="2428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Attackers adapt to controls</a:t>
            </a:r>
          </a:p>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Normal behavior can look suspicious</a:t>
            </a:r>
          </a:p>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Suspicious behavior can look normal</a:t>
            </a:r>
          </a:p>
        </p:txBody>
      </p:sp>
    </p:spTree>
    <p:extLst>
      <p:ext uri="{BB962C8B-B14F-4D97-AF65-F5344CB8AC3E}">
        <p14:creationId xmlns:p14="http://schemas.microsoft.com/office/powerpoint/2010/main" val="80946983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8F8F138-E676-4FCF-8366-6F3B920CE00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F1D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FD64721-5E7A-4594-9395-332EFAB035A9}"/>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7BD389"/>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6172BA13-EDC5-484E-8A3A-E3546C1DF646}"/>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7BD389"/>
                </a:solidFill>
                <a:latin typeface="Aptos"/>
                <a:ea typeface="Aptos"/>
                <a:cs typeface="Aptos"/>
              </a:defRPr>
            </a:pPr>
            <a:r>
              <a:rPr sz="1200" b="1">
                <a:solidFill>
                  <a:srgbClr val="7BD389"/>
                </a:solidFill>
                <a:latin typeface="Aptos"/>
                <a:ea typeface="Aptos"/>
                <a:cs typeface="Aptos"/>
              </a:rPr>
              <a:t>Week 13 Day 2</a:t>
            </a:r>
          </a:p>
        </p:txBody>
      </p:sp>
      <p:sp>
        <p:nvSpPr>
          <p:cNvPr id="4" name="">
            <a:extLst xmlns:a="http://schemas.openxmlformats.org/drawingml/2006/main">
              <a:ext uri="{FF2B5EF4-FFF2-40B4-BE49-F238E27FC236}">
                <a16:creationId xmlns:a16="http://schemas.microsoft.com/office/drawing/2014/main" id="{C2668280-CA48-4BD7-82B9-94E0E4506EA6}"/>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C9D7CF"/>
                </a:solidFill>
                <a:latin typeface="Aptos"/>
                <a:ea typeface="Aptos"/>
                <a:cs typeface="Aptos"/>
              </a:defRPr>
            </a:pPr>
            <a:r>
              <a:rPr sz="1200" b="0">
                <a:solidFill>
                  <a:srgbClr val="C9D7CF"/>
                </a:solidFill>
                <a:latin typeface="Aptos"/>
                <a:ea typeface="Aptos"/>
                <a:cs typeface="Aptos"/>
              </a:rPr>
              <a:t>3/13</a:t>
            </a:r>
          </a:p>
        </p:txBody>
      </p:sp>
      <p:sp>
        <p:nvSpPr>
          <p:cNvPr id="5" name="">
            <a:extLst xmlns:a="http://schemas.openxmlformats.org/drawingml/2006/main">
              <a:ext uri="{FF2B5EF4-FFF2-40B4-BE49-F238E27FC236}">
                <a16:creationId xmlns:a16="http://schemas.microsoft.com/office/drawing/2014/main" id="{4D86C1DB-327C-4675-A655-CACE0DDE857B}"/>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F2C14E"/>
                </a:solidFill>
                <a:latin typeface="Aptos"/>
                <a:ea typeface="Aptos"/>
                <a:cs typeface="Aptos"/>
              </a:defRPr>
            </a:pPr>
            <a:r>
              <a:rPr sz="1350" b="1">
                <a:solidFill>
                  <a:srgbClr val="F2C14E"/>
                </a:solidFill>
                <a:latin typeface="Aptos"/>
                <a:ea typeface="Aptos"/>
                <a:cs typeface="Aptos"/>
              </a:rPr>
              <a:t>Two useful terms</a:t>
            </a:r>
          </a:p>
        </p:txBody>
      </p:sp>
      <p:sp>
        <p:nvSpPr>
          <p:cNvPr id="6" name="">
            <a:extLst xmlns:a="http://schemas.openxmlformats.org/drawingml/2006/main">
              <a:ext uri="{FF2B5EF4-FFF2-40B4-BE49-F238E27FC236}">
                <a16:creationId xmlns:a16="http://schemas.microsoft.com/office/drawing/2014/main" id="{74031956-5B90-45E7-AECB-2D9631EFD447}"/>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5F7ED"/>
                </a:solidFill>
                <a:latin typeface="Aptos Display"/>
                <a:ea typeface="Aptos Display"/>
                <a:cs typeface="Aptos Display"/>
              </a:defRPr>
            </a:pPr>
            <a:r>
              <a:rPr sz="3300" b="1">
                <a:solidFill>
                  <a:srgbClr val="F5F7ED"/>
                </a:solidFill>
                <a:latin typeface="Aptos Display"/>
                <a:ea typeface="Aptos Display"/>
                <a:cs typeface="Aptos Display"/>
              </a:rPr>
              <a:t>False positives and false negatives</a:t>
            </a:r>
          </a:p>
        </p:txBody>
      </p:sp>
      <p:sp>
        <p:nvSpPr>
          <p:cNvPr id="7" name="">
            <a:extLst xmlns:a="http://schemas.openxmlformats.org/drawingml/2006/main">
              <a:ext uri="{FF2B5EF4-FFF2-40B4-BE49-F238E27FC236}">
                <a16:creationId xmlns:a16="http://schemas.microsoft.com/office/drawing/2014/main" id="{0BB178F9-E74D-4E6E-BCB7-A1BE9C5E92DB}"/>
              </a:ext>
            </a:extLst>
          </p:cNvPr>
          <p:cNvSpPr>
            <a:spLocks xmlns:a="http://schemas.openxmlformats.org/drawingml/2006/main" noGrp="1"/>
          </p:cNvSpPr>
          <p:nvPr/>
        </p:nvSpPr>
        <p:spPr>
          <a:xfrm xmlns:a="http://schemas.openxmlformats.org/drawingml/2006/main">
            <a:off x="762000" y="2428875"/>
            <a:ext cx="3257550" cy="2476500"/>
          </a:xfrm>
          <a:prstGeom xmlns:a="http://schemas.openxmlformats.org/drawingml/2006/main" prst="roundRect">
            <a:avLst>
              <a:gd name="adj" fmla="val 3077"/>
            </a:avLst>
          </a:prstGeom>
          <a:solidFill xmlns:a="http://schemas.openxmlformats.org/drawingml/2006/main">
            <a:srgbClr val="17313C"/>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B39D9ABB-0A0C-414D-BDAD-F64AD0A0C4C1}"/>
              </a:ext>
            </a:extLst>
          </p:cNvPr>
          <p:cNvSpPr>
            <a:spLocks xmlns:a="http://schemas.openxmlformats.org/drawingml/2006/main" noGrp="1"/>
          </p:cNvSpPr>
          <p:nvPr/>
        </p:nvSpPr>
        <p:spPr>
          <a:xfrm xmlns:a="http://schemas.openxmlformats.org/drawingml/2006/main">
            <a:off x="971550" y="2647950"/>
            <a:ext cx="28384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1">
                <a:solidFill>
                  <a:srgbClr val="7BD389"/>
                </a:solidFill>
                <a:latin typeface="Aptos"/>
                <a:ea typeface="Aptos"/>
                <a:cs typeface="Aptos"/>
              </a:defRPr>
            </a:pPr>
            <a:r>
              <a:rPr sz="1650" b="1">
                <a:solidFill>
                  <a:srgbClr val="7BD389"/>
                </a:solidFill>
                <a:latin typeface="Aptos"/>
                <a:ea typeface="Aptos"/>
                <a:cs typeface="Aptos"/>
              </a:rPr>
              <a:t>False positive</a:t>
            </a:r>
          </a:p>
        </p:txBody>
      </p:sp>
      <p:sp>
        <p:nvSpPr>
          <p:cNvPr id="9" name="">
            <a:extLst xmlns:a="http://schemas.openxmlformats.org/drawingml/2006/main">
              <a:ext uri="{FF2B5EF4-FFF2-40B4-BE49-F238E27FC236}">
                <a16:creationId xmlns:a16="http://schemas.microsoft.com/office/drawing/2014/main" id="{34F47151-6F57-4FD9-A33F-96251BF44864}"/>
              </a:ext>
            </a:extLst>
          </p:cNvPr>
          <p:cNvSpPr>
            <a:spLocks xmlns:a="http://schemas.openxmlformats.org/drawingml/2006/main" noGrp="1"/>
          </p:cNvSpPr>
          <p:nvPr/>
        </p:nvSpPr>
        <p:spPr>
          <a:xfrm xmlns:a="http://schemas.openxmlformats.org/drawingml/2006/main">
            <a:off x="971550" y="3190875"/>
            <a:ext cx="2838450" cy="1381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800" b="0">
                <a:solidFill>
                  <a:srgbClr val="F5F7ED"/>
                </a:solidFill>
                <a:latin typeface="Aptos"/>
                <a:ea typeface="Aptos"/>
                <a:cs typeface="Aptos"/>
              </a:defRPr>
            </a:pPr>
            <a:r>
              <a:rPr sz="1800" b="0">
                <a:solidFill>
                  <a:srgbClr val="F5F7ED"/>
                </a:solidFill>
                <a:latin typeface="Aptos"/>
                <a:ea typeface="Aptos"/>
                <a:cs typeface="Aptos"/>
              </a:rPr>
              <a:t>Something normal gets treated as risky.</a:t>
            </a:r>
          </a:p>
        </p:txBody>
      </p:sp>
      <p:sp>
        <p:nvSpPr>
          <p:cNvPr id="10" name="">
            <a:extLst xmlns:a="http://schemas.openxmlformats.org/drawingml/2006/main">
              <a:ext uri="{FF2B5EF4-FFF2-40B4-BE49-F238E27FC236}">
                <a16:creationId xmlns:a16="http://schemas.microsoft.com/office/drawing/2014/main" id="{7264D8F6-4262-4773-B5B1-5521527BBEE3}"/>
              </a:ext>
            </a:extLst>
          </p:cNvPr>
          <p:cNvSpPr>
            <a:spLocks xmlns:a="http://schemas.openxmlformats.org/drawingml/2006/main" noGrp="1"/>
          </p:cNvSpPr>
          <p:nvPr/>
        </p:nvSpPr>
        <p:spPr>
          <a:xfrm xmlns:a="http://schemas.openxmlformats.org/drawingml/2006/main">
            <a:off x="4438650" y="2428875"/>
            <a:ext cx="3257550" cy="2476500"/>
          </a:xfrm>
          <a:prstGeom xmlns:a="http://schemas.openxmlformats.org/drawingml/2006/main" prst="roundRect">
            <a:avLst>
              <a:gd name="adj" fmla="val 3077"/>
            </a:avLst>
          </a:prstGeom>
          <a:solidFill xmlns:a="http://schemas.openxmlformats.org/drawingml/2006/main">
            <a:srgbClr val="244854"/>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9B0892C1-1F69-4AB8-9F66-41ADC45CC7AF}"/>
              </a:ext>
            </a:extLst>
          </p:cNvPr>
          <p:cNvSpPr>
            <a:spLocks xmlns:a="http://schemas.openxmlformats.org/drawingml/2006/main" noGrp="1"/>
          </p:cNvSpPr>
          <p:nvPr/>
        </p:nvSpPr>
        <p:spPr>
          <a:xfrm xmlns:a="http://schemas.openxmlformats.org/drawingml/2006/main">
            <a:off x="4648200" y="2647950"/>
            <a:ext cx="28384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1">
                <a:solidFill>
                  <a:srgbClr val="7BD389"/>
                </a:solidFill>
                <a:latin typeface="Aptos"/>
                <a:ea typeface="Aptos"/>
                <a:cs typeface="Aptos"/>
              </a:defRPr>
            </a:pPr>
            <a:r>
              <a:rPr sz="1650" b="1">
                <a:solidFill>
                  <a:srgbClr val="7BD389"/>
                </a:solidFill>
                <a:latin typeface="Aptos"/>
                <a:ea typeface="Aptos"/>
                <a:cs typeface="Aptos"/>
              </a:rPr>
              <a:t>False negative</a:t>
            </a:r>
          </a:p>
        </p:txBody>
      </p:sp>
      <p:sp>
        <p:nvSpPr>
          <p:cNvPr id="12" name="">
            <a:extLst xmlns:a="http://schemas.openxmlformats.org/drawingml/2006/main">
              <a:ext uri="{FF2B5EF4-FFF2-40B4-BE49-F238E27FC236}">
                <a16:creationId xmlns:a16="http://schemas.microsoft.com/office/drawing/2014/main" id="{456108A9-18AB-4617-90EE-1990E3911C55}"/>
              </a:ext>
            </a:extLst>
          </p:cNvPr>
          <p:cNvSpPr>
            <a:spLocks xmlns:a="http://schemas.openxmlformats.org/drawingml/2006/main" noGrp="1"/>
          </p:cNvSpPr>
          <p:nvPr/>
        </p:nvSpPr>
        <p:spPr>
          <a:xfrm xmlns:a="http://schemas.openxmlformats.org/drawingml/2006/main">
            <a:off x="4648200" y="3190875"/>
            <a:ext cx="2838450" cy="1381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800" b="0">
                <a:solidFill>
                  <a:srgbClr val="F5F7ED"/>
                </a:solidFill>
                <a:latin typeface="Aptos"/>
                <a:ea typeface="Aptos"/>
                <a:cs typeface="Aptos"/>
              </a:defRPr>
            </a:pPr>
            <a:r>
              <a:rPr sz="1800" b="0">
                <a:solidFill>
                  <a:srgbClr val="F5F7ED"/>
                </a:solidFill>
                <a:latin typeface="Aptos"/>
                <a:ea typeface="Aptos"/>
                <a:cs typeface="Aptos"/>
              </a:rPr>
              <a:t>Something risky gets treated as normal.</a:t>
            </a:r>
          </a:p>
        </p:txBody>
      </p:sp>
      <p:sp>
        <p:nvSpPr>
          <p:cNvPr id="13" name="">
            <a:extLst xmlns:a="http://schemas.openxmlformats.org/drawingml/2006/main">
              <a:ext uri="{FF2B5EF4-FFF2-40B4-BE49-F238E27FC236}">
                <a16:creationId xmlns:a16="http://schemas.microsoft.com/office/drawing/2014/main" id="{B489C882-1DA1-4870-8203-A4FAEC23E95F}"/>
              </a:ext>
            </a:extLst>
          </p:cNvPr>
          <p:cNvSpPr>
            <a:spLocks xmlns:a="http://schemas.openxmlformats.org/drawingml/2006/main" noGrp="1"/>
          </p:cNvSpPr>
          <p:nvPr/>
        </p:nvSpPr>
        <p:spPr>
          <a:xfrm xmlns:a="http://schemas.openxmlformats.org/drawingml/2006/main">
            <a:off x="8115300" y="2428875"/>
            <a:ext cx="3257550" cy="2476500"/>
          </a:xfrm>
          <a:prstGeom xmlns:a="http://schemas.openxmlformats.org/drawingml/2006/main" prst="roundRect">
            <a:avLst>
              <a:gd name="adj" fmla="val 3077"/>
            </a:avLst>
          </a:prstGeom>
          <a:solidFill xmlns:a="http://schemas.openxmlformats.org/drawingml/2006/main">
            <a:srgbClr val="17313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0C6408E6-2025-45C7-9AF6-9D83298D93C4}"/>
              </a:ext>
            </a:extLst>
          </p:cNvPr>
          <p:cNvSpPr>
            <a:spLocks xmlns:a="http://schemas.openxmlformats.org/drawingml/2006/main" noGrp="1"/>
          </p:cNvSpPr>
          <p:nvPr/>
        </p:nvSpPr>
        <p:spPr>
          <a:xfrm xmlns:a="http://schemas.openxmlformats.org/drawingml/2006/main">
            <a:off x="8324850" y="2647950"/>
            <a:ext cx="28384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650" b="1">
                <a:solidFill>
                  <a:srgbClr val="7BD389"/>
                </a:solidFill>
                <a:latin typeface="Aptos"/>
                <a:ea typeface="Aptos"/>
                <a:cs typeface="Aptos"/>
              </a:defRPr>
            </a:pPr>
            <a:r>
              <a:rPr sz="1650" b="1">
                <a:solidFill>
                  <a:srgbClr val="7BD389"/>
                </a:solidFill>
                <a:latin typeface="Aptos"/>
                <a:ea typeface="Aptos"/>
                <a:cs typeface="Aptos"/>
              </a:rPr>
              <a:t>Tradeoff</a:t>
            </a:r>
          </a:p>
        </p:txBody>
      </p:sp>
      <p:sp>
        <p:nvSpPr>
          <p:cNvPr id="15" name="">
            <a:extLst xmlns:a="http://schemas.openxmlformats.org/drawingml/2006/main">
              <a:ext uri="{FF2B5EF4-FFF2-40B4-BE49-F238E27FC236}">
                <a16:creationId xmlns:a16="http://schemas.microsoft.com/office/drawing/2014/main" id="{4320144E-55FB-42EE-A8E7-FF2E50E9AA7C}"/>
              </a:ext>
            </a:extLst>
          </p:cNvPr>
          <p:cNvSpPr>
            <a:spLocks xmlns:a="http://schemas.openxmlformats.org/drawingml/2006/main" noGrp="1"/>
          </p:cNvSpPr>
          <p:nvPr/>
        </p:nvSpPr>
        <p:spPr>
          <a:xfrm xmlns:a="http://schemas.openxmlformats.org/drawingml/2006/main">
            <a:off x="8324850" y="3190875"/>
            <a:ext cx="2838450" cy="1381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800" b="0">
                <a:solidFill>
                  <a:srgbClr val="F5F7ED"/>
                </a:solidFill>
                <a:latin typeface="Aptos"/>
                <a:ea typeface="Aptos"/>
                <a:cs typeface="Aptos"/>
              </a:defRPr>
            </a:pPr>
            <a:r>
              <a:rPr sz="1800" b="0">
                <a:solidFill>
                  <a:srgbClr val="F5F7ED"/>
                </a:solidFill>
                <a:latin typeface="Aptos"/>
                <a:ea typeface="Aptos"/>
                <a:cs typeface="Aptos"/>
              </a:rPr>
              <a:t>Changing a rule can reduce one error while increasing another.</a:t>
            </a:r>
          </a:p>
        </p:txBody>
      </p:sp>
    </p:spTree>
    <p:extLst>
      <p:ext uri="{BB962C8B-B14F-4D97-AF65-F5344CB8AC3E}">
        <p14:creationId xmlns:p14="http://schemas.microsoft.com/office/powerpoint/2010/main" val="81221897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3A5B968-E1A8-47C0-9D3D-A7C920805FF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F1D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4F9112C-2308-4F4D-A36D-2BC66AE48D4F}"/>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7BD389"/>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56FEBB99-910D-4568-B2E2-AC27FA3DAA93}"/>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7BD389"/>
                </a:solidFill>
                <a:latin typeface="Aptos"/>
                <a:ea typeface="Aptos"/>
                <a:cs typeface="Aptos"/>
              </a:defRPr>
            </a:pPr>
            <a:r>
              <a:rPr sz="1200" b="1">
                <a:solidFill>
                  <a:srgbClr val="7BD389"/>
                </a:solidFill>
                <a:latin typeface="Aptos"/>
                <a:ea typeface="Aptos"/>
                <a:cs typeface="Aptos"/>
              </a:rPr>
              <a:t>Week 13 Day 2</a:t>
            </a:r>
          </a:p>
        </p:txBody>
      </p:sp>
      <p:sp>
        <p:nvSpPr>
          <p:cNvPr id="4" name="">
            <a:extLst xmlns:a="http://schemas.openxmlformats.org/drawingml/2006/main">
              <a:ext uri="{FF2B5EF4-FFF2-40B4-BE49-F238E27FC236}">
                <a16:creationId xmlns:a16="http://schemas.microsoft.com/office/drawing/2014/main" id="{59554382-4C61-43BB-940A-C23D37F50F45}"/>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C9D7CF"/>
                </a:solidFill>
                <a:latin typeface="Aptos"/>
                <a:ea typeface="Aptos"/>
                <a:cs typeface="Aptos"/>
              </a:defRPr>
            </a:pPr>
            <a:r>
              <a:rPr sz="1200" b="0">
                <a:solidFill>
                  <a:srgbClr val="C9D7CF"/>
                </a:solidFill>
                <a:latin typeface="Aptos"/>
                <a:ea typeface="Aptos"/>
                <a:cs typeface="Aptos"/>
              </a:rPr>
              <a:t>4/13</a:t>
            </a:r>
          </a:p>
        </p:txBody>
      </p:sp>
      <p:sp>
        <p:nvSpPr>
          <p:cNvPr id="5" name="">
            <a:extLst xmlns:a="http://schemas.openxmlformats.org/drawingml/2006/main">
              <a:ext uri="{FF2B5EF4-FFF2-40B4-BE49-F238E27FC236}">
                <a16:creationId xmlns:a16="http://schemas.microsoft.com/office/drawing/2014/main" id="{0C5CF4D6-3883-4353-A1E1-F31DD8FF8A49}"/>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F2C14E"/>
                </a:solidFill>
                <a:latin typeface="Aptos"/>
                <a:ea typeface="Aptos"/>
                <a:cs typeface="Aptos"/>
              </a:defRPr>
            </a:pPr>
            <a:r>
              <a:rPr sz="1350" b="1">
                <a:solidFill>
                  <a:srgbClr val="F2C14E"/>
                </a:solidFill>
                <a:latin typeface="Aptos"/>
                <a:ea typeface="Aptos"/>
                <a:cs typeface="Aptos"/>
              </a:rPr>
              <a:t>Thresholds</a:t>
            </a:r>
          </a:p>
        </p:txBody>
      </p:sp>
      <p:sp>
        <p:nvSpPr>
          <p:cNvPr id="6" name="">
            <a:extLst xmlns:a="http://schemas.openxmlformats.org/drawingml/2006/main">
              <a:ext uri="{FF2B5EF4-FFF2-40B4-BE49-F238E27FC236}">
                <a16:creationId xmlns:a16="http://schemas.microsoft.com/office/drawing/2014/main" id="{002546C4-2A3F-4717-96E1-6B9D90F59BF1}"/>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5F7ED"/>
                </a:solidFill>
                <a:latin typeface="Aptos Display"/>
                <a:ea typeface="Aptos Display"/>
                <a:cs typeface="Aptos Display"/>
              </a:defRPr>
            </a:pPr>
            <a:r>
              <a:rPr sz="3300" b="1">
                <a:solidFill>
                  <a:srgbClr val="F5F7ED"/>
                </a:solidFill>
                <a:latin typeface="Aptos Display"/>
                <a:ea typeface="Aptos Display"/>
                <a:cs typeface="Aptos Display"/>
              </a:rPr>
              <a:t>Rules create boundaries, and boundaries create tradeoffs</a:t>
            </a:r>
          </a:p>
        </p:txBody>
      </p:sp>
      <p:sp>
        <p:nvSpPr>
          <p:cNvPr id="7" name="">
            <a:extLst xmlns:a="http://schemas.openxmlformats.org/drawingml/2006/main">
              <a:ext uri="{FF2B5EF4-FFF2-40B4-BE49-F238E27FC236}">
                <a16:creationId xmlns:a16="http://schemas.microsoft.com/office/drawing/2014/main" id="{868E13B9-9160-495C-A371-4D10C001AC92}"/>
              </a:ext>
            </a:extLst>
          </p:cNvPr>
          <p:cNvSpPr>
            <a:spLocks xmlns:a="http://schemas.openxmlformats.org/drawingml/2006/main" noGrp="1"/>
          </p:cNvSpPr>
          <p:nvPr/>
        </p:nvSpPr>
        <p:spPr>
          <a:xfrm xmlns:a="http://schemas.openxmlformats.org/drawingml/2006/main">
            <a:off x="838200" y="2381250"/>
            <a:ext cx="9906000" cy="2952750"/>
          </a:xfrm>
          <a:prstGeom xmlns:a="http://schemas.openxmlformats.org/drawingml/2006/main" prst="roundRect">
            <a:avLst>
              <a:gd name="adj" fmla="val 2581"/>
            </a:avLst>
          </a:prstGeom>
          <a:solidFill xmlns:a="http://schemas.openxmlformats.org/drawingml/2006/main">
            <a:srgbClr val="17313C"/>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0B448205-2ACF-41DF-8EC8-8B3BB1F2B3DC}"/>
              </a:ext>
            </a:extLst>
          </p:cNvPr>
          <p:cNvSpPr>
            <a:spLocks xmlns:a="http://schemas.openxmlformats.org/drawingml/2006/main" noGrp="1"/>
          </p:cNvSpPr>
          <p:nvPr/>
        </p:nvSpPr>
        <p:spPr>
          <a:xfrm xmlns:a="http://schemas.openxmlformats.org/drawingml/2006/main">
            <a:off x="1104900" y="2628900"/>
            <a:ext cx="9372600" cy="2428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Thirty failed logins might trigger review</a:t>
            </a:r>
          </a:p>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Five MFA denials might trigger review</a:t>
            </a:r>
          </a:p>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High severity might trigger escalation</a:t>
            </a:r>
          </a:p>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Every threshold can miss context</a:t>
            </a:r>
          </a:p>
        </p:txBody>
      </p:sp>
    </p:spTree>
    <p:extLst>
      <p:ext uri="{BB962C8B-B14F-4D97-AF65-F5344CB8AC3E}">
        <p14:creationId xmlns:p14="http://schemas.microsoft.com/office/powerpoint/2010/main" val="152506656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077CA84-1B6E-48B8-9073-3F5CE1B6B23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F1D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6C6A66F-F24A-48DA-9CA7-AE78D42A1ACD}"/>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7BD389"/>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3CD3679-60F6-4A62-8EAF-1BEF2ECC7E35}"/>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7BD389"/>
                </a:solidFill>
                <a:latin typeface="Aptos"/>
                <a:ea typeface="Aptos"/>
                <a:cs typeface="Aptos"/>
              </a:defRPr>
            </a:pPr>
            <a:r>
              <a:rPr sz="1200" b="1">
                <a:solidFill>
                  <a:srgbClr val="7BD389"/>
                </a:solidFill>
                <a:latin typeface="Aptos"/>
                <a:ea typeface="Aptos"/>
                <a:cs typeface="Aptos"/>
              </a:rPr>
              <a:t>Week 13 Day 2</a:t>
            </a:r>
          </a:p>
        </p:txBody>
      </p:sp>
      <p:sp>
        <p:nvSpPr>
          <p:cNvPr id="4" name="">
            <a:extLst xmlns:a="http://schemas.openxmlformats.org/drawingml/2006/main">
              <a:ext uri="{FF2B5EF4-FFF2-40B4-BE49-F238E27FC236}">
                <a16:creationId xmlns:a16="http://schemas.microsoft.com/office/drawing/2014/main" id="{9BE3C69F-9F43-44FB-82E0-EE12628B6C31}"/>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C9D7CF"/>
                </a:solidFill>
                <a:latin typeface="Aptos"/>
                <a:ea typeface="Aptos"/>
                <a:cs typeface="Aptos"/>
              </a:defRPr>
            </a:pPr>
            <a:r>
              <a:rPr sz="1200" b="0">
                <a:solidFill>
                  <a:srgbClr val="C9D7CF"/>
                </a:solidFill>
                <a:latin typeface="Aptos"/>
                <a:ea typeface="Aptos"/>
                <a:cs typeface="Aptos"/>
              </a:rPr>
              <a:t>5/13</a:t>
            </a:r>
          </a:p>
        </p:txBody>
      </p:sp>
      <p:sp>
        <p:nvSpPr>
          <p:cNvPr id="5" name="">
            <a:extLst xmlns:a="http://schemas.openxmlformats.org/drawingml/2006/main">
              <a:ext uri="{FF2B5EF4-FFF2-40B4-BE49-F238E27FC236}">
                <a16:creationId xmlns:a16="http://schemas.microsoft.com/office/drawing/2014/main" id="{1777BA15-9539-4F28-94B7-2C49D286BDA6}"/>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F2C14E"/>
                </a:solidFill>
                <a:latin typeface="Aptos"/>
                <a:ea typeface="Aptos"/>
                <a:cs typeface="Aptos"/>
              </a:defRPr>
            </a:pPr>
            <a:r>
              <a:rPr sz="1350" b="1">
                <a:solidFill>
                  <a:srgbClr val="F2C14E"/>
                </a:solidFill>
                <a:latin typeface="Aptos"/>
                <a:ea typeface="Aptos"/>
                <a:cs typeface="Aptos"/>
              </a:rPr>
              <a:t>Threat model</a:t>
            </a:r>
          </a:p>
        </p:txBody>
      </p:sp>
      <p:sp>
        <p:nvSpPr>
          <p:cNvPr id="6" name="">
            <a:extLst xmlns:a="http://schemas.openxmlformats.org/drawingml/2006/main">
              <a:ext uri="{FF2B5EF4-FFF2-40B4-BE49-F238E27FC236}">
                <a16:creationId xmlns:a16="http://schemas.microsoft.com/office/drawing/2014/main" id="{4D205F9F-708F-401D-A63C-6FC25F244992}"/>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5F7ED"/>
                </a:solidFill>
                <a:latin typeface="Aptos Display"/>
                <a:ea typeface="Aptos Display"/>
                <a:cs typeface="Aptos Display"/>
              </a:defRPr>
            </a:pPr>
            <a:r>
              <a:rPr sz="3300" b="1">
                <a:solidFill>
                  <a:srgbClr val="F5F7ED"/>
                </a:solidFill>
                <a:latin typeface="Aptos Display"/>
                <a:ea typeface="Aptos Display"/>
                <a:cs typeface="Aptos Display"/>
              </a:rPr>
              <a:t>A threat model asks what can go wrong</a:t>
            </a:r>
          </a:p>
        </p:txBody>
      </p:sp>
      <p:sp>
        <p:nvSpPr>
          <p:cNvPr id="7" name="">
            <a:extLst xmlns:a="http://schemas.openxmlformats.org/drawingml/2006/main">
              <a:ext uri="{FF2B5EF4-FFF2-40B4-BE49-F238E27FC236}">
                <a16:creationId xmlns:a16="http://schemas.microsoft.com/office/drawing/2014/main" id="{B234A199-AD42-46AD-A0C5-3F8799A9712E}"/>
              </a:ext>
            </a:extLst>
          </p:cNvPr>
          <p:cNvSpPr>
            <a:spLocks xmlns:a="http://schemas.openxmlformats.org/drawingml/2006/main" noGrp="1"/>
          </p:cNvSpPr>
          <p:nvPr/>
        </p:nvSpPr>
        <p:spPr>
          <a:xfrm xmlns:a="http://schemas.openxmlformats.org/drawingml/2006/main">
            <a:off x="876300" y="2333625"/>
            <a:ext cx="685800" cy="514350"/>
          </a:xfrm>
          <a:prstGeom xmlns:a="http://schemas.openxmlformats.org/drawingml/2006/main" prst="roundRect">
            <a:avLst>
              <a:gd name="adj" fmla="val 14815"/>
            </a:avLst>
          </a:prstGeom>
          <a:solidFill xmlns:a="http://schemas.openxmlformats.org/drawingml/2006/main">
            <a:srgbClr val="7BD389"/>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F440CF36-EABC-416F-8D61-B0AA5032244F}"/>
              </a:ext>
            </a:extLst>
          </p:cNvPr>
          <p:cNvSpPr>
            <a:spLocks xmlns:a="http://schemas.openxmlformats.org/drawingml/2006/main" noGrp="1"/>
          </p:cNvSpPr>
          <p:nvPr/>
        </p:nvSpPr>
        <p:spPr>
          <a:xfrm xmlns:a="http://schemas.openxmlformats.org/drawingml/2006/main">
            <a:off x="1028700" y="2400300"/>
            <a:ext cx="381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ctr">
              <a:defRPr sz="1800" b="1">
                <a:solidFill>
                  <a:srgbClr val="0F1D26"/>
                </a:solidFill>
                <a:latin typeface="Aptos"/>
                <a:ea typeface="Aptos"/>
                <a:cs typeface="Aptos"/>
              </a:defRPr>
            </a:pPr>
            <a:r>
              <a:rPr sz="1800" b="1">
                <a:solidFill>
                  <a:srgbClr val="0F1D26"/>
                </a:solidFill>
                <a:latin typeface="Aptos"/>
                <a:ea typeface="Aptos"/>
                <a:cs typeface="Aptos"/>
              </a:rPr>
              <a:t>1</a:t>
            </a:r>
          </a:p>
        </p:txBody>
      </p:sp>
      <p:sp>
        <p:nvSpPr>
          <p:cNvPr id="9" name="">
            <a:extLst xmlns:a="http://schemas.openxmlformats.org/drawingml/2006/main">
              <a:ext uri="{FF2B5EF4-FFF2-40B4-BE49-F238E27FC236}">
                <a16:creationId xmlns:a16="http://schemas.microsoft.com/office/drawing/2014/main" id="{D2CE7854-932A-4C68-8628-656119DBE4CE}"/>
              </a:ext>
            </a:extLst>
          </p:cNvPr>
          <p:cNvSpPr>
            <a:spLocks xmlns:a="http://schemas.openxmlformats.org/drawingml/2006/main" noGrp="1"/>
          </p:cNvSpPr>
          <p:nvPr/>
        </p:nvSpPr>
        <p:spPr>
          <a:xfrm xmlns:a="http://schemas.openxmlformats.org/drawingml/2006/main">
            <a:off x="1790700" y="2295525"/>
            <a:ext cx="81915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950" b="0">
                <a:solidFill>
                  <a:srgbClr val="F5F7ED"/>
                </a:solidFill>
                <a:latin typeface="Aptos"/>
                <a:ea typeface="Aptos"/>
                <a:cs typeface="Aptos"/>
              </a:defRPr>
            </a:pPr>
            <a:r>
              <a:rPr sz="1950" b="0">
                <a:solidFill>
                  <a:srgbClr val="F5F7ED"/>
                </a:solidFill>
                <a:latin typeface="Aptos"/>
                <a:ea typeface="Aptos"/>
                <a:cs typeface="Aptos"/>
              </a:rPr>
              <a:t>What needs protection?</a:t>
            </a:r>
          </a:p>
        </p:txBody>
      </p:sp>
      <p:sp>
        <p:nvSpPr>
          <p:cNvPr id="10" name="">
            <a:extLst xmlns:a="http://schemas.openxmlformats.org/drawingml/2006/main">
              <a:ext uri="{FF2B5EF4-FFF2-40B4-BE49-F238E27FC236}">
                <a16:creationId xmlns:a16="http://schemas.microsoft.com/office/drawing/2014/main" id="{39F9EEBD-B8E9-40D7-9E8A-A279257397B1}"/>
              </a:ext>
            </a:extLst>
          </p:cNvPr>
          <p:cNvSpPr>
            <a:spLocks xmlns:a="http://schemas.openxmlformats.org/drawingml/2006/main" noGrp="1"/>
          </p:cNvSpPr>
          <p:nvPr/>
        </p:nvSpPr>
        <p:spPr>
          <a:xfrm xmlns:a="http://schemas.openxmlformats.org/drawingml/2006/main">
            <a:off x="876300" y="3114675"/>
            <a:ext cx="685800" cy="514350"/>
          </a:xfrm>
          <a:prstGeom xmlns:a="http://schemas.openxmlformats.org/drawingml/2006/main" prst="roundRect">
            <a:avLst>
              <a:gd name="adj" fmla="val 14815"/>
            </a:avLst>
          </a:prstGeom>
          <a:solidFill xmlns:a="http://schemas.openxmlformats.org/drawingml/2006/main">
            <a:srgbClr val="7BD389"/>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88A24819-7CE7-491F-AB98-49C66733D01E}"/>
              </a:ext>
            </a:extLst>
          </p:cNvPr>
          <p:cNvSpPr>
            <a:spLocks xmlns:a="http://schemas.openxmlformats.org/drawingml/2006/main" noGrp="1"/>
          </p:cNvSpPr>
          <p:nvPr/>
        </p:nvSpPr>
        <p:spPr>
          <a:xfrm xmlns:a="http://schemas.openxmlformats.org/drawingml/2006/main">
            <a:off x="1028700" y="3181350"/>
            <a:ext cx="381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ctr">
              <a:defRPr sz="1800" b="1">
                <a:solidFill>
                  <a:srgbClr val="0F1D26"/>
                </a:solidFill>
                <a:latin typeface="Aptos"/>
                <a:ea typeface="Aptos"/>
                <a:cs typeface="Aptos"/>
              </a:defRPr>
            </a:pPr>
            <a:r>
              <a:rPr sz="1800" b="1">
                <a:solidFill>
                  <a:srgbClr val="0F1D26"/>
                </a:solidFill>
                <a:latin typeface="Aptos"/>
                <a:ea typeface="Aptos"/>
                <a:cs typeface="Aptos"/>
              </a:rPr>
              <a:t>2</a:t>
            </a:r>
          </a:p>
        </p:txBody>
      </p:sp>
      <p:sp>
        <p:nvSpPr>
          <p:cNvPr id="12" name="">
            <a:extLst xmlns:a="http://schemas.openxmlformats.org/drawingml/2006/main">
              <a:ext uri="{FF2B5EF4-FFF2-40B4-BE49-F238E27FC236}">
                <a16:creationId xmlns:a16="http://schemas.microsoft.com/office/drawing/2014/main" id="{CCEE8CC7-F284-4EFC-9A69-88214895A9F5}"/>
              </a:ext>
            </a:extLst>
          </p:cNvPr>
          <p:cNvSpPr>
            <a:spLocks xmlns:a="http://schemas.openxmlformats.org/drawingml/2006/main" noGrp="1"/>
          </p:cNvSpPr>
          <p:nvPr/>
        </p:nvSpPr>
        <p:spPr>
          <a:xfrm xmlns:a="http://schemas.openxmlformats.org/drawingml/2006/main">
            <a:off x="1790700" y="3076575"/>
            <a:ext cx="81915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950" b="0">
                <a:solidFill>
                  <a:srgbClr val="F5F7ED"/>
                </a:solidFill>
                <a:latin typeface="Aptos"/>
                <a:ea typeface="Aptos"/>
                <a:cs typeface="Aptos"/>
              </a:defRPr>
            </a:pPr>
            <a:r>
              <a:rPr sz="1950" b="0">
                <a:solidFill>
                  <a:srgbClr val="F5F7ED"/>
                </a:solidFill>
                <a:latin typeface="Aptos"/>
                <a:ea typeface="Aptos"/>
                <a:cs typeface="Aptos"/>
              </a:rPr>
              <a:t>Who or what could cause harm?</a:t>
            </a:r>
          </a:p>
        </p:txBody>
      </p:sp>
      <p:sp>
        <p:nvSpPr>
          <p:cNvPr id="13" name="">
            <a:extLst xmlns:a="http://schemas.openxmlformats.org/drawingml/2006/main">
              <a:ext uri="{FF2B5EF4-FFF2-40B4-BE49-F238E27FC236}">
                <a16:creationId xmlns:a16="http://schemas.microsoft.com/office/drawing/2014/main" id="{AD945E99-1255-4931-A1A8-3D0CC9FD3F01}"/>
              </a:ext>
            </a:extLst>
          </p:cNvPr>
          <p:cNvSpPr>
            <a:spLocks xmlns:a="http://schemas.openxmlformats.org/drawingml/2006/main" noGrp="1"/>
          </p:cNvSpPr>
          <p:nvPr/>
        </p:nvSpPr>
        <p:spPr>
          <a:xfrm xmlns:a="http://schemas.openxmlformats.org/drawingml/2006/main">
            <a:off x="876300" y="3895725"/>
            <a:ext cx="685800" cy="514350"/>
          </a:xfrm>
          <a:prstGeom xmlns:a="http://schemas.openxmlformats.org/drawingml/2006/main" prst="roundRect">
            <a:avLst>
              <a:gd name="adj" fmla="val 14815"/>
            </a:avLst>
          </a:prstGeom>
          <a:solidFill xmlns:a="http://schemas.openxmlformats.org/drawingml/2006/main">
            <a:srgbClr val="7BD389"/>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42807321-9193-4363-BB87-C264D4953479}"/>
              </a:ext>
            </a:extLst>
          </p:cNvPr>
          <p:cNvSpPr>
            <a:spLocks xmlns:a="http://schemas.openxmlformats.org/drawingml/2006/main" noGrp="1"/>
          </p:cNvSpPr>
          <p:nvPr/>
        </p:nvSpPr>
        <p:spPr>
          <a:xfrm xmlns:a="http://schemas.openxmlformats.org/drawingml/2006/main">
            <a:off x="1028700" y="3962400"/>
            <a:ext cx="381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ctr">
              <a:defRPr sz="1800" b="1">
                <a:solidFill>
                  <a:srgbClr val="0F1D26"/>
                </a:solidFill>
                <a:latin typeface="Aptos"/>
                <a:ea typeface="Aptos"/>
                <a:cs typeface="Aptos"/>
              </a:defRPr>
            </a:pPr>
            <a:r>
              <a:rPr sz="1800" b="1">
                <a:solidFill>
                  <a:srgbClr val="0F1D26"/>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01409EDE-0D34-41EF-9793-D3AD1149E404}"/>
              </a:ext>
            </a:extLst>
          </p:cNvPr>
          <p:cNvSpPr>
            <a:spLocks xmlns:a="http://schemas.openxmlformats.org/drawingml/2006/main" noGrp="1"/>
          </p:cNvSpPr>
          <p:nvPr/>
        </p:nvSpPr>
        <p:spPr>
          <a:xfrm xmlns:a="http://schemas.openxmlformats.org/drawingml/2006/main">
            <a:off x="1790700" y="3857625"/>
            <a:ext cx="81915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950" b="0">
                <a:solidFill>
                  <a:srgbClr val="F5F7ED"/>
                </a:solidFill>
                <a:latin typeface="Aptos"/>
                <a:ea typeface="Aptos"/>
                <a:cs typeface="Aptos"/>
              </a:defRPr>
            </a:pPr>
            <a:r>
              <a:rPr sz="1950" b="0">
                <a:solidFill>
                  <a:srgbClr val="F5F7ED"/>
                </a:solidFill>
                <a:latin typeface="Aptos"/>
                <a:ea typeface="Aptos"/>
                <a:cs typeface="Aptos"/>
              </a:rPr>
              <a:t>What weakness could be exploited?</a:t>
            </a:r>
          </a:p>
        </p:txBody>
      </p:sp>
      <p:sp>
        <p:nvSpPr>
          <p:cNvPr id="16" name="">
            <a:extLst xmlns:a="http://schemas.openxmlformats.org/drawingml/2006/main">
              <a:ext uri="{FF2B5EF4-FFF2-40B4-BE49-F238E27FC236}">
                <a16:creationId xmlns:a16="http://schemas.microsoft.com/office/drawing/2014/main" id="{5FC8B7D2-E7C3-46BD-BAA6-5D578B3C8C3B}"/>
              </a:ext>
            </a:extLst>
          </p:cNvPr>
          <p:cNvSpPr>
            <a:spLocks xmlns:a="http://schemas.openxmlformats.org/drawingml/2006/main" noGrp="1"/>
          </p:cNvSpPr>
          <p:nvPr/>
        </p:nvSpPr>
        <p:spPr>
          <a:xfrm xmlns:a="http://schemas.openxmlformats.org/drawingml/2006/main">
            <a:off x="876300" y="4676775"/>
            <a:ext cx="685800" cy="514350"/>
          </a:xfrm>
          <a:prstGeom xmlns:a="http://schemas.openxmlformats.org/drawingml/2006/main" prst="roundRect">
            <a:avLst>
              <a:gd name="adj" fmla="val 14815"/>
            </a:avLst>
          </a:prstGeom>
          <a:solidFill xmlns:a="http://schemas.openxmlformats.org/drawingml/2006/main">
            <a:srgbClr val="7BD389"/>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F0FE8F4B-B3D3-48CF-A9A2-436F2056AA50}"/>
              </a:ext>
            </a:extLst>
          </p:cNvPr>
          <p:cNvSpPr>
            <a:spLocks xmlns:a="http://schemas.openxmlformats.org/drawingml/2006/main" noGrp="1"/>
          </p:cNvSpPr>
          <p:nvPr/>
        </p:nvSpPr>
        <p:spPr>
          <a:xfrm xmlns:a="http://schemas.openxmlformats.org/drawingml/2006/main">
            <a:off x="1028700" y="4743450"/>
            <a:ext cx="381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ctr">
              <a:defRPr sz="1800" b="1">
                <a:solidFill>
                  <a:srgbClr val="0F1D26"/>
                </a:solidFill>
                <a:latin typeface="Aptos"/>
                <a:ea typeface="Aptos"/>
                <a:cs typeface="Aptos"/>
              </a:defRPr>
            </a:pPr>
            <a:r>
              <a:rPr sz="1800" b="1">
                <a:solidFill>
                  <a:srgbClr val="0F1D26"/>
                </a:solidFill>
                <a:latin typeface="Aptos"/>
                <a:ea typeface="Aptos"/>
                <a:cs typeface="Aptos"/>
              </a:rPr>
              <a:t>4</a:t>
            </a:r>
          </a:p>
        </p:txBody>
      </p:sp>
      <p:sp>
        <p:nvSpPr>
          <p:cNvPr id="18" name="">
            <a:extLst xmlns:a="http://schemas.openxmlformats.org/drawingml/2006/main">
              <a:ext uri="{FF2B5EF4-FFF2-40B4-BE49-F238E27FC236}">
                <a16:creationId xmlns:a16="http://schemas.microsoft.com/office/drawing/2014/main" id="{572CD418-D338-4AC4-A50E-87D5A7EC1693}"/>
              </a:ext>
            </a:extLst>
          </p:cNvPr>
          <p:cNvSpPr>
            <a:spLocks xmlns:a="http://schemas.openxmlformats.org/drawingml/2006/main" noGrp="1"/>
          </p:cNvSpPr>
          <p:nvPr/>
        </p:nvSpPr>
        <p:spPr>
          <a:xfrm xmlns:a="http://schemas.openxmlformats.org/drawingml/2006/main">
            <a:off x="1790700" y="4638675"/>
            <a:ext cx="81915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950" b="0">
                <a:solidFill>
                  <a:srgbClr val="F5F7ED"/>
                </a:solidFill>
                <a:latin typeface="Aptos"/>
                <a:ea typeface="Aptos"/>
                <a:cs typeface="Aptos"/>
              </a:defRPr>
            </a:pPr>
            <a:r>
              <a:rPr sz="1950" b="0">
                <a:solidFill>
                  <a:srgbClr val="F5F7ED"/>
                </a:solidFill>
                <a:latin typeface="Aptos"/>
                <a:ea typeface="Aptos"/>
                <a:cs typeface="Aptos"/>
              </a:rPr>
              <a:t>Who would be affected?</a:t>
            </a:r>
          </a:p>
        </p:txBody>
      </p:sp>
      <p:sp>
        <p:nvSpPr>
          <p:cNvPr id="19" name="">
            <a:extLst xmlns:a="http://schemas.openxmlformats.org/drawingml/2006/main">
              <a:ext uri="{FF2B5EF4-FFF2-40B4-BE49-F238E27FC236}">
                <a16:creationId xmlns:a16="http://schemas.microsoft.com/office/drawing/2014/main" id="{AE9B13CC-6009-466B-BE7B-EB2AF06E76C4}"/>
              </a:ext>
            </a:extLst>
          </p:cNvPr>
          <p:cNvSpPr>
            <a:spLocks xmlns:a="http://schemas.openxmlformats.org/drawingml/2006/main" noGrp="1"/>
          </p:cNvSpPr>
          <p:nvPr/>
        </p:nvSpPr>
        <p:spPr>
          <a:xfrm xmlns:a="http://schemas.openxmlformats.org/drawingml/2006/main">
            <a:off x="876300" y="5457825"/>
            <a:ext cx="685800" cy="514350"/>
          </a:xfrm>
          <a:prstGeom xmlns:a="http://schemas.openxmlformats.org/drawingml/2006/main" prst="roundRect">
            <a:avLst>
              <a:gd name="adj" fmla="val 14815"/>
            </a:avLst>
          </a:prstGeom>
          <a:solidFill xmlns:a="http://schemas.openxmlformats.org/drawingml/2006/main">
            <a:srgbClr val="7BD389"/>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6A571C39-B4E3-4937-B016-678D76753F16}"/>
              </a:ext>
            </a:extLst>
          </p:cNvPr>
          <p:cNvSpPr>
            <a:spLocks xmlns:a="http://schemas.openxmlformats.org/drawingml/2006/main" noGrp="1"/>
          </p:cNvSpPr>
          <p:nvPr/>
        </p:nvSpPr>
        <p:spPr>
          <a:xfrm xmlns:a="http://schemas.openxmlformats.org/drawingml/2006/main">
            <a:off x="1028700" y="5524500"/>
            <a:ext cx="381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ctr">
              <a:defRPr sz="1800" b="1">
                <a:solidFill>
                  <a:srgbClr val="0F1D26"/>
                </a:solidFill>
                <a:latin typeface="Aptos"/>
                <a:ea typeface="Aptos"/>
                <a:cs typeface="Aptos"/>
              </a:defRPr>
            </a:pPr>
            <a:r>
              <a:rPr sz="1800" b="1">
                <a:solidFill>
                  <a:srgbClr val="0F1D26"/>
                </a:solidFill>
                <a:latin typeface="Aptos"/>
                <a:ea typeface="Aptos"/>
                <a:cs typeface="Aptos"/>
              </a:rPr>
              <a:t>5</a:t>
            </a:r>
          </a:p>
        </p:txBody>
      </p:sp>
      <p:sp>
        <p:nvSpPr>
          <p:cNvPr id="21" name="">
            <a:extLst xmlns:a="http://schemas.openxmlformats.org/drawingml/2006/main">
              <a:ext uri="{FF2B5EF4-FFF2-40B4-BE49-F238E27FC236}">
                <a16:creationId xmlns:a16="http://schemas.microsoft.com/office/drawing/2014/main" id="{46EA4444-EAF8-4847-95F2-040994512A61}"/>
              </a:ext>
            </a:extLst>
          </p:cNvPr>
          <p:cNvSpPr>
            <a:spLocks xmlns:a="http://schemas.openxmlformats.org/drawingml/2006/main" noGrp="1"/>
          </p:cNvSpPr>
          <p:nvPr/>
        </p:nvSpPr>
        <p:spPr>
          <a:xfrm xmlns:a="http://schemas.openxmlformats.org/drawingml/2006/main">
            <a:off x="1790700" y="5419725"/>
            <a:ext cx="8191500" cy="647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950" b="0">
                <a:solidFill>
                  <a:srgbClr val="F5F7ED"/>
                </a:solidFill>
                <a:latin typeface="Aptos"/>
                <a:ea typeface="Aptos"/>
                <a:cs typeface="Aptos"/>
              </a:defRPr>
            </a:pPr>
            <a:r>
              <a:rPr sz="1950" b="0">
                <a:solidFill>
                  <a:srgbClr val="F5F7ED"/>
                </a:solidFill>
                <a:latin typeface="Aptos"/>
                <a:ea typeface="Aptos"/>
                <a:cs typeface="Aptos"/>
              </a:rPr>
              <a:t>What control could reduce the risk?</a:t>
            </a:r>
          </a:p>
        </p:txBody>
      </p:sp>
    </p:spTree>
    <p:extLst>
      <p:ext uri="{BB962C8B-B14F-4D97-AF65-F5344CB8AC3E}">
        <p14:creationId xmlns:p14="http://schemas.microsoft.com/office/powerpoint/2010/main" val="135735476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675DD2D-C002-4FE1-8C59-5408AF7FC3A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F1D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5B5C19CC-D09B-408F-8C83-2389C8A708B4}"/>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7BD389"/>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26E417C5-BE5F-47ED-A8FB-CBA2F27E7611}"/>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7BD389"/>
                </a:solidFill>
                <a:latin typeface="Aptos"/>
                <a:ea typeface="Aptos"/>
                <a:cs typeface="Aptos"/>
              </a:defRPr>
            </a:pPr>
            <a:r>
              <a:rPr sz="1200" b="1">
                <a:solidFill>
                  <a:srgbClr val="7BD389"/>
                </a:solidFill>
                <a:latin typeface="Aptos"/>
                <a:ea typeface="Aptos"/>
                <a:cs typeface="Aptos"/>
              </a:rPr>
              <a:t>Week 13 Day 2</a:t>
            </a:r>
          </a:p>
        </p:txBody>
      </p:sp>
      <p:sp>
        <p:nvSpPr>
          <p:cNvPr id="4" name="">
            <a:extLst xmlns:a="http://schemas.openxmlformats.org/drawingml/2006/main">
              <a:ext uri="{FF2B5EF4-FFF2-40B4-BE49-F238E27FC236}">
                <a16:creationId xmlns:a16="http://schemas.microsoft.com/office/drawing/2014/main" id="{9B6D2B03-A5DD-4F4C-91A7-6EF894C55A32}"/>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C9D7CF"/>
                </a:solidFill>
                <a:latin typeface="Aptos"/>
                <a:ea typeface="Aptos"/>
                <a:cs typeface="Aptos"/>
              </a:defRPr>
            </a:pPr>
            <a:r>
              <a:rPr sz="1200" b="0">
                <a:solidFill>
                  <a:srgbClr val="C9D7CF"/>
                </a:solidFill>
                <a:latin typeface="Aptos"/>
                <a:ea typeface="Aptos"/>
                <a:cs typeface="Aptos"/>
              </a:rPr>
              <a:t>6/13</a:t>
            </a:r>
          </a:p>
        </p:txBody>
      </p:sp>
      <p:sp>
        <p:nvSpPr>
          <p:cNvPr id="5" name="">
            <a:extLst xmlns:a="http://schemas.openxmlformats.org/drawingml/2006/main">
              <a:ext uri="{FF2B5EF4-FFF2-40B4-BE49-F238E27FC236}">
                <a16:creationId xmlns:a16="http://schemas.microsoft.com/office/drawing/2014/main" id="{2C6482B9-0528-4884-8E6C-FB5FE534D07B}"/>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F2C14E"/>
                </a:solidFill>
                <a:latin typeface="Aptos"/>
                <a:ea typeface="Aptos"/>
                <a:cs typeface="Aptos"/>
              </a:defRPr>
            </a:pPr>
            <a:r>
              <a:rPr sz="1350" b="1">
                <a:solidFill>
                  <a:srgbClr val="F2C14E"/>
                </a:solidFill>
                <a:latin typeface="Aptos"/>
                <a:ea typeface="Aptos"/>
                <a:cs typeface="Aptos"/>
              </a:rPr>
              <a:t>Coding path</a:t>
            </a:r>
          </a:p>
        </p:txBody>
      </p:sp>
      <p:sp>
        <p:nvSpPr>
          <p:cNvPr id="6" name="">
            <a:extLst xmlns:a="http://schemas.openxmlformats.org/drawingml/2006/main">
              <a:ext uri="{FF2B5EF4-FFF2-40B4-BE49-F238E27FC236}">
                <a16:creationId xmlns:a16="http://schemas.microsoft.com/office/drawing/2014/main" id="{8230B169-B499-426A-BD22-E3D57D367B96}"/>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5F7ED"/>
                </a:solidFill>
                <a:latin typeface="Aptos Display"/>
                <a:ea typeface="Aptos Display"/>
                <a:cs typeface="Aptos Display"/>
              </a:defRPr>
            </a:pPr>
            <a:r>
              <a:rPr sz="3300" b="1">
                <a:solidFill>
                  <a:srgbClr val="F5F7ED"/>
                </a:solidFill>
                <a:latin typeface="Aptos Display"/>
                <a:ea typeface="Aptos Display"/>
                <a:cs typeface="Aptos Display"/>
              </a:rPr>
              <a:t>For coding projects: your score is not a verdict</a:t>
            </a:r>
          </a:p>
        </p:txBody>
      </p:sp>
      <p:sp>
        <p:nvSpPr>
          <p:cNvPr id="7" name="">
            <a:extLst xmlns:a="http://schemas.openxmlformats.org/drawingml/2006/main">
              <a:ext uri="{FF2B5EF4-FFF2-40B4-BE49-F238E27FC236}">
                <a16:creationId xmlns:a16="http://schemas.microsoft.com/office/drawing/2014/main" id="{E39EF6CE-EAAA-48A6-907F-D1BD10CB35AC}"/>
              </a:ext>
            </a:extLst>
          </p:cNvPr>
          <p:cNvSpPr>
            <a:spLocks xmlns:a="http://schemas.openxmlformats.org/drawingml/2006/main" noGrp="1"/>
          </p:cNvSpPr>
          <p:nvPr/>
        </p:nvSpPr>
        <p:spPr>
          <a:xfrm xmlns:a="http://schemas.openxmlformats.org/drawingml/2006/main">
            <a:off x="838200" y="2381250"/>
            <a:ext cx="9906000" cy="2952750"/>
          </a:xfrm>
          <a:prstGeom xmlns:a="http://schemas.openxmlformats.org/drawingml/2006/main" prst="roundRect">
            <a:avLst>
              <a:gd name="adj" fmla="val 2581"/>
            </a:avLst>
          </a:prstGeom>
          <a:solidFill xmlns:a="http://schemas.openxmlformats.org/drawingml/2006/main">
            <a:srgbClr val="17313C"/>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E117C7D5-E4E7-4345-B4D3-B9AA994009CE}"/>
              </a:ext>
            </a:extLst>
          </p:cNvPr>
          <p:cNvSpPr>
            <a:spLocks xmlns:a="http://schemas.openxmlformats.org/drawingml/2006/main" noGrp="1"/>
          </p:cNvSpPr>
          <p:nvPr/>
        </p:nvSpPr>
        <p:spPr>
          <a:xfrm xmlns:a="http://schemas.openxmlformats.org/drawingml/2006/main">
            <a:off x="1104900" y="2628900"/>
            <a:ext cx="9372600" cy="2428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A score can rank systems for review</a:t>
            </a:r>
          </a:p>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A score cannot prove compromise by itself</a:t>
            </a:r>
          </a:p>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A chart can show a pattern</a:t>
            </a:r>
          </a:p>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A chart cannot explain every cause</a:t>
            </a:r>
          </a:p>
        </p:txBody>
      </p:sp>
    </p:spTree>
    <p:extLst>
      <p:ext uri="{BB962C8B-B14F-4D97-AF65-F5344CB8AC3E}">
        <p14:creationId xmlns:p14="http://schemas.microsoft.com/office/powerpoint/2010/main" val="90784037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F964CA4-1482-44C9-923C-1E709BBABA7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F1D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FB3A8E9-2785-45B7-8428-9EC3E5FB4532}"/>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7BD389"/>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B05B412E-A225-477B-94AA-46976FCB6B50}"/>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7BD389"/>
                </a:solidFill>
                <a:latin typeface="Aptos"/>
                <a:ea typeface="Aptos"/>
                <a:cs typeface="Aptos"/>
              </a:defRPr>
            </a:pPr>
            <a:r>
              <a:rPr sz="1200" b="1">
                <a:solidFill>
                  <a:srgbClr val="7BD389"/>
                </a:solidFill>
                <a:latin typeface="Aptos"/>
                <a:ea typeface="Aptos"/>
                <a:cs typeface="Aptos"/>
              </a:rPr>
              <a:t>Week 13 Day 2</a:t>
            </a:r>
          </a:p>
        </p:txBody>
      </p:sp>
      <p:sp>
        <p:nvSpPr>
          <p:cNvPr id="4" name="">
            <a:extLst xmlns:a="http://schemas.openxmlformats.org/drawingml/2006/main">
              <a:ext uri="{FF2B5EF4-FFF2-40B4-BE49-F238E27FC236}">
                <a16:creationId xmlns:a16="http://schemas.microsoft.com/office/drawing/2014/main" id="{C9D037C3-F036-4C5A-B22B-62E491E8E384}"/>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C9D7CF"/>
                </a:solidFill>
                <a:latin typeface="Aptos"/>
                <a:ea typeface="Aptos"/>
                <a:cs typeface="Aptos"/>
              </a:defRPr>
            </a:pPr>
            <a:r>
              <a:rPr sz="1200" b="0">
                <a:solidFill>
                  <a:srgbClr val="C9D7CF"/>
                </a:solidFill>
                <a:latin typeface="Aptos"/>
                <a:ea typeface="Aptos"/>
                <a:cs typeface="Aptos"/>
              </a:rPr>
              <a:t>7/13</a:t>
            </a:r>
          </a:p>
        </p:txBody>
      </p:sp>
      <p:sp>
        <p:nvSpPr>
          <p:cNvPr id="5" name="">
            <a:extLst xmlns:a="http://schemas.openxmlformats.org/drawingml/2006/main">
              <a:ext uri="{FF2B5EF4-FFF2-40B4-BE49-F238E27FC236}">
                <a16:creationId xmlns:a16="http://schemas.microsoft.com/office/drawing/2014/main" id="{04B7DA44-BD2A-4125-B4A9-1993639FEFD3}"/>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F2C14E"/>
                </a:solidFill>
                <a:latin typeface="Aptos"/>
                <a:ea typeface="Aptos"/>
                <a:cs typeface="Aptos"/>
              </a:defRPr>
            </a:pPr>
            <a:r>
              <a:rPr sz="1350" b="1">
                <a:solidFill>
                  <a:srgbClr val="F2C14E"/>
                </a:solidFill>
                <a:latin typeface="Aptos"/>
                <a:ea typeface="Aptos"/>
                <a:cs typeface="Aptos"/>
              </a:rPr>
              <a:t>Essay path</a:t>
            </a:r>
          </a:p>
        </p:txBody>
      </p:sp>
      <p:sp>
        <p:nvSpPr>
          <p:cNvPr id="6" name="">
            <a:extLst xmlns:a="http://schemas.openxmlformats.org/drawingml/2006/main">
              <a:ext uri="{FF2B5EF4-FFF2-40B4-BE49-F238E27FC236}">
                <a16:creationId xmlns:a16="http://schemas.microsoft.com/office/drawing/2014/main" id="{118CA133-7B43-4F59-A310-4F3B853C3921}"/>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5F7ED"/>
                </a:solidFill>
                <a:latin typeface="Aptos Display"/>
                <a:ea typeface="Aptos Display"/>
                <a:cs typeface="Aptos Display"/>
              </a:defRPr>
            </a:pPr>
            <a:r>
              <a:rPr sz="3300" b="1">
                <a:solidFill>
                  <a:srgbClr val="F5F7ED"/>
                </a:solidFill>
                <a:latin typeface="Aptos Display"/>
                <a:ea typeface="Aptos Display"/>
                <a:cs typeface="Aptos Display"/>
              </a:rPr>
              <a:t>For MLA essays: a strong claim still needs limits</a:t>
            </a:r>
          </a:p>
        </p:txBody>
      </p:sp>
      <p:sp>
        <p:nvSpPr>
          <p:cNvPr id="7" name="">
            <a:extLst xmlns:a="http://schemas.openxmlformats.org/drawingml/2006/main">
              <a:ext uri="{FF2B5EF4-FFF2-40B4-BE49-F238E27FC236}">
                <a16:creationId xmlns:a16="http://schemas.microsoft.com/office/drawing/2014/main" id="{59D8569E-E6C9-4264-8589-6E9C56F2A148}"/>
              </a:ext>
            </a:extLst>
          </p:cNvPr>
          <p:cNvSpPr>
            <a:spLocks xmlns:a="http://schemas.openxmlformats.org/drawingml/2006/main" noGrp="1"/>
          </p:cNvSpPr>
          <p:nvPr/>
        </p:nvSpPr>
        <p:spPr>
          <a:xfrm xmlns:a="http://schemas.openxmlformats.org/drawingml/2006/main">
            <a:off x="838200" y="2381250"/>
            <a:ext cx="9906000" cy="2952750"/>
          </a:xfrm>
          <a:prstGeom xmlns:a="http://schemas.openxmlformats.org/drawingml/2006/main" prst="roundRect">
            <a:avLst>
              <a:gd name="adj" fmla="val 2581"/>
            </a:avLst>
          </a:prstGeom>
          <a:solidFill xmlns:a="http://schemas.openxmlformats.org/drawingml/2006/main">
            <a:srgbClr val="17313C"/>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F43FB372-561E-4A4C-8591-A6DD406CD018}"/>
              </a:ext>
            </a:extLst>
          </p:cNvPr>
          <p:cNvSpPr>
            <a:spLocks xmlns:a="http://schemas.openxmlformats.org/drawingml/2006/main" noGrp="1"/>
          </p:cNvSpPr>
          <p:nvPr/>
        </p:nvSpPr>
        <p:spPr>
          <a:xfrm xmlns:a="http://schemas.openxmlformats.org/drawingml/2006/main">
            <a:off x="1104900" y="2628900"/>
            <a:ext cx="9372600" cy="2428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Do not turn one case into every case</a:t>
            </a:r>
          </a:p>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Do not treat one source as total proof</a:t>
            </a:r>
          </a:p>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Admit what your evidence cannot show</a:t>
            </a:r>
          </a:p>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Use limits to make the recommendation realistic</a:t>
            </a:r>
          </a:p>
        </p:txBody>
      </p:sp>
    </p:spTree>
    <p:extLst>
      <p:ext uri="{BB962C8B-B14F-4D97-AF65-F5344CB8AC3E}">
        <p14:creationId xmlns:p14="http://schemas.microsoft.com/office/powerpoint/2010/main" val="112441377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C30B2E4-01CA-4FCB-BB01-800B7092F1C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F1D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B066D8D-D1CA-4911-998E-C392E47097C6}"/>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7BD389"/>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E50BEE1-B55E-42B4-B865-688A0DFBCB07}"/>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7BD389"/>
                </a:solidFill>
                <a:latin typeface="Aptos"/>
                <a:ea typeface="Aptos"/>
                <a:cs typeface="Aptos"/>
              </a:defRPr>
            </a:pPr>
            <a:r>
              <a:rPr sz="1200" b="1">
                <a:solidFill>
                  <a:srgbClr val="7BD389"/>
                </a:solidFill>
                <a:latin typeface="Aptos"/>
                <a:ea typeface="Aptos"/>
                <a:cs typeface="Aptos"/>
              </a:rPr>
              <a:t>Week 13 Day 2</a:t>
            </a:r>
          </a:p>
        </p:txBody>
      </p:sp>
      <p:sp>
        <p:nvSpPr>
          <p:cNvPr id="4" name="">
            <a:extLst xmlns:a="http://schemas.openxmlformats.org/drawingml/2006/main">
              <a:ext uri="{FF2B5EF4-FFF2-40B4-BE49-F238E27FC236}">
                <a16:creationId xmlns:a16="http://schemas.microsoft.com/office/drawing/2014/main" id="{A7B2BEF6-7BE5-4BE8-B8AF-3936477564C3}"/>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C9D7CF"/>
                </a:solidFill>
                <a:latin typeface="Aptos"/>
                <a:ea typeface="Aptos"/>
                <a:cs typeface="Aptos"/>
              </a:defRPr>
            </a:pPr>
            <a:r>
              <a:rPr sz="1200" b="0">
                <a:solidFill>
                  <a:srgbClr val="C9D7CF"/>
                </a:solidFill>
                <a:latin typeface="Aptos"/>
                <a:ea typeface="Aptos"/>
                <a:cs typeface="Aptos"/>
              </a:rPr>
              <a:t>8/13</a:t>
            </a:r>
          </a:p>
        </p:txBody>
      </p:sp>
      <p:sp>
        <p:nvSpPr>
          <p:cNvPr id="5" name="">
            <a:extLst xmlns:a="http://schemas.openxmlformats.org/drawingml/2006/main">
              <a:ext uri="{FF2B5EF4-FFF2-40B4-BE49-F238E27FC236}">
                <a16:creationId xmlns:a16="http://schemas.microsoft.com/office/drawing/2014/main" id="{4F9343F3-A667-4AE4-95B3-CE790054CAC1}"/>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F2C14E"/>
                </a:solidFill>
                <a:latin typeface="Aptos"/>
                <a:ea typeface="Aptos"/>
                <a:cs typeface="Aptos"/>
              </a:defRPr>
            </a:pPr>
            <a:r>
              <a:rPr sz="1350" b="1">
                <a:solidFill>
                  <a:srgbClr val="F2C14E"/>
                </a:solidFill>
                <a:latin typeface="Aptos"/>
                <a:ea typeface="Aptos"/>
                <a:cs typeface="Aptos"/>
              </a:rPr>
              <a:t>Recommendations</a:t>
            </a:r>
          </a:p>
        </p:txBody>
      </p:sp>
      <p:sp>
        <p:nvSpPr>
          <p:cNvPr id="6" name="">
            <a:extLst xmlns:a="http://schemas.openxmlformats.org/drawingml/2006/main">
              <a:ext uri="{FF2B5EF4-FFF2-40B4-BE49-F238E27FC236}">
                <a16:creationId xmlns:a16="http://schemas.microsoft.com/office/drawing/2014/main" id="{35D25467-4D9C-4947-B72A-4E613A688BA0}"/>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5F7ED"/>
                </a:solidFill>
                <a:latin typeface="Aptos Display"/>
                <a:ea typeface="Aptos Display"/>
                <a:cs typeface="Aptos Display"/>
              </a:defRPr>
            </a:pPr>
            <a:r>
              <a:rPr sz="3300" b="1">
                <a:solidFill>
                  <a:srgbClr val="F5F7ED"/>
                </a:solidFill>
                <a:latin typeface="Aptos Display"/>
                <a:ea typeface="Aptos Display"/>
                <a:cs typeface="Aptos Display"/>
              </a:rPr>
              <a:t>A realistic recommendation has a specific action</a:t>
            </a:r>
          </a:p>
        </p:txBody>
      </p:sp>
      <p:sp>
        <p:nvSpPr>
          <p:cNvPr id="7" name="">
            <a:extLst xmlns:a="http://schemas.openxmlformats.org/drawingml/2006/main">
              <a:ext uri="{FF2B5EF4-FFF2-40B4-BE49-F238E27FC236}">
                <a16:creationId xmlns:a16="http://schemas.microsoft.com/office/drawing/2014/main" id="{C3EB4271-B108-48CE-987A-3DC9B67571C8}"/>
              </a:ext>
            </a:extLst>
          </p:cNvPr>
          <p:cNvSpPr>
            <a:spLocks xmlns:a="http://schemas.openxmlformats.org/drawingml/2006/main" noGrp="1"/>
          </p:cNvSpPr>
          <p:nvPr/>
        </p:nvSpPr>
        <p:spPr>
          <a:xfrm xmlns:a="http://schemas.openxmlformats.org/drawingml/2006/main">
            <a:off x="800100" y="2238375"/>
            <a:ext cx="4953000" cy="2095500"/>
          </a:xfrm>
          <a:prstGeom xmlns:a="http://schemas.openxmlformats.org/drawingml/2006/main" prst="rect">
            <a:avLst/>
          </a:prstGeom>
          <a:solidFill xmlns:a="http://schemas.openxmlformats.org/drawingml/2006/main">
            <a:srgbClr val="17313C"/>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550" b="1">
                <a:solidFill>
                  <a:srgbClr val="F5F7ED"/>
                </a:solidFill>
                <a:latin typeface="Aptos"/>
                <a:ea typeface="Aptos"/>
                <a:cs typeface="Aptos"/>
              </a:defRPr>
            </a:pPr>
            <a:r>
              <a:rPr sz="2550" b="1">
                <a:solidFill>
                  <a:srgbClr val="F5F7ED"/>
                </a:solidFill>
                <a:latin typeface="Aptos"/>
                <a:ea typeface="Aptos"/>
                <a:cs typeface="Aptos"/>
              </a:rPr>
              <a:t>Avoid: improve security.</a:t>
            </a:r>
          </a:p>
        </p:txBody>
      </p:sp>
      <p:sp>
        <p:nvSpPr>
          <p:cNvPr id="8" name="">
            <a:extLst xmlns:a="http://schemas.openxmlformats.org/drawingml/2006/main">
              <a:ext uri="{FF2B5EF4-FFF2-40B4-BE49-F238E27FC236}">
                <a16:creationId xmlns:a16="http://schemas.microsoft.com/office/drawing/2014/main" id="{3E54C3E1-40B0-4D3C-8168-9462ACE3EAFC}"/>
              </a:ext>
            </a:extLst>
          </p:cNvPr>
          <p:cNvSpPr>
            <a:spLocks xmlns:a="http://schemas.openxmlformats.org/drawingml/2006/main" noGrp="1"/>
          </p:cNvSpPr>
          <p:nvPr/>
        </p:nvSpPr>
        <p:spPr>
          <a:xfrm xmlns:a="http://schemas.openxmlformats.org/drawingml/2006/main">
            <a:off x="6286500" y="2381250"/>
            <a:ext cx="4953000" cy="2952750"/>
          </a:xfrm>
          <a:prstGeom xmlns:a="http://schemas.openxmlformats.org/drawingml/2006/main" prst="roundRect">
            <a:avLst>
              <a:gd name="adj" fmla="val 2581"/>
            </a:avLst>
          </a:prstGeom>
          <a:solidFill xmlns:a="http://schemas.openxmlformats.org/drawingml/2006/main">
            <a:srgbClr val="17313C"/>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C167B5B9-B716-4A72-B791-80E6FA301E09}"/>
              </a:ext>
            </a:extLst>
          </p:cNvPr>
          <p:cNvSpPr>
            <a:spLocks xmlns:a="http://schemas.openxmlformats.org/drawingml/2006/main" noGrp="1"/>
          </p:cNvSpPr>
          <p:nvPr/>
        </p:nvSpPr>
        <p:spPr>
          <a:xfrm xmlns:a="http://schemas.openxmlformats.org/drawingml/2006/main">
            <a:off x="6553200" y="2628900"/>
            <a:ext cx="4419600" cy="2428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Name the action</a:t>
            </a:r>
          </a:p>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Name the evidence</a:t>
            </a:r>
          </a:p>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Name the benefit</a:t>
            </a:r>
          </a:p>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Name the privacy or ethics tradeoff</a:t>
            </a:r>
          </a:p>
        </p:txBody>
      </p:sp>
    </p:spTree>
    <p:extLst>
      <p:ext uri="{BB962C8B-B14F-4D97-AF65-F5344CB8AC3E}">
        <p14:creationId xmlns:p14="http://schemas.microsoft.com/office/powerpoint/2010/main" val="204207746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41A7797-6ACE-41B2-A409-88DA8519052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F1D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75CD617-B3B2-4B56-ACAD-12C5D7A034BB}"/>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7BD389"/>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3EFD0686-D982-4182-A174-949CCEB3DA7A}"/>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7BD389"/>
                </a:solidFill>
                <a:latin typeface="Aptos"/>
                <a:ea typeface="Aptos"/>
                <a:cs typeface="Aptos"/>
              </a:defRPr>
            </a:pPr>
            <a:r>
              <a:rPr sz="1200" b="1">
                <a:solidFill>
                  <a:srgbClr val="7BD389"/>
                </a:solidFill>
                <a:latin typeface="Aptos"/>
                <a:ea typeface="Aptos"/>
                <a:cs typeface="Aptos"/>
              </a:rPr>
              <a:t>Week 13 Day 2</a:t>
            </a:r>
          </a:p>
        </p:txBody>
      </p:sp>
      <p:sp>
        <p:nvSpPr>
          <p:cNvPr id="4" name="">
            <a:extLst xmlns:a="http://schemas.openxmlformats.org/drawingml/2006/main">
              <a:ext uri="{FF2B5EF4-FFF2-40B4-BE49-F238E27FC236}">
                <a16:creationId xmlns:a16="http://schemas.microsoft.com/office/drawing/2014/main" id="{0489EA95-F055-4F3C-A6FC-A0102F669E37}"/>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C9D7CF"/>
                </a:solidFill>
                <a:latin typeface="Aptos"/>
                <a:ea typeface="Aptos"/>
                <a:cs typeface="Aptos"/>
              </a:defRPr>
            </a:pPr>
            <a:r>
              <a:rPr sz="1200" b="0">
                <a:solidFill>
                  <a:srgbClr val="C9D7CF"/>
                </a:solidFill>
                <a:latin typeface="Aptos"/>
                <a:ea typeface="Aptos"/>
                <a:cs typeface="Aptos"/>
              </a:rPr>
              <a:t>9/13</a:t>
            </a:r>
          </a:p>
        </p:txBody>
      </p:sp>
      <p:sp>
        <p:nvSpPr>
          <p:cNvPr id="5" name="">
            <a:extLst xmlns:a="http://schemas.openxmlformats.org/drawingml/2006/main">
              <a:ext uri="{FF2B5EF4-FFF2-40B4-BE49-F238E27FC236}">
                <a16:creationId xmlns:a16="http://schemas.microsoft.com/office/drawing/2014/main" id="{614FAC6B-7647-4B0F-A60D-0833868E94CC}"/>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F2C14E"/>
                </a:solidFill>
                <a:latin typeface="Aptos"/>
                <a:ea typeface="Aptos"/>
                <a:cs typeface="Aptos"/>
              </a:defRPr>
            </a:pPr>
            <a:r>
              <a:rPr sz="1350" b="1">
                <a:solidFill>
                  <a:srgbClr val="F2C14E"/>
                </a:solidFill>
                <a:latin typeface="Aptos"/>
                <a:ea typeface="Aptos"/>
                <a:cs typeface="Aptos"/>
              </a:rPr>
              <a:t>Limitation paragraph</a:t>
            </a:r>
          </a:p>
        </p:txBody>
      </p:sp>
      <p:sp>
        <p:nvSpPr>
          <p:cNvPr id="6" name="">
            <a:extLst xmlns:a="http://schemas.openxmlformats.org/drawingml/2006/main">
              <a:ext uri="{FF2B5EF4-FFF2-40B4-BE49-F238E27FC236}">
                <a16:creationId xmlns:a16="http://schemas.microsoft.com/office/drawing/2014/main" id="{88DF18D0-738B-4FB1-90F9-32DA47F05196}"/>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5F7ED"/>
                </a:solidFill>
                <a:latin typeface="Aptos Display"/>
                <a:ea typeface="Aptos Display"/>
                <a:cs typeface="Aptos Display"/>
              </a:defRPr>
            </a:pPr>
            <a:r>
              <a:rPr sz="3300" b="1">
                <a:solidFill>
                  <a:srgbClr val="F5F7ED"/>
                </a:solidFill>
                <a:latin typeface="Aptos Display"/>
                <a:ea typeface="Aptos Display"/>
                <a:cs typeface="Aptos Display"/>
              </a:rPr>
              <a:t>A limitation tells readers what not to assume</a:t>
            </a:r>
          </a:p>
        </p:txBody>
      </p:sp>
      <p:sp>
        <p:nvSpPr>
          <p:cNvPr id="7" name="">
            <a:extLst xmlns:a="http://schemas.openxmlformats.org/drawingml/2006/main">
              <a:ext uri="{FF2B5EF4-FFF2-40B4-BE49-F238E27FC236}">
                <a16:creationId xmlns:a16="http://schemas.microsoft.com/office/drawing/2014/main" id="{2427D22B-1A9B-427A-BAFD-78DA9F5F5585}"/>
              </a:ext>
            </a:extLst>
          </p:cNvPr>
          <p:cNvSpPr>
            <a:spLocks xmlns:a="http://schemas.openxmlformats.org/drawingml/2006/main" noGrp="1"/>
          </p:cNvSpPr>
          <p:nvPr/>
        </p:nvSpPr>
        <p:spPr>
          <a:xfrm xmlns:a="http://schemas.openxmlformats.org/drawingml/2006/main">
            <a:off x="838200" y="2381250"/>
            <a:ext cx="9906000" cy="2952750"/>
          </a:xfrm>
          <a:prstGeom xmlns:a="http://schemas.openxmlformats.org/drawingml/2006/main" prst="roundRect">
            <a:avLst>
              <a:gd name="adj" fmla="val 2581"/>
            </a:avLst>
          </a:prstGeom>
          <a:solidFill xmlns:a="http://schemas.openxmlformats.org/drawingml/2006/main">
            <a:srgbClr val="17313C"/>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16D3405B-5BCE-478E-B597-93921EA24369}"/>
              </a:ext>
            </a:extLst>
          </p:cNvPr>
          <p:cNvSpPr>
            <a:spLocks xmlns:a="http://schemas.openxmlformats.org/drawingml/2006/main" noGrp="1"/>
          </p:cNvSpPr>
          <p:nvPr/>
        </p:nvSpPr>
        <p:spPr>
          <a:xfrm xmlns:a="http://schemas.openxmlformats.org/drawingml/2006/main">
            <a:off x="1104900" y="2628900"/>
            <a:ext cx="9372600" cy="2428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What your project can show</a:t>
            </a:r>
          </a:p>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What your project cannot prove</a:t>
            </a:r>
          </a:p>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Why that limit matters</a:t>
            </a:r>
          </a:p>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How you avoid overclaiming</a:t>
            </a:r>
          </a:p>
        </p:txBody>
      </p:sp>
    </p:spTree>
    <p:extLst>
      <p:ext uri="{BB962C8B-B14F-4D97-AF65-F5344CB8AC3E}">
        <p14:creationId xmlns:p14="http://schemas.microsoft.com/office/powerpoint/2010/main" val="165465387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45F0204-770E-409A-AE04-EDB4F2BEB7F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F1D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579BBC6F-0875-45E6-A258-34DCA7CA81F1}"/>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7BD389"/>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0D0EAD80-AD21-43F9-B1F3-1541BE517383}"/>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7BD389"/>
                </a:solidFill>
                <a:latin typeface="Aptos"/>
                <a:ea typeface="Aptos"/>
                <a:cs typeface="Aptos"/>
              </a:defRPr>
            </a:pPr>
            <a:r>
              <a:rPr sz="1200" b="1">
                <a:solidFill>
                  <a:srgbClr val="7BD389"/>
                </a:solidFill>
                <a:latin typeface="Aptos"/>
                <a:ea typeface="Aptos"/>
                <a:cs typeface="Aptos"/>
              </a:rPr>
              <a:t>Week 13 Day 2</a:t>
            </a:r>
          </a:p>
        </p:txBody>
      </p:sp>
      <p:sp>
        <p:nvSpPr>
          <p:cNvPr id="4" name="">
            <a:extLst xmlns:a="http://schemas.openxmlformats.org/drawingml/2006/main">
              <a:ext uri="{FF2B5EF4-FFF2-40B4-BE49-F238E27FC236}">
                <a16:creationId xmlns:a16="http://schemas.microsoft.com/office/drawing/2014/main" id="{C3B0A8A9-5B75-4F4E-8F4A-103D72D332C0}"/>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C9D7CF"/>
                </a:solidFill>
                <a:latin typeface="Aptos"/>
                <a:ea typeface="Aptos"/>
                <a:cs typeface="Aptos"/>
              </a:defRPr>
            </a:pPr>
            <a:r>
              <a:rPr sz="1200" b="0">
                <a:solidFill>
                  <a:srgbClr val="C9D7CF"/>
                </a:solidFill>
                <a:latin typeface="Aptos"/>
                <a:ea typeface="Aptos"/>
                <a:cs typeface="Aptos"/>
              </a:rPr>
              <a:t>10/13</a:t>
            </a:r>
          </a:p>
        </p:txBody>
      </p:sp>
      <p:sp>
        <p:nvSpPr>
          <p:cNvPr id="5" name="">
            <a:extLst xmlns:a="http://schemas.openxmlformats.org/drawingml/2006/main">
              <a:ext uri="{FF2B5EF4-FFF2-40B4-BE49-F238E27FC236}">
                <a16:creationId xmlns:a16="http://schemas.microsoft.com/office/drawing/2014/main" id="{D6D35DB4-0ACC-4102-8DA6-7E880CF80D24}"/>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F2C14E"/>
                </a:solidFill>
                <a:latin typeface="Aptos"/>
                <a:ea typeface="Aptos"/>
                <a:cs typeface="Aptos"/>
              </a:defRPr>
            </a:pPr>
            <a:r>
              <a:rPr sz="1350" b="1">
                <a:solidFill>
                  <a:srgbClr val="F2C14E"/>
                </a:solidFill>
                <a:latin typeface="Aptos"/>
                <a:ea typeface="Aptos"/>
                <a:cs typeface="Aptos"/>
              </a:rPr>
              <a:t>Today's lab</a:t>
            </a:r>
          </a:p>
        </p:txBody>
      </p:sp>
      <p:sp>
        <p:nvSpPr>
          <p:cNvPr id="6" name="">
            <a:extLst xmlns:a="http://schemas.openxmlformats.org/drawingml/2006/main">
              <a:ext uri="{FF2B5EF4-FFF2-40B4-BE49-F238E27FC236}">
                <a16:creationId xmlns:a16="http://schemas.microsoft.com/office/drawing/2014/main" id="{456325EC-784B-4780-9B17-64F847A72647}"/>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5F7ED"/>
                </a:solidFill>
                <a:latin typeface="Aptos Display"/>
                <a:ea typeface="Aptos Display"/>
                <a:cs typeface="Aptos Display"/>
              </a:defRPr>
            </a:pPr>
            <a:r>
              <a:rPr sz="3300" b="1">
                <a:solidFill>
                  <a:srgbClr val="F5F7ED"/>
                </a:solidFill>
                <a:latin typeface="Aptos Display"/>
                <a:ea typeface="Aptos Display"/>
                <a:cs typeface="Aptos Display"/>
              </a:rPr>
              <a:t>Lab goal: write your threat model, limitation, and recommendation</a:t>
            </a:r>
          </a:p>
        </p:txBody>
      </p:sp>
      <p:sp>
        <p:nvSpPr>
          <p:cNvPr id="7" name="">
            <a:extLst xmlns:a="http://schemas.openxmlformats.org/drawingml/2006/main">
              <a:ext uri="{FF2B5EF4-FFF2-40B4-BE49-F238E27FC236}">
                <a16:creationId xmlns:a16="http://schemas.microsoft.com/office/drawing/2014/main" id="{9982517B-C201-48F0-9CE6-F09FFE37C390}"/>
              </a:ext>
            </a:extLst>
          </p:cNvPr>
          <p:cNvSpPr>
            <a:spLocks xmlns:a="http://schemas.openxmlformats.org/drawingml/2006/main" noGrp="1"/>
          </p:cNvSpPr>
          <p:nvPr/>
        </p:nvSpPr>
        <p:spPr>
          <a:xfrm xmlns:a="http://schemas.openxmlformats.org/drawingml/2006/main">
            <a:off x="838200" y="2381250"/>
            <a:ext cx="9906000" cy="2952750"/>
          </a:xfrm>
          <a:prstGeom xmlns:a="http://schemas.openxmlformats.org/drawingml/2006/main" prst="roundRect">
            <a:avLst>
              <a:gd name="adj" fmla="val 2581"/>
            </a:avLst>
          </a:prstGeom>
          <a:solidFill xmlns:a="http://schemas.openxmlformats.org/drawingml/2006/main">
            <a:srgbClr val="17313C"/>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FFA63B42-131E-4B1C-8EDE-CA6A152A5B6A}"/>
              </a:ext>
            </a:extLst>
          </p:cNvPr>
          <p:cNvSpPr>
            <a:spLocks xmlns:a="http://schemas.openxmlformats.org/drawingml/2006/main" noGrp="1"/>
          </p:cNvSpPr>
          <p:nvPr/>
        </p:nvSpPr>
        <p:spPr>
          <a:xfrm xmlns:a="http://schemas.openxmlformats.org/drawingml/2006/main">
            <a:off x="1104900" y="2628900"/>
            <a:ext cx="9372600" cy="2428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Restate your project question</a:t>
            </a:r>
          </a:p>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Complete a mini threat model</a:t>
            </a:r>
          </a:p>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Think through evasion and error</a:t>
            </a:r>
          </a:p>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Draft one limitation</a:t>
            </a:r>
          </a:p>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Draft one recommendation</a:t>
            </a:r>
          </a:p>
        </p:txBody>
      </p:sp>
    </p:spTree>
    <p:extLst>
      <p:ext uri="{BB962C8B-B14F-4D97-AF65-F5344CB8AC3E}">
        <p14:creationId xmlns:p14="http://schemas.microsoft.com/office/powerpoint/2010/main" val="195172322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05351D3-31B7-4E3D-B41A-9DCFF0FB172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F1D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811D35C-DD48-47E3-B1D1-12B3A1828ED6}"/>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7BD389"/>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A084C00-3261-42BE-AF01-2553512FAAF7}"/>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7BD389"/>
                </a:solidFill>
                <a:latin typeface="Aptos"/>
                <a:ea typeface="Aptos"/>
                <a:cs typeface="Aptos"/>
              </a:defRPr>
            </a:pPr>
            <a:r>
              <a:rPr sz="1200" b="1">
                <a:solidFill>
                  <a:srgbClr val="7BD389"/>
                </a:solidFill>
                <a:latin typeface="Aptos"/>
                <a:ea typeface="Aptos"/>
                <a:cs typeface="Aptos"/>
              </a:rPr>
              <a:t>Week 13 Day 2</a:t>
            </a:r>
          </a:p>
        </p:txBody>
      </p:sp>
      <p:sp>
        <p:nvSpPr>
          <p:cNvPr id="4" name="">
            <a:extLst xmlns:a="http://schemas.openxmlformats.org/drawingml/2006/main">
              <a:ext uri="{FF2B5EF4-FFF2-40B4-BE49-F238E27FC236}">
                <a16:creationId xmlns:a16="http://schemas.microsoft.com/office/drawing/2014/main" id="{5C5CD5A7-8DA0-4B78-8925-8D5AC04F22AA}"/>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C9D7CF"/>
                </a:solidFill>
                <a:latin typeface="Aptos"/>
                <a:ea typeface="Aptos"/>
                <a:cs typeface="Aptos"/>
              </a:defRPr>
            </a:pPr>
            <a:r>
              <a:rPr sz="1200" b="0">
                <a:solidFill>
                  <a:srgbClr val="C9D7CF"/>
                </a:solidFill>
                <a:latin typeface="Aptos"/>
                <a:ea typeface="Aptos"/>
                <a:cs typeface="Aptos"/>
              </a:rPr>
              <a:t>11/13</a:t>
            </a:r>
          </a:p>
        </p:txBody>
      </p:sp>
      <p:sp>
        <p:nvSpPr>
          <p:cNvPr id="5" name="">
            <a:extLst xmlns:a="http://schemas.openxmlformats.org/drawingml/2006/main">
              <a:ext uri="{FF2B5EF4-FFF2-40B4-BE49-F238E27FC236}">
                <a16:creationId xmlns:a16="http://schemas.microsoft.com/office/drawing/2014/main" id="{AB223349-798E-42D7-ADE7-13A47E06C53D}"/>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F2C14E"/>
                </a:solidFill>
                <a:latin typeface="Aptos"/>
                <a:ea typeface="Aptos"/>
                <a:cs typeface="Aptos"/>
              </a:defRPr>
            </a:pPr>
            <a:r>
              <a:rPr sz="1350" b="1">
                <a:solidFill>
                  <a:srgbClr val="F2C14E"/>
                </a:solidFill>
                <a:latin typeface="Aptos"/>
                <a:ea typeface="Aptos"/>
                <a:cs typeface="Aptos"/>
              </a:rPr>
              <a:t>Exit ticket</a:t>
            </a:r>
          </a:p>
        </p:txBody>
      </p:sp>
      <p:sp>
        <p:nvSpPr>
          <p:cNvPr id="6" name="">
            <a:extLst xmlns:a="http://schemas.openxmlformats.org/drawingml/2006/main">
              <a:ext uri="{FF2B5EF4-FFF2-40B4-BE49-F238E27FC236}">
                <a16:creationId xmlns:a16="http://schemas.microsoft.com/office/drawing/2014/main" id="{BE0D87AC-75DA-4EA3-A0FD-5265ADFB13FE}"/>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5F7ED"/>
                </a:solidFill>
                <a:latin typeface="Aptos Display"/>
                <a:ea typeface="Aptos Display"/>
                <a:cs typeface="Aptos Display"/>
              </a:defRPr>
            </a:pPr>
            <a:r>
              <a:rPr sz="3300" b="1">
                <a:solidFill>
                  <a:srgbClr val="F5F7ED"/>
                </a:solidFill>
                <a:latin typeface="Aptos Display"/>
                <a:ea typeface="Aptos Display"/>
                <a:cs typeface="Aptos Display"/>
              </a:rPr>
              <a:t>Before you leave: defend one recommendation</a:t>
            </a:r>
          </a:p>
        </p:txBody>
      </p:sp>
      <p:sp>
        <p:nvSpPr>
          <p:cNvPr id="7" name="">
            <a:extLst xmlns:a="http://schemas.openxmlformats.org/drawingml/2006/main">
              <a:ext uri="{FF2B5EF4-FFF2-40B4-BE49-F238E27FC236}">
                <a16:creationId xmlns:a16="http://schemas.microsoft.com/office/drawing/2014/main" id="{6B2C0703-49B6-4072-A459-B8F2CDDEC543}"/>
              </a:ext>
            </a:extLst>
          </p:cNvPr>
          <p:cNvSpPr>
            <a:spLocks xmlns:a="http://schemas.openxmlformats.org/drawingml/2006/main" noGrp="1"/>
          </p:cNvSpPr>
          <p:nvPr/>
        </p:nvSpPr>
        <p:spPr>
          <a:xfrm xmlns:a="http://schemas.openxmlformats.org/drawingml/2006/main">
            <a:off x="800100" y="2238375"/>
            <a:ext cx="4953000" cy="2095500"/>
          </a:xfrm>
          <a:prstGeom xmlns:a="http://schemas.openxmlformats.org/drawingml/2006/main" prst="rect">
            <a:avLst/>
          </a:prstGeom>
          <a:solidFill xmlns:a="http://schemas.openxmlformats.org/drawingml/2006/main">
            <a:srgbClr val="17313C"/>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550" b="1">
                <a:solidFill>
                  <a:srgbClr val="F5F7ED"/>
                </a:solidFill>
                <a:latin typeface="Aptos"/>
                <a:ea typeface="Aptos"/>
                <a:cs typeface="Aptos"/>
              </a:defRPr>
            </a:pPr>
            <a:r>
              <a:rPr sz="2550" b="1">
                <a:solidFill>
                  <a:srgbClr val="F5F7ED"/>
                </a:solidFill>
                <a:latin typeface="Aptos"/>
                <a:ea typeface="Aptos"/>
                <a:cs typeface="Aptos"/>
              </a:rPr>
              <a:t>What can I recommend without overclaiming?</a:t>
            </a:r>
          </a:p>
        </p:txBody>
      </p:sp>
      <p:sp>
        <p:nvSpPr>
          <p:cNvPr id="8" name="">
            <a:extLst xmlns:a="http://schemas.openxmlformats.org/drawingml/2006/main">
              <a:ext uri="{FF2B5EF4-FFF2-40B4-BE49-F238E27FC236}">
                <a16:creationId xmlns:a16="http://schemas.microsoft.com/office/drawing/2014/main" id="{FFF747A0-D710-4B06-A47E-8D3EB1DDBE98}"/>
              </a:ext>
            </a:extLst>
          </p:cNvPr>
          <p:cNvSpPr>
            <a:spLocks xmlns:a="http://schemas.openxmlformats.org/drawingml/2006/main" noGrp="1"/>
          </p:cNvSpPr>
          <p:nvPr/>
        </p:nvSpPr>
        <p:spPr>
          <a:xfrm xmlns:a="http://schemas.openxmlformats.org/drawingml/2006/main">
            <a:off x="6286500" y="2381250"/>
            <a:ext cx="4953000" cy="2952750"/>
          </a:xfrm>
          <a:prstGeom xmlns:a="http://schemas.openxmlformats.org/drawingml/2006/main" prst="roundRect">
            <a:avLst>
              <a:gd name="adj" fmla="val 2581"/>
            </a:avLst>
          </a:prstGeom>
          <a:solidFill xmlns:a="http://schemas.openxmlformats.org/drawingml/2006/main">
            <a:srgbClr val="17313C"/>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94E2EBCD-0FB1-4384-B538-7C4B1BF8C9AF}"/>
              </a:ext>
            </a:extLst>
          </p:cNvPr>
          <p:cNvSpPr>
            <a:spLocks xmlns:a="http://schemas.openxmlformats.org/drawingml/2006/main" noGrp="1"/>
          </p:cNvSpPr>
          <p:nvPr/>
        </p:nvSpPr>
        <p:spPr>
          <a:xfrm xmlns:a="http://schemas.openxmlformats.org/drawingml/2006/main">
            <a:off x="6553200" y="2628900"/>
            <a:ext cx="4419600" cy="2428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One recommendation</a:t>
            </a:r>
          </a:p>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One evidence point</a:t>
            </a:r>
          </a:p>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One limitation</a:t>
            </a:r>
          </a:p>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One privacy or ethics tradeoff</a:t>
            </a:r>
          </a:p>
        </p:txBody>
      </p:sp>
    </p:spTree>
    <p:extLst>
      <p:ext uri="{BB962C8B-B14F-4D97-AF65-F5344CB8AC3E}">
        <p14:creationId xmlns:p14="http://schemas.microsoft.com/office/powerpoint/2010/main" val="174255894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6CD4E8C-ECEF-4EF6-94B3-1A255A7F2D2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F1D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392716B-77FD-464D-B3BD-6691C8D9AB2F}"/>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7BD389"/>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64553CDA-BDCA-4E98-952D-0CE1C13B62FC}"/>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7BD389"/>
                </a:solidFill>
                <a:latin typeface="Aptos"/>
                <a:ea typeface="Aptos"/>
                <a:cs typeface="Aptos"/>
              </a:defRPr>
            </a:pPr>
            <a:r>
              <a:rPr sz="1200" b="1">
                <a:solidFill>
                  <a:srgbClr val="7BD389"/>
                </a:solidFill>
                <a:latin typeface="Aptos"/>
                <a:ea typeface="Aptos"/>
                <a:cs typeface="Aptos"/>
              </a:rPr>
              <a:t>Week 13 Day 2</a:t>
            </a:r>
          </a:p>
        </p:txBody>
      </p:sp>
      <p:sp>
        <p:nvSpPr>
          <p:cNvPr id="4" name="">
            <a:extLst xmlns:a="http://schemas.openxmlformats.org/drawingml/2006/main">
              <a:ext uri="{FF2B5EF4-FFF2-40B4-BE49-F238E27FC236}">
                <a16:creationId xmlns:a16="http://schemas.microsoft.com/office/drawing/2014/main" id="{95E10B32-9B50-4DC2-A8BB-0A4FB1325115}"/>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C9D7CF"/>
                </a:solidFill>
                <a:latin typeface="Aptos"/>
                <a:ea typeface="Aptos"/>
                <a:cs typeface="Aptos"/>
              </a:defRPr>
            </a:pPr>
            <a:r>
              <a:rPr sz="1200" b="0">
                <a:solidFill>
                  <a:srgbClr val="C9D7CF"/>
                </a:solidFill>
                <a:latin typeface="Aptos"/>
                <a:ea typeface="Aptos"/>
                <a:cs typeface="Aptos"/>
              </a:rPr>
              <a:t>12/13</a:t>
            </a:r>
          </a:p>
        </p:txBody>
      </p:sp>
      <p:sp>
        <p:nvSpPr>
          <p:cNvPr id="5" name="">
            <a:extLst xmlns:a="http://schemas.openxmlformats.org/drawingml/2006/main">
              <a:ext uri="{FF2B5EF4-FFF2-40B4-BE49-F238E27FC236}">
                <a16:creationId xmlns:a16="http://schemas.microsoft.com/office/drawing/2014/main" id="{BD3AE473-9474-41EF-9483-6465A2C20151}"/>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F2C14E"/>
                </a:solidFill>
                <a:latin typeface="Aptos"/>
                <a:ea typeface="Aptos"/>
                <a:cs typeface="Aptos"/>
              </a:defRPr>
            </a:pPr>
            <a:r>
              <a:rPr sz="1350" b="1">
                <a:solidFill>
                  <a:srgbClr val="F2C14E"/>
                </a:solidFill>
                <a:latin typeface="Aptos"/>
                <a:ea typeface="Aptos"/>
                <a:cs typeface="Aptos"/>
              </a:rPr>
              <a:t>Source anchors</a:t>
            </a:r>
          </a:p>
        </p:txBody>
      </p:sp>
      <p:sp>
        <p:nvSpPr>
          <p:cNvPr id="6" name="">
            <a:extLst xmlns:a="http://schemas.openxmlformats.org/drawingml/2006/main">
              <a:ext uri="{FF2B5EF4-FFF2-40B4-BE49-F238E27FC236}">
                <a16:creationId xmlns:a16="http://schemas.microsoft.com/office/drawing/2014/main" id="{B2A78DA1-C8A2-41EC-AF39-908C7F8CCC9E}"/>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5F7ED"/>
                </a:solidFill>
                <a:latin typeface="Aptos Display"/>
                <a:ea typeface="Aptos Display"/>
                <a:cs typeface="Aptos Display"/>
              </a:defRPr>
            </a:pPr>
            <a:r>
              <a:rPr sz="3300" b="1">
                <a:solidFill>
                  <a:srgbClr val="F5F7ED"/>
                </a:solidFill>
                <a:latin typeface="Aptos Display"/>
                <a:ea typeface="Aptos Display"/>
                <a:cs typeface="Aptos Display"/>
              </a:rPr>
              <a:t>How this connects to security practice</a:t>
            </a:r>
          </a:p>
        </p:txBody>
      </p:sp>
      <p:sp>
        <p:nvSpPr>
          <p:cNvPr id="7" name="">
            <a:extLst xmlns:a="http://schemas.openxmlformats.org/drawingml/2006/main">
              <a:ext uri="{FF2B5EF4-FFF2-40B4-BE49-F238E27FC236}">
                <a16:creationId xmlns:a16="http://schemas.microsoft.com/office/drawing/2014/main" id="{A17452F7-8C67-4904-9DB3-DB75F5262CD8}"/>
              </a:ext>
            </a:extLst>
          </p:cNvPr>
          <p:cNvSpPr>
            <a:spLocks xmlns:a="http://schemas.openxmlformats.org/drawingml/2006/main" noGrp="1"/>
          </p:cNvSpPr>
          <p:nvPr/>
        </p:nvSpPr>
        <p:spPr>
          <a:xfrm xmlns:a="http://schemas.openxmlformats.org/drawingml/2006/main">
            <a:off x="838200" y="2381250"/>
            <a:ext cx="9906000" cy="2952750"/>
          </a:xfrm>
          <a:prstGeom xmlns:a="http://schemas.openxmlformats.org/drawingml/2006/main" prst="roundRect">
            <a:avLst>
              <a:gd name="adj" fmla="val 2581"/>
            </a:avLst>
          </a:prstGeom>
          <a:solidFill xmlns:a="http://schemas.openxmlformats.org/drawingml/2006/main">
            <a:srgbClr val="17313C"/>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2D5F82BF-10CE-479B-9560-4EED73EAF847}"/>
              </a:ext>
            </a:extLst>
          </p:cNvPr>
          <p:cNvSpPr>
            <a:spLocks xmlns:a="http://schemas.openxmlformats.org/drawingml/2006/main" noGrp="1"/>
          </p:cNvSpPr>
          <p:nvPr/>
        </p:nvSpPr>
        <p:spPr>
          <a:xfrm xmlns:a="http://schemas.openxmlformats.org/drawingml/2006/main">
            <a:off x="1104900" y="2628900"/>
            <a:ext cx="9372600" cy="2428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NIST describes adversarial machine learning attacks and mitigations</a:t>
            </a:r>
          </a:p>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OWASP names data poisoning as a machine learning security risk</a:t>
            </a:r>
          </a:p>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Risk management means naming limits, not promising perfection</a:t>
            </a:r>
          </a:p>
        </p:txBody>
      </p:sp>
    </p:spTree>
    <p:extLst>
      <p:ext uri="{BB962C8B-B14F-4D97-AF65-F5344CB8AC3E}">
        <p14:creationId xmlns:p14="http://schemas.microsoft.com/office/powerpoint/2010/main" val="89876538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CCDB049-6C09-448A-9CE2-4D63B447D7F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F1D26"/>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1A1E5F1-8F0D-444F-9E8A-B7611971899D}"/>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7BD389"/>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D54D333F-2BE3-4D80-B4E6-5763AFE3533C}"/>
              </a:ext>
            </a:extLst>
          </p:cNvPr>
          <p:cNvSpPr>
            <a:spLocks xmlns:a="http://schemas.openxmlformats.org/drawingml/2006/main" noGrp="1"/>
          </p:cNvSpPr>
          <p:nvPr/>
        </p:nvSpPr>
        <p:spPr>
          <a:xfrm xmlns:a="http://schemas.openxmlformats.org/drawingml/2006/main">
            <a:off x="457200" y="247650"/>
            <a:ext cx="4953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200" b="1">
                <a:solidFill>
                  <a:srgbClr val="7BD389"/>
                </a:solidFill>
                <a:latin typeface="Aptos"/>
                <a:ea typeface="Aptos"/>
                <a:cs typeface="Aptos"/>
              </a:defRPr>
            </a:pPr>
            <a:r>
              <a:rPr sz="1200" b="1">
                <a:solidFill>
                  <a:srgbClr val="7BD389"/>
                </a:solidFill>
                <a:latin typeface="Aptos"/>
                <a:ea typeface="Aptos"/>
                <a:cs typeface="Aptos"/>
              </a:rPr>
              <a:t>Week 13 Day 2</a:t>
            </a:r>
          </a:p>
        </p:txBody>
      </p:sp>
      <p:sp>
        <p:nvSpPr>
          <p:cNvPr id="4" name="">
            <a:extLst xmlns:a="http://schemas.openxmlformats.org/drawingml/2006/main">
              <a:ext uri="{FF2B5EF4-FFF2-40B4-BE49-F238E27FC236}">
                <a16:creationId xmlns:a16="http://schemas.microsoft.com/office/drawing/2014/main" id="{420E1C46-CF0C-4D8D-9CD6-C2696FE14FAE}"/>
              </a:ext>
            </a:extLst>
          </p:cNvPr>
          <p:cNvSpPr>
            <a:spLocks xmlns:a="http://schemas.openxmlformats.org/drawingml/2006/main" noGrp="1"/>
          </p:cNvSpPr>
          <p:nvPr/>
        </p:nvSpPr>
        <p:spPr>
          <a:xfrm xmlns:a="http://schemas.openxmlformats.org/drawingml/2006/main">
            <a:off x="10810875" y="247650"/>
            <a:ext cx="95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r">
              <a:defRPr sz="1200" b="0">
                <a:solidFill>
                  <a:srgbClr val="C9D7CF"/>
                </a:solidFill>
                <a:latin typeface="Aptos"/>
                <a:ea typeface="Aptos"/>
                <a:cs typeface="Aptos"/>
              </a:defRPr>
            </a:pPr>
            <a:r>
              <a:rPr sz="1200" b="0">
                <a:solidFill>
                  <a:srgbClr val="C9D7CF"/>
                </a:solidFill>
                <a:latin typeface="Aptos"/>
                <a:ea typeface="Aptos"/>
                <a:cs typeface="Aptos"/>
              </a:rPr>
              <a:t>13/13</a:t>
            </a:r>
          </a:p>
        </p:txBody>
      </p:sp>
      <p:sp>
        <p:nvSpPr>
          <p:cNvPr id="5" name="">
            <a:extLst xmlns:a="http://schemas.openxmlformats.org/drawingml/2006/main">
              <a:ext uri="{FF2B5EF4-FFF2-40B4-BE49-F238E27FC236}">
                <a16:creationId xmlns:a16="http://schemas.microsoft.com/office/drawing/2014/main" id="{F7FEA358-0F80-4F24-BED7-B9AC4ACA8861}"/>
              </a:ext>
            </a:extLst>
          </p:cNvPr>
          <p:cNvSpPr>
            <a:spLocks xmlns:a="http://schemas.openxmlformats.org/drawingml/2006/main" noGrp="1"/>
          </p:cNvSpPr>
          <p:nvPr/>
        </p:nvSpPr>
        <p:spPr>
          <a:xfrm xmlns:a="http://schemas.openxmlformats.org/drawingml/2006/main">
            <a:off x="666750" y="762000"/>
            <a:ext cx="6858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1350" b="1">
                <a:solidFill>
                  <a:srgbClr val="F2C14E"/>
                </a:solidFill>
                <a:latin typeface="Aptos"/>
                <a:ea typeface="Aptos"/>
                <a:cs typeface="Aptos"/>
              </a:defRPr>
            </a:pPr>
            <a:r>
              <a:rPr sz="1350" b="1">
                <a:solidFill>
                  <a:srgbClr val="F2C14E"/>
                </a:solidFill>
                <a:latin typeface="Aptos"/>
                <a:ea typeface="Aptos"/>
                <a:cs typeface="Aptos"/>
              </a:rPr>
              <a:t>Work time</a:t>
            </a:r>
          </a:p>
        </p:txBody>
      </p:sp>
      <p:sp>
        <p:nvSpPr>
          <p:cNvPr id="6" name="">
            <a:extLst xmlns:a="http://schemas.openxmlformats.org/drawingml/2006/main">
              <a:ext uri="{FF2B5EF4-FFF2-40B4-BE49-F238E27FC236}">
                <a16:creationId xmlns:a16="http://schemas.microsoft.com/office/drawing/2014/main" id="{8E719814-D01D-437C-91B4-47748BA65CD9}"/>
              </a:ext>
            </a:extLst>
          </p:cNvPr>
          <p:cNvSpPr>
            <a:spLocks xmlns:a="http://schemas.openxmlformats.org/drawingml/2006/main" noGrp="1"/>
          </p:cNvSpPr>
          <p:nvPr/>
        </p:nvSpPr>
        <p:spPr>
          <a:xfrm xmlns:a="http://schemas.openxmlformats.org/drawingml/2006/main">
            <a:off x="666750" y="1123950"/>
            <a:ext cx="1009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3300" b="1">
                <a:solidFill>
                  <a:srgbClr val="F5F7ED"/>
                </a:solidFill>
                <a:latin typeface="Aptos Display"/>
                <a:ea typeface="Aptos Display"/>
                <a:cs typeface="Aptos Display"/>
              </a:defRPr>
            </a:pPr>
            <a:r>
              <a:rPr sz="3300" b="1">
                <a:solidFill>
                  <a:srgbClr val="F5F7ED"/>
                </a:solidFill>
                <a:latin typeface="Aptos Display"/>
                <a:ea typeface="Aptos Display"/>
                <a:cs typeface="Aptos Display"/>
              </a:rPr>
              <a:t>Use the rest of class to strengthen your final project</a:t>
            </a:r>
          </a:p>
        </p:txBody>
      </p:sp>
      <p:sp>
        <p:nvSpPr>
          <p:cNvPr id="7" name="">
            <a:extLst xmlns:a="http://schemas.openxmlformats.org/drawingml/2006/main">
              <a:ext uri="{FF2B5EF4-FFF2-40B4-BE49-F238E27FC236}">
                <a16:creationId xmlns:a16="http://schemas.microsoft.com/office/drawing/2014/main" id="{32ECA1C8-0E24-429E-92AC-6AB0DEB368BC}"/>
              </a:ext>
            </a:extLst>
          </p:cNvPr>
          <p:cNvSpPr>
            <a:spLocks xmlns:a="http://schemas.openxmlformats.org/drawingml/2006/main" noGrp="1"/>
          </p:cNvSpPr>
          <p:nvPr/>
        </p:nvSpPr>
        <p:spPr>
          <a:xfrm xmlns:a="http://schemas.openxmlformats.org/drawingml/2006/main">
            <a:off x="838200" y="2381250"/>
            <a:ext cx="9906000" cy="2952750"/>
          </a:xfrm>
          <a:prstGeom xmlns:a="http://schemas.openxmlformats.org/drawingml/2006/main" prst="roundRect">
            <a:avLst>
              <a:gd name="adj" fmla="val 2581"/>
            </a:avLst>
          </a:prstGeom>
          <a:solidFill xmlns:a="http://schemas.openxmlformats.org/drawingml/2006/main">
            <a:srgbClr val="17313C"/>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4C8B814E-DFF4-43F9-9B72-B568B41DF4DB}"/>
              </a:ext>
            </a:extLst>
          </p:cNvPr>
          <p:cNvSpPr>
            <a:spLocks xmlns:a="http://schemas.openxmlformats.org/drawingml/2006/main" noGrp="1"/>
          </p:cNvSpPr>
          <p:nvPr/>
        </p:nvSpPr>
        <p:spPr>
          <a:xfrm xmlns:a="http://schemas.openxmlformats.org/drawingml/2006/main">
            <a:off x="1104900" y="2628900"/>
            <a:ext cx="9372600" cy="2428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114300" tIns="76200" rIns="114300" bIns="76200" anchor="t"/>
          <a:lstStyle xmlns:a="http://schemas.openxmlformats.org/drawingml/2006/main"/>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Open the Day 2 lab handout</a:t>
            </a:r>
          </a:p>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Write the limitation before you forget it</a:t>
            </a:r>
          </a:p>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Make the recommendation specific</a:t>
            </a:r>
          </a:p>
          <a:p xmlns:a="http://schemas.openxmlformats.org/drawingml/2006/main">
            <a:pPr algn="l">
              <a:defRPr sz="2100" b="0">
                <a:solidFill>
                  <a:srgbClr val="F5F7ED"/>
                </a:solidFill>
                <a:latin typeface="Aptos"/>
                <a:ea typeface="Aptos"/>
                <a:cs typeface="Aptos"/>
              </a:defRPr>
            </a:pPr>
            <a:r>
              <a:rPr sz="2100" b="0">
                <a:solidFill>
                  <a:srgbClr val="F5F7ED"/>
                </a:solidFill>
                <a:latin typeface="Aptos"/>
                <a:ea typeface="Aptos"/>
                <a:cs typeface="Aptos"/>
              </a:rPr>
              <a:t>- Submit by the end of class</a:t>
            </a:r>
          </a:p>
        </p:txBody>
      </p:sp>
    </p:spTree>
    <p:extLst>
      <p:ext uri="{BB962C8B-B14F-4D97-AF65-F5344CB8AC3E}">
        <p14:creationId xmlns:p14="http://schemas.microsoft.com/office/powerpoint/2010/main" val="203729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2026-05-04T02:06:53.8330000Z</dcterms:created>
  <dcterms:modified xsi:type="dcterms:W3CDTF">2026-05-04T02:06:53.8330000Z</dcterms:modified>
</coreProperties>
</file>