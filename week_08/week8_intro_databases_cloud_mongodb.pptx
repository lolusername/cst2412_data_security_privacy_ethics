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Today we are starting a new unit on databases and cloud databases. The most important idea for this lesson is that the same facts can be stored in more than one valid way. We will begin with plain CSV files because they let us see the structure clearly. Then we will compare three representations of the same information: a flat table, a relational design, and a MongoDB-style document. By the end of class, I want you to be able to explain not only what these models look like, but why a particular use case might justify one choice over another.</a:t>
            </a:r>
          </a:p>
          <a:p/>
          <a:p>
            <a:r>
              <a:t>Mention:</a:t>
            </a:r>
          </a:p>
          <a:p>
            <a:r>
              <a:t>- State the big idea before naming tools</a:t>
            </a:r>
          </a:p>
          <a:p>
            <a:r>
              <a:t>- Tell students the lesson moves from CSV to relational to MongoDB</a:t>
            </a:r>
          </a:p>
          <a:p>
            <a:r>
              <a:t>- Frame the class around choosing a model for a use case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 table stores one kind of thing. A row is one record, and a column is one attribute about that record. If I say user_id, full_name, and role, those are column names. If I say U1001, Ana Rivera, and student, that is one row. A primary key is the column that uniquely identifies a row, and a foreign key is a column that points to a row in another table. We are starting with CSV files because a CSV is simple. It strips away the interface and lets us focus on the logic of the data model itself.</a:t>
            </a:r>
          </a:p>
          <a:p/>
          <a:p>
            <a:r>
              <a:t>Mention:</a:t>
            </a:r>
          </a:p>
          <a:p>
            <a:r>
              <a:t>- Define row, column, primary key, and foreign key clearly</a:t>
            </a:r>
          </a:p>
          <a:p>
            <a:r>
              <a:t>- Point to the sample table and read one row aloud</a:t>
            </a:r>
          </a:p>
          <a:p>
            <a:r>
              <a:t>- Emphasize that CSV is a format, not a database engine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Here is the system we will use throughout the lesson. The users table stores people. The workspaces table stores cloud workspaces, and owner_user_id points back to the users table. The files table stores files, and it points both to the workspace that holds the file and to the user who created it. This is the moment where I want you to see that the data is no longer just one sheet. It is a model. The arrows matter because they tell us how the records are related.</a:t>
            </a:r>
          </a:p>
          <a:p/>
          <a:p>
            <a:r>
              <a:t>Mention:</a:t>
            </a:r>
          </a:p>
          <a:p>
            <a:r>
              <a:t>- Read each table as a different kind of thing</a:t>
            </a:r>
          </a:p>
          <a:p>
            <a:r>
              <a:t>- Explain owner_user_id and workspace_id as relationship columns</a:t>
            </a:r>
          </a:p>
          <a:p>
            <a:r>
              <a:t>- Tell students that related tables form a data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Now imagine that we join everything into one report. A flat table is often the easiest thing for a human being to read because all the useful values are visible in one place. If I want a simple report for a meeting or a spreadsheet export, this format is very convenient. You can sort it, filter it, and read it quickly. That convenience is real, and I do not want you to think flat tables are bad. They are often the right shape for reports. The question is whether they are the right shape for the main storage model.</a:t>
            </a:r>
          </a:p>
          <a:p/>
          <a:p>
            <a:r>
              <a:t>Mention:</a:t>
            </a:r>
          </a:p>
          <a:p>
            <a:r>
              <a:t>- Say clearly that flat tables are useful</a:t>
            </a:r>
          </a:p>
          <a:p>
            <a:r>
              <a:t>- Point out that reports and dashboards often want this shape</a:t>
            </a:r>
          </a:p>
          <a:p>
            <a:r>
              <a:t>- Set up the next slide by asking what gets repeated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is where the weakness of the flat table shows up. If the same owner name or workspace name appears in many rows, one change may require many updates. That raises the risk of inconsistency. It also creates extra copies of information, which matters for security and privacy. The more copies of sensitive data you create, the wider the blast radius can become if something is overshared or misconfigured. So the flat table is useful, but it is usually better as a report shape than as the core storage shape for a changing system.</a:t>
            </a:r>
          </a:p>
          <a:p/>
          <a:p>
            <a:r>
              <a:t>Mention:</a:t>
            </a:r>
          </a:p>
          <a:p>
            <a:r>
              <a:t>- Point to repeated names and repeated workspace values</a:t>
            </a:r>
          </a:p>
          <a:p>
            <a:r>
              <a:t>- Connect duplication to inconsistency risk</a:t>
            </a:r>
          </a:p>
          <a:p>
            <a:r>
              <a:t>- Connect duplication to wider security and privacy exposure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 relational model solves that problem by giving important facts one main home and connecting tables with keys. The users table stores user facts. The workspaces table stores workspace facts. The files table stores file facts. Instead of copying the owner name into every file row, we point to the owner with an ID. Teams choose this model when they care about accuracy, consistency, and cleaner updates. If one workspace owner changes, the update can happen in one place rather than being copied across many repeated rows.</a:t>
            </a:r>
          </a:p>
          <a:p/>
          <a:p>
            <a:r>
              <a:t>Mention:</a:t>
            </a:r>
          </a:p>
          <a:p>
            <a:r>
              <a:t>- Describe each table as the home for one category of facts</a:t>
            </a:r>
          </a:p>
          <a:p>
            <a:r>
              <a:t>- Explain why IDs replace copied names</a:t>
            </a:r>
          </a:p>
          <a:p>
            <a:r>
              <a:t>- Emphasize one-place updates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tradeoff is that if we want one combined report, we have to join tables at query time. You do not need to memorize this SQL statement today. What I want you to understand is the idea behind it. The database is matching rows that belong together. So the relational model gives us cleaner storage, but it asks us to do more thinking when we want one combined view. This is why people say joins are powerful and also why beginners sometimes find them frustrating at first.</a:t>
            </a:r>
          </a:p>
          <a:p/>
          <a:p>
            <a:r>
              <a:t>Mention:</a:t>
            </a:r>
          </a:p>
          <a:p>
            <a:r>
              <a:t>- Tell students not to memorize the SQL syntax here</a:t>
            </a:r>
          </a:p>
          <a:p>
            <a:r>
              <a:t>- Explain join as matching related rows</a:t>
            </a:r>
          </a:p>
          <a:p>
            <a:r>
              <a:t>- Name complexity as the price of cleaner storage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Now compare that with a document model such as MongoDB. In this example, one workspace document stores the workspace information together with an owner object and a list of file objects. Why would a team want that? Because many modern applications already think in nested JSON objects. If the app usually wants one workspace and its files together, a document can feel natural and efficient. But notice the tradeoff. If information is embedded in many documents, updates can become harder to keep consistent.</a:t>
            </a:r>
          </a:p>
          <a:p/>
          <a:p>
            <a:r>
              <a:t>Mention:</a:t>
            </a:r>
          </a:p>
          <a:p>
            <a:r>
              <a:t>- Call attention to the nested JSON shape</a:t>
            </a:r>
          </a:p>
          <a:p>
            <a:r>
              <a:t>- Tie the model to API and app reads</a:t>
            </a:r>
          </a:p>
          <a:p>
            <a:r>
              <a:t>- Warn that embedded repeated data can drift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slide is the decision frame for the lesson. Flat tables are excellent for reports and exports. Relational models are strong when updates happen often and consistency matters. Document models are strong when an application usually wants one nested object at a time. I do not want you leaving class saying one model is always best. I want you leaving class able to say that one model is more defensible for a specific use case, and then explain why.</a:t>
            </a:r>
          </a:p>
          <a:p/>
          <a:p>
            <a:r>
              <a:t>Mention:</a:t>
            </a:r>
          </a:p>
          <a:p>
            <a:r>
              <a:t>- Compare use cases, not brands</a:t>
            </a:r>
          </a:p>
          <a:p>
            <a:r>
              <a:t>- Say explicitly that no model wins every situation</a:t>
            </a:r>
          </a:p>
          <a:p>
            <a:r>
              <a:t>- Push students toward justification, not memorization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When we move the database into the cloud, some things get easier and some decisions do not go away. A managed cloud service can help with hosting, backups, scaling, and availability. But it does not choose your data model. It does not decide which fields you duplicate, who gets access, which region stores the data, or how long you keep records. Those are still your decisions. So cloud convenience does not remove responsibility. It changes the environment in which those responsibilities are carried out.</a:t>
            </a:r>
          </a:p>
          <a:p/>
          <a:p>
            <a:r>
              <a:t>Mention:</a:t>
            </a:r>
          </a:p>
          <a:p>
            <a:r>
              <a:t>- Separate provider responsibilities from your responsibilities</a:t>
            </a:r>
          </a:p>
          <a:p>
            <a:r>
              <a:t>- Mention region, access, retention, and duplication decisions</a:t>
            </a:r>
          </a:p>
          <a:p>
            <a:r>
              <a:t>- Repeat that cloud hosting does not design the schema for you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For class, MongoDB Atlas gives us a practical cloud example. The basic path is straightforward. First, confirm GitHub Student approval. Second, redeem the MongoDB offer through GitHub Education. Third, create an Atlas project and choose the M0 free cluster. Fourth, create a database user and allowlist your current IP address. Fifth, connect with Compass. The important security reminder is simple: use strong passwords, keep credentials out of repositories and screenshots, and avoid broad network access rules when a narrower one will do.</a:t>
            </a:r>
          </a:p>
          <a:p/>
          <a:p>
            <a:r>
              <a:t>Mention:</a:t>
            </a:r>
          </a:p>
          <a:p>
            <a:r>
              <a:t>- Walk through the five setup steps in order</a:t>
            </a:r>
          </a:p>
          <a:p>
            <a:r>
              <a:t>- Mention the M0 free cluster explicitly</a:t>
            </a:r>
          </a:p>
          <a:p>
            <a:r>
              <a:t>- End with the credential and IP allowlist warning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topic belongs in a security, privacy, and ethics course because a data model is not just a technical choice. It affects duplication, access, minimization, and governance. If we copy restricted data into too many places, we increase risk. If a model makes least privilege harder, that matters. If a cloud database stores records in the wrong region or keeps them too long, that matters. So when you evaluate a data model, do not ask only whether it works. Ask whether it is responsible.</a:t>
            </a:r>
          </a:p>
          <a:p/>
          <a:p>
            <a:r>
              <a:t>Mention:</a:t>
            </a:r>
          </a:p>
          <a:p>
            <a:r>
              <a:t>- Tie model choice to duplication and blast radius</a:t>
            </a:r>
          </a:p>
          <a:p>
            <a:r>
              <a:t>- Mention least privilege and data minimization</a:t>
            </a:r>
          </a:p>
          <a:p>
            <a:r>
              <a:t>- Connect governance to region and retention choices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Your reading response asks you to make a real argument. Choose relational or document. Use the use case to justify your decision. Then name one tradeoff honestly. A strong answer does not pretend there is no downside. It shows that you understand why the team would still make that choice. The weakest possible answer is to say, it depends, without deciding. If it depends, then tell me what it depends on and which side you come down on for this specific system.</a:t>
            </a:r>
          </a:p>
          <a:p/>
          <a:p>
            <a:r>
              <a:t>Mention:</a:t>
            </a:r>
          </a:p>
          <a:p>
            <a:r>
              <a:t>- Tell students they must choose one model</a:t>
            </a:r>
          </a:p>
          <a:p>
            <a:r>
              <a:t>- Require evidence plus one honest tradeoff</a:t>
            </a:r>
          </a:p>
          <a:p>
            <a:r>
              <a:t>- Warn against ending with vague it depends language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2934"/>
          </a:solidFill>
          <a:ln>
            <a:solidFill>
              <a:srgbClr val="15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10896"/>
            <a:ext cx="10972800" cy="841248"/>
          </a:xfrm>
          <a:prstGeom prst="rect">
            <a:avLst/>
          </a:prstGeom>
          <a:noFill/>
        </p:spPr>
        <p:txBody>
          <a:bodyPr wrap="none">
            <a:spAutoFit/>
          </a:bodyPr>
          <a:lstStyle/>
          <a:p>
            <a:pPr>
              <a:defRPr sz="2800" b="1">
                <a:solidFill>
                  <a:srgbClr val="FFFFFF"/>
                </a:solidFill>
                <a:latin typeface="Aptos Display"/>
              </a:defRPr>
            </a:pPr>
            <a:r>
              <a:t>Week 8: Intro to Databases, Cloud Databases, and MongoDB</a:t>
            </a:r>
          </a:p>
        </p:txBody>
      </p:sp>
      <p:sp>
        <p:nvSpPr>
          <p:cNvPr id="4" name="Rounded Rectangle 3"/>
          <p:cNvSpPr/>
          <p:nvPr/>
        </p:nvSpPr>
        <p:spPr>
          <a:xfrm>
            <a:off x="731520" y="1554480"/>
            <a:ext cx="10972800" cy="1051560"/>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a:solidFill>
                  <a:srgbClr val="152934"/>
                </a:solidFill>
                <a:latin typeface="Aptos"/>
              </a:defRPr>
            </a:pPr>
            <a:r>
              <a:t>Big idea: the same facts can be stored in more than one valid way. Today we start with CSV tables, then compare flat tables, relational design, and MongoDB-style documents.</a:t>
            </a:r>
          </a:p>
        </p:txBody>
      </p:sp>
      <p:sp>
        <p:nvSpPr>
          <p:cNvPr id="5" name="Rounded Rectangle 4"/>
          <p:cNvSpPr/>
          <p:nvPr/>
        </p:nvSpPr>
        <p:spPr>
          <a:xfrm>
            <a:off x="822960" y="2926080"/>
            <a:ext cx="3337560" cy="24231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3054096"/>
            <a:ext cx="201168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Today you will</a:t>
            </a:r>
          </a:p>
        </p:txBody>
      </p:sp>
      <p:sp>
        <p:nvSpPr>
          <p:cNvPr id="7" name="TextBox 6"/>
          <p:cNvSpPr txBox="1"/>
          <p:nvPr/>
        </p:nvSpPr>
        <p:spPr>
          <a:xfrm>
            <a:off x="1024128" y="3493008"/>
            <a:ext cx="2935224" cy="1691640"/>
          </a:xfrm>
          <a:prstGeom prst="rect">
            <a:avLst/>
          </a:prstGeom>
          <a:noFill/>
        </p:spPr>
        <p:txBody>
          <a:bodyPr wrap="square">
            <a:noAutofit/>
          </a:bodyPr>
          <a:lstStyle/>
          <a:p>
            <a:pPr>
              <a:spcAft>
                <a:spcPts val="600"/>
              </a:spcAft>
              <a:defRPr sz="1700">
                <a:solidFill>
                  <a:srgbClr val="152934"/>
                </a:solidFill>
                <a:latin typeface="Aptos"/>
              </a:defRPr>
            </a:pPr>
            <a:r>
              <a:t>Define rows, columns, primary keys, and foreign keys.</a:t>
            </a:r>
          </a:p>
          <a:p>
            <a:pPr>
              <a:spcAft>
                <a:spcPts val="600"/>
              </a:spcAft>
              <a:defRPr sz="1700">
                <a:solidFill>
                  <a:srgbClr val="152934"/>
                </a:solidFill>
                <a:latin typeface="Aptos"/>
              </a:defRPr>
            </a:pPr>
            <a:r>
              <a:t>Read a small system spread across three CSV files.</a:t>
            </a:r>
          </a:p>
          <a:p>
            <a:pPr>
              <a:spcAft>
                <a:spcPts val="600"/>
              </a:spcAft>
              <a:defRPr sz="1700">
                <a:solidFill>
                  <a:srgbClr val="152934"/>
                </a:solidFill>
                <a:latin typeface="Aptos"/>
              </a:defRPr>
            </a:pPr>
            <a:r>
              <a:t>Compare relational storage with document storage.</a:t>
            </a:r>
          </a:p>
        </p:txBody>
      </p:sp>
      <p:sp>
        <p:nvSpPr>
          <p:cNvPr id="8" name="Rounded Rectangle 7"/>
          <p:cNvSpPr/>
          <p:nvPr/>
        </p:nvSpPr>
        <p:spPr>
          <a:xfrm>
            <a:off x="4434840" y="2926080"/>
            <a:ext cx="3337560" cy="24231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3054096"/>
            <a:ext cx="201168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784918"/>
                </a:solidFill>
                <a:latin typeface="Aptos"/>
              </a:defRPr>
            </a:pPr>
            <a:r>
              <a:t>Main question</a:t>
            </a:r>
          </a:p>
        </p:txBody>
      </p:sp>
      <p:sp>
        <p:nvSpPr>
          <p:cNvPr id="10" name="TextBox 9"/>
          <p:cNvSpPr txBox="1"/>
          <p:nvPr/>
        </p:nvSpPr>
        <p:spPr>
          <a:xfrm>
            <a:off x="4636008" y="3493008"/>
            <a:ext cx="2935224" cy="1691640"/>
          </a:xfrm>
          <a:prstGeom prst="rect">
            <a:avLst/>
          </a:prstGeom>
          <a:noFill/>
        </p:spPr>
        <p:txBody>
          <a:bodyPr wrap="square">
            <a:noAutofit/>
          </a:bodyPr>
          <a:lstStyle/>
          <a:p>
            <a:pPr>
              <a:spcAft>
                <a:spcPts val="600"/>
              </a:spcAft>
              <a:defRPr sz="1900">
                <a:solidFill>
                  <a:srgbClr val="152934"/>
                </a:solidFill>
                <a:latin typeface="Aptos"/>
              </a:defRPr>
            </a:pPr>
            <a:r>
              <a:t>When does a use case justify a relational model, and when does it justify a document model?</a:t>
            </a:r>
          </a:p>
        </p:txBody>
      </p:sp>
      <p:sp>
        <p:nvSpPr>
          <p:cNvPr id="11" name="Rounded Rectangle 10"/>
          <p:cNvSpPr/>
          <p:nvPr/>
        </p:nvSpPr>
        <p:spPr>
          <a:xfrm>
            <a:off x="8046720" y="2926080"/>
            <a:ext cx="3063240" cy="24231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3054096"/>
            <a:ext cx="201168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Cloud link</a:t>
            </a:r>
          </a:p>
        </p:txBody>
      </p:sp>
      <p:sp>
        <p:nvSpPr>
          <p:cNvPr id="13" name="TextBox 12"/>
          <p:cNvSpPr txBox="1"/>
          <p:nvPr/>
        </p:nvSpPr>
        <p:spPr>
          <a:xfrm>
            <a:off x="8247888" y="3493008"/>
            <a:ext cx="2660904" cy="1691640"/>
          </a:xfrm>
          <a:prstGeom prst="rect">
            <a:avLst/>
          </a:prstGeom>
          <a:noFill/>
        </p:spPr>
        <p:txBody>
          <a:bodyPr wrap="square">
            <a:noAutofit/>
          </a:bodyPr>
          <a:lstStyle/>
          <a:p>
            <a:pPr>
              <a:spcAft>
                <a:spcPts val="600"/>
              </a:spcAft>
              <a:defRPr sz="1800">
                <a:solidFill>
                  <a:srgbClr val="152934"/>
                </a:solidFill>
                <a:latin typeface="Aptos"/>
              </a:defRPr>
            </a:pPr>
            <a:r>
              <a:t>Managed cloud databases help with hosting and scaling, but they do not choose your data model for you.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6916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Tables</a:t>
            </a:r>
          </a:p>
        </p:txBody>
      </p:sp>
      <p:sp>
        <p:nvSpPr>
          <p:cNvPr id="3" name="TextBox 2"/>
          <p:cNvSpPr txBox="1"/>
          <p:nvPr/>
        </p:nvSpPr>
        <p:spPr>
          <a:xfrm>
            <a:off x="548640" y="493776"/>
            <a:ext cx="10972800" cy="685800"/>
          </a:xfrm>
          <a:prstGeom prst="rect">
            <a:avLst/>
          </a:prstGeom>
          <a:noFill/>
        </p:spPr>
        <p:txBody>
          <a:bodyPr wrap="none">
            <a:spAutoFit/>
          </a:bodyPr>
          <a:lstStyle/>
          <a:p>
            <a:pPr>
              <a:defRPr sz="2500" b="1">
                <a:solidFill>
                  <a:srgbClr val="152934"/>
                </a:solidFill>
                <a:latin typeface="Aptos Display"/>
              </a:defRPr>
            </a:pPr>
            <a:r>
              <a:t>A table stores one kind of thing</a:t>
            </a:r>
          </a:p>
        </p:txBody>
      </p:sp>
      <p:cxnSp>
        <p:nvCxnSpPr>
          <p:cNvPr id="4" name="Connector 3"/>
          <p:cNvCxnSpPr/>
          <p:nvPr/>
        </p:nvCxnSpPr>
        <p:spPr>
          <a:xfrm>
            <a:off x="548640" y="1069848"/>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417320"/>
            <a:ext cx="3840480" cy="443484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545336"/>
            <a:ext cx="201168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Vocabulary</a:t>
            </a:r>
          </a:p>
        </p:txBody>
      </p:sp>
      <p:sp>
        <p:nvSpPr>
          <p:cNvPr id="7" name="TextBox 6"/>
          <p:cNvSpPr txBox="1"/>
          <p:nvPr/>
        </p:nvSpPr>
        <p:spPr>
          <a:xfrm>
            <a:off x="932688" y="1984248"/>
            <a:ext cx="3438144" cy="3703320"/>
          </a:xfrm>
          <a:prstGeom prst="rect">
            <a:avLst/>
          </a:prstGeom>
          <a:noFill/>
        </p:spPr>
        <p:txBody>
          <a:bodyPr wrap="square">
            <a:noAutofit/>
          </a:bodyPr>
          <a:lstStyle/>
          <a:p>
            <a:pPr>
              <a:spcAft>
                <a:spcPts val="600"/>
              </a:spcAft>
              <a:defRPr sz="1800">
                <a:solidFill>
                  <a:srgbClr val="152934"/>
                </a:solidFill>
                <a:latin typeface="Aptos"/>
              </a:defRPr>
            </a:pPr>
            <a:r>
              <a:t>Row = one record</a:t>
            </a:r>
          </a:p>
          <a:p>
            <a:pPr>
              <a:spcAft>
                <a:spcPts val="600"/>
              </a:spcAft>
              <a:defRPr sz="1800">
                <a:solidFill>
                  <a:srgbClr val="152934"/>
                </a:solidFill>
                <a:latin typeface="Aptos"/>
              </a:defRPr>
            </a:pPr>
            <a:r>
              <a:t>Column = one attribute about that record</a:t>
            </a:r>
          </a:p>
          <a:p>
            <a:pPr>
              <a:spcAft>
                <a:spcPts val="600"/>
              </a:spcAft>
              <a:defRPr sz="1800">
                <a:solidFill>
                  <a:srgbClr val="152934"/>
                </a:solidFill>
                <a:latin typeface="Aptos"/>
              </a:defRPr>
            </a:pPr>
            <a:r>
              <a:t>Primary key = the column that uniquely identifies a row</a:t>
            </a:r>
          </a:p>
          <a:p>
            <a:pPr>
              <a:spcAft>
                <a:spcPts val="600"/>
              </a:spcAft>
              <a:defRPr sz="1800">
                <a:solidFill>
                  <a:srgbClr val="152934"/>
                </a:solidFill>
                <a:latin typeface="Aptos"/>
              </a:defRPr>
            </a:pPr>
            <a:r>
              <a:t>Foreign key = a column that points to a row in another table</a:t>
            </a:r>
          </a:p>
          <a:p>
            <a:pPr>
              <a:spcAft>
                <a:spcPts val="600"/>
              </a:spcAft>
              <a:defRPr sz="1800">
                <a:solidFill>
                  <a:srgbClr val="152934"/>
                </a:solidFill>
                <a:latin typeface="Aptos"/>
              </a:defRPr>
            </a:pPr>
            <a:r>
              <a:t>CSV = a simple text format that lets us see the table clearly</a:t>
            </a:r>
          </a:p>
        </p:txBody>
      </p:sp>
      <p:graphicFrame>
        <p:nvGraphicFramePr>
          <p:cNvPr id="8" name="Table 7"/>
          <p:cNvGraphicFramePr>
            <a:graphicFrameLocks noGrp="1"/>
          </p:cNvGraphicFramePr>
          <p:nvPr/>
        </p:nvGraphicFramePr>
        <p:xfrm>
          <a:off x="4892040" y="1737360"/>
          <a:ext cx="5715000" cy="1828800"/>
        </p:xfrm>
        <a:graphic>
          <a:graphicData uri="http://schemas.openxmlformats.org/drawingml/2006/table">
            <a:tbl>
              <a:tblPr firstRow="1" bandRow="1">
                <a:tableStyleId>{5C22544A-7EE6-4342-B048-85BDC9FD1C3A}</a:tableStyleId>
              </a:tblPr>
              <a:tblGrid>
                <a:gridCol w="1905000"/>
                <a:gridCol w="1905000"/>
                <a:gridCol w="1905000"/>
              </a:tblGrid>
              <a:tr h="457200">
                <a:tc>
                  <a:txBody>
                    <a:bodyPr/>
                    <a:lstStyle/>
                    <a:p>
                      <a:r>
                        <a:rPr sz="1400" b="1">
                          <a:solidFill>
                            <a:srgbClr val="152934"/>
                          </a:solidFill>
                          <a:latin typeface="Aptos"/>
                        </a:rPr>
                        <a:t>user_id</a:t>
                      </a:r>
                    </a:p>
                  </a:txBody>
                  <a:tcPr>
                    <a:solidFill>
                      <a:srgbClr val="E7F0F4"/>
                    </a:solidFill>
                  </a:tcPr>
                </a:tc>
                <a:tc>
                  <a:txBody>
                    <a:bodyPr/>
                    <a:lstStyle/>
                    <a:p>
                      <a:r>
                        <a:rPr sz="1400" b="1">
                          <a:solidFill>
                            <a:srgbClr val="152934"/>
                          </a:solidFill>
                          <a:latin typeface="Aptos"/>
                        </a:rPr>
                        <a:t>full_name</a:t>
                      </a:r>
                    </a:p>
                  </a:txBody>
                  <a:tcPr>
                    <a:solidFill>
                      <a:srgbClr val="E7F0F4"/>
                    </a:solidFill>
                  </a:tcPr>
                </a:tc>
                <a:tc>
                  <a:txBody>
                    <a:bodyPr/>
                    <a:lstStyle/>
                    <a:p>
                      <a:r>
                        <a:rPr sz="1400" b="1">
                          <a:solidFill>
                            <a:srgbClr val="152934"/>
                          </a:solidFill>
                          <a:latin typeface="Aptos"/>
                        </a:rPr>
                        <a:t>role</a:t>
                      </a:r>
                    </a:p>
                  </a:txBody>
                  <a:tcPr>
                    <a:solidFill>
                      <a:srgbClr val="E7F0F4"/>
                    </a:solidFill>
                  </a:tcPr>
                </a:tc>
              </a:tr>
              <a:tr h="457200">
                <a:tc>
                  <a:txBody>
                    <a:bodyPr/>
                    <a:lstStyle/>
                    <a:p>
                      <a:r>
                        <a:rPr sz="1300" b="0">
                          <a:solidFill>
                            <a:srgbClr val="152934"/>
                          </a:solidFill>
                          <a:latin typeface="Aptos"/>
                        </a:rPr>
                        <a:t>U1001</a:t>
                      </a:r>
                    </a:p>
                  </a:txBody>
                  <a:tcPr>
                    <a:solidFill>
                      <a:srgbClr val="FFFFFF"/>
                    </a:solidFill>
                  </a:tcPr>
                </a:tc>
                <a:tc>
                  <a:txBody>
                    <a:bodyPr/>
                    <a:lstStyle/>
                    <a:p>
                      <a:r>
                        <a:rPr sz="1300" b="0">
                          <a:solidFill>
                            <a:srgbClr val="152934"/>
                          </a:solidFill>
                          <a:latin typeface="Aptos"/>
                        </a:rPr>
                        <a:t>Ana Rivera</a:t>
                      </a:r>
                    </a:p>
                  </a:txBody>
                  <a:tcPr>
                    <a:solidFill>
                      <a:srgbClr val="FFFFFF"/>
                    </a:solidFill>
                  </a:tcPr>
                </a:tc>
                <a:tc>
                  <a:txBody>
                    <a:bodyPr/>
                    <a:lstStyle/>
                    <a:p>
                      <a:r>
                        <a:rPr sz="1300" b="0">
                          <a:solidFill>
                            <a:srgbClr val="152934"/>
                          </a:solidFill>
                          <a:latin typeface="Aptos"/>
                        </a:rPr>
                        <a:t>student</a:t>
                      </a:r>
                    </a:p>
                  </a:txBody>
                  <a:tcPr>
                    <a:solidFill>
                      <a:srgbClr val="FFFFFF"/>
                    </a:solidFill>
                  </a:tcPr>
                </a:tc>
              </a:tr>
              <a:tr h="457200">
                <a:tc>
                  <a:txBody>
                    <a:bodyPr/>
                    <a:lstStyle/>
                    <a:p>
                      <a:r>
                        <a:rPr sz="1300" b="0">
                          <a:solidFill>
                            <a:srgbClr val="152934"/>
                          </a:solidFill>
                          <a:latin typeface="Aptos"/>
                        </a:rPr>
                        <a:t>U1003</a:t>
                      </a:r>
                    </a:p>
                  </a:txBody>
                  <a:tcPr>
                    <a:solidFill>
                      <a:srgbClr val="FFFFFF"/>
                    </a:solidFill>
                  </a:tcPr>
                </a:tc>
                <a:tc>
                  <a:txBody>
                    <a:bodyPr/>
                    <a:lstStyle/>
                    <a:p>
                      <a:r>
                        <a:rPr sz="1300" b="0">
                          <a:solidFill>
                            <a:srgbClr val="152934"/>
                          </a:solidFill>
                          <a:latin typeface="Aptos"/>
                        </a:rPr>
                        <a:t>Priya Shah</a:t>
                      </a:r>
                    </a:p>
                  </a:txBody>
                  <a:tcPr>
                    <a:solidFill>
                      <a:srgbClr val="FFFFFF"/>
                    </a:solidFill>
                  </a:tcPr>
                </a:tc>
                <a:tc>
                  <a:txBody>
                    <a:bodyPr/>
                    <a:lstStyle/>
                    <a:p>
                      <a:r>
                        <a:rPr sz="1300" b="0">
                          <a:solidFill>
                            <a:srgbClr val="152934"/>
                          </a:solidFill>
                          <a:latin typeface="Aptos"/>
                        </a:rPr>
                        <a:t>teaching assistant</a:t>
                      </a:r>
                    </a:p>
                  </a:txBody>
                  <a:tcPr>
                    <a:solidFill>
                      <a:srgbClr val="FFFFFF"/>
                    </a:solidFill>
                  </a:tcPr>
                </a:tc>
              </a:tr>
              <a:tr h="457200">
                <a:tc>
                  <a:txBody>
                    <a:bodyPr/>
                    <a:lstStyle/>
                    <a:p>
                      <a:r>
                        <a:rPr sz="1300" b="0">
                          <a:solidFill>
                            <a:srgbClr val="152934"/>
                          </a:solidFill>
                          <a:latin typeface="Aptos"/>
                        </a:rPr>
                        <a:t>U1004</a:t>
                      </a:r>
                    </a:p>
                  </a:txBody>
                  <a:tcPr>
                    <a:solidFill>
                      <a:srgbClr val="FFFFFF"/>
                    </a:solidFill>
                  </a:tcPr>
                </a:tc>
                <a:tc>
                  <a:txBody>
                    <a:bodyPr/>
                    <a:lstStyle/>
                    <a:p>
                      <a:r>
                        <a:rPr sz="1300" b="0">
                          <a:solidFill>
                            <a:srgbClr val="152934"/>
                          </a:solidFill>
                          <a:latin typeface="Aptos"/>
                        </a:rPr>
                        <a:t>Jordan Lee</a:t>
                      </a:r>
                    </a:p>
                  </a:txBody>
                  <a:tcPr>
                    <a:solidFill>
                      <a:srgbClr val="FFFFFF"/>
                    </a:solidFill>
                  </a:tcPr>
                </a:tc>
                <a:tc>
                  <a:txBody>
                    <a:bodyPr/>
                    <a:lstStyle/>
                    <a:p>
                      <a:r>
                        <a:rPr sz="1300" b="0">
                          <a:solidFill>
                            <a:srgbClr val="152934"/>
                          </a:solidFill>
                          <a:latin typeface="Aptos"/>
                        </a:rPr>
                        <a:t>instructor</a:t>
                      </a:r>
                    </a:p>
                  </a:txBody>
                  <a:tcPr>
                    <a:solidFill>
                      <a:srgbClr val="FFFFFF"/>
                    </a:solidFill>
                  </a:tcPr>
                </a:tc>
              </a:tr>
            </a:tbl>
          </a:graphicData>
        </a:graphic>
      </p:graphicFrame>
      <p:sp>
        <p:nvSpPr>
          <p:cNvPr id="9" name="Rounded Rectangle 8"/>
          <p:cNvSpPr/>
          <p:nvPr/>
        </p:nvSpPr>
        <p:spPr>
          <a:xfrm>
            <a:off x="4892040" y="3977639"/>
            <a:ext cx="5715000" cy="182880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96175"/>
                </a:solidFill>
                <a:latin typeface="Aptos"/>
              </a:defRPr>
            </a:pPr>
            <a:r>
              <a:t>Why start with CSV?</a:t>
            </a:r>
          </a:p>
          <a:p>
            <a:pPr>
              <a:defRPr sz="1800">
                <a:solidFill>
                  <a:srgbClr val="152934"/>
                </a:solidFill>
                <a:latin typeface="Aptos"/>
              </a:defRPr>
            </a:pPr>
            <a:r>
              <a:t>Because students can see the structure before any software hides it behind menus.</a:t>
            </a:r>
          </a:p>
          <a:p>
            <a:pPr>
              <a:defRPr sz="1800">
                <a:solidFill>
                  <a:srgbClr val="152934"/>
                </a:solidFill>
                <a:latin typeface="Aptos"/>
              </a:defRPr>
            </a:pPr>
            <a:r>
              <a:t>If you understand the table first, the database tool makes more sense later.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6916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Example System</a:t>
            </a:r>
          </a:p>
        </p:txBody>
      </p:sp>
      <p:sp>
        <p:nvSpPr>
          <p:cNvPr id="3" name="TextBox 2"/>
          <p:cNvSpPr txBox="1"/>
          <p:nvPr/>
        </p:nvSpPr>
        <p:spPr>
          <a:xfrm>
            <a:off x="548640" y="493776"/>
            <a:ext cx="10972800" cy="685800"/>
          </a:xfrm>
          <a:prstGeom prst="rect">
            <a:avLst/>
          </a:prstGeom>
          <a:noFill/>
        </p:spPr>
        <p:txBody>
          <a:bodyPr wrap="none">
            <a:spAutoFit/>
          </a:bodyPr>
          <a:lstStyle/>
          <a:p>
            <a:pPr>
              <a:defRPr sz="2500" b="1">
                <a:solidFill>
                  <a:srgbClr val="152934"/>
                </a:solidFill>
                <a:latin typeface="Aptos Display"/>
              </a:defRPr>
            </a:pPr>
            <a:r>
              <a:t>This week's example uses three related CSV files</a:t>
            </a:r>
          </a:p>
        </p:txBody>
      </p:sp>
      <p:cxnSp>
        <p:nvCxnSpPr>
          <p:cNvPr id="4" name="Connector 3"/>
          <p:cNvCxnSpPr/>
          <p:nvPr/>
        </p:nvCxnSpPr>
        <p:spPr>
          <a:xfrm>
            <a:off x="548640" y="1069848"/>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645920"/>
            <a:ext cx="2926080" cy="31089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773936"/>
            <a:ext cx="201168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users.csv</a:t>
            </a:r>
          </a:p>
        </p:txBody>
      </p:sp>
      <p:sp>
        <p:nvSpPr>
          <p:cNvPr id="7" name="TextBox 6"/>
          <p:cNvSpPr txBox="1"/>
          <p:nvPr/>
        </p:nvSpPr>
        <p:spPr>
          <a:xfrm>
            <a:off x="932688" y="2212848"/>
            <a:ext cx="2523744" cy="2377440"/>
          </a:xfrm>
          <a:prstGeom prst="rect">
            <a:avLst/>
          </a:prstGeom>
          <a:noFill/>
        </p:spPr>
        <p:txBody>
          <a:bodyPr wrap="square">
            <a:noAutofit/>
          </a:bodyPr>
          <a:lstStyle/>
          <a:p>
            <a:pPr>
              <a:spcAft>
                <a:spcPts val="600"/>
              </a:spcAft>
              <a:defRPr sz="1700">
                <a:solidFill>
                  <a:srgbClr val="152934"/>
                </a:solidFill>
                <a:latin typeface="Aptos"/>
              </a:defRPr>
            </a:pPr>
            <a:r>
              <a:t>Stores people</a:t>
            </a:r>
          </a:p>
          <a:p>
            <a:pPr>
              <a:spcAft>
                <a:spcPts val="600"/>
              </a:spcAft>
              <a:defRPr sz="1700">
                <a:solidFill>
                  <a:srgbClr val="152934"/>
                </a:solidFill>
                <a:latin typeface="Aptos"/>
              </a:defRPr>
            </a:pPr>
            <a:r>
              <a:t>Primary key: user_id</a:t>
            </a:r>
          </a:p>
          <a:p>
            <a:pPr>
              <a:spcAft>
                <a:spcPts val="600"/>
              </a:spcAft>
              <a:defRPr sz="1700">
                <a:solidFill>
                  <a:srgbClr val="152934"/>
                </a:solidFill>
                <a:latin typeface="Aptos"/>
              </a:defRPr>
            </a:pPr>
            <a:r>
              <a:t>Example fields: full_name, role, preferred_region</a:t>
            </a:r>
          </a:p>
        </p:txBody>
      </p:sp>
      <p:sp>
        <p:nvSpPr>
          <p:cNvPr id="8" name="Rounded Rectangle 7"/>
          <p:cNvSpPr/>
          <p:nvPr/>
        </p:nvSpPr>
        <p:spPr>
          <a:xfrm>
            <a:off x="4617720" y="1645920"/>
            <a:ext cx="2926080" cy="31089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54880" y="1773936"/>
            <a:ext cx="201168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784918"/>
                </a:solidFill>
                <a:latin typeface="Aptos"/>
              </a:defRPr>
            </a:pPr>
            <a:r>
              <a:t>workspaces.csv</a:t>
            </a:r>
          </a:p>
        </p:txBody>
      </p:sp>
      <p:sp>
        <p:nvSpPr>
          <p:cNvPr id="10" name="TextBox 9"/>
          <p:cNvSpPr txBox="1"/>
          <p:nvPr/>
        </p:nvSpPr>
        <p:spPr>
          <a:xfrm>
            <a:off x="4818888" y="2212848"/>
            <a:ext cx="2523744" cy="2377440"/>
          </a:xfrm>
          <a:prstGeom prst="rect">
            <a:avLst/>
          </a:prstGeom>
          <a:noFill/>
        </p:spPr>
        <p:txBody>
          <a:bodyPr wrap="square">
            <a:noAutofit/>
          </a:bodyPr>
          <a:lstStyle/>
          <a:p>
            <a:pPr>
              <a:spcAft>
                <a:spcPts val="600"/>
              </a:spcAft>
              <a:defRPr sz="1700">
                <a:solidFill>
                  <a:srgbClr val="152934"/>
                </a:solidFill>
                <a:latin typeface="Aptos"/>
              </a:defRPr>
            </a:pPr>
            <a:r>
              <a:t>Stores cloud workspaces</a:t>
            </a:r>
          </a:p>
          <a:p>
            <a:pPr>
              <a:spcAft>
                <a:spcPts val="600"/>
              </a:spcAft>
              <a:defRPr sz="1700">
                <a:solidFill>
                  <a:srgbClr val="152934"/>
                </a:solidFill>
                <a:latin typeface="Aptos"/>
              </a:defRPr>
            </a:pPr>
            <a:r>
              <a:t>Primary key: workspace_id</a:t>
            </a:r>
          </a:p>
          <a:p>
            <a:pPr>
              <a:spcAft>
                <a:spcPts val="600"/>
              </a:spcAft>
              <a:defRPr sz="1700">
                <a:solidFill>
                  <a:srgbClr val="152934"/>
                </a:solidFill>
                <a:latin typeface="Aptos"/>
              </a:defRPr>
            </a:pPr>
            <a:r>
              <a:t>owner_user_id points to users.csv</a:t>
            </a:r>
          </a:p>
        </p:txBody>
      </p:sp>
      <p:sp>
        <p:nvSpPr>
          <p:cNvPr id="11" name="Rounded Rectangle 10"/>
          <p:cNvSpPr/>
          <p:nvPr/>
        </p:nvSpPr>
        <p:spPr>
          <a:xfrm>
            <a:off x="8503920" y="1645920"/>
            <a:ext cx="2926080" cy="31089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41080" y="1773936"/>
            <a:ext cx="201168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files.csv</a:t>
            </a:r>
          </a:p>
        </p:txBody>
      </p:sp>
      <p:sp>
        <p:nvSpPr>
          <p:cNvPr id="13" name="TextBox 12"/>
          <p:cNvSpPr txBox="1"/>
          <p:nvPr/>
        </p:nvSpPr>
        <p:spPr>
          <a:xfrm>
            <a:off x="8705088" y="2212848"/>
            <a:ext cx="2523744" cy="2377440"/>
          </a:xfrm>
          <a:prstGeom prst="rect">
            <a:avLst/>
          </a:prstGeom>
          <a:noFill/>
        </p:spPr>
        <p:txBody>
          <a:bodyPr wrap="square">
            <a:noAutofit/>
          </a:bodyPr>
          <a:lstStyle/>
          <a:p>
            <a:pPr>
              <a:spcAft>
                <a:spcPts val="600"/>
              </a:spcAft>
              <a:defRPr sz="1700">
                <a:solidFill>
                  <a:srgbClr val="152934"/>
                </a:solidFill>
                <a:latin typeface="Aptos"/>
              </a:defRPr>
            </a:pPr>
            <a:r>
              <a:t>Stores files inside workspaces</a:t>
            </a:r>
          </a:p>
          <a:p>
            <a:pPr>
              <a:spcAft>
                <a:spcPts val="600"/>
              </a:spcAft>
              <a:defRPr sz="1700">
                <a:solidFill>
                  <a:srgbClr val="152934"/>
                </a:solidFill>
                <a:latin typeface="Aptos"/>
              </a:defRPr>
            </a:pPr>
            <a:r>
              <a:t>Primary key: file_id</a:t>
            </a:r>
          </a:p>
          <a:p>
            <a:pPr>
              <a:spcAft>
                <a:spcPts val="600"/>
              </a:spcAft>
              <a:defRPr sz="1700">
                <a:solidFill>
                  <a:srgbClr val="152934"/>
                </a:solidFill>
                <a:latin typeface="Aptos"/>
              </a:defRPr>
            </a:pPr>
            <a:r>
              <a:t>workspace_id points to workspaces.csv</a:t>
            </a:r>
          </a:p>
          <a:p>
            <a:pPr>
              <a:spcAft>
                <a:spcPts val="600"/>
              </a:spcAft>
              <a:defRPr sz="1700">
                <a:solidFill>
                  <a:srgbClr val="152934"/>
                </a:solidFill>
                <a:latin typeface="Aptos"/>
              </a:defRPr>
            </a:pPr>
            <a:r>
              <a:t>created_by_user_id points to users.csv</a:t>
            </a:r>
          </a:p>
        </p:txBody>
      </p:sp>
      <p:cxnSp>
        <p:nvCxnSpPr>
          <p:cNvPr id="14" name="Connector 13"/>
          <p:cNvCxnSpPr/>
          <p:nvPr/>
        </p:nvCxnSpPr>
        <p:spPr>
          <a:xfrm>
            <a:off x="3657600" y="2743200"/>
            <a:ext cx="960120" cy="0"/>
          </a:xfrm>
          <a:prstGeom prst="line">
            <a:avLst/>
          </a:prstGeom>
          <a:ln w="25400">
            <a:solidFill>
              <a:srgbClr val="19617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543800" y="2743200"/>
            <a:ext cx="960120" cy="0"/>
          </a:xfrm>
          <a:prstGeom prst="line">
            <a:avLst/>
          </a:prstGeom>
          <a:ln w="25400">
            <a:solidFill>
              <a:srgbClr val="196175"/>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0120" y="5074920"/>
            <a:ext cx="10607040" cy="9144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9848" y="5148072"/>
            <a:ext cx="10387584" cy="768096"/>
          </a:xfrm>
          <a:prstGeom prst="rect">
            <a:avLst/>
          </a:prstGeom>
          <a:noFill/>
        </p:spPr>
        <p:txBody>
          <a:bodyPr wrap="square">
            <a:noAutofit/>
          </a:bodyPr>
          <a:lstStyle/>
          <a:p>
            <a:pPr>
              <a:spcAft>
                <a:spcPts val="600"/>
              </a:spcAft>
              <a:defRPr sz="2000">
                <a:solidFill>
                  <a:srgbClr val="152934"/>
                </a:solidFill>
                <a:latin typeface="Aptos"/>
              </a:defRPr>
            </a:pPr>
            <a:r>
              <a:t>Read the arrows like this: a workspace belongs to a user, and a file belongs to a workspace and also points to the user who created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6916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Flat Table</a:t>
            </a:r>
          </a:p>
        </p:txBody>
      </p:sp>
      <p:sp>
        <p:nvSpPr>
          <p:cNvPr id="3" name="TextBox 2"/>
          <p:cNvSpPr txBox="1"/>
          <p:nvPr/>
        </p:nvSpPr>
        <p:spPr>
          <a:xfrm>
            <a:off x="548640" y="493776"/>
            <a:ext cx="10972800" cy="685800"/>
          </a:xfrm>
          <a:prstGeom prst="rect">
            <a:avLst/>
          </a:prstGeom>
          <a:noFill/>
        </p:spPr>
        <p:txBody>
          <a:bodyPr wrap="none">
            <a:spAutoFit/>
          </a:bodyPr>
          <a:lstStyle/>
          <a:p>
            <a:pPr>
              <a:defRPr sz="2500" b="1">
                <a:solidFill>
                  <a:srgbClr val="152934"/>
                </a:solidFill>
                <a:latin typeface="Aptos Display"/>
              </a:defRPr>
            </a:pPr>
            <a:r>
              <a:t>A flat table is great for reporting because everything is visible in one place</a:t>
            </a:r>
          </a:p>
        </p:txBody>
      </p:sp>
      <p:cxnSp>
        <p:nvCxnSpPr>
          <p:cNvPr id="4" name="Connector 3"/>
          <p:cNvCxnSpPr/>
          <p:nvPr/>
        </p:nvCxnSpPr>
        <p:spPr>
          <a:xfrm>
            <a:off x="548640" y="1069848"/>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822960" y="1645920"/>
          <a:ext cx="8961120" cy="2560320"/>
        </p:xfrm>
        <a:graphic>
          <a:graphicData uri="http://schemas.openxmlformats.org/drawingml/2006/table">
            <a:tbl>
              <a:tblPr firstRow="1" bandRow="1">
                <a:tableStyleId>{5C22544A-7EE6-4342-B048-85BDC9FD1C3A}</a:tableStyleId>
              </a:tblPr>
              <a:tblGrid>
                <a:gridCol w="914400"/>
                <a:gridCol w="2926080"/>
                <a:gridCol w="2011680"/>
                <a:gridCol w="2011680"/>
                <a:gridCol w="1097280"/>
              </a:tblGrid>
              <a:tr h="640080">
                <a:tc>
                  <a:txBody>
                    <a:bodyPr/>
                    <a:lstStyle/>
                    <a:p>
                      <a:r>
                        <a:rPr sz="1400" b="1">
                          <a:solidFill>
                            <a:srgbClr val="152934"/>
                          </a:solidFill>
                          <a:latin typeface="Aptos"/>
                        </a:rPr>
                        <a:t>file_id</a:t>
                      </a:r>
                    </a:p>
                  </a:txBody>
                  <a:tcPr>
                    <a:solidFill>
                      <a:srgbClr val="E7F0F4"/>
                    </a:solidFill>
                  </a:tcPr>
                </a:tc>
                <a:tc>
                  <a:txBody>
                    <a:bodyPr/>
                    <a:lstStyle/>
                    <a:p>
                      <a:r>
                        <a:rPr sz="1400" b="1">
                          <a:solidFill>
                            <a:srgbClr val="152934"/>
                          </a:solidFill>
                          <a:latin typeface="Aptos"/>
                        </a:rPr>
                        <a:t>workspace</a:t>
                      </a:r>
                    </a:p>
                  </a:txBody>
                  <a:tcPr>
                    <a:solidFill>
                      <a:srgbClr val="E7F0F4"/>
                    </a:solidFill>
                  </a:tcPr>
                </a:tc>
                <a:tc>
                  <a:txBody>
                    <a:bodyPr/>
                    <a:lstStyle/>
                    <a:p>
                      <a:r>
                        <a:rPr sz="1400" b="1">
                          <a:solidFill>
                            <a:srgbClr val="152934"/>
                          </a:solidFill>
                          <a:latin typeface="Aptos"/>
                        </a:rPr>
                        <a:t>owner</a:t>
                      </a:r>
                    </a:p>
                  </a:txBody>
                  <a:tcPr>
                    <a:solidFill>
                      <a:srgbClr val="E7F0F4"/>
                    </a:solidFill>
                  </a:tcPr>
                </a:tc>
                <a:tc>
                  <a:txBody>
                    <a:bodyPr/>
                    <a:lstStyle/>
                    <a:p>
                      <a:r>
                        <a:rPr sz="1400" b="1">
                          <a:solidFill>
                            <a:srgbClr val="152934"/>
                          </a:solidFill>
                          <a:latin typeface="Aptos"/>
                        </a:rPr>
                        <a:t>creator</a:t>
                      </a:r>
                    </a:p>
                  </a:txBody>
                  <a:tcPr>
                    <a:solidFill>
                      <a:srgbClr val="E7F0F4"/>
                    </a:solidFill>
                  </a:tcPr>
                </a:tc>
                <a:tc>
                  <a:txBody>
                    <a:bodyPr/>
                    <a:lstStyle/>
                    <a:p>
                      <a:r>
                        <a:rPr sz="1400" b="1">
                          <a:solidFill>
                            <a:srgbClr val="152934"/>
                          </a:solidFill>
                          <a:latin typeface="Aptos"/>
                        </a:rPr>
                        <a:t>shared?</a:t>
                      </a:r>
                    </a:p>
                  </a:txBody>
                  <a:tcPr>
                    <a:solidFill>
                      <a:srgbClr val="E7F0F4"/>
                    </a:solidFill>
                  </a:tcPr>
                </a:tc>
              </a:tr>
              <a:tr h="640080">
                <a:tc>
                  <a:txBody>
                    <a:bodyPr/>
                    <a:lstStyle/>
                    <a:p>
                      <a:r>
                        <a:rPr sz="1300" b="0">
                          <a:solidFill>
                            <a:srgbClr val="152934"/>
                          </a:solidFill>
                          <a:latin typeface="Aptos"/>
                        </a:rPr>
                        <a:t>F001</a:t>
                      </a:r>
                    </a:p>
                  </a:txBody>
                  <a:tcPr>
                    <a:solidFill>
                      <a:srgbClr val="FFFFFF"/>
                    </a:solidFill>
                  </a:tcPr>
                </a:tc>
                <a:tc>
                  <a:txBody>
                    <a:bodyPr/>
                    <a:lstStyle/>
                    <a:p>
                      <a:r>
                        <a:rPr sz="1300" b="0">
                          <a:solidFill>
                            <a:srgbClr val="152934"/>
                          </a:solidFill>
                          <a:latin typeface="Aptos"/>
                        </a:rPr>
                        <a:t>TLS Lab Submissions</a:t>
                      </a:r>
                    </a:p>
                  </a:txBody>
                  <a:tcPr>
                    <a:solidFill>
                      <a:srgbClr val="FFFFFF"/>
                    </a:solidFill>
                  </a:tcPr>
                </a:tc>
                <a:tc>
                  <a:txBody>
                    <a:bodyPr/>
                    <a:lstStyle/>
                    <a:p>
                      <a:r>
                        <a:rPr sz="1300" b="0">
                          <a:solidFill>
                            <a:srgbClr val="152934"/>
                          </a:solidFill>
                          <a:latin typeface="Aptos"/>
                        </a:rPr>
                        <a:t>Priya Shah</a:t>
                      </a:r>
                    </a:p>
                  </a:txBody>
                  <a:tcPr>
                    <a:solidFill>
                      <a:srgbClr val="FFFFFF"/>
                    </a:solidFill>
                  </a:tcPr>
                </a:tc>
                <a:tc>
                  <a:txBody>
                    <a:bodyPr/>
                    <a:lstStyle/>
                    <a:p>
                      <a:r>
                        <a:rPr sz="1300" b="0">
                          <a:solidFill>
                            <a:srgbClr val="152934"/>
                          </a:solidFill>
                          <a:latin typeface="Aptos"/>
                        </a:rPr>
                        <a:t>Ana Rivera</a:t>
                      </a:r>
                    </a:p>
                  </a:txBody>
                  <a:tcPr>
                    <a:solidFill>
                      <a:srgbClr val="FFFFFF"/>
                    </a:solidFill>
                  </a:tcPr>
                </a:tc>
                <a:tc>
                  <a:txBody>
                    <a:bodyPr/>
                    <a:lstStyle/>
                    <a:p>
                      <a:r>
                        <a:rPr sz="1300" b="0">
                          <a:solidFill>
                            <a:srgbClr val="152934"/>
                          </a:solidFill>
                          <a:latin typeface="Aptos"/>
                        </a:rPr>
                        <a:t>no</a:t>
                      </a:r>
                    </a:p>
                  </a:txBody>
                  <a:tcPr>
                    <a:solidFill>
                      <a:srgbClr val="FFFFFF"/>
                    </a:solidFill>
                  </a:tcPr>
                </a:tc>
              </a:tr>
              <a:tr h="640080">
                <a:tc>
                  <a:txBody>
                    <a:bodyPr/>
                    <a:lstStyle/>
                    <a:p>
                      <a:r>
                        <a:rPr sz="1300" b="0">
                          <a:solidFill>
                            <a:srgbClr val="152934"/>
                          </a:solidFill>
                          <a:latin typeface="Aptos"/>
                        </a:rPr>
                        <a:t>F004</a:t>
                      </a:r>
                    </a:p>
                  </a:txBody>
                  <a:tcPr>
                    <a:solidFill>
                      <a:srgbClr val="FFFFFF"/>
                    </a:solidFill>
                  </a:tcPr>
                </a:tc>
                <a:tc>
                  <a:txBody>
                    <a:bodyPr/>
                    <a:lstStyle/>
                    <a:p>
                      <a:r>
                        <a:rPr sz="1300" b="0">
                          <a:solidFill>
                            <a:srgbClr val="152934"/>
                          </a:solidFill>
                          <a:latin typeface="Aptos"/>
                        </a:rPr>
                        <a:t>Midterm Review Notes</a:t>
                      </a:r>
                    </a:p>
                  </a:txBody>
                  <a:tcPr>
                    <a:solidFill>
                      <a:srgbClr val="FFFFFF"/>
                    </a:solidFill>
                  </a:tcPr>
                </a:tc>
                <a:tc>
                  <a:txBody>
                    <a:bodyPr/>
                    <a:lstStyle/>
                    <a:p>
                      <a:r>
                        <a:rPr sz="1300" b="0">
                          <a:solidFill>
                            <a:srgbClr val="152934"/>
                          </a:solidFill>
                          <a:latin typeface="Aptos"/>
                        </a:rPr>
                        <a:t>Jordan Lee</a:t>
                      </a:r>
                    </a:p>
                  </a:txBody>
                  <a:tcPr>
                    <a:solidFill>
                      <a:srgbClr val="FFFFFF"/>
                    </a:solidFill>
                  </a:tcPr>
                </a:tc>
                <a:tc>
                  <a:txBody>
                    <a:bodyPr/>
                    <a:lstStyle/>
                    <a:p>
                      <a:r>
                        <a:rPr sz="1300" b="0">
                          <a:solidFill>
                            <a:srgbClr val="152934"/>
                          </a:solidFill>
                          <a:latin typeface="Aptos"/>
                        </a:rPr>
                        <a:t>Priya Shah</a:t>
                      </a:r>
                    </a:p>
                  </a:txBody>
                  <a:tcPr>
                    <a:solidFill>
                      <a:srgbClr val="FFFFFF"/>
                    </a:solidFill>
                  </a:tcPr>
                </a:tc>
                <a:tc>
                  <a:txBody>
                    <a:bodyPr/>
                    <a:lstStyle/>
                    <a:p>
                      <a:r>
                        <a:rPr sz="1300" b="0">
                          <a:solidFill>
                            <a:srgbClr val="152934"/>
                          </a:solidFill>
                          <a:latin typeface="Aptos"/>
                        </a:rPr>
                        <a:t>yes</a:t>
                      </a:r>
                    </a:p>
                  </a:txBody>
                  <a:tcPr>
                    <a:solidFill>
                      <a:srgbClr val="FFFFFF"/>
                    </a:solidFill>
                  </a:tcPr>
                </a:tc>
              </a:tr>
              <a:tr h="640080">
                <a:tc>
                  <a:txBody>
                    <a:bodyPr/>
                    <a:lstStyle/>
                    <a:p>
                      <a:r>
                        <a:rPr sz="1300" b="0">
                          <a:solidFill>
                            <a:srgbClr val="152934"/>
                          </a:solidFill>
                          <a:latin typeface="Aptos"/>
                        </a:rPr>
                        <a:t>F006</a:t>
                      </a:r>
                    </a:p>
                  </a:txBody>
                  <a:tcPr>
                    <a:solidFill>
                      <a:srgbClr val="FFFFFF"/>
                    </a:solidFill>
                  </a:tcPr>
                </a:tc>
                <a:tc>
                  <a:txBody>
                    <a:bodyPr/>
                    <a:lstStyle/>
                    <a:p>
                      <a:r>
                        <a:rPr sz="1300" b="0">
                          <a:solidFill>
                            <a:srgbClr val="152934"/>
                          </a:solidFill>
                          <a:latin typeface="Aptos"/>
                        </a:rPr>
                        <a:t>Advising Intake Forms</a:t>
                      </a:r>
                    </a:p>
                  </a:txBody>
                  <a:tcPr>
                    <a:solidFill>
                      <a:srgbClr val="FFFFFF"/>
                    </a:solidFill>
                  </a:tcPr>
                </a:tc>
                <a:tc>
                  <a:txBody>
                    <a:bodyPr/>
                    <a:lstStyle/>
                    <a:p>
                      <a:r>
                        <a:rPr sz="1300" b="0">
                          <a:solidFill>
                            <a:srgbClr val="152934"/>
                          </a:solidFill>
                          <a:latin typeface="Aptos"/>
                        </a:rPr>
                        <a:t>Jordan Lee</a:t>
                      </a:r>
                    </a:p>
                  </a:txBody>
                  <a:tcPr>
                    <a:solidFill>
                      <a:srgbClr val="FFFFFF"/>
                    </a:solidFill>
                  </a:tcPr>
                </a:tc>
                <a:tc>
                  <a:txBody>
                    <a:bodyPr/>
                    <a:lstStyle/>
                    <a:p>
                      <a:r>
                        <a:rPr sz="1300" b="0">
                          <a:solidFill>
                            <a:srgbClr val="152934"/>
                          </a:solidFill>
                          <a:latin typeface="Aptos"/>
                        </a:rPr>
                        <a:t>Priya Shah</a:t>
                      </a:r>
                    </a:p>
                  </a:txBody>
                  <a:tcPr>
                    <a:solidFill>
                      <a:srgbClr val="FFFFFF"/>
                    </a:solidFill>
                  </a:tcPr>
                </a:tc>
                <a:tc>
                  <a:txBody>
                    <a:bodyPr/>
                    <a:lstStyle/>
                    <a:p>
                      <a:r>
                        <a:rPr sz="1300" b="0">
                          <a:solidFill>
                            <a:srgbClr val="152934"/>
                          </a:solidFill>
                          <a:latin typeface="Aptos"/>
                        </a:rPr>
                        <a:t>yes</a:t>
                      </a:r>
                    </a:p>
                  </a:txBody>
                  <a:tcPr>
                    <a:solidFill>
                      <a:srgbClr val="FFFFFF"/>
                    </a:solidFill>
                  </a:tcPr>
                </a:tc>
              </a:tr>
            </a:tbl>
          </a:graphicData>
        </a:graphic>
      </p:graphicFrame>
      <p:sp>
        <p:nvSpPr>
          <p:cNvPr id="6" name="Rounded Rectangle 5"/>
          <p:cNvSpPr/>
          <p:nvPr/>
        </p:nvSpPr>
        <p:spPr>
          <a:xfrm>
            <a:off x="868680" y="4526280"/>
            <a:ext cx="4983480" cy="13258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4654296"/>
            <a:ext cx="201168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Why people like this</a:t>
            </a:r>
          </a:p>
        </p:txBody>
      </p:sp>
      <p:sp>
        <p:nvSpPr>
          <p:cNvPr id="8" name="TextBox 7"/>
          <p:cNvSpPr txBox="1"/>
          <p:nvPr/>
        </p:nvSpPr>
        <p:spPr>
          <a:xfrm>
            <a:off x="1069848" y="5093208"/>
            <a:ext cx="4581144" cy="594360"/>
          </a:xfrm>
          <a:prstGeom prst="rect">
            <a:avLst/>
          </a:prstGeom>
          <a:noFill/>
        </p:spPr>
        <p:txBody>
          <a:bodyPr wrap="square">
            <a:noAutofit/>
          </a:bodyPr>
          <a:lstStyle/>
          <a:p>
            <a:pPr>
              <a:spcAft>
                <a:spcPts val="600"/>
              </a:spcAft>
              <a:defRPr sz="1800">
                <a:solidFill>
                  <a:srgbClr val="152934"/>
                </a:solidFill>
                <a:latin typeface="Aptos"/>
              </a:defRPr>
            </a:pPr>
            <a:r>
              <a:t>Easy to scan, sort, filter, export, and use in spreadsheets.</a:t>
            </a:r>
          </a:p>
        </p:txBody>
      </p:sp>
      <p:sp>
        <p:nvSpPr>
          <p:cNvPr id="9" name="Rounded Rectangle 8"/>
          <p:cNvSpPr/>
          <p:nvPr/>
        </p:nvSpPr>
        <p:spPr>
          <a:xfrm>
            <a:off x="6172200" y="4526280"/>
            <a:ext cx="4983480" cy="13258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60" y="4654296"/>
            <a:ext cx="201168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784918"/>
                </a:solidFill>
                <a:latin typeface="Aptos"/>
              </a:defRPr>
            </a:pPr>
            <a:r>
              <a:t>What repeats</a:t>
            </a:r>
          </a:p>
        </p:txBody>
      </p:sp>
      <p:sp>
        <p:nvSpPr>
          <p:cNvPr id="11" name="TextBox 10"/>
          <p:cNvSpPr txBox="1"/>
          <p:nvPr/>
        </p:nvSpPr>
        <p:spPr>
          <a:xfrm>
            <a:off x="6373368" y="5093208"/>
            <a:ext cx="4581144" cy="594360"/>
          </a:xfrm>
          <a:prstGeom prst="rect">
            <a:avLst/>
          </a:prstGeom>
          <a:noFill/>
        </p:spPr>
        <p:txBody>
          <a:bodyPr wrap="square">
            <a:noAutofit/>
          </a:bodyPr>
          <a:lstStyle/>
          <a:p>
            <a:pPr>
              <a:spcAft>
                <a:spcPts val="600"/>
              </a:spcAft>
              <a:defRPr sz="1800">
                <a:solidFill>
                  <a:srgbClr val="152934"/>
                </a:solidFill>
                <a:latin typeface="Aptos"/>
              </a:defRPr>
            </a:pPr>
            <a:r>
              <a:t>Jordan Lee and Priya Shah appear more than once because the report copies data into multiple rows.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6916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Tradeoffs</a:t>
            </a:r>
          </a:p>
        </p:txBody>
      </p:sp>
      <p:sp>
        <p:nvSpPr>
          <p:cNvPr id="3" name="TextBox 2"/>
          <p:cNvSpPr txBox="1"/>
          <p:nvPr/>
        </p:nvSpPr>
        <p:spPr>
          <a:xfrm>
            <a:off x="548640" y="493776"/>
            <a:ext cx="10972800" cy="685800"/>
          </a:xfrm>
          <a:prstGeom prst="rect">
            <a:avLst/>
          </a:prstGeom>
          <a:noFill/>
        </p:spPr>
        <p:txBody>
          <a:bodyPr wrap="none">
            <a:spAutoFit/>
          </a:bodyPr>
          <a:lstStyle/>
          <a:p>
            <a:pPr>
              <a:defRPr sz="2500" b="1">
                <a:solidFill>
                  <a:srgbClr val="152934"/>
                </a:solidFill>
                <a:latin typeface="Aptos Display"/>
              </a:defRPr>
            </a:pPr>
            <a:r>
              <a:t>Flat tables are useful, but they are usually not the best long-term storage model</a:t>
            </a:r>
          </a:p>
        </p:txBody>
      </p:sp>
      <p:cxnSp>
        <p:nvCxnSpPr>
          <p:cNvPr id="4" name="Connector 3"/>
          <p:cNvCxnSpPr/>
          <p:nvPr/>
        </p:nvCxnSpPr>
        <p:spPr>
          <a:xfrm>
            <a:off x="548640" y="1069848"/>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08760"/>
            <a:ext cx="5212080" cy="44805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636776"/>
            <a:ext cx="201168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Useful when</a:t>
            </a:r>
          </a:p>
        </p:txBody>
      </p:sp>
      <p:sp>
        <p:nvSpPr>
          <p:cNvPr id="7" name="TextBox 6"/>
          <p:cNvSpPr txBox="1"/>
          <p:nvPr/>
        </p:nvSpPr>
        <p:spPr>
          <a:xfrm>
            <a:off x="978408" y="2075688"/>
            <a:ext cx="4809744" cy="3749040"/>
          </a:xfrm>
          <a:prstGeom prst="rect">
            <a:avLst/>
          </a:prstGeom>
          <a:noFill/>
        </p:spPr>
        <p:txBody>
          <a:bodyPr wrap="square">
            <a:noAutofit/>
          </a:bodyPr>
          <a:lstStyle/>
          <a:p>
            <a:pPr>
              <a:spcAft>
                <a:spcPts val="600"/>
              </a:spcAft>
              <a:defRPr sz="1900">
                <a:solidFill>
                  <a:srgbClr val="152934"/>
                </a:solidFill>
                <a:latin typeface="Aptos"/>
              </a:defRPr>
            </a:pPr>
            <a:r>
              <a:t>You need one clean report for a human reader.</a:t>
            </a:r>
          </a:p>
          <a:p>
            <a:pPr>
              <a:spcAft>
                <a:spcPts val="600"/>
              </a:spcAft>
              <a:defRPr sz="1900">
                <a:solidFill>
                  <a:srgbClr val="152934"/>
                </a:solidFill>
                <a:latin typeface="Aptos"/>
              </a:defRPr>
            </a:pPr>
            <a:r>
              <a:t>You want a spreadsheet-friendly export.</a:t>
            </a:r>
          </a:p>
          <a:p>
            <a:pPr>
              <a:spcAft>
                <a:spcPts val="600"/>
              </a:spcAft>
              <a:defRPr sz="1900">
                <a:solidFill>
                  <a:srgbClr val="152934"/>
                </a:solidFill>
                <a:latin typeface="Aptos"/>
              </a:defRPr>
            </a:pPr>
            <a:r>
              <a:t>You care more about fast reading than about frequent updates.</a:t>
            </a:r>
          </a:p>
        </p:txBody>
      </p:sp>
      <p:sp>
        <p:nvSpPr>
          <p:cNvPr id="8" name="Rounded Rectangle 7"/>
          <p:cNvSpPr/>
          <p:nvPr/>
        </p:nvSpPr>
        <p:spPr>
          <a:xfrm>
            <a:off x="6172200" y="1508760"/>
            <a:ext cx="5212080" cy="44805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636776"/>
            <a:ext cx="201168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784918"/>
                </a:solidFill>
                <a:latin typeface="Aptos"/>
              </a:defRPr>
            </a:pPr>
            <a:r>
              <a:t>Problems when</a:t>
            </a:r>
          </a:p>
        </p:txBody>
      </p:sp>
      <p:sp>
        <p:nvSpPr>
          <p:cNvPr id="10" name="TextBox 9"/>
          <p:cNvSpPr txBox="1"/>
          <p:nvPr/>
        </p:nvSpPr>
        <p:spPr>
          <a:xfrm>
            <a:off x="6373368" y="2075688"/>
            <a:ext cx="4809744" cy="3749040"/>
          </a:xfrm>
          <a:prstGeom prst="rect">
            <a:avLst/>
          </a:prstGeom>
          <a:noFill/>
        </p:spPr>
        <p:txBody>
          <a:bodyPr wrap="square">
            <a:noAutofit/>
          </a:bodyPr>
          <a:lstStyle/>
          <a:p>
            <a:pPr>
              <a:spcAft>
                <a:spcPts val="600"/>
              </a:spcAft>
              <a:defRPr sz="1900">
                <a:solidFill>
                  <a:srgbClr val="152934"/>
                </a:solidFill>
                <a:latin typeface="Aptos"/>
              </a:defRPr>
            </a:pPr>
            <a:r>
              <a:t>The same fact appears in many rows.</a:t>
            </a:r>
          </a:p>
          <a:p>
            <a:pPr>
              <a:spcAft>
                <a:spcPts val="600"/>
              </a:spcAft>
              <a:defRPr sz="1900">
                <a:solidFill>
                  <a:srgbClr val="152934"/>
                </a:solidFill>
                <a:latin typeface="Aptos"/>
              </a:defRPr>
            </a:pPr>
            <a:r>
              <a:t>One change can require many updates.</a:t>
            </a:r>
          </a:p>
          <a:p>
            <a:pPr>
              <a:spcAft>
                <a:spcPts val="600"/>
              </a:spcAft>
              <a:defRPr sz="1900">
                <a:solidFill>
                  <a:srgbClr val="152934"/>
                </a:solidFill>
                <a:latin typeface="Aptos"/>
              </a:defRPr>
            </a:pPr>
            <a:r>
              <a:t>Repeated sensitive data creates more copies to protect.</a:t>
            </a:r>
          </a:p>
          <a:p>
            <a:pPr>
              <a:spcAft>
                <a:spcPts val="600"/>
              </a:spcAft>
              <a:defRPr sz="1900">
                <a:solidFill>
                  <a:srgbClr val="152934"/>
                </a:solidFill>
                <a:latin typeface="Aptos"/>
              </a:defRPr>
            </a:pPr>
            <a:r>
              <a:t>Mistakes become easier when duplicates drift apart.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6916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Relational Model</a:t>
            </a:r>
          </a:p>
        </p:txBody>
      </p:sp>
      <p:sp>
        <p:nvSpPr>
          <p:cNvPr id="3" name="TextBox 2"/>
          <p:cNvSpPr txBox="1"/>
          <p:nvPr/>
        </p:nvSpPr>
        <p:spPr>
          <a:xfrm>
            <a:off x="548640" y="493776"/>
            <a:ext cx="10972800" cy="685800"/>
          </a:xfrm>
          <a:prstGeom prst="rect">
            <a:avLst/>
          </a:prstGeom>
          <a:noFill/>
        </p:spPr>
        <p:txBody>
          <a:bodyPr wrap="none">
            <a:spAutoFit/>
          </a:bodyPr>
          <a:lstStyle/>
          <a:p>
            <a:pPr>
              <a:defRPr sz="2500" b="1">
                <a:solidFill>
                  <a:srgbClr val="152934"/>
                </a:solidFill>
                <a:latin typeface="Aptos Display"/>
              </a:defRPr>
            </a:pPr>
            <a:r>
              <a:t>A relational design stores one fact in one main place and connects tables with keys</a:t>
            </a:r>
          </a:p>
        </p:txBody>
      </p:sp>
      <p:cxnSp>
        <p:nvCxnSpPr>
          <p:cNvPr id="4" name="Connector 3"/>
          <p:cNvCxnSpPr/>
          <p:nvPr/>
        </p:nvCxnSpPr>
        <p:spPr>
          <a:xfrm>
            <a:off x="548640" y="1069848"/>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508760"/>
            <a:ext cx="3108960" cy="33375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636776"/>
            <a:ext cx="201168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users</a:t>
            </a:r>
          </a:p>
        </p:txBody>
      </p:sp>
      <p:sp>
        <p:nvSpPr>
          <p:cNvPr id="7" name="TextBox 6"/>
          <p:cNvSpPr txBox="1"/>
          <p:nvPr/>
        </p:nvSpPr>
        <p:spPr>
          <a:xfrm>
            <a:off x="932688" y="2075688"/>
            <a:ext cx="2706624" cy="2606040"/>
          </a:xfrm>
          <a:prstGeom prst="rect">
            <a:avLst/>
          </a:prstGeom>
          <a:noFill/>
        </p:spPr>
        <p:txBody>
          <a:bodyPr wrap="square">
            <a:noAutofit/>
          </a:bodyPr>
          <a:lstStyle/>
          <a:p>
            <a:pPr>
              <a:spcAft>
                <a:spcPts val="600"/>
              </a:spcAft>
              <a:defRPr sz="1900">
                <a:solidFill>
                  <a:srgbClr val="152934"/>
                </a:solidFill>
                <a:latin typeface="Aptos"/>
              </a:defRPr>
            </a:pPr>
            <a:r>
              <a:t>user_id</a:t>
            </a:r>
          </a:p>
          <a:p>
            <a:pPr>
              <a:spcAft>
                <a:spcPts val="600"/>
              </a:spcAft>
              <a:defRPr sz="1900">
                <a:solidFill>
                  <a:srgbClr val="152934"/>
                </a:solidFill>
                <a:latin typeface="Aptos"/>
              </a:defRPr>
            </a:pPr>
            <a:r>
              <a:t>full_name</a:t>
            </a:r>
          </a:p>
          <a:p>
            <a:pPr>
              <a:spcAft>
                <a:spcPts val="600"/>
              </a:spcAft>
              <a:defRPr sz="1900">
                <a:solidFill>
                  <a:srgbClr val="152934"/>
                </a:solidFill>
                <a:latin typeface="Aptos"/>
              </a:defRPr>
            </a:pPr>
            <a:r>
              <a:t>role</a:t>
            </a:r>
          </a:p>
          <a:p>
            <a:pPr>
              <a:spcAft>
                <a:spcPts val="600"/>
              </a:spcAft>
              <a:defRPr sz="1900">
                <a:solidFill>
                  <a:srgbClr val="152934"/>
                </a:solidFill>
                <a:latin typeface="Aptos"/>
              </a:defRPr>
            </a:pPr>
            <a:r>
              <a:t>preferred_region</a:t>
            </a:r>
          </a:p>
        </p:txBody>
      </p:sp>
      <p:sp>
        <p:nvSpPr>
          <p:cNvPr id="8" name="Rounded Rectangle 7"/>
          <p:cNvSpPr/>
          <p:nvPr/>
        </p:nvSpPr>
        <p:spPr>
          <a:xfrm>
            <a:off x="4526280" y="1508760"/>
            <a:ext cx="3108960" cy="33375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63440" y="1636776"/>
            <a:ext cx="201168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784918"/>
                </a:solidFill>
                <a:latin typeface="Aptos"/>
              </a:defRPr>
            </a:pPr>
            <a:r>
              <a:t>workspaces</a:t>
            </a:r>
          </a:p>
        </p:txBody>
      </p:sp>
      <p:sp>
        <p:nvSpPr>
          <p:cNvPr id="10" name="TextBox 9"/>
          <p:cNvSpPr txBox="1"/>
          <p:nvPr/>
        </p:nvSpPr>
        <p:spPr>
          <a:xfrm>
            <a:off x="4727448" y="2075688"/>
            <a:ext cx="2706624" cy="2606040"/>
          </a:xfrm>
          <a:prstGeom prst="rect">
            <a:avLst/>
          </a:prstGeom>
          <a:noFill/>
        </p:spPr>
        <p:txBody>
          <a:bodyPr wrap="square">
            <a:noAutofit/>
          </a:bodyPr>
          <a:lstStyle/>
          <a:p>
            <a:pPr>
              <a:spcAft>
                <a:spcPts val="600"/>
              </a:spcAft>
              <a:defRPr sz="1900">
                <a:solidFill>
                  <a:srgbClr val="152934"/>
                </a:solidFill>
                <a:latin typeface="Aptos"/>
              </a:defRPr>
            </a:pPr>
            <a:r>
              <a:t>workspace_id</a:t>
            </a:r>
          </a:p>
          <a:p>
            <a:pPr>
              <a:spcAft>
                <a:spcPts val="600"/>
              </a:spcAft>
              <a:defRPr sz="1900">
                <a:solidFill>
                  <a:srgbClr val="152934"/>
                </a:solidFill>
                <a:latin typeface="Aptos"/>
              </a:defRPr>
            </a:pPr>
            <a:r>
              <a:t>workspace_name</a:t>
            </a:r>
          </a:p>
          <a:p>
            <a:pPr>
              <a:spcAft>
                <a:spcPts val="600"/>
              </a:spcAft>
              <a:defRPr sz="1900">
                <a:solidFill>
                  <a:srgbClr val="152934"/>
                </a:solidFill>
                <a:latin typeface="Aptos"/>
              </a:defRPr>
            </a:pPr>
            <a:r>
              <a:t>owner_user_id</a:t>
            </a:r>
          </a:p>
          <a:p>
            <a:pPr>
              <a:spcAft>
                <a:spcPts val="600"/>
              </a:spcAft>
              <a:defRPr sz="1900">
                <a:solidFill>
                  <a:srgbClr val="152934"/>
                </a:solidFill>
                <a:latin typeface="Aptos"/>
              </a:defRPr>
            </a:pPr>
            <a:r>
              <a:t>cloud_provider</a:t>
            </a:r>
          </a:p>
        </p:txBody>
      </p:sp>
      <p:sp>
        <p:nvSpPr>
          <p:cNvPr id="11" name="Rounded Rectangle 10"/>
          <p:cNvSpPr/>
          <p:nvPr/>
        </p:nvSpPr>
        <p:spPr>
          <a:xfrm>
            <a:off x="8321040" y="1508760"/>
            <a:ext cx="3108960" cy="33375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58200" y="1636776"/>
            <a:ext cx="201168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files</a:t>
            </a:r>
          </a:p>
        </p:txBody>
      </p:sp>
      <p:sp>
        <p:nvSpPr>
          <p:cNvPr id="13" name="TextBox 12"/>
          <p:cNvSpPr txBox="1"/>
          <p:nvPr/>
        </p:nvSpPr>
        <p:spPr>
          <a:xfrm>
            <a:off x="8522208" y="2075688"/>
            <a:ext cx="2706624" cy="2606040"/>
          </a:xfrm>
          <a:prstGeom prst="rect">
            <a:avLst/>
          </a:prstGeom>
          <a:noFill/>
        </p:spPr>
        <p:txBody>
          <a:bodyPr wrap="square">
            <a:noAutofit/>
          </a:bodyPr>
          <a:lstStyle/>
          <a:p>
            <a:pPr>
              <a:spcAft>
                <a:spcPts val="600"/>
              </a:spcAft>
              <a:defRPr sz="1900">
                <a:solidFill>
                  <a:srgbClr val="152934"/>
                </a:solidFill>
                <a:latin typeface="Aptos"/>
              </a:defRPr>
            </a:pPr>
            <a:r>
              <a:t>file_id</a:t>
            </a:r>
          </a:p>
          <a:p>
            <a:pPr>
              <a:spcAft>
                <a:spcPts val="600"/>
              </a:spcAft>
              <a:defRPr sz="1900">
                <a:solidFill>
                  <a:srgbClr val="152934"/>
                </a:solidFill>
                <a:latin typeface="Aptos"/>
              </a:defRPr>
            </a:pPr>
            <a:r>
              <a:t>workspace_id</a:t>
            </a:r>
          </a:p>
          <a:p>
            <a:pPr>
              <a:spcAft>
                <a:spcPts val="600"/>
              </a:spcAft>
              <a:defRPr sz="1900">
                <a:solidFill>
                  <a:srgbClr val="152934"/>
                </a:solidFill>
                <a:latin typeface="Aptos"/>
              </a:defRPr>
            </a:pPr>
            <a:r>
              <a:t>created_by_user_id</a:t>
            </a:r>
          </a:p>
          <a:p>
            <a:pPr>
              <a:spcAft>
                <a:spcPts val="600"/>
              </a:spcAft>
              <a:defRPr sz="1900">
                <a:solidFill>
                  <a:srgbClr val="152934"/>
                </a:solidFill>
                <a:latin typeface="Aptos"/>
              </a:defRPr>
            </a:pPr>
            <a:r>
              <a:t>file_name</a:t>
            </a:r>
          </a:p>
        </p:txBody>
      </p:sp>
      <p:cxnSp>
        <p:nvCxnSpPr>
          <p:cNvPr id="14" name="Connector 13"/>
          <p:cNvCxnSpPr/>
          <p:nvPr/>
        </p:nvCxnSpPr>
        <p:spPr>
          <a:xfrm>
            <a:off x="3840480" y="3154680"/>
            <a:ext cx="685800" cy="0"/>
          </a:xfrm>
          <a:prstGeom prst="line">
            <a:avLst/>
          </a:prstGeom>
          <a:ln w="25400">
            <a:solidFill>
              <a:srgbClr val="19617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635240" y="3154680"/>
            <a:ext cx="685800" cy="0"/>
          </a:xfrm>
          <a:prstGeom prst="line">
            <a:avLst/>
          </a:prstGeom>
          <a:ln w="25400">
            <a:solidFill>
              <a:srgbClr val="196175"/>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68680" y="5212080"/>
            <a:ext cx="10515600" cy="7315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5285232"/>
            <a:ext cx="10296144" cy="585216"/>
          </a:xfrm>
          <a:prstGeom prst="rect">
            <a:avLst/>
          </a:prstGeom>
          <a:noFill/>
        </p:spPr>
        <p:txBody>
          <a:bodyPr wrap="square">
            <a:noAutofit/>
          </a:bodyPr>
          <a:lstStyle/>
          <a:p>
            <a:pPr>
              <a:spcAft>
                <a:spcPts val="600"/>
              </a:spcAft>
              <a:defRPr sz="2000">
                <a:solidFill>
                  <a:srgbClr val="152934"/>
                </a:solidFill>
                <a:latin typeface="Aptos"/>
              </a:defRPr>
            </a:pPr>
            <a:r>
              <a:t>Why teams choose this model: it reduces duplication, keeps updates cleaner, and works well when accuracy and consistency matter.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6916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Relational Query</a:t>
            </a:r>
          </a:p>
        </p:txBody>
      </p:sp>
      <p:sp>
        <p:nvSpPr>
          <p:cNvPr id="3" name="TextBox 2"/>
          <p:cNvSpPr txBox="1"/>
          <p:nvPr/>
        </p:nvSpPr>
        <p:spPr>
          <a:xfrm>
            <a:off x="548640" y="493776"/>
            <a:ext cx="10972800" cy="685800"/>
          </a:xfrm>
          <a:prstGeom prst="rect">
            <a:avLst/>
          </a:prstGeom>
          <a:noFill/>
        </p:spPr>
        <p:txBody>
          <a:bodyPr wrap="none">
            <a:spAutoFit/>
          </a:bodyPr>
          <a:lstStyle/>
          <a:p>
            <a:pPr>
              <a:defRPr sz="2500" b="1">
                <a:solidFill>
                  <a:srgbClr val="152934"/>
                </a:solidFill>
                <a:latin typeface="Aptos Display"/>
              </a:defRPr>
            </a:pPr>
            <a:r>
              <a:t>If we want one report from several tables, we join them at query time</a:t>
            </a:r>
          </a:p>
        </p:txBody>
      </p:sp>
      <p:cxnSp>
        <p:nvCxnSpPr>
          <p:cNvPr id="4" name="Connector 3"/>
          <p:cNvCxnSpPr/>
          <p:nvPr/>
        </p:nvCxnSpPr>
        <p:spPr>
          <a:xfrm>
            <a:off x="548640" y="1069848"/>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54480"/>
            <a:ext cx="653796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6035040" cy="3931920"/>
          </a:xfrm>
          <a:prstGeom prst="rect">
            <a:avLst/>
          </a:prstGeom>
          <a:noFill/>
        </p:spPr>
        <p:txBody>
          <a:bodyPr wrap="square">
            <a:noAutofit/>
          </a:bodyPr>
          <a:lstStyle/>
          <a:p>
            <a:pPr>
              <a:spcAft>
                <a:spcPts val="600"/>
              </a:spcAft>
              <a:defRPr sz="1700">
                <a:solidFill>
                  <a:srgbClr val="152934"/>
                </a:solidFill>
                <a:latin typeface="Aptos"/>
              </a:defRPr>
            </a:pPr>
            <a:r>
              <a:t>SELECT f.file_name,</a:t>
            </a:r>
          </a:p>
          <a:p>
            <a:pPr>
              <a:spcAft>
                <a:spcPts val="600"/>
              </a:spcAft>
              <a:defRPr sz="1700">
                <a:solidFill>
                  <a:srgbClr val="152934"/>
                </a:solidFill>
                <a:latin typeface="Aptos"/>
              </a:defRPr>
            </a:pPr>
            <a:r>
              <a:t>       w.workspace_name,</a:t>
            </a:r>
          </a:p>
          <a:p>
            <a:pPr>
              <a:spcAft>
                <a:spcPts val="600"/>
              </a:spcAft>
              <a:defRPr sz="1700">
                <a:solidFill>
                  <a:srgbClr val="152934"/>
                </a:solidFill>
                <a:latin typeface="Aptos"/>
              </a:defRPr>
            </a:pPr>
            <a:r>
              <a:t>       owner.full_name AS owner_name</a:t>
            </a:r>
          </a:p>
          <a:p>
            <a:pPr>
              <a:spcAft>
                <a:spcPts val="600"/>
              </a:spcAft>
              <a:defRPr sz="1700">
                <a:solidFill>
                  <a:srgbClr val="152934"/>
                </a:solidFill>
                <a:latin typeface="Aptos"/>
              </a:defRPr>
            </a:pPr>
            <a:r>
              <a:t>FROM files AS f</a:t>
            </a:r>
          </a:p>
          <a:p>
            <a:pPr>
              <a:spcAft>
                <a:spcPts val="600"/>
              </a:spcAft>
              <a:defRPr sz="1700">
                <a:solidFill>
                  <a:srgbClr val="152934"/>
                </a:solidFill>
                <a:latin typeface="Aptos"/>
              </a:defRPr>
            </a:pPr>
            <a:r>
              <a:t>JOIN workspaces AS w</a:t>
            </a:r>
          </a:p>
          <a:p>
            <a:pPr>
              <a:spcAft>
                <a:spcPts val="600"/>
              </a:spcAft>
              <a:defRPr sz="1700">
                <a:solidFill>
                  <a:srgbClr val="152934"/>
                </a:solidFill>
                <a:latin typeface="Aptos"/>
              </a:defRPr>
            </a:pPr>
            <a:r>
              <a:t>  ON f.workspace_id = w.workspace_id</a:t>
            </a:r>
          </a:p>
          <a:p>
            <a:pPr>
              <a:spcAft>
                <a:spcPts val="600"/>
              </a:spcAft>
              <a:defRPr sz="1700">
                <a:solidFill>
                  <a:srgbClr val="152934"/>
                </a:solidFill>
                <a:latin typeface="Aptos"/>
              </a:defRPr>
            </a:pPr>
            <a:r>
              <a:t>JOIN users AS owner</a:t>
            </a:r>
          </a:p>
          <a:p>
            <a:pPr>
              <a:spcAft>
                <a:spcPts val="600"/>
              </a:spcAft>
              <a:defRPr sz="1700">
                <a:solidFill>
                  <a:srgbClr val="152934"/>
                </a:solidFill>
                <a:latin typeface="Aptos"/>
              </a:defRPr>
            </a:pPr>
            <a:r>
              <a:t>  ON w.owner_user_id = owner.user_id;</a:t>
            </a:r>
          </a:p>
        </p:txBody>
      </p:sp>
      <p:sp>
        <p:nvSpPr>
          <p:cNvPr id="7" name="Rounded Rectangle 6"/>
          <p:cNvSpPr/>
          <p:nvPr/>
        </p:nvSpPr>
        <p:spPr>
          <a:xfrm>
            <a:off x="7635240" y="1600200"/>
            <a:ext cx="3703320" cy="182880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0" y="1728216"/>
            <a:ext cx="201168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What this means</a:t>
            </a:r>
          </a:p>
        </p:txBody>
      </p:sp>
      <p:sp>
        <p:nvSpPr>
          <p:cNvPr id="9" name="TextBox 8"/>
          <p:cNvSpPr txBox="1"/>
          <p:nvPr/>
        </p:nvSpPr>
        <p:spPr>
          <a:xfrm>
            <a:off x="7836408" y="2167128"/>
            <a:ext cx="3300984" cy="1097280"/>
          </a:xfrm>
          <a:prstGeom prst="rect">
            <a:avLst/>
          </a:prstGeom>
          <a:noFill/>
        </p:spPr>
        <p:txBody>
          <a:bodyPr wrap="square">
            <a:noAutofit/>
          </a:bodyPr>
          <a:lstStyle/>
          <a:p>
            <a:pPr>
              <a:spcAft>
                <a:spcPts val="600"/>
              </a:spcAft>
              <a:defRPr sz="1800">
                <a:solidFill>
                  <a:srgbClr val="152934"/>
                </a:solidFill>
                <a:latin typeface="Aptos"/>
              </a:defRPr>
            </a:pPr>
            <a:r>
              <a:t>The database combines matching rows from separate tables when we ask for them.</a:t>
            </a:r>
          </a:p>
        </p:txBody>
      </p:sp>
      <p:sp>
        <p:nvSpPr>
          <p:cNvPr id="10" name="Rounded Rectangle 9"/>
          <p:cNvSpPr/>
          <p:nvPr/>
        </p:nvSpPr>
        <p:spPr>
          <a:xfrm>
            <a:off x="7635240" y="3703320"/>
            <a:ext cx="3703320" cy="182880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0" y="3831336"/>
            <a:ext cx="201168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784918"/>
                </a:solidFill>
                <a:latin typeface="Aptos"/>
              </a:defRPr>
            </a:pPr>
            <a:r>
              <a:t>Tradeoff</a:t>
            </a:r>
          </a:p>
        </p:txBody>
      </p:sp>
      <p:sp>
        <p:nvSpPr>
          <p:cNvPr id="12" name="TextBox 11"/>
          <p:cNvSpPr txBox="1"/>
          <p:nvPr/>
        </p:nvSpPr>
        <p:spPr>
          <a:xfrm>
            <a:off x="7836408" y="4270248"/>
            <a:ext cx="3300984" cy="1097280"/>
          </a:xfrm>
          <a:prstGeom prst="rect">
            <a:avLst/>
          </a:prstGeom>
          <a:noFill/>
        </p:spPr>
        <p:txBody>
          <a:bodyPr wrap="square">
            <a:noAutofit/>
          </a:bodyPr>
          <a:lstStyle/>
          <a:p>
            <a:pPr>
              <a:spcAft>
                <a:spcPts val="600"/>
              </a:spcAft>
              <a:defRPr sz="1800">
                <a:solidFill>
                  <a:srgbClr val="152934"/>
                </a:solidFill>
                <a:latin typeface="Aptos"/>
              </a:defRPr>
            </a:pPr>
            <a:r>
              <a:t>The model is clean, but beginners have to learn joins.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6916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Document Model</a:t>
            </a:r>
          </a:p>
        </p:txBody>
      </p:sp>
      <p:sp>
        <p:nvSpPr>
          <p:cNvPr id="3" name="TextBox 2"/>
          <p:cNvSpPr txBox="1"/>
          <p:nvPr/>
        </p:nvSpPr>
        <p:spPr>
          <a:xfrm>
            <a:off x="548640" y="493776"/>
            <a:ext cx="10972800" cy="685800"/>
          </a:xfrm>
          <a:prstGeom prst="rect">
            <a:avLst/>
          </a:prstGeom>
          <a:noFill/>
        </p:spPr>
        <p:txBody>
          <a:bodyPr wrap="none">
            <a:spAutoFit/>
          </a:bodyPr>
          <a:lstStyle/>
          <a:p>
            <a:pPr>
              <a:defRPr sz="2500" b="1">
                <a:solidFill>
                  <a:srgbClr val="152934"/>
                </a:solidFill>
                <a:latin typeface="Aptos Display"/>
              </a:defRPr>
            </a:pPr>
            <a:r>
              <a:t>A document model stores related information together as one nested object</a:t>
            </a:r>
          </a:p>
        </p:txBody>
      </p:sp>
      <p:cxnSp>
        <p:nvCxnSpPr>
          <p:cNvPr id="4" name="Connector 3"/>
          <p:cNvCxnSpPr/>
          <p:nvPr/>
        </p:nvCxnSpPr>
        <p:spPr>
          <a:xfrm>
            <a:off x="548640" y="1069848"/>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08760"/>
            <a:ext cx="65836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83080"/>
            <a:ext cx="6035040" cy="3931920"/>
          </a:xfrm>
          <a:prstGeom prst="rect">
            <a:avLst/>
          </a:prstGeom>
          <a:noFill/>
        </p:spPr>
        <p:txBody>
          <a:bodyPr wrap="square">
            <a:noAutofit/>
          </a:bodyPr>
          <a:lstStyle/>
          <a:p>
            <a:pPr>
              <a:spcAft>
                <a:spcPts val="600"/>
              </a:spcAft>
              <a:defRPr sz="1600">
                <a:solidFill>
                  <a:srgbClr val="152934"/>
                </a:solidFill>
                <a:latin typeface="Aptos"/>
              </a:defRPr>
            </a:pPr>
            <a:r>
              <a:t>{</a:t>
            </a:r>
          </a:p>
          <a:p>
            <a:pPr>
              <a:spcAft>
                <a:spcPts val="600"/>
              </a:spcAft>
              <a:defRPr sz="1600">
                <a:solidFill>
                  <a:srgbClr val="152934"/>
                </a:solidFill>
                <a:latin typeface="Aptos"/>
              </a:defRPr>
            </a:pPr>
            <a:r>
              <a:t>  "_id": "WS101",</a:t>
            </a:r>
          </a:p>
          <a:p>
            <a:pPr>
              <a:spcAft>
                <a:spcPts val="600"/>
              </a:spcAft>
              <a:defRPr sz="1600">
                <a:solidFill>
                  <a:srgbClr val="152934"/>
                </a:solidFill>
                <a:latin typeface="Aptos"/>
              </a:defRPr>
            </a:pPr>
            <a:r>
              <a:t>  "workspace_name": "TLS Lab Submissions",</a:t>
            </a:r>
          </a:p>
          <a:p>
            <a:pPr>
              <a:spcAft>
                <a:spcPts val="600"/>
              </a:spcAft>
              <a:defRPr sz="1600">
                <a:solidFill>
                  <a:srgbClr val="152934"/>
                </a:solidFill>
                <a:latin typeface="Aptos"/>
              </a:defRPr>
            </a:pPr>
            <a:r>
              <a:t>  "owner": {"user_id": "U1003", "full_name": "Priya Shah"},</a:t>
            </a:r>
          </a:p>
          <a:p>
            <a:pPr>
              <a:spcAft>
                <a:spcPts val="600"/>
              </a:spcAft>
              <a:defRPr sz="1600">
                <a:solidFill>
                  <a:srgbClr val="152934"/>
                </a:solidFill>
                <a:latin typeface="Aptos"/>
              </a:defRPr>
            </a:pPr>
            <a:r>
              <a:t>  "files": [</a:t>
            </a:r>
          </a:p>
          <a:p>
            <a:pPr>
              <a:spcAft>
                <a:spcPts val="600"/>
              </a:spcAft>
              <a:defRPr sz="1600">
                <a:solidFill>
                  <a:srgbClr val="152934"/>
                </a:solidFill>
                <a:latin typeface="Aptos"/>
              </a:defRPr>
            </a:pPr>
            <a:r>
              <a:t>    {"file_id": "F001", "file_name": "tls_lab_reflection.docx"},</a:t>
            </a:r>
          </a:p>
          <a:p>
            <a:pPr>
              <a:spcAft>
                <a:spcPts val="600"/>
              </a:spcAft>
              <a:defRPr sz="1600">
                <a:solidFill>
                  <a:srgbClr val="152934"/>
                </a:solidFill>
                <a:latin typeface="Aptos"/>
              </a:defRPr>
            </a:pPr>
            <a:r>
              <a:t>    {"file_id": "F002", "file_name": "certificate_notes.csv"}</a:t>
            </a:r>
          </a:p>
          <a:p>
            <a:pPr>
              <a:spcAft>
                <a:spcPts val="600"/>
              </a:spcAft>
              <a:defRPr sz="1600">
                <a:solidFill>
                  <a:srgbClr val="152934"/>
                </a:solidFill>
                <a:latin typeface="Aptos"/>
              </a:defRPr>
            </a:pPr>
            <a:r>
              <a:t>  ]</a:t>
            </a:r>
          </a:p>
          <a:p>
            <a:pPr>
              <a:spcAft>
                <a:spcPts val="600"/>
              </a:spcAft>
              <a:defRPr sz="1600">
                <a:solidFill>
                  <a:srgbClr val="152934"/>
                </a:solidFill>
                <a:latin typeface="Aptos"/>
              </a:defRPr>
            </a:pPr>
            <a:r>
              <a:t>}</a:t>
            </a:r>
          </a:p>
        </p:txBody>
      </p:sp>
      <p:sp>
        <p:nvSpPr>
          <p:cNvPr id="7" name="Rounded Rectangle 6"/>
          <p:cNvSpPr/>
          <p:nvPr/>
        </p:nvSpPr>
        <p:spPr>
          <a:xfrm>
            <a:off x="7635240" y="1600200"/>
            <a:ext cx="3703320" cy="182880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0" y="1728216"/>
            <a:ext cx="201168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Why teams choose this</a:t>
            </a:r>
          </a:p>
        </p:txBody>
      </p:sp>
      <p:sp>
        <p:nvSpPr>
          <p:cNvPr id="9" name="TextBox 8"/>
          <p:cNvSpPr txBox="1"/>
          <p:nvPr/>
        </p:nvSpPr>
        <p:spPr>
          <a:xfrm>
            <a:off x="7836408" y="2167128"/>
            <a:ext cx="3300984" cy="1097280"/>
          </a:xfrm>
          <a:prstGeom prst="rect">
            <a:avLst/>
          </a:prstGeom>
          <a:noFill/>
        </p:spPr>
        <p:txBody>
          <a:bodyPr wrap="square">
            <a:noAutofit/>
          </a:bodyPr>
          <a:lstStyle/>
          <a:p>
            <a:pPr>
              <a:spcAft>
                <a:spcPts val="600"/>
              </a:spcAft>
              <a:defRPr sz="1800">
                <a:solidFill>
                  <a:srgbClr val="152934"/>
                </a:solidFill>
                <a:latin typeface="Aptos"/>
              </a:defRPr>
            </a:pPr>
            <a:r>
              <a:t>One read can return one complete workspace object for the app.</a:t>
            </a:r>
          </a:p>
        </p:txBody>
      </p:sp>
      <p:sp>
        <p:nvSpPr>
          <p:cNvPr id="10" name="Rounded Rectangle 9"/>
          <p:cNvSpPr/>
          <p:nvPr/>
        </p:nvSpPr>
        <p:spPr>
          <a:xfrm>
            <a:off x="7635240" y="3703320"/>
            <a:ext cx="3703320" cy="182880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0" y="3831336"/>
            <a:ext cx="201168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784918"/>
                </a:solidFill>
                <a:latin typeface="Aptos"/>
              </a:defRPr>
            </a:pPr>
            <a:r>
              <a:t>Tradeoff</a:t>
            </a:r>
          </a:p>
        </p:txBody>
      </p:sp>
      <p:sp>
        <p:nvSpPr>
          <p:cNvPr id="12" name="TextBox 11"/>
          <p:cNvSpPr txBox="1"/>
          <p:nvPr/>
        </p:nvSpPr>
        <p:spPr>
          <a:xfrm>
            <a:off x="7836408" y="4270248"/>
            <a:ext cx="3300984" cy="1097280"/>
          </a:xfrm>
          <a:prstGeom prst="rect">
            <a:avLst/>
          </a:prstGeom>
          <a:noFill/>
        </p:spPr>
        <p:txBody>
          <a:bodyPr wrap="square">
            <a:noAutofit/>
          </a:bodyPr>
          <a:lstStyle/>
          <a:p>
            <a:pPr>
              <a:spcAft>
                <a:spcPts val="600"/>
              </a:spcAft>
              <a:defRPr sz="1800">
                <a:solidFill>
                  <a:srgbClr val="152934"/>
                </a:solidFill>
                <a:latin typeface="Aptos"/>
              </a:defRPr>
            </a:pPr>
            <a:r>
              <a:t>Repeated embedded data can become harder to update consistently.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6916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Choosing a Model</a:t>
            </a:r>
          </a:p>
        </p:txBody>
      </p:sp>
      <p:sp>
        <p:nvSpPr>
          <p:cNvPr id="3" name="TextBox 2"/>
          <p:cNvSpPr txBox="1"/>
          <p:nvPr/>
        </p:nvSpPr>
        <p:spPr>
          <a:xfrm>
            <a:off x="548640" y="493776"/>
            <a:ext cx="10972800" cy="685800"/>
          </a:xfrm>
          <a:prstGeom prst="rect">
            <a:avLst/>
          </a:prstGeom>
          <a:noFill/>
        </p:spPr>
        <p:txBody>
          <a:bodyPr wrap="none">
            <a:spAutoFit/>
          </a:bodyPr>
          <a:lstStyle/>
          <a:p>
            <a:pPr>
              <a:defRPr sz="2500" b="1">
                <a:solidFill>
                  <a:srgbClr val="152934"/>
                </a:solidFill>
                <a:latin typeface="Aptos Display"/>
              </a:defRPr>
            </a:pPr>
            <a:r>
              <a:t>The best model depends on the job you need the system to do</a:t>
            </a:r>
          </a:p>
        </p:txBody>
      </p:sp>
      <p:cxnSp>
        <p:nvCxnSpPr>
          <p:cNvPr id="4" name="Connector 3"/>
          <p:cNvCxnSpPr/>
          <p:nvPr/>
        </p:nvCxnSpPr>
        <p:spPr>
          <a:xfrm>
            <a:off x="548640" y="1069848"/>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600200"/>
            <a:ext cx="3566160" cy="438912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728216"/>
            <a:ext cx="201168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Flat table</a:t>
            </a:r>
          </a:p>
        </p:txBody>
      </p:sp>
      <p:sp>
        <p:nvSpPr>
          <p:cNvPr id="7" name="TextBox 6"/>
          <p:cNvSpPr txBox="1"/>
          <p:nvPr/>
        </p:nvSpPr>
        <p:spPr>
          <a:xfrm>
            <a:off x="841248" y="2167128"/>
            <a:ext cx="3163824" cy="3657600"/>
          </a:xfrm>
          <a:prstGeom prst="rect">
            <a:avLst/>
          </a:prstGeom>
          <a:noFill/>
        </p:spPr>
        <p:txBody>
          <a:bodyPr wrap="square">
            <a:noAutofit/>
          </a:bodyPr>
          <a:lstStyle/>
          <a:p>
            <a:pPr>
              <a:spcAft>
                <a:spcPts val="600"/>
              </a:spcAft>
              <a:defRPr sz="1800">
                <a:solidFill>
                  <a:srgbClr val="152934"/>
                </a:solidFill>
                <a:latin typeface="Aptos"/>
              </a:defRPr>
            </a:pPr>
            <a:r>
              <a:t>Best fit:</a:t>
            </a:r>
          </a:p>
          <a:p>
            <a:pPr>
              <a:spcAft>
                <a:spcPts val="600"/>
              </a:spcAft>
              <a:defRPr sz="1800">
                <a:solidFill>
                  <a:srgbClr val="152934"/>
                </a:solidFill>
                <a:latin typeface="Aptos"/>
              </a:defRPr>
            </a:pPr>
            <a:r>
              <a:t>reports, dashboards, exports</a:t>
            </a:r>
          </a:p>
          <a:p>
            <a:pPr>
              <a:spcAft>
                <a:spcPts val="600"/>
              </a:spcAft>
              <a:defRPr sz="1800">
                <a:solidFill>
                  <a:srgbClr val="152934"/>
                </a:solidFill>
                <a:latin typeface="Aptos"/>
              </a:defRPr>
            </a:pPr>
          </a:p>
          <a:p>
            <a:pPr>
              <a:spcAft>
                <a:spcPts val="600"/>
              </a:spcAft>
              <a:defRPr sz="1800">
                <a:solidFill>
                  <a:srgbClr val="152934"/>
                </a:solidFill>
                <a:latin typeface="Aptos"/>
              </a:defRPr>
            </a:pPr>
            <a:r>
              <a:t>Strength:</a:t>
            </a:r>
          </a:p>
          <a:p>
            <a:pPr>
              <a:spcAft>
                <a:spcPts val="600"/>
              </a:spcAft>
              <a:defRPr sz="1800">
                <a:solidFill>
                  <a:srgbClr val="152934"/>
                </a:solidFill>
                <a:latin typeface="Aptos"/>
              </a:defRPr>
            </a:pPr>
            <a:r>
              <a:t>easy for humans to read</a:t>
            </a:r>
          </a:p>
          <a:p>
            <a:pPr>
              <a:spcAft>
                <a:spcPts val="600"/>
              </a:spcAft>
              <a:defRPr sz="1800">
                <a:solidFill>
                  <a:srgbClr val="152934"/>
                </a:solidFill>
                <a:latin typeface="Aptos"/>
              </a:defRPr>
            </a:pPr>
          </a:p>
          <a:p>
            <a:pPr>
              <a:spcAft>
                <a:spcPts val="600"/>
              </a:spcAft>
              <a:defRPr sz="1800">
                <a:solidFill>
                  <a:srgbClr val="152934"/>
                </a:solidFill>
                <a:latin typeface="Aptos"/>
              </a:defRPr>
            </a:pPr>
            <a:r>
              <a:t>Watch out for:</a:t>
            </a:r>
          </a:p>
          <a:p>
            <a:pPr>
              <a:spcAft>
                <a:spcPts val="600"/>
              </a:spcAft>
              <a:defRPr sz="1800">
                <a:solidFill>
                  <a:srgbClr val="152934"/>
                </a:solidFill>
                <a:latin typeface="Aptos"/>
              </a:defRPr>
            </a:pPr>
            <a:r>
              <a:t>duplication and update pain</a:t>
            </a:r>
          </a:p>
        </p:txBody>
      </p:sp>
      <p:sp>
        <p:nvSpPr>
          <p:cNvPr id="8" name="Rounded Rectangle 7"/>
          <p:cNvSpPr/>
          <p:nvPr/>
        </p:nvSpPr>
        <p:spPr>
          <a:xfrm>
            <a:off x="4315968" y="1600200"/>
            <a:ext cx="3566160" cy="438912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28216"/>
            <a:ext cx="201168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784918"/>
                </a:solidFill>
                <a:latin typeface="Aptos"/>
              </a:defRPr>
            </a:pPr>
            <a:r>
              <a:t>Relational</a:t>
            </a:r>
          </a:p>
        </p:txBody>
      </p:sp>
      <p:sp>
        <p:nvSpPr>
          <p:cNvPr id="10" name="TextBox 9"/>
          <p:cNvSpPr txBox="1"/>
          <p:nvPr/>
        </p:nvSpPr>
        <p:spPr>
          <a:xfrm>
            <a:off x="4517136" y="2167128"/>
            <a:ext cx="3163824" cy="3657600"/>
          </a:xfrm>
          <a:prstGeom prst="rect">
            <a:avLst/>
          </a:prstGeom>
          <a:noFill/>
        </p:spPr>
        <p:txBody>
          <a:bodyPr wrap="square">
            <a:noAutofit/>
          </a:bodyPr>
          <a:lstStyle/>
          <a:p>
            <a:pPr>
              <a:spcAft>
                <a:spcPts val="600"/>
              </a:spcAft>
              <a:defRPr sz="1800">
                <a:solidFill>
                  <a:srgbClr val="152934"/>
                </a:solidFill>
                <a:latin typeface="Aptos"/>
              </a:defRPr>
            </a:pPr>
            <a:r>
              <a:t>Best fit:</a:t>
            </a:r>
          </a:p>
          <a:p>
            <a:pPr>
              <a:spcAft>
                <a:spcPts val="600"/>
              </a:spcAft>
              <a:defRPr sz="1800">
                <a:solidFill>
                  <a:srgbClr val="152934"/>
                </a:solidFill>
                <a:latin typeface="Aptos"/>
              </a:defRPr>
            </a:pPr>
            <a:r>
              <a:t>frequent updates and strong consistency</a:t>
            </a:r>
          </a:p>
          <a:p>
            <a:pPr>
              <a:spcAft>
                <a:spcPts val="600"/>
              </a:spcAft>
              <a:defRPr sz="1800">
                <a:solidFill>
                  <a:srgbClr val="152934"/>
                </a:solidFill>
                <a:latin typeface="Aptos"/>
              </a:defRPr>
            </a:pPr>
          </a:p>
          <a:p>
            <a:pPr>
              <a:spcAft>
                <a:spcPts val="600"/>
              </a:spcAft>
              <a:defRPr sz="1800">
                <a:solidFill>
                  <a:srgbClr val="152934"/>
                </a:solidFill>
                <a:latin typeface="Aptos"/>
              </a:defRPr>
            </a:pPr>
            <a:r>
              <a:t>Strength:</a:t>
            </a:r>
          </a:p>
          <a:p>
            <a:pPr>
              <a:spcAft>
                <a:spcPts val="600"/>
              </a:spcAft>
              <a:defRPr sz="1800">
                <a:solidFill>
                  <a:srgbClr val="152934"/>
                </a:solidFill>
                <a:latin typeface="Aptos"/>
              </a:defRPr>
            </a:pPr>
            <a:r>
              <a:t>one authoritative home for key facts</a:t>
            </a:r>
          </a:p>
          <a:p>
            <a:pPr>
              <a:spcAft>
                <a:spcPts val="600"/>
              </a:spcAft>
              <a:defRPr sz="1800">
                <a:solidFill>
                  <a:srgbClr val="152934"/>
                </a:solidFill>
                <a:latin typeface="Aptos"/>
              </a:defRPr>
            </a:pPr>
          </a:p>
          <a:p>
            <a:pPr>
              <a:spcAft>
                <a:spcPts val="600"/>
              </a:spcAft>
              <a:defRPr sz="1800">
                <a:solidFill>
                  <a:srgbClr val="152934"/>
                </a:solidFill>
                <a:latin typeface="Aptos"/>
              </a:defRPr>
            </a:pPr>
            <a:r>
              <a:t>Watch out for:</a:t>
            </a:r>
          </a:p>
          <a:p>
            <a:pPr>
              <a:spcAft>
                <a:spcPts val="600"/>
              </a:spcAft>
              <a:defRPr sz="1800">
                <a:solidFill>
                  <a:srgbClr val="152934"/>
                </a:solidFill>
                <a:latin typeface="Aptos"/>
              </a:defRPr>
            </a:pPr>
            <a:r>
              <a:t>joins add complexity</a:t>
            </a:r>
          </a:p>
        </p:txBody>
      </p:sp>
      <p:sp>
        <p:nvSpPr>
          <p:cNvPr id="11" name="Rounded Rectangle 10"/>
          <p:cNvSpPr/>
          <p:nvPr/>
        </p:nvSpPr>
        <p:spPr>
          <a:xfrm>
            <a:off x="7991856" y="1600200"/>
            <a:ext cx="3566160" cy="438912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29016" y="1728216"/>
            <a:ext cx="201168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Document</a:t>
            </a:r>
          </a:p>
        </p:txBody>
      </p:sp>
      <p:sp>
        <p:nvSpPr>
          <p:cNvPr id="13" name="TextBox 12"/>
          <p:cNvSpPr txBox="1"/>
          <p:nvPr/>
        </p:nvSpPr>
        <p:spPr>
          <a:xfrm>
            <a:off x="8193024" y="2167128"/>
            <a:ext cx="3163824" cy="3657600"/>
          </a:xfrm>
          <a:prstGeom prst="rect">
            <a:avLst/>
          </a:prstGeom>
          <a:noFill/>
        </p:spPr>
        <p:txBody>
          <a:bodyPr wrap="square">
            <a:noAutofit/>
          </a:bodyPr>
          <a:lstStyle/>
          <a:p>
            <a:pPr>
              <a:spcAft>
                <a:spcPts val="600"/>
              </a:spcAft>
              <a:defRPr sz="1800">
                <a:solidFill>
                  <a:srgbClr val="152934"/>
                </a:solidFill>
                <a:latin typeface="Aptos"/>
              </a:defRPr>
            </a:pPr>
            <a:r>
              <a:t>Best fit:</a:t>
            </a:r>
          </a:p>
          <a:p>
            <a:pPr>
              <a:spcAft>
                <a:spcPts val="600"/>
              </a:spcAft>
              <a:defRPr sz="1800">
                <a:solidFill>
                  <a:srgbClr val="152934"/>
                </a:solidFill>
                <a:latin typeface="Aptos"/>
              </a:defRPr>
            </a:pPr>
            <a:r>
              <a:t>apps that fetch one nested object</a:t>
            </a:r>
          </a:p>
          <a:p>
            <a:pPr>
              <a:spcAft>
                <a:spcPts val="600"/>
              </a:spcAft>
              <a:defRPr sz="1800">
                <a:solidFill>
                  <a:srgbClr val="152934"/>
                </a:solidFill>
                <a:latin typeface="Aptos"/>
              </a:defRPr>
            </a:pPr>
          </a:p>
          <a:p>
            <a:pPr>
              <a:spcAft>
                <a:spcPts val="600"/>
              </a:spcAft>
              <a:defRPr sz="1800">
                <a:solidFill>
                  <a:srgbClr val="152934"/>
                </a:solidFill>
                <a:latin typeface="Aptos"/>
              </a:defRPr>
            </a:pPr>
            <a:r>
              <a:t>Strength:</a:t>
            </a:r>
          </a:p>
          <a:p>
            <a:pPr>
              <a:spcAft>
                <a:spcPts val="600"/>
              </a:spcAft>
              <a:defRPr sz="1800">
                <a:solidFill>
                  <a:srgbClr val="152934"/>
                </a:solidFill>
                <a:latin typeface="Aptos"/>
              </a:defRPr>
            </a:pPr>
            <a:r>
              <a:t>matches JSON-heavy app reads</a:t>
            </a:r>
          </a:p>
          <a:p>
            <a:pPr>
              <a:spcAft>
                <a:spcPts val="600"/>
              </a:spcAft>
              <a:defRPr sz="1800">
                <a:solidFill>
                  <a:srgbClr val="152934"/>
                </a:solidFill>
                <a:latin typeface="Aptos"/>
              </a:defRPr>
            </a:pPr>
          </a:p>
          <a:p>
            <a:pPr>
              <a:spcAft>
                <a:spcPts val="600"/>
              </a:spcAft>
              <a:defRPr sz="1800">
                <a:solidFill>
                  <a:srgbClr val="152934"/>
                </a:solidFill>
                <a:latin typeface="Aptos"/>
              </a:defRPr>
            </a:pPr>
            <a:r>
              <a:t>Watch out for:</a:t>
            </a:r>
          </a:p>
          <a:p>
            <a:pPr>
              <a:spcAft>
                <a:spcPts val="600"/>
              </a:spcAft>
              <a:defRPr sz="1800">
                <a:solidFill>
                  <a:srgbClr val="152934"/>
                </a:solidFill>
                <a:latin typeface="Aptos"/>
              </a:defRPr>
            </a:pPr>
            <a:r>
              <a:t>embedded duplication can grow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6916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Cloud Databases</a:t>
            </a:r>
          </a:p>
        </p:txBody>
      </p:sp>
      <p:sp>
        <p:nvSpPr>
          <p:cNvPr id="3" name="TextBox 2"/>
          <p:cNvSpPr txBox="1"/>
          <p:nvPr/>
        </p:nvSpPr>
        <p:spPr>
          <a:xfrm>
            <a:off x="548640" y="493776"/>
            <a:ext cx="10972800" cy="685800"/>
          </a:xfrm>
          <a:prstGeom prst="rect">
            <a:avLst/>
          </a:prstGeom>
          <a:noFill/>
        </p:spPr>
        <p:txBody>
          <a:bodyPr wrap="none">
            <a:spAutoFit/>
          </a:bodyPr>
          <a:lstStyle/>
          <a:p>
            <a:pPr>
              <a:defRPr sz="2500" b="1">
                <a:solidFill>
                  <a:srgbClr val="152934"/>
                </a:solidFill>
                <a:latin typeface="Aptos Display"/>
              </a:defRPr>
            </a:pPr>
            <a:r>
              <a:t>Moving to the cloud changes who hosts the database, not the need for design decisions</a:t>
            </a:r>
          </a:p>
        </p:txBody>
      </p:sp>
      <p:cxnSp>
        <p:nvCxnSpPr>
          <p:cNvPr id="4" name="Connector 3"/>
          <p:cNvCxnSpPr/>
          <p:nvPr/>
        </p:nvCxnSpPr>
        <p:spPr>
          <a:xfrm>
            <a:off x="548640" y="1069848"/>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54480"/>
            <a:ext cx="507492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682496"/>
            <a:ext cx="201168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A managed service can help with</a:t>
            </a:r>
          </a:p>
        </p:txBody>
      </p:sp>
      <p:sp>
        <p:nvSpPr>
          <p:cNvPr id="7" name="TextBox 6"/>
          <p:cNvSpPr txBox="1"/>
          <p:nvPr/>
        </p:nvSpPr>
        <p:spPr>
          <a:xfrm>
            <a:off x="1024128" y="2121408"/>
            <a:ext cx="4672584" cy="3794760"/>
          </a:xfrm>
          <a:prstGeom prst="rect">
            <a:avLst/>
          </a:prstGeom>
          <a:noFill/>
        </p:spPr>
        <p:txBody>
          <a:bodyPr wrap="square">
            <a:noAutofit/>
          </a:bodyPr>
          <a:lstStyle/>
          <a:p>
            <a:pPr>
              <a:spcAft>
                <a:spcPts val="600"/>
              </a:spcAft>
              <a:defRPr sz="1900">
                <a:solidFill>
                  <a:srgbClr val="152934"/>
                </a:solidFill>
                <a:latin typeface="Aptos"/>
              </a:defRPr>
            </a:pPr>
            <a:r>
              <a:t>hosting</a:t>
            </a:r>
          </a:p>
          <a:p>
            <a:pPr>
              <a:spcAft>
                <a:spcPts val="600"/>
              </a:spcAft>
              <a:defRPr sz="1900">
                <a:solidFill>
                  <a:srgbClr val="152934"/>
                </a:solidFill>
                <a:latin typeface="Aptos"/>
              </a:defRPr>
            </a:pPr>
            <a:r>
              <a:t>backups</a:t>
            </a:r>
          </a:p>
          <a:p>
            <a:pPr>
              <a:spcAft>
                <a:spcPts val="600"/>
              </a:spcAft>
              <a:defRPr sz="1900">
                <a:solidFill>
                  <a:srgbClr val="152934"/>
                </a:solidFill>
                <a:latin typeface="Aptos"/>
              </a:defRPr>
            </a:pPr>
            <a:r>
              <a:t>availability</a:t>
            </a:r>
          </a:p>
          <a:p>
            <a:pPr>
              <a:spcAft>
                <a:spcPts val="600"/>
              </a:spcAft>
              <a:defRPr sz="1900">
                <a:solidFill>
                  <a:srgbClr val="152934"/>
                </a:solidFill>
                <a:latin typeface="Aptos"/>
              </a:defRPr>
            </a:pPr>
            <a:r>
              <a:t>scaling</a:t>
            </a:r>
          </a:p>
          <a:p>
            <a:pPr>
              <a:spcAft>
                <a:spcPts val="600"/>
              </a:spcAft>
              <a:defRPr sz="1900">
                <a:solidFill>
                  <a:srgbClr val="152934"/>
                </a:solidFill>
                <a:latin typeface="Aptos"/>
              </a:defRPr>
            </a:pPr>
            <a:r>
              <a:t>managed dashboards and tooling</a:t>
            </a:r>
          </a:p>
        </p:txBody>
      </p:sp>
      <p:sp>
        <p:nvSpPr>
          <p:cNvPr id="8" name="Rounded Rectangle 7"/>
          <p:cNvSpPr/>
          <p:nvPr/>
        </p:nvSpPr>
        <p:spPr>
          <a:xfrm>
            <a:off x="6263640" y="1554480"/>
            <a:ext cx="507492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0" y="1682496"/>
            <a:ext cx="201168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784918"/>
                </a:solidFill>
                <a:latin typeface="Aptos"/>
              </a:defRPr>
            </a:pPr>
            <a:r>
              <a:t>You still decide</a:t>
            </a:r>
          </a:p>
        </p:txBody>
      </p:sp>
      <p:sp>
        <p:nvSpPr>
          <p:cNvPr id="10" name="TextBox 9"/>
          <p:cNvSpPr txBox="1"/>
          <p:nvPr/>
        </p:nvSpPr>
        <p:spPr>
          <a:xfrm>
            <a:off x="6464808" y="2121408"/>
            <a:ext cx="4672584" cy="3794760"/>
          </a:xfrm>
          <a:prstGeom prst="rect">
            <a:avLst/>
          </a:prstGeom>
          <a:noFill/>
        </p:spPr>
        <p:txBody>
          <a:bodyPr wrap="square">
            <a:noAutofit/>
          </a:bodyPr>
          <a:lstStyle/>
          <a:p>
            <a:pPr>
              <a:spcAft>
                <a:spcPts val="600"/>
              </a:spcAft>
              <a:defRPr sz="1900">
                <a:solidFill>
                  <a:srgbClr val="152934"/>
                </a:solidFill>
                <a:latin typeface="Aptos"/>
              </a:defRPr>
            </a:pPr>
            <a:r>
              <a:t>which fields get duplicated</a:t>
            </a:r>
          </a:p>
          <a:p>
            <a:pPr>
              <a:spcAft>
                <a:spcPts val="600"/>
              </a:spcAft>
              <a:defRPr sz="1900">
                <a:solidFill>
                  <a:srgbClr val="152934"/>
                </a:solidFill>
                <a:latin typeface="Aptos"/>
              </a:defRPr>
            </a:pPr>
            <a:r>
              <a:t>who gets access</a:t>
            </a:r>
          </a:p>
          <a:p>
            <a:pPr>
              <a:spcAft>
                <a:spcPts val="600"/>
              </a:spcAft>
              <a:defRPr sz="1900">
                <a:solidFill>
                  <a:srgbClr val="152934"/>
                </a:solidFill>
                <a:latin typeface="Aptos"/>
              </a:defRPr>
            </a:pPr>
            <a:r>
              <a:t>which region stores the data</a:t>
            </a:r>
          </a:p>
          <a:p>
            <a:pPr>
              <a:spcAft>
                <a:spcPts val="600"/>
              </a:spcAft>
              <a:defRPr sz="1900">
                <a:solidFill>
                  <a:srgbClr val="152934"/>
                </a:solidFill>
                <a:latin typeface="Aptos"/>
              </a:defRPr>
            </a:pPr>
            <a:r>
              <a:t>how long records are kept</a:t>
            </a:r>
          </a:p>
          <a:p>
            <a:pPr>
              <a:spcAft>
                <a:spcPts val="600"/>
              </a:spcAft>
              <a:defRPr sz="1900">
                <a:solidFill>
                  <a:srgbClr val="152934"/>
                </a:solidFill>
                <a:latin typeface="Aptos"/>
              </a:defRPr>
            </a:pPr>
            <a:r>
              <a:t>what gets exported or shared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6916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MongoDB Atlas</a:t>
            </a:r>
          </a:p>
        </p:txBody>
      </p:sp>
      <p:sp>
        <p:nvSpPr>
          <p:cNvPr id="3" name="TextBox 2"/>
          <p:cNvSpPr txBox="1"/>
          <p:nvPr/>
        </p:nvSpPr>
        <p:spPr>
          <a:xfrm>
            <a:off x="548640" y="493776"/>
            <a:ext cx="10972800" cy="685800"/>
          </a:xfrm>
          <a:prstGeom prst="rect">
            <a:avLst/>
          </a:prstGeom>
          <a:noFill/>
        </p:spPr>
        <p:txBody>
          <a:bodyPr wrap="none">
            <a:spAutoFit/>
          </a:bodyPr>
          <a:lstStyle/>
          <a:p>
            <a:pPr>
              <a:defRPr sz="2500" b="1">
                <a:solidFill>
                  <a:srgbClr val="152934"/>
                </a:solidFill>
                <a:latin typeface="Aptos Display"/>
              </a:defRPr>
            </a:pPr>
            <a:r>
              <a:t>Students can start with the free tier and GitHub Student benefits</a:t>
            </a:r>
          </a:p>
        </p:txBody>
      </p:sp>
      <p:cxnSp>
        <p:nvCxnSpPr>
          <p:cNvPr id="4" name="Connector 3"/>
          <p:cNvCxnSpPr/>
          <p:nvPr/>
        </p:nvCxnSpPr>
        <p:spPr>
          <a:xfrm>
            <a:off x="548640" y="1069848"/>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54480"/>
            <a:ext cx="658368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682496"/>
            <a:ext cx="201168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Setup path</a:t>
            </a:r>
          </a:p>
        </p:txBody>
      </p:sp>
      <p:sp>
        <p:nvSpPr>
          <p:cNvPr id="7" name="TextBox 6"/>
          <p:cNvSpPr txBox="1"/>
          <p:nvPr/>
        </p:nvSpPr>
        <p:spPr>
          <a:xfrm>
            <a:off x="978408" y="2121408"/>
            <a:ext cx="6181344" cy="3794760"/>
          </a:xfrm>
          <a:prstGeom prst="rect">
            <a:avLst/>
          </a:prstGeom>
          <a:noFill/>
        </p:spPr>
        <p:txBody>
          <a:bodyPr wrap="square">
            <a:noAutofit/>
          </a:bodyPr>
          <a:lstStyle/>
          <a:p>
            <a:pPr>
              <a:spcAft>
                <a:spcPts val="600"/>
              </a:spcAft>
              <a:defRPr sz="1900">
                <a:solidFill>
                  <a:srgbClr val="152934"/>
                </a:solidFill>
                <a:latin typeface="Aptos"/>
              </a:defRPr>
            </a:pPr>
            <a:r>
              <a:t>1. Confirm your GitHub Student Developer Pack is approved.</a:t>
            </a:r>
          </a:p>
          <a:p>
            <a:pPr>
              <a:spcAft>
                <a:spcPts val="600"/>
              </a:spcAft>
              <a:defRPr sz="1900">
                <a:solidFill>
                  <a:srgbClr val="152934"/>
                </a:solidFill>
                <a:latin typeface="Aptos"/>
              </a:defRPr>
            </a:pPr>
            <a:r>
              <a:t>2. Redeem the MongoDB offer from GitHub Education.</a:t>
            </a:r>
          </a:p>
          <a:p>
            <a:pPr>
              <a:spcAft>
                <a:spcPts val="600"/>
              </a:spcAft>
              <a:defRPr sz="1900">
                <a:solidFill>
                  <a:srgbClr val="152934"/>
                </a:solidFill>
                <a:latin typeface="Aptos"/>
              </a:defRPr>
            </a:pPr>
            <a:r>
              <a:t>3. Create an Atlas project and choose the M0 free cluster.</a:t>
            </a:r>
          </a:p>
          <a:p>
            <a:pPr>
              <a:spcAft>
                <a:spcPts val="600"/>
              </a:spcAft>
              <a:defRPr sz="1900">
                <a:solidFill>
                  <a:srgbClr val="152934"/>
                </a:solidFill>
                <a:latin typeface="Aptos"/>
              </a:defRPr>
            </a:pPr>
            <a:r>
              <a:t>4. Add a database user and allowlist your current IP.</a:t>
            </a:r>
          </a:p>
          <a:p>
            <a:pPr>
              <a:spcAft>
                <a:spcPts val="600"/>
              </a:spcAft>
              <a:defRPr sz="1900">
                <a:solidFill>
                  <a:srgbClr val="152934"/>
                </a:solidFill>
                <a:latin typeface="Aptos"/>
              </a:defRPr>
            </a:pPr>
            <a:r>
              <a:t>5. Connect with MongoDB Compass.</a:t>
            </a:r>
          </a:p>
        </p:txBody>
      </p:sp>
      <p:sp>
        <p:nvSpPr>
          <p:cNvPr id="8" name="Rounded Rectangle 7"/>
          <p:cNvSpPr/>
          <p:nvPr/>
        </p:nvSpPr>
        <p:spPr>
          <a:xfrm>
            <a:off x="7726679" y="1554480"/>
            <a:ext cx="3474720" cy="182880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863839" y="1682496"/>
            <a:ext cx="201168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Verified offer</a:t>
            </a:r>
          </a:p>
        </p:txBody>
      </p:sp>
      <p:sp>
        <p:nvSpPr>
          <p:cNvPr id="10" name="TextBox 9"/>
          <p:cNvSpPr txBox="1"/>
          <p:nvPr/>
        </p:nvSpPr>
        <p:spPr>
          <a:xfrm>
            <a:off x="7927847" y="2121408"/>
            <a:ext cx="3072384" cy="1097280"/>
          </a:xfrm>
          <a:prstGeom prst="rect">
            <a:avLst/>
          </a:prstGeom>
          <a:noFill/>
        </p:spPr>
        <p:txBody>
          <a:bodyPr wrap="square">
            <a:noAutofit/>
          </a:bodyPr>
          <a:lstStyle/>
          <a:p>
            <a:pPr>
              <a:spcAft>
                <a:spcPts val="600"/>
              </a:spcAft>
              <a:defRPr sz="1700">
                <a:solidFill>
                  <a:srgbClr val="152934"/>
                </a:solidFill>
                <a:latin typeface="Aptos"/>
              </a:defRPr>
            </a:pPr>
            <a:r>
              <a:t>$50 in Atlas credits</a:t>
            </a:r>
          </a:p>
          <a:p>
            <a:pPr>
              <a:spcAft>
                <a:spcPts val="600"/>
              </a:spcAft>
              <a:defRPr sz="1700">
                <a:solidFill>
                  <a:srgbClr val="152934"/>
                </a:solidFill>
                <a:latin typeface="Aptos"/>
              </a:defRPr>
            </a:pPr>
            <a:r>
              <a:t>MongoDB Compass</a:t>
            </a:r>
          </a:p>
          <a:p>
            <a:pPr>
              <a:spcAft>
                <a:spcPts val="600"/>
              </a:spcAft>
              <a:defRPr sz="1700">
                <a:solidFill>
                  <a:srgbClr val="152934"/>
                </a:solidFill>
                <a:latin typeface="Aptos"/>
              </a:defRPr>
            </a:pPr>
            <a:r>
              <a:t>MongoDB University access</a:t>
            </a:r>
          </a:p>
        </p:txBody>
      </p:sp>
      <p:sp>
        <p:nvSpPr>
          <p:cNvPr id="11" name="Rounded Rectangle 10"/>
          <p:cNvSpPr/>
          <p:nvPr/>
        </p:nvSpPr>
        <p:spPr>
          <a:xfrm>
            <a:off x="7726679" y="3703320"/>
            <a:ext cx="3474720" cy="182880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863839" y="3831336"/>
            <a:ext cx="201168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784918"/>
                </a:solidFill>
                <a:latin typeface="Aptos"/>
              </a:defRPr>
            </a:pPr>
            <a:r>
              <a:t>Security reminder</a:t>
            </a:r>
          </a:p>
        </p:txBody>
      </p:sp>
      <p:sp>
        <p:nvSpPr>
          <p:cNvPr id="13" name="TextBox 12"/>
          <p:cNvSpPr txBox="1"/>
          <p:nvPr/>
        </p:nvSpPr>
        <p:spPr>
          <a:xfrm>
            <a:off x="7927847" y="4270248"/>
            <a:ext cx="3072384" cy="1097280"/>
          </a:xfrm>
          <a:prstGeom prst="rect">
            <a:avLst/>
          </a:prstGeom>
          <a:noFill/>
        </p:spPr>
        <p:txBody>
          <a:bodyPr wrap="square">
            <a:noAutofit/>
          </a:bodyPr>
          <a:lstStyle/>
          <a:p>
            <a:pPr>
              <a:spcAft>
                <a:spcPts val="600"/>
              </a:spcAft>
              <a:defRPr sz="1800">
                <a:solidFill>
                  <a:srgbClr val="152934"/>
                </a:solidFill>
                <a:latin typeface="Aptos"/>
              </a:defRPr>
            </a:pPr>
            <a:r>
              <a:t>Use strong passwords, your current IP, and never publish credentials.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6916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Security, Privacy, Ethics</a:t>
            </a:r>
          </a:p>
        </p:txBody>
      </p:sp>
      <p:sp>
        <p:nvSpPr>
          <p:cNvPr id="3" name="TextBox 2"/>
          <p:cNvSpPr txBox="1"/>
          <p:nvPr/>
        </p:nvSpPr>
        <p:spPr>
          <a:xfrm>
            <a:off x="548640" y="493776"/>
            <a:ext cx="10972800" cy="685800"/>
          </a:xfrm>
          <a:prstGeom prst="rect">
            <a:avLst/>
          </a:prstGeom>
          <a:noFill/>
        </p:spPr>
        <p:txBody>
          <a:bodyPr wrap="none">
            <a:spAutoFit/>
          </a:bodyPr>
          <a:lstStyle/>
          <a:p>
            <a:pPr>
              <a:defRPr sz="2500" b="1">
                <a:solidFill>
                  <a:srgbClr val="152934"/>
                </a:solidFill>
                <a:latin typeface="Aptos Display"/>
              </a:defRPr>
            </a:pPr>
            <a:r>
              <a:t>A data model is also a governance choice</a:t>
            </a:r>
          </a:p>
        </p:txBody>
      </p:sp>
      <p:cxnSp>
        <p:nvCxnSpPr>
          <p:cNvPr id="4" name="Connector 3"/>
          <p:cNvCxnSpPr/>
          <p:nvPr/>
        </p:nvCxnSpPr>
        <p:spPr>
          <a:xfrm>
            <a:off x="548640" y="1069848"/>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8680" y="1645920"/>
            <a:ext cx="10241280" cy="416052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1773936"/>
            <a:ext cx="201168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Questions to ask</a:t>
            </a:r>
          </a:p>
        </p:txBody>
      </p:sp>
      <p:sp>
        <p:nvSpPr>
          <p:cNvPr id="7" name="TextBox 6"/>
          <p:cNvSpPr txBox="1"/>
          <p:nvPr/>
        </p:nvSpPr>
        <p:spPr>
          <a:xfrm>
            <a:off x="1069848" y="2212848"/>
            <a:ext cx="9838944" cy="3429000"/>
          </a:xfrm>
          <a:prstGeom prst="rect">
            <a:avLst/>
          </a:prstGeom>
          <a:noFill/>
        </p:spPr>
        <p:txBody>
          <a:bodyPr wrap="square">
            <a:noAutofit/>
          </a:bodyPr>
          <a:lstStyle/>
          <a:p>
            <a:pPr>
              <a:spcAft>
                <a:spcPts val="600"/>
              </a:spcAft>
              <a:defRPr sz="2100">
                <a:solidFill>
                  <a:srgbClr val="152934"/>
                </a:solidFill>
                <a:latin typeface="Aptos"/>
              </a:defRPr>
            </a:pPr>
            <a:r>
              <a:t>Are we copying sensitive fields into more places than necessary?</a:t>
            </a:r>
          </a:p>
          <a:p>
            <a:pPr>
              <a:spcAft>
                <a:spcPts val="600"/>
              </a:spcAft>
              <a:defRPr sz="2100">
                <a:solidFill>
                  <a:srgbClr val="152934"/>
                </a:solidFill>
                <a:latin typeface="Aptos"/>
              </a:defRPr>
            </a:pPr>
            <a:r>
              <a:t>Does this model make least privilege easier or harder?</a:t>
            </a:r>
          </a:p>
          <a:p>
            <a:pPr>
              <a:spcAft>
                <a:spcPts val="600"/>
              </a:spcAft>
              <a:defRPr sz="2100">
                <a:solidFill>
                  <a:srgbClr val="152934"/>
                </a:solidFill>
                <a:latin typeface="Aptos"/>
              </a:defRPr>
            </a:pPr>
            <a:r>
              <a:t>Can we separate restricted data from general-use data?</a:t>
            </a:r>
          </a:p>
          <a:p>
            <a:pPr>
              <a:spcAft>
                <a:spcPts val="600"/>
              </a:spcAft>
              <a:defRPr sz="2100">
                <a:solidFill>
                  <a:srgbClr val="152934"/>
                </a:solidFill>
                <a:latin typeface="Aptos"/>
              </a:defRPr>
            </a:pPr>
            <a:r>
              <a:t>If the database is in the cloud, who controls region choice, retention, and access?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1691640" cy="310896"/>
          </a:xfrm>
          <a:prstGeom prst="roundRect">
            <a:avLst/>
          </a:prstGeom>
          <a:solidFill>
            <a:srgbClr val="E7F0F4"/>
          </a:solidFill>
          <a:ln>
            <a:solidFill>
              <a:srgbClr val="E7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96175"/>
                </a:solidFill>
                <a:latin typeface="Aptos"/>
              </a:defRPr>
            </a:pPr>
            <a:r>
              <a:t>Reading Response</a:t>
            </a:r>
          </a:p>
        </p:txBody>
      </p:sp>
      <p:sp>
        <p:nvSpPr>
          <p:cNvPr id="3" name="TextBox 2"/>
          <p:cNvSpPr txBox="1"/>
          <p:nvPr/>
        </p:nvSpPr>
        <p:spPr>
          <a:xfrm>
            <a:off x="548640" y="493776"/>
            <a:ext cx="10972800" cy="685800"/>
          </a:xfrm>
          <a:prstGeom prst="rect">
            <a:avLst/>
          </a:prstGeom>
          <a:noFill/>
        </p:spPr>
        <p:txBody>
          <a:bodyPr wrap="none">
            <a:spAutoFit/>
          </a:bodyPr>
          <a:lstStyle/>
          <a:p>
            <a:pPr>
              <a:defRPr sz="2500" b="1">
                <a:solidFill>
                  <a:srgbClr val="152934"/>
                </a:solidFill>
                <a:latin typeface="Aptos Display"/>
              </a:defRPr>
            </a:pPr>
            <a:r>
              <a:t>Your job is to argue for one model using the use case</a:t>
            </a:r>
          </a:p>
        </p:txBody>
      </p:sp>
      <p:cxnSp>
        <p:nvCxnSpPr>
          <p:cNvPr id="4" name="Connector 3"/>
          <p:cNvCxnSpPr/>
          <p:nvPr/>
        </p:nvCxnSpPr>
        <p:spPr>
          <a:xfrm>
            <a:off x="548640" y="1069848"/>
            <a:ext cx="11064240" cy="0"/>
          </a:xfrm>
          <a:prstGeom prst="line">
            <a:avLst/>
          </a:prstGeom>
          <a:ln w="12700">
            <a:solidFill>
              <a:srgbClr val="97AAB4"/>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54480"/>
            <a:ext cx="6400800" cy="452628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682496"/>
            <a:ext cx="2011680" cy="310896"/>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Prompt</a:t>
            </a:r>
          </a:p>
        </p:txBody>
      </p:sp>
      <p:sp>
        <p:nvSpPr>
          <p:cNvPr id="7" name="TextBox 6"/>
          <p:cNvSpPr txBox="1"/>
          <p:nvPr/>
        </p:nvSpPr>
        <p:spPr>
          <a:xfrm>
            <a:off x="978408" y="2121408"/>
            <a:ext cx="5998464" cy="3794760"/>
          </a:xfrm>
          <a:prstGeom prst="rect">
            <a:avLst/>
          </a:prstGeom>
          <a:noFill/>
        </p:spPr>
        <p:txBody>
          <a:bodyPr wrap="square">
            <a:noAutofit/>
          </a:bodyPr>
          <a:lstStyle/>
          <a:p>
            <a:pPr>
              <a:spcAft>
                <a:spcPts val="600"/>
              </a:spcAft>
              <a:defRPr sz="2100">
                <a:solidFill>
                  <a:srgbClr val="152934"/>
                </a:solidFill>
                <a:latin typeface="Aptos"/>
              </a:defRPr>
            </a:pPr>
            <a:r>
              <a:t>For the cloud workspace system from this week, should the team start with a relational model or a MongoDB-style document model?</a:t>
            </a:r>
          </a:p>
          <a:p>
            <a:pPr>
              <a:spcAft>
                <a:spcPts val="600"/>
              </a:spcAft>
              <a:defRPr sz="2100">
                <a:solidFill>
                  <a:srgbClr val="152934"/>
                </a:solidFill>
                <a:latin typeface="Aptos"/>
              </a:defRPr>
            </a:pPr>
          </a:p>
          <a:p>
            <a:pPr>
              <a:spcAft>
                <a:spcPts val="600"/>
              </a:spcAft>
              <a:defRPr sz="2100">
                <a:solidFill>
                  <a:srgbClr val="152934"/>
                </a:solidFill>
                <a:latin typeface="Aptos"/>
              </a:defRPr>
            </a:pPr>
            <a:r>
              <a:t>Your answer must explain why the use case justifies that choice.</a:t>
            </a:r>
          </a:p>
        </p:txBody>
      </p:sp>
      <p:sp>
        <p:nvSpPr>
          <p:cNvPr id="8" name="Rounded Rectangle 7"/>
          <p:cNvSpPr/>
          <p:nvPr/>
        </p:nvSpPr>
        <p:spPr>
          <a:xfrm>
            <a:off x="7543800" y="1554480"/>
            <a:ext cx="3657600" cy="19659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680960" y="1682496"/>
            <a:ext cx="2011680" cy="310896"/>
          </a:xfrm>
          <a:prstGeom prst="roundRect">
            <a:avLst/>
          </a:prstGeom>
          <a:solidFill>
            <a:srgbClr val="EAF4EC"/>
          </a:solidFill>
          <a:ln>
            <a:solidFill>
              <a:srgbClr val="EA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52934"/>
                </a:solidFill>
                <a:latin typeface="Aptos"/>
              </a:defRPr>
            </a:pPr>
            <a:r>
              <a:t>A strong answer</a:t>
            </a:r>
          </a:p>
        </p:txBody>
      </p:sp>
      <p:sp>
        <p:nvSpPr>
          <p:cNvPr id="10" name="TextBox 9"/>
          <p:cNvSpPr txBox="1"/>
          <p:nvPr/>
        </p:nvSpPr>
        <p:spPr>
          <a:xfrm>
            <a:off x="7744968" y="2121408"/>
            <a:ext cx="3255264" cy="1234440"/>
          </a:xfrm>
          <a:prstGeom prst="rect">
            <a:avLst/>
          </a:prstGeom>
          <a:noFill/>
        </p:spPr>
        <p:txBody>
          <a:bodyPr wrap="square">
            <a:noAutofit/>
          </a:bodyPr>
          <a:lstStyle/>
          <a:p>
            <a:pPr>
              <a:spcAft>
                <a:spcPts val="600"/>
              </a:spcAft>
              <a:defRPr sz="1800">
                <a:solidFill>
                  <a:srgbClr val="152934"/>
                </a:solidFill>
                <a:latin typeface="Aptos"/>
              </a:defRPr>
            </a:pPr>
            <a:r>
              <a:t>makes one clear choice</a:t>
            </a:r>
          </a:p>
          <a:p>
            <a:pPr>
              <a:spcAft>
                <a:spcPts val="600"/>
              </a:spcAft>
              <a:defRPr sz="1800">
                <a:solidFill>
                  <a:srgbClr val="152934"/>
                </a:solidFill>
                <a:latin typeface="Aptos"/>
              </a:defRPr>
            </a:pPr>
            <a:r>
              <a:t>uses evidence</a:t>
            </a:r>
          </a:p>
          <a:p>
            <a:pPr>
              <a:spcAft>
                <a:spcPts val="600"/>
              </a:spcAft>
              <a:defRPr sz="1800">
                <a:solidFill>
                  <a:srgbClr val="152934"/>
                </a:solidFill>
                <a:latin typeface="Aptos"/>
              </a:defRPr>
            </a:pPr>
            <a:r>
              <a:t>names one tradeoff</a:t>
            </a:r>
          </a:p>
        </p:txBody>
      </p:sp>
      <p:sp>
        <p:nvSpPr>
          <p:cNvPr id="11" name="Rounded Rectangle 10"/>
          <p:cNvSpPr/>
          <p:nvPr/>
        </p:nvSpPr>
        <p:spPr>
          <a:xfrm>
            <a:off x="7543800" y="3840480"/>
            <a:ext cx="3657600" cy="1965960"/>
          </a:xfrm>
          <a:prstGeom prst="roundRect">
            <a:avLst/>
          </a:prstGeom>
          <a:solidFill>
            <a:srgbClr val="FFFFFF"/>
          </a:solidFill>
          <a:ln>
            <a:solidFill>
              <a:srgbClr val="97AA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680960" y="3968496"/>
            <a:ext cx="2011680" cy="310896"/>
          </a:xfrm>
          <a:prstGeom prst="roundRect">
            <a:avLst/>
          </a:prstGeom>
          <a:solidFill>
            <a:srgbClr val="F7EFE3"/>
          </a:solidFill>
          <a:ln>
            <a:solidFill>
              <a:srgbClr val="F7EFE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784918"/>
                </a:solidFill>
                <a:latin typeface="Aptos"/>
              </a:defRPr>
            </a:pPr>
            <a:r>
              <a:t>Do not do this</a:t>
            </a:r>
          </a:p>
        </p:txBody>
      </p:sp>
      <p:sp>
        <p:nvSpPr>
          <p:cNvPr id="13" name="TextBox 12"/>
          <p:cNvSpPr txBox="1"/>
          <p:nvPr/>
        </p:nvSpPr>
        <p:spPr>
          <a:xfrm>
            <a:off x="7744968" y="4407408"/>
            <a:ext cx="3255264" cy="1234440"/>
          </a:xfrm>
          <a:prstGeom prst="rect">
            <a:avLst/>
          </a:prstGeom>
          <a:noFill/>
        </p:spPr>
        <p:txBody>
          <a:bodyPr wrap="square">
            <a:noAutofit/>
          </a:bodyPr>
          <a:lstStyle/>
          <a:p>
            <a:pPr>
              <a:spcAft>
                <a:spcPts val="600"/>
              </a:spcAft>
              <a:defRPr sz="1800">
                <a:solidFill>
                  <a:srgbClr val="152934"/>
                </a:solidFill>
                <a:latin typeface="Aptos"/>
              </a:defRPr>
            </a:pPr>
            <a:r>
              <a:t>Do not just write "it depends" and stop there.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