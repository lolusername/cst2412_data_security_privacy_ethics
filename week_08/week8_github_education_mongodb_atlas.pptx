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I want to focus on one practical question: what does GitHub Education actually give you, and how does that connect to MongoDB Atlas? The goal is not to memorize a giant list of perks. The goal is to understand which benefits matter for this course and how they support your work. We will look at GitHub Education first, then narrow down to the MongoDB offer, and then walk through the Atlas setup path in a secure way.</a:t>
            </a:r>
          </a:p>
          <a:p/>
          <a:p>
            <a:r>
              <a:t>Mention:</a:t>
            </a:r>
          </a:p>
          <a:p>
            <a:r>
              <a:t>- Tell students this deck is practical, not promotional</a:t>
            </a:r>
          </a:p>
          <a:p>
            <a:r>
              <a:t>- State that only some perks matter directly for this course</a:t>
            </a:r>
          </a:p>
          <a:p>
            <a:r>
              <a:t>- Preview the move from perks to Atlas setup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GitHub Education starts with verified student status. Once you are verified, you can apply for the Student Developer Pack. GitHub's terms describe that pack as a collection of more than eighty resources for students, and GitHub's billing docs also note that verified students can use unlimited public and private repositories with GitHub Free. The main idea is that GitHub Education gives you a base platform plus access to additional partner offers. Those partner offers are useful, but they can also come with their own terms and conditions.</a:t>
            </a:r>
          </a:p>
          <a:p/>
          <a:p>
            <a:r>
              <a:t>Mention:</a:t>
            </a:r>
          </a:p>
          <a:p>
            <a:r>
              <a:t>- Define the Student Developer Pack clearly</a:t>
            </a:r>
          </a:p>
          <a:p>
            <a:r>
              <a:t>- Mention unlimited public and private repositories</a:t>
            </a:r>
          </a:p>
          <a:p>
            <a:r>
              <a:t>- Remind students that partner offers have separate terms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Not every GitHub Education perk matters equally in this class. The most useful ones for us are GitHub repositories, Copilot Pro access, and the MongoDB offer. Repositories matter because they support version control, collaboration, and project portfolios. GitHub Docs also say Copilot Pro is free for verified students, which can be helpful for drafting and debugging, although you still need to check what it produces. And the MongoDB offer matters because this week is about cloud databases, so it gives you a practical way to work with a managed database environment.</a:t>
            </a:r>
          </a:p>
          <a:p/>
          <a:p>
            <a:r>
              <a:t>Mention:</a:t>
            </a:r>
          </a:p>
          <a:p>
            <a:r>
              <a:t>- Focus on the perks students will actually use</a:t>
            </a:r>
          </a:p>
          <a:p>
            <a:r>
              <a:t>- Say Copilot can help but still needs review</a:t>
            </a:r>
          </a:p>
          <a:p>
            <a:r>
              <a:t>- Connect MongoDB directly to the week 8 topic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is the MongoDB offer itself. The GitHub Education Pack lists fifty dollars in Atlas credits, MongoDB Compass, and MongoDB University with a certification benefit. Atlas is MongoDB's managed cloud database platform, so this offer is not just about a discount. It gives you access to a real hosted environment and the surrounding tools that developers use with it. That makes it a good bridge between class concepts and practical cloud database work.</a:t>
            </a:r>
          </a:p>
          <a:p/>
          <a:p>
            <a:r>
              <a:t>Mention:</a:t>
            </a:r>
          </a:p>
          <a:p>
            <a:r>
              <a:t>- Read the offer items exactly</a:t>
            </a:r>
          </a:p>
          <a:p>
            <a:r>
              <a:t>- Define Atlas as a managed cloud database platform</a:t>
            </a:r>
          </a:p>
          <a:p>
            <a:r>
              <a:t>- Explain why Compass and MongoDB University are useful too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Before students click through the setup, they need the vocabulary. A project is the container that holds Atlas resources. A cluster is the actual hosted database deployment. A database user is the identity used to log in from Compass or an application. The IP access list is the network rule that decides who may connect. MongoDB's documentation also says that you can deploy at most one M0 free cluster per Atlas project. If students mix up these terms, the interface becomes more confusing than it needs to be.</a:t>
            </a:r>
          </a:p>
          <a:p/>
          <a:p>
            <a:r>
              <a:t>Mention:</a:t>
            </a:r>
          </a:p>
          <a:p>
            <a:r>
              <a:t>- Separate project, cluster, user, and access list</a:t>
            </a:r>
          </a:p>
          <a:p>
            <a:r>
              <a:t>- Stress that a user account and a database user are not the same thing</a:t>
            </a:r>
          </a:p>
          <a:p>
            <a:r>
              <a:t>- Mention the one M0 cluster per project limit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the clean setup sequence I want students to follow. First, confirm GitHub Student approval. Second, open the MongoDB offer through the Pack. Third, create an Atlas project and choose the M0 free cluster. Fourth, create a database user and add your current IP address. Fifth, connect with Compass. Atlas supports AWS, Azure, and GCP, so students should also understand that they are selecting a cloud provider and region as part of the setup. That is a useful reminder that cloud databases still involve location and infrastructure choices.</a:t>
            </a:r>
          </a:p>
          <a:p/>
          <a:p>
            <a:r>
              <a:t>Mention:</a:t>
            </a:r>
          </a:p>
          <a:p>
            <a:r>
              <a:t>- Walk the steps in order</a:t>
            </a:r>
          </a:p>
          <a:p>
            <a:r>
              <a:t>- Name the M0 free cluster explicitly</a:t>
            </a:r>
          </a:p>
          <a:p>
            <a:r>
              <a:t>- Mention provider and region as real cloud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setup deck about cloud databases should also teach safe habits. Students should use a strong password, allowlist only their current IP when possible, and keep credentials out of repositories and screenshots. They should also avoid leaving broad network access rules in place after a demo. The big picture is simple: a classroom setup is still a real cloud environment, so convenience should not turn into careless security behavior.</a:t>
            </a:r>
          </a:p>
          <a:p/>
          <a:p>
            <a:r>
              <a:t>Mention:</a:t>
            </a:r>
          </a:p>
          <a:p>
            <a:r>
              <a:t>- Treat setup as a security lesson too</a:t>
            </a:r>
          </a:p>
          <a:p>
            <a:r>
              <a:t>- Call out screenshots and GitHub commits as common mistakes</a:t>
            </a:r>
          </a:p>
          <a:p>
            <a:r>
              <a:t>- Repeat that broad network rules should be temporary at most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After setup, students should not stop at saying that Atlas works. They should be able to sign in, identify the project and the cluster, test the connection in Compass, and explain what each security setting is doing. Most importantly, they should connect the setup back to the larger course question. The point is not only to get a database running. The point is to understand what kind of data model and cloud setup make sense for a particular use case.</a:t>
            </a:r>
          </a:p>
          <a:p/>
          <a:p>
            <a:r>
              <a:t>Mention:</a:t>
            </a:r>
          </a:p>
          <a:p>
            <a:r>
              <a:t>- End with action items, not just feature lists</a:t>
            </a:r>
          </a:p>
          <a:p>
            <a:r>
              <a:t>- Require students to explain the setup in their own words</a:t>
            </a:r>
          </a:p>
          <a:p>
            <a:r>
              <a:t>- Reconnect the deck to the main week 8 data-model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52934"/>
          </a:solidFill>
          <a:ln>
            <a:solidFill>
              <a:srgbClr val="15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972800" cy="822960"/>
          </a:xfrm>
          <a:prstGeom prst="rect">
            <a:avLst/>
          </a:prstGeom>
          <a:noFill/>
        </p:spPr>
        <p:txBody>
          <a:bodyPr wrap="none">
            <a:spAutoFit/>
          </a:bodyPr>
          <a:lstStyle/>
          <a:p>
            <a:pPr>
              <a:defRPr sz="2800" b="1">
                <a:solidFill>
                  <a:srgbClr val="FFFFFF"/>
                </a:solidFill>
                <a:latin typeface="Aptos Display"/>
              </a:defRPr>
            </a:pPr>
            <a:r>
              <a:t>GitHub Education Perks and MongoDB Atlas</a:t>
            </a:r>
          </a:p>
        </p:txBody>
      </p:sp>
      <p:sp>
        <p:nvSpPr>
          <p:cNvPr id="4" name="Rounded Rectangle 3"/>
          <p:cNvSpPr/>
          <p:nvPr/>
        </p:nvSpPr>
        <p:spPr>
          <a:xfrm>
            <a:off x="777240" y="1508760"/>
            <a:ext cx="10881360" cy="1005840"/>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581912"/>
            <a:ext cx="10661904" cy="859536"/>
          </a:xfrm>
          <a:prstGeom prst="rect">
            <a:avLst/>
          </a:prstGeom>
          <a:noFill/>
        </p:spPr>
        <p:txBody>
          <a:bodyPr wrap="square">
            <a:noAutofit/>
          </a:bodyPr>
          <a:lstStyle/>
          <a:p>
            <a:pPr>
              <a:spcAft>
                <a:spcPts val="600"/>
              </a:spcAft>
              <a:defRPr sz="2100">
                <a:solidFill>
                  <a:srgbClr val="152934"/>
                </a:solidFill>
                <a:latin typeface="Aptos"/>
              </a:defRPr>
            </a:pPr>
            <a:r>
              <a:t>This deck focuses on what GitHub Education gives verified students, which perks matter for this course, and how MongoDB Atlas fits into that workflow.</a:t>
            </a:r>
          </a:p>
        </p:txBody>
      </p:sp>
      <p:sp>
        <p:nvSpPr>
          <p:cNvPr id="6" name="Rounded Rectangle 5"/>
          <p:cNvSpPr/>
          <p:nvPr/>
        </p:nvSpPr>
        <p:spPr>
          <a:xfrm>
            <a:off x="868680" y="2834640"/>
            <a:ext cx="3246120" cy="24688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96265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What GitHub Education gives</a:t>
            </a:r>
          </a:p>
        </p:txBody>
      </p:sp>
      <p:sp>
        <p:nvSpPr>
          <p:cNvPr id="8" name="TextBox 7"/>
          <p:cNvSpPr txBox="1"/>
          <p:nvPr/>
        </p:nvSpPr>
        <p:spPr>
          <a:xfrm>
            <a:off x="1069848" y="3401568"/>
            <a:ext cx="2843784" cy="1719072"/>
          </a:xfrm>
          <a:prstGeom prst="rect">
            <a:avLst/>
          </a:prstGeom>
          <a:noFill/>
        </p:spPr>
        <p:txBody>
          <a:bodyPr wrap="square">
            <a:noAutofit/>
          </a:bodyPr>
          <a:lstStyle/>
          <a:p>
            <a:pPr>
              <a:spcAft>
                <a:spcPts val="600"/>
              </a:spcAft>
              <a:defRPr sz="1700">
                <a:solidFill>
                  <a:srgbClr val="152934"/>
                </a:solidFill>
                <a:latin typeface="Aptos"/>
              </a:defRPr>
            </a:pPr>
            <a:r>
              <a:t>Verified student status</a:t>
            </a:r>
          </a:p>
          <a:p>
            <a:pPr>
              <a:spcAft>
                <a:spcPts val="600"/>
              </a:spcAft>
              <a:defRPr sz="1700">
                <a:solidFill>
                  <a:srgbClr val="152934"/>
                </a:solidFill>
                <a:latin typeface="Aptos"/>
              </a:defRPr>
            </a:pPr>
            <a:r>
              <a:t>Student Developer Pack access</a:t>
            </a:r>
          </a:p>
          <a:p>
            <a:pPr>
              <a:spcAft>
                <a:spcPts val="600"/>
              </a:spcAft>
              <a:defRPr sz="1700">
                <a:solidFill>
                  <a:srgbClr val="152934"/>
                </a:solidFill>
                <a:latin typeface="Aptos"/>
              </a:defRPr>
            </a:pPr>
            <a:r>
              <a:t>Tool and learning offers from GitHub and partner companies</a:t>
            </a:r>
          </a:p>
        </p:txBody>
      </p:sp>
      <p:sp>
        <p:nvSpPr>
          <p:cNvPr id="9" name="Rounded Rectangle 8"/>
          <p:cNvSpPr/>
          <p:nvPr/>
        </p:nvSpPr>
        <p:spPr>
          <a:xfrm>
            <a:off x="4480560" y="2834640"/>
            <a:ext cx="3246120" cy="24688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17720" y="296265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What matters here</a:t>
            </a:r>
          </a:p>
        </p:txBody>
      </p:sp>
      <p:sp>
        <p:nvSpPr>
          <p:cNvPr id="11" name="TextBox 10"/>
          <p:cNvSpPr txBox="1"/>
          <p:nvPr/>
        </p:nvSpPr>
        <p:spPr>
          <a:xfrm>
            <a:off x="4681728" y="3401568"/>
            <a:ext cx="2843784" cy="1719072"/>
          </a:xfrm>
          <a:prstGeom prst="rect">
            <a:avLst/>
          </a:prstGeom>
          <a:noFill/>
        </p:spPr>
        <p:txBody>
          <a:bodyPr wrap="square">
            <a:noAutofit/>
          </a:bodyPr>
          <a:lstStyle/>
          <a:p>
            <a:pPr>
              <a:spcAft>
                <a:spcPts val="600"/>
              </a:spcAft>
              <a:defRPr sz="1700">
                <a:solidFill>
                  <a:srgbClr val="152934"/>
                </a:solidFill>
                <a:latin typeface="Aptos"/>
              </a:defRPr>
            </a:pPr>
            <a:r>
              <a:t>GitHub repos</a:t>
            </a:r>
          </a:p>
          <a:p>
            <a:pPr>
              <a:spcAft>
                <a:spcPts val="600"/>
              </a:spcAft>
              <a:defRPr sz="1700">
                <a:solidFill>
                  <a:srgbClr val="152934"/>
                </a:solidFill>
                <a:latin typeface="Aptos"/>
              </a:defRPr>
            </a:pPr>
            <a:r>
              <a:t>Copilot Pro access for verified students</a:t>
            </a:r>
          </a:p>
          <a:p>
            <a:pPr>
              <a:spcAft>
                <a:spcPts val="600"/>
              </a:spcAft>
              <a:defRPr sz="1700">
                <a:solidFill>
                  <a:srgbClr val="152934"/>
                </a:solidFill>
                <a:latin typeface="Aptos"/>
              </a:defRPr>
            </a:pPr>
            <a:r>
              <a:t>MongoDB Atlas offer and setup path</a:t>
            </a:r>
          </a:p>
        </p:txBody>
      </p:sp>
      <p:sp>
        <p:nvSpPr>
          <p:cNvPr id="12" name="Rounded Rectangle 11"/>
          <p:cNvSpPr/>
          <p:nvPr/>
        </p:nvSpPr>
        <p:spPr>
          <a:xfrm>
            <a:off x="8092440" y="2834640"/>
            <a:ext cx="2834640" cy="24688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0" y="296265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Verified</a:t>
            </a:r>
          </a:p>
        </p:txBody>
      </p:sp>
      <p:sp>
        <p:nvSpPr>
          <p:cNvPr id="14" name="TextBox 13"/>
          <p:cNvSpPr txBox="1"/>
          <p:nvPr/>
        </p:nvSpPr>
        <p:spPr>
          <a:xfrm>
            <a:off x="8293608" y="3401568"/>
            <a:ext cx="2432304" cy="1719072"/>
          </a:xfrm>
          <a:prstGeom prst="rect">
            <a:avLst/>
          </a:prstGeom>
          <a:noFill/>
        </p:spPr>
        <p:txBody>
          <a:bodyPr wrap="square">
            <a:noAutofit/>
          </a:bodyPr>
          <a:lstStyle/>
          <a:p>
            <a:pPr>
              <a:spcAft>
                <a:spcPts val="600"/>
              </a:spcAft>
              <a:defRPr sz="1700">
                <a:solidFill>
                  <a:srgbClr val="152934"/>
                </a:solidFill>
                <a:latin typeface="Aptos"/>
              </a:defRPr>
            </a:pPr>
            <a:r>
              <a:t>Offer details checked against official GitHub and MongoDB pages on March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GitHub Education</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What verified students get from GitHub Education</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08760"/>
            <a:ext cx="512064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3677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Core access</a:t>
            </a:r>
          </a:p>
        </p:txBody>
      </p:sp>
      <p:sp>
        <p:nvSpPr>
          <p:cNvPr id="7" name="TextBox 6"/>
          <p:cNvSpPr txBox="1"/>
          <p:nvPr/>
        </p:nvSpPr>
        <p:spPr>
          <a:xfrm>
            <a:off x="1024128" y="2075688"/>
            <a:ext cx="4718304" cy="3776472"/>
          </a:xfrm>
          <a:prstGeom prst="rect">
            <a:avLst/>
          </a:prstGeom>
          <a:noFill/>
        </p:spPr>
        <p:txBody>
          <a:bodyPr wrap="square">
            <a:noAutofit/>
          </a:bodyPr>
          <a:lstStyle/>
          <a:p>
            <a:pPr>
              <a:spcAft>
                <a:spcPts val="600"/>
              </a:spcAft>
              <a:defRPr sz="1900">
                <a:solidFill>
                  <a:srgbClr val="152934"/>
                </a:solidFill>
                <a:latin typeface="Aptos"/>
              </a:defRPr>
            </a:pPr>
            <a:r>
              <a:t>GitHub docs say verified students can apply for the Student Developer Pack.</a:t>
            </a:r>
          </a:p>
          <a:p>
            <a:pPr>
              <a:spcAft>
                <a:spcPts val="600"/>
              </a:spcAft>
              <a:defRPr sz="1900">
                <a:solidFill>
                  <a:srgbClr val="152934"/>
                </a:solidFill>
                <a:latin typeface="Aptos"/>
              </a:defRPr>
            </a:pPr>
            <a:r>
              <a:t>GitHub docs also note students can use unlimited public and private repositories with GitHub Free.</a:t>
            </a:r>
          </a:p>
          <a:p>
            <a:pPr>
              <a:spcAft>
                <a:spcPts val="600"/>
              </a:spcAft>
              <a:defRPr sz="1900">
                <a:solidFill>
                  <a:srgbClr val="152934"/>
                </a:solidFill>
                <a:latin typeface="Aptos"/>
              </a:defRPr>
            </a:pPr>
            <a:r>
              <a:t>Student status must stay verified to keep education benefits.</a:t>
            </a:r>
          </a:p>
        </p:txBody>
      </p:sp>
      <p:sp>
        <p:nvSpPr>
          <p:cNvPr id="8" name="Rounded Rectangle 7"/>
          <p:cNvSpPr/>
          <p:nvPr/>
        </p:nvSpPr>
        <p:spPr>
          <a:xfrm>
            <a:off x="6263640" y="1508760"/>
            <a:ext cx="507492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0" y="163677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Pack facts</a:t>
            </a:r>
          </a:p>
        </p:txBody>
      </p:sp>
      <p:sp>
        <p:nvSpPr>
          <p:cNvPr id="10" name="TextBox 9"/>
          <p:cNvSpPr txBox="1"/>
          <p:nvPr/>
        </p:nvSpPr>
        <p:spPr>
          <a:xfrm>
            <a:off x="6464808" y="2075688"/>
            <a:ext cx="4672584" cy="3776472"/>
          </a:xfrm>
          <a:prstGeom prst="rect">
            <a:avLst/>
          </a:prstGeom>
          <a:noFill/>
        </p:spPr>
        <p:txBody>
          <a:bodyPr wrap="square">
            <a:noAutofit/>
          </a:bodyPr>
          <a:lstStyle/>
          <a:p>
            <a:pPr>
              <a:spcAft>
                <a:spcPts val="600"/>
              </a:spcAft>
              <a:defRPr sz="1900">
                <a:solidFill>
                  <a:srgbClr val="152934"/>
                </a:solidFill>
                <a:latin typeface="Aptos"/>
              </a:defRPr>
            </a:pPr>
            <a:r>
              <a:t>GitHub terms describe the Student Developer Pack as a selection of 80+ resources.</a:t>
            </a:r>
          </a:p>
          <a:p>
            <a:pPr>
              <a:spcAft>
                <a:spcPts val="600"/>
              </a:spcAft>
              <a:defRPr sz="1900">
                <a:solidFill>
                  <a:srgbClr val="152934"/>
                </a:solidFill>
                <a:latin typeface="Aptos"/>
              </a:defRPr>
            </a:pPr>
            <a:r>
              <a:t>Those offers come from both GitHub and third-party partners.</a:t>
            </a:r>
          </a:p>
          <a:p>
            <a:pPr>
              <a:spcAft>
                <a:spcPts val="600"/>
              </a:spcAft>
              <a:defRPr sz="1900">
                <a:solidFill>
                  <a:srgbClr val="152934"/>
                </a:solidFill>
                <a:latin typeface="Aptos"/>
              </a:defRPr>
            </a:pPr>
            <a:r>
              <a:t>Different partner perks can have different terms.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Most Relevant Perks</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These are the perks most useful for this course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554480"/>
            <a:ext cx="3566160" cy="4480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GitHub itself</a:t>
            </a:r>
          </a:p>
        </p:txBody>
      </p:sp>
      <p:sp>
        <p:nvSpPr>
          <p:cNvPr id="7" name="TextBox 6"/>
          <p:cNvSpPr txBox="1"/>
          <p:nvPr/>
        </p:nvSpPr>
        <p:spPr>
          <a:xfrm>
            <a:off x="932688" y="2121408"/>
            <a:ext cx="3163824" cy="3730752"/>
          </a:xfrm>
          <a:prstGeom prst="rect">
            <a:avLst/>
          </a:prstGeom>
          <a:noFill/>
        </p:spPr>
        <p:txBody>
          <a:bodyPr wrap="square">
            <a:noAutofit/>
          </a:bodyPr>
          <a:lstStyle/>
          <a:p>
            <a:pPr>
              <a:spcAft>
                <a:spcPts val="600"/>
              </a:spcAft>
              <a:defRPr sz="1900">
                <a:solidFill>
                  <a:srgbClr val="152934"/>
                </a:solidFill>
                <a:latin typeface="Aptos"/>
              </a:defRPr>
            </a:pPr>
            <a:r>
              <a:t>Code hosting</a:t>
            </a:r>
          </a:p>
          <a:p>
            <a:pPr>
              <a:spcAft>
                <a:spcPts val="600"/>
              </a:spcAft>
              <a:defRPr sz="1900">
                <a:solidFill>
                  <a:srgbClr val="152934"/>
                </a:solidFill>
                <a:latin typeface="Aptos"/>
              </a:defRPr>
            </a:pPr>
            <a:r>
              <a:t>Private repositories</a:t>
            </a:r>
          </a:p>
          <a:p>
            <a:pPr>
              <a:spcAft>
                <a:spcPts val="600"/>
              </a:spcAft>
              <a:defRPr sz="1900">
                <a:solidFill>
                  <a:srgbClr val="152934"/>
                </a:solidFill>
                <a:latin typeface="Aptos"/>
              </a:defRPr>
            </a:pPr>
            <a:r>
              <a:t>Version control workflow</a:t>
            </a:r>
          </a:p>
          <a:p>
            <a:pPr>
              <a:spcAft>
                <a:spcPts val="600"/>
              </a:spcAft>
              <a:defRPr sz="1900">
                <a:solidFill>
                  <a:srgbClr val="152934"/>
                </a:solidFill>
                <a:latin typeface="Aptos"/>
              </a:defRPr>
            </a:pPr>
            <a:r>
              <a:t>Class project portfolio</a:t>
            </a:r>
          </a:p>
        </p:txBody>
      </p:sp>
      <p:sp>
        <p:nvSpPr>
          <p:cNvPr id="8" name="Rounded Rectangle 7"/>
          <p:cNvSpPr/>
          <p:nvPr/>
        </p:nvSpPr>
        <p:spPr>
          <a:xfrm>
            <a:off x="4315968" y="1554480"/>
            <a:ext cx="3566160" cy="4480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68249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Copilot Pro</a:t>
            </a:r>
          </a:p>
        </p:txBody>
      </p:sp>
      <p:sp>
        <p:nvSpPr>
          <p:cNvPr id="10" name="TextBox 9"/>
          <p:cNvSpPr txBox="1"/>
          <p:nvPr/>
        </p:nvSpPr>
        <p:spPr>
          <a:xfrm>
            <a:off x="4517136" y="2121408"/>
            <a:ext cx="3163824" cy="3730752"/>
          </a:xfrm>
          <a:prstGeom prst="rect">
            <a:avLst/>
          </a:prstGeom>
          <a:noFill/>
        </p:spPr>
        <p:txBody>
          <a:bodyPr wrap="square">
            <a:noAutofit/>
          </a:bodyPr>
          <a:lstStyle/>
          <a:p>
            <a:pPr>
              <a:spcAft>
                <a:spcPts val="600"/>
              </a:spcAft>
              <a:defRPr sz="1800">
                <a:solidFill>
                  <a:srgbClr val="152934"/>
                </a:solidFill>
                <a:latin typeface="Aptos"/>
              </a:defRPr>
            </a:pPr>
            <a:r>
              <a:t>GitHub Docs say Copilot Pro is free for verified students.</a:t>
            </a:r>
          </a:p>
          <a:p>
            <a:pPr>
              <a:spcAft>
                <a:spcPts val="600"/>
              </a:spcAft>
              <a:defRPr sz="1800">
                <a:solidFill>
                  <a:srgbClr val="152934"/>
                </a:solidFill>
                <a:latin typeface="Aptos"/>
              </a:defRPr>
            </a:pPr>
            <a:r>
              <a:t>Good for drafting, explaining, and debugging code.</a:t>
            </a:r>
          </a:p>
          <a:p>
            <a:pPr>
              <a:spcAft>
                <a:spcPts val="600"/>
              </a:spcAft>
              <a:defRPr sz="1800">
                <a:solidFill>
                  <a:srgbClr val="152934"/>
                </a:solidFill>
                <a:latin typeface="Aptos"/>
              </a:defRPr>
            </a:pPr>
            <a:r>
              <a:t>Still requires human review and judgment.</a:t>
            </a:r>
          </a:p>
        </p:txBody>
      </p:sp>
      <p:sp>
        <p:nvSpPr>
          <p:cNvPr id="11" name="Rounded Rectangle 10"/>
          <p:cNvSpPr/>
          <p:nvPr/>
        </p:nvSpPr>
        <p:spPr>
          <a:xfrm>
            <a:off x="7900416" y="1554480"/>
            <a:ext cx="3566160" cy="4480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37576"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MongoDB offer</a:t>
            </a:r>
          </a:p>
        </p:txBody>
      </p:sp>
      <p:sp>
        <p:nvSpPr>
          <p:cNvPr id="13" name="TextBox 12"/>
          <p:cNvSpPr txBox="1"/>
          <p:nvPr/>
        </p:nvSpPr>
        <p:spPr>
          <a:xfrm>
            <a:off x="8101584" y="2121408"/>
            <a:ext cx="3163824" cy="3730752"/>
          </a:xfrm>
          <a:prstGeom prst="rect">
            <a:avLst/>
          </a:prstGeom>
          <a:noFill/>
        </p:spPr>
        <p:txBody>
          <a:bodyPr wrap="square">
            <a:noAutofit/>
          </a:bodyPr>
          <a:lstStyle/>
          <a:p>
            <a:pPr>
              <a:spcAft>
                <a:spcPts val="600"/>
              </a:spcAft>
              <a:defRPr sz="1800">
                <a:solidFill>
                  <a:srgbClr val="152934"/>
                </a:solidFill>
                <a:latin typeface="Aptos"/>
              </a:defRPr>
            </a:pPr>
            <a:r>
              <a:t>$50 in Atlas credits</a:t>
            </a:r>
          </a:p>
          <a:p>
            <a:pPr>
              <a:spcAft>
                <a:spcPts val="600"/>
              </a:spcAft>
              <a:defRPr sz="1800">
                <a:solidFill>
                  <a:srgbClr val="152934"/>
                </a:solidFill>
                <a:latin typeface="Aptos"/>
              </a:defRPr>
            </a:pPr>
            <a:r>
              <a:t>MongoDB Compass</a:t>
            </a:r>
          </a:p>
          <a:p>
            <a:pPr>
              <a:spcAft>
                <a:spcPts val="600"/>
              </a:spcAft>
              <a:defRPr sz="1800">
                <a:solidFill>
                  <a:srgbClr val="152934"/>
                </a:solidFill>
                <a:latin typeface="Aptos"/>
              </a:defRPr>
            </a:pPr>
            <a:r>
              <a:t>MongoDB University access</a:t>
            </a:r>
          </a:p>
          <a:p>
            <a:pPr>
              <a:spcAft>
                <a:spcPts val="600"/>
              </a:spcAft>
              <a:defRPr sz="1800">
                <a:solidFill>
                  <a:srgbClr val="152934"/>
                </a:solidFill>
                <a:latin typeface="Aptos"/>
              </a:defRPr>
            </a:pPr>
            <a:r>
              <a:t>Relevant because this week introduces cloud databases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MongoDB Offer</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What the GitHub Student Pack says about MongoDB</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6492240" cy="43891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Verified offer</a:t>
            </a:r>
          </a:p>
        </p:txBody>
      </p:sp>
      <p:sp>
        <p:nvSpPr>
          <p:cNvPr id="7" name="TextBox 6"/>
          <p:cNvSpPr txBox="1"/>
          <p:nvPr/>
        </p:nvSpPr>
        <p:spPr>
          <a:xfrm>
            <a:off x="1024128" y="2167128"/>
            <a:ext cx="6089904" cy="3639312"/>
          </a:xfrm>
          <a:prstGeom prst="rect">
            <a:avLst/>
          </a:prstGeom>
          <a:noFill/>
        </p:spPr>
        <p:txBody>
          <a:bodyPr wrap="square">
            <a:noAutofit/>
          </a:bodyPr>
          <a:lstStyle/>
          <a:p>
            <a:pPr>
              <a:spcAft>
                <a:spcPts val="600"/>
              </a:spcAft>
              <a:defRPr sz="2100">
                <a:solidFill>
                  <a:srgbClr val="152934"/>
                </a:solidFill>
                <a:latin typeface="Aptos"/>
              </a:defRPr>
            </a:pPr>
            <a:r>
              <a:t>GitHub Education lists a MongoDB offer with $50 in Atlas credits.</a:t>
            </a:r>
          </a:p>
          <a:p>
            <a:pPr>
              <a:spcAft>
                <a:spcPts val="600"/>
              </a:spcAft>
              <a:defRPr sz="2100">
                <a:solidFill>
                  <a:srgbClr val="152934"/>
                </a:solidFill>
                <a:latin typeface="Aptos"/>
              </a:defRPr>
            </a:pPr>
            <a:r>
              <a:t>The offer also includes MongoDB Compass.</a:t>
            </a:r>
          </a:p>
          <a:p>
            <a:pPr>
              <a:spcAft>
                <a:spcPts val="600"/>
              </a:spcAft>
              <a:defRPr sz="2100">
                <a:solidFill>
                  <a:srgbClr val="152934"/>
                </a:solidFill>
                <a:latin typeface="Aptos"/>
              </a:defRPr>
            </a:pPr>
            <a:r>
              <a:t>The offer also includes MongoDB University, including a certification benefit.</a:t>
            </a:r>
          </a:p>
        </p:txBody>
      </p:sp>
      <p:sp>
        <p:nvSpPr>
          <p:cNvPr id="8" name="Rounded Rectangle 7"/>
          <p:cNvSpPr/>
          <p:nvPr/>
        </p:nvSpPr>
        <p:spPr>
          <a:xfrm>
            <a:off x="7635240" y="1600200"/>
            <a:ext cx="3657600" cy="1874519"/>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What Atlas is</a:t>
            </a:r>
          </a:p>
        </p:txBody>
      </p:sp>
      <p:sp>
        <p:nvSpPr>
          <p:cNvPr id="10" name="TextBox 9"/>
          <p:cNvSpPr txBox="1"/>
          <p:nvPr/>
        </p:nvSpPr>
        <p:spPr>
          <a:xfrm>
            <a:off x="7836408" y="2167128"/>
            <a:ext cx="3255264" cy="1124711"/>
          </a:xfrm>
          <a:prstGeom prst="rect">
            <a:avLst/>
          </a:prstGeom>
          <a:noFill/>
        </p:spPr>
        <p:txBody>
          <a:bodyPr wrap="square">
            <a:noAutofit/>
          </a:bodyPr>
          <a:lstStyle/>
          <a:p>
            <a:pPr>
              <a:spcAft>
                <a:spcPts val="600"/>
              </a:spcAft>
              <a:defRPr sz="1800">
                <a:solidFill>
                  <a:srgbClr val="152934"/>
                </a:solidFill>
                <a:latin typeface="Aptos"/>
              </a:defRPr>
            </a:pPr>
            <a:r>
              <a:t>MongoDB Atlas is MongoDB's managed cloud database platform.</a:t>
            </a:r>
          </a:p>
        </p:txBody>
      </p:sp>
      <p:sp>
        <p:nvSpPr>
          <p:cNvPr id="11" name="Rounded Rectangle 10"/>
          <p:cNvSpPr/>
          <p:nvPr/>
        </p:nvSpPr>
        <p:spPr>
          <a:xfrm>
            <a:off x="7635240" y="3840480"/>
            <a:ext cx="3657600" cy="1874519"/>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0" y="3968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Why it matters</a:t>
            </a:r>
          </a:p>
        </p:txBody>
      </p:sp>
      <p:sp>
        <p:nvSpPr>
          <p:cNvPr id="13" name="TextBox 12"/>
          <p:cNvSpPr txBox="1"/>
          <p:nvPr/>
        </p:nvSpPr>
        <p:spPr>
          <a:xfrm>
            <a:off x="7836408" y="4407408"/>
            <a:ext cx="3255264" cy="1124711"/>
          </a:xfrm>
          <a:prstGeom prst="rect">
            <a:avLst/>
          </a:prstGeom>
          <a:noFill/>
        </p:spPr>
        <p:txBody>
          <a:bodyPr wrap="square">
            <a:noAutofit/>
          </a:bodyPr>
          <a:lstStyle/>
          <a:p>
            <a:pPr>
              <a:spcAft>
                <a:spcPts val="600"/>
              </a:spcAft>
              <a:defRPr sz="1800">
                <a:solidFill>
                  <a:srgbClr val="152934"/>
                </a:solidFill>
                <a:latin typeface="Aptos"/>
              </a:defRPr>
            </a:pPr>
            <a:r>
              <a:t>It gives students a real cloud database environment instead of only local files.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Atlas Basics</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A project, a cluster, a database user, and an access list are different things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2651760" cy="3566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Project</a:t>
            </a:r>
          </a:p>
        </p:txBody>
      </p:sp>
      <p:sp>
        <p:nvSpPr>
          <p:cNvPr id="7" name="TextBox 6"/>
          <p:cNvSpPr txBox="1"/>
          <p:nvPr/>
        </p:nvSpPr>
        <p:spPr>
          <a:xfrm>
            <a:off x="932688" y="2167128"/>
            <a:ext cx="2249424" cy="2816352"/>
          </a:xfrm>
          <a:prstGeom prst="rect">
            <a:avLst/>
          </a:prstGeom>
          <a:noFill/>
        </p:spPr>
        <p:txBody>
          <a:bodyPr wrap="square">
            <a:noAutofit/>
          </a:bodyPr>
          <a:lstStyle/>
          <a:p>
            <a:pPr>
              <a:spcAft>
                <a:spcPts val="600"/>
              </a:spcAft>
              <a:defRPr sz="1800">
                <a:solidFill>
                  <a:srgbClr val="152934"/>
                </a:solidFill>
                <a:latin typeface="Aptos"/>
              </a:defRPr>
            </a:pPr>
            <a:r>
              <a:t>The container for your Atlas resources</a:t>
            </a:r>
          </a:p>
        </p:txBody>
      </p:sp>
      <p:sp>
        <p:nvSpPr>
          <p:cNvPr id="8" name="Rounded Rectangle 7"/>
          <p:cNvSpPr/>
          <p:nvPr/>
        </p:nvSpPr>
        <p:spPr>
          <a:xfrm>
            <a:off x="3611880" y="1600200"/>
            <a:ext cx="2651760" cy="3566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4904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Cluster</a:t>
            </a:r>
          </a:p>
        </p:txBody>
      </p:sp>
      <p:sp>
        <p:nvSpPr>
          <p:cNvPr id="10" name="TextBox 9"/>
          <p:cNvSpPr txBox="1"/>
          <p:nvPr/>
        </p:nvSpPr>
        <p:spPr>
          <a:xfrm>
            <a:off x="3813048" y="2167128"/>
            <a:ext cx="2249424" cy="2816352"/>
          </a:xfrm>
          <a:prstGeom prst="rect">
            <a:avLst/>
          </a:prstGeom>
          <a:noFill/>
        </p:spPr>
        <p:txBody>
          <a:bodyPr wrap="square">
            <a:noAutofit/>
          </a:bodyPr>
          <a:lstStyle/>
          <a:p>
            <a:pPr>
              <a:spcAft>
                <a:spcPts val="600"/>
              </a:spcAft>
              <a:defRPr sz="1800">
                <a:solidFill>
                  <a:srgbClr val="152934"/>
                </a:solidFill>
                <a:latin typeface="Aptos"/>
              </a:defRPr>
            </a:pPr>
            <a:r>
              <a:t>The actual hosted database deployment</a:t>
            </a:r>
          </a:p>
        </p:txBody>
      </p:sp>
      <p:sp>
        <p:nvSpPr>
          <p:cNvPr id="11" name="Rounded Rectangle 10"/>
          <p:cNvSpPr/>
          <p:nvPr/>
        </p:nvSpPr>
        <p:spPr>
          <a:xfrm>
            <a:off x="6492240" y="1600200"/>
            <a:ext cx="2651760" cy="3566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2940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Database user</a:t>
            </a:r>
          </a:p>
        </p:txBody>
      </p:sp>
      <p:sp>
        <p:nvSpPr>
          <p:cNvPr id="13" name="TextBox 12"/>
          <p:cNvSpPr txBox="1"/>
          <p:nvPr/>
        </p:nvSpPr>
        <p:spPr>
          <a:xfrm>
            <a:off x="6693408" y="2167128"/>
            <a:ext cx="2249424" cy="2816352"/>
          </a:xfrm>
          <a:prstGeom prst="rect">
            <a:avLst/>
          </a:prstGeom>
          <a:noFill/>
        </p:spPr>
        <p:txBody>
          <a:bodyPr wrap="square">
            <a:noAutofit/>
          </a:bodyPr>
          <a:lstStyle/>
          <a:p>
            <a:pPr>
              <a:spcAft>
                <a:spcPts val="600"/>
              </a:spcAft>
              <a:defRPr sz="1800">
                <a:solidFill>
                  <a:srgbClr val="152934"/>
                </a:solidFill>
                <a:latin typeface="Aptos"/>
              </a:defRPr>
            </a:pPr>
            <a:r>
              <a:t>The username and password your app or client will use</a:t>
            </a:r>
          </a:p>
        </p:txBody>
      </p:sp>
      <p:sp>
        <p:nvSpPr>
          <p:cNvPr id="14" name="Rounded Rectangle 13"/>
          <p:cNvSpPr/>
          <p:nvPr/>
        </p:nvSpPr>
        <p:spPr>
          <a:xfrm>
            <a:off x="9372600" y="1600200"/>
            <a:ext cx="1828800" cy="3566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0976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IP access list</a:t>
            </a:r>
          </a:p>
        </p:txBody>
      </p:sp>
      <p:sp>
        <p:nvSpPr>
          <p:cNvPr id="16" name="TextBox 15"/>
          <p:cNvSpPr txBox="1"/>
          <p:nvPr/>
        </p:nvSpPr>
        <p:spPr>
          <a:xfrm>
            <a:off x="9573768" y="2167128"/>
            <a:ext cx="1426464" cy="2816352"/>
          </a:xfrm>
          <a:prstGeom prst="rect">
            <a:avLst/>
          </a:prstGeom>
          <a:noFill/>
        </p:spPr>
        <p:txBody>
          <a:bodyPr wrap="square">
            <a:noAutofit/>
          </a:bodyPr>
          <a:lstStyle/>
          <a:p>
            <a:pPr>
              <a:spcAft>
                <a:spcPts val="600"/>
              </a:spcAft>
              <a:defRPr sz="1700">
                <a:solidFill>
                  <a:srgbClr val="152934"/>
                </a:solidFill>
                <a:latin typeface="Aptos"/>
              </a:defRPr>
            </a:pPr>
            <a:r>
              <a:t>The network rule that decides who may connect</a:t>
            </a:r>
          </a:p>
        </p:txBody>
      </p:sp>
      <p:sp>
        <p:nvSpPr>
          <p:cNvPr id="17" name="Rounded Rectangle 16"/>
          <p:cNvSpPr/>
          <p:nvPr/>
        </p:nvSpPr>
        <p:spPr>
          <a:xfrm>
            <a:off x="914400" y="5486400"/>
            <a:ext cx="10241280" cy="5029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59552"/>
            <a:ext cx="10021824" cy="356616"/>
          </a:xfrm>
          <a:prstGeom prst="rect">
            <a:avLst/>
          </a:prstGeom>
          <a:noFill/>
        </p:spPr>
        <p:txBody>
          <a:bodyPr wrap="square">
            <a:noAutofit/>
          </a:bodyPr>
          <a:lstStyle/>
          <a:p>
            <a:pPr>
              <a:spcAft>
                <a:spcPts val="600"/>
              </a:spcAft>
              <a:defRPr sz="1800">
                <a:solidFill>
                  <a:srgbClr val="152934"/>
                </a:solidFill>
                <a:latin typeface="Aptos"/>
              </a:defRPr>
            </a:pPr>
            <a:r>
              <a:t>MongoDB docs also say you can deploy at most one M0 free cluster per Atlas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Setup Path</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A clean student setup sequence for Atlas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64008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Five steps</a:t>
            </a:r>
          </a:p>
        </p:txBody>
      </p:sp>
      <p:sp>
        <p:nvSpPr>
          <p:cNvPr id="7" name="TextBox 6"/>
          <p:cNvSpPr txBox="1"/>
          <p:nvPr/>
        </p:nvSpPr>
        <p:spPr>
          <a:xfrm>
            <a:off x="1024128" y="2121408"/>
            <a:ext cx="5998464" cy="3776472"/>
          </a:xfrm>
          <a:prstGeom prst="rect">
            <a:avLst/>
          </a:prstGeom>
          <a:noFill/>
        </p:spPr>
        <p:txBody>
          <a:bodyPr wrap="square">
            <a:noAutofit/>
          </a:bodyPr>
          <a:lstStyle/>
          <a:p>
            <a:pPr>
              <a:spcAft>
                <a:spcPts val="600"/>
              </a:spcAft>
              <a:defRPr sz="2000">
                <a:solidFill>
                  <a:srgbClr val="152934"/>
                </a:solidFill>
                <a:latin typeface="Aptos"/>
              </a:defRPr>
            </a:pPr>
            <a:r>
              <a:t>1. Confirm GitHub Student approval.</a:t>
            </a:r>
          </a:p>
          <a:p>
            <a:pPr>
              <a:spcAft>
                <a:spcPts val="600"/>
              </a:spcAft>
              <a:defRPr sz="2000">
                <a:solidFill>
                  <a:srgbClr val="152934"/>
                </a:solidFill>
                <a:latin typeface="Aptos"/>
              </a:defRPr>
            </a:pPr>
            <a:r>
              <a:t>2. Open the MongoDB offer from the Pack.</a:t>
            </a:r>
          </a:p>
          <a:p>
            <a:pPr>
              <a:spcAft>
                <a:spcPts val="600"/>
              </a:spcAft>
              <a:defRPr sz="2000">
                <a:solidFill>
                  <a:srgbClr val="152934"/>
                </a:solidFill>
                <a:latin typeface="Aptos"/>
              </a:defRPr>
            </a:pPr>
            <a:r>
              <a:t>3. Create an Atlas project and choose the M0 free cluster.</a:t>
            </a:r>
          </a:p>
          <a:p>
            <a:pPr>
              <a:spcAft>
                <a:spcPts val="600"/>
              </a:spcAft>
              <a:defRPr sz="2000">
                <a:solidFill>
                  <a:srgbClr val="152934"/>
                </a:solidFill>
                <a:latin typeface="Aptos"/>
              </a:defRPr>
            </a:pPr>
            <a:r>
              <a:t>4. Create a database user and add your current IP address.</a:t>
            </a:r>
          </a:p>
          <a:p>
            <a:pPr>
              <a:spcAft>
                <a:spcPts val="600"/>
              </a:spcAft>
              <a:defRPr sz="2000">
                <a:solidFill>
                  <a:srgbClr val="152934"/>
                </a:solidFill>
                <a:latin typeface="Aptos"/>
              </a:defRPr>
            </a:pPr>
            <a:r>
              <a:t>5. Connect with MongoDB Compass.</a:t>
            </a:r>
          </a:p>
        </p:txBody>
      </p:sp>
      <p:sp>
        <p:nvSpPr>
          <p:cNvPr id="8" name="Rounded Rectangle 7"/>
          <p:cNvSpPr/>
          <p:nvPr/>
        </p:nvSpPr>
        <p:spPr>
          <a:xfrm>
            <a:off x="7543800" y="1554480"/>
            <a:ext cx="3657600" cy="1874519"/>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68096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Cloud choice</a:t>
            </a:r>
          </a:p>
        </p:txBody>
      </p:sp>
      <p:sp>
        <p:nvSpPr>
          <p:cNvPr id="10" name="TextBox 9"/>
          <p:cNvSpPr txBox="1"/>
          <p:nvPr/>
        </p:nvSpPr>
        <p:spPr>
          <a:xfrm>
            <a:off x="7744968" y="2121408"/>
            <a:ext cx="3255264" cy="1124711"/>
          </a:xfrm>
          <a:prstGeom prst="rect">
            <a:avLst/>
          </a:prstGeom>
          <a:noFill/>
        </p:spPr>
        <p:txBody>
          <a:bodyPr wrap="square">
            <a:noAutofit/>
          </a:bodyPr>
          <a:lstStyle/>
          <a:p>
            <a:pPr>
              <a:spcAft>
                <a:spcPts val="600"/>
              </a:spcAft>
              <a:defRPr sz="1800">
                <a:solidFill>
                  <a:srgbClr val="152934"/>
                </a:solidFill>
                <a:latin typeface="Aptos"/>
              </a:defRPr>
            </a:pPr>
            <a:r>
              <a:t>Atlas supports AWS, Azure, and GCP.</a:t>
            </a:r>
          </a:p>
        </p:txBody>
      </p:sp>
      <p:sp>
        <p:nvSpPr>
          <p:cNvPr id="11" name="Rounded Rectangle 10"/>
          <p:cNvSpPr/>
          <p:nvPr/>
        </p:nvSpPr>
        <p:spPr>
          <a:xfrm>
            <a:off x="7543800" y="3840480"/>
            <a:ext cx="3657600" cy="1874519"/>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80960" y="3968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Region choice</a:t>
            </a:r>
          </a:p>
        </p:txBody>
      </p:sp>
      <p:sp>
        <p:nvSpPr>
          <p:cNvPr id="13" name="TextBox 12"/>
          <p:cNvSpPr txBox="1"/>
          <p:nvPr/>
        </p:nvSpPr>
        <p:spPr>
          <a:xfrm>
            <a:off x="7744968" y="4407408"/>
            <a:ext cx="3255264" cy="1124711"/>
          </a:xfrm>
          <a:prstGeom prst="rect">
            <a:avLst/>
          </a:prstGeom>
          <a:noFill/>
        </p:spPr>
        <p:txBody>
          <a:bodyPr wrap="square">
            <a:noAutofit/>
          </a:bodyPr>
          <a:lstStyle/>
          <a:p>
            <a:pPr>
              <a:spcAft>
                <a:spcPts val="600"/>
              </a:spcAft>
              <a:defRPr sz="1800">
                <a:solidFill>
                  <a:srgbClr val="152934"/>
                </a:solidFill>
                <a:latin typeface="Aptos"/>
              </a:defRPr>
            </a:pPr>
            <a:r>
              <a:t>Choose a region close to where you are working.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Security Checklist</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Do not let the setup convenience turn into careless security habits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600200"/>
            <a:ext cx="5029200" cy="43434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Do this</a:t>
            </a:r>
          </a:p>
        </p:txBody>
      </p:sp>
      <p:sp>
        <p:nvSpPr>
          <p:cNvPr id="7" name="TextBox 6"/>
          <p:cNvSpPr txBox="1"/>
          <p:nvPr/>
        </p:nvSpPr>
        <p:spPr>
          <a:xfrm>
            <a:off x="1069848" y="2167128"/>
            <a:ext cx="4626864" cy="3593592"/>
          </a:xfrm>
          <a:prstGeom prst="rect">
            <a:avLst/>
          </a:prstGeom>
          <a:noFill/>
        </p:spPr>
        <p:txBody>
          <a:bodyPr wrap="square">
            <a:noAutofit/>
          </a:bodyPr>
          <a:lstStyle/>
          <a:p>
            <a:pPr>
              <a:spcAft>
                <a:spcPts val="600"/>
              </a:spcAft>
              <a:defRPr sz="1900">
                <a:solidFill>
                  <a:srgbClr val="152934"/>
                </a:solidFill>
                <a:latin typeface="Aptos"/>
              </a:defRPr>
            </a:pPr>
            <a:r>
              <a:t>Use a strong database password</a:t>
            </a:r>
          </a:p>
          <a:p>
            <a:pPr>
              <a:spcAft>
                <a:spcPts val="600"/>
              </a:spcAft>
              <a:defRPr sz="1900">
                <a:solidFill>
                  <a:srgbClr val="152934"/>
                </a:solidFill>
                <a:latin typeface="Aptos"/>
              </a:defRPr>
            </a:pPr>
            <a:r>
              <a:t>Allowlist your current IP instead of all IPs</a:t>
            </a:r>
          </a:p>
          <a:p>
            <a:pPr>
              <a:spcAft>
                <a:spcPts val="600"/>
              </a:spcAft>
              <a:defRPr sz="1900">
                <a:solidFill>
                  <a:srgbClr val="152934"/>
                </a:solidFill>
                <a:latin typeface="Aptos"/>
              </a:defRPr>
            </a:pPr>
            <a:r>
              <a:t>Store credentials safely</a:t>
            </a:r>
          </a:p>
          <a:p>
            <a:pPr>
              <a:spcAft>
                <a:spcPts val="600"/>
              </a:spcAft>
              <a:defRPr sz="1900">
                <a:solidFill>
                  <a:srgbClr val="152934"/>
                </a:solidFill>
                <a:latin typeface="Aptos"/>
              </a:defRPr>
            </a:pPr>
            <a:r>
              <a:t>Use separate users for separate apps when possible</a:t>
            </a:r>
          </a:p>
        </p:txBody>
      </p:sp>
      <p:sp>
        <p:nvSpPr>
          <p:cNvPr id="8" name="Rounded Rectangle 7"/>
          <p:cNvSpPr/>
          <p:nvPr/>
        </p:nvSpPr>
        <p:spPr>
          <a:xfrm>
            <a:off x="6217920" y="1600200"/>
            <a:ext cx="5029200" cy="43434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Do not do this</a:t>
            </a:r>
          </a:p>
        </p:txBody>
      </p:sp>
      <p:sp>
        <p:nvSpPr>
          <p:cNvPr id="10" name="TextBox 9"/>
          <p:cNvSpPr txBox="1"/>
          <p:nvPr/>
        </p:nvSpPr>
        <p:spPr>
          <a:xfrm>
            <a:off x="6419088" y="2167128"/>
            <a:ext cx="4626864" cy="3593592"/>
          </a:xfrm>
          <a:prstGeom prst="rect">
            <a:avLst/>
          </a:prstGeom>
          <a:noFill/>
        </p:spPr>
        <p:txBody>
          <a:bodyPr wrap="square">
            <a:noAutofit/>
          </a:bodyPr>
          <a:lstStyle/>
          <a:p>
            <a:pPr>
              <a:spcAft>
                <a:spcPts val="600"/>
              </a:spcAft>
              <a:defRPr sz="1900">
                <a:solidFill>
                  <a:srgbClr val="152934"/>
                </a:solidFill>
                <a:latin typeface="Aptos"/>
              </a:defRPr>
            </a:pPr>
            <a:r>
              <a:t>Do not post screenshots with connection strings</a:t>
            </a:r>
          </a:p>
          <a:p>
            <a:pPr>
              <a:spcAft>
                <a:spcPts val="600"/>
              </a:spcAft>
              <a:defRPr sz="1900">
                <a:solidFill>
                  <a:srgbClr val="152934"/>
                </a:solidFill>
                <a:latin typeface="Aptos"/>
              </a:defRPr>
            </a:pPr>
            <a:r>
              <a:t>Do not commit passwords to GitHub</a:t>
            </a:r>
          </a:p>
          <a:p>
            <a:pPr>
              <a:spcAft>
                <a:spcPts val="600"/>
              </a:spcAft>
              <a:defRPr sz="1900">
                <a:solidFill>
                  <a:srgbClr val="152934"/>
                </a:solidFill>
                <a:latin typeface="Aptos"/>
              </a:defRPr>
            </a:pPr>
            <a:r>
              <a:t>Do not leave broad network rules in place after a demo</a:t>
            </a:r>
          </a:p>
          <a:p>
            <a:pPr>
              <a:spcAft>
                <a:spcPts val="600"/>
              </a:spcAft>
              <a:defRPr sz="1900">
                <a:solidFill>
                  <a:srgbClr val="152934"/>
                </a:solidFill>
                <a:latin typeface="Aptos"/>
              </a:defRPr>
            </a:pPr>
            <a:r>
              <a:t>Do not put sensitive real data into a student test database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202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Next Move</a:t>
            </a:r>
          </a:p>
        </p:txBody>
      </p:sp>
      <p:sp>
        <p:nvSpPr>
          <p:cNvPr id="3" name="TextBox 2"/>
          <p:cNvSpPr txBox="1"/>
          <p:nvPr/>
        </p:nvSpPr>
        <p:spPr>
          <a:xfrm>
            <a:off x="548640" y="493776"/>
            <a:ext cx="10972800" cy="713232"/>
          </a:xfrm>
          <a:prstGeom prst="rect">
            <a:avLst/>
          </a:prstGeom>
          <a:noFill/>
        </p:spPr>
        <p:txBody>
          <a:bodyPr wrap="none">
            <a:spAutoFit/>
          </a:bodyPr>
          <a:lstStyle/>
          <a:p>
            <a:pPr>
              <a:defRPr sz="2500" b="1">
                <a:solidFill>
                  <a:srgbClr val="152934"/>
                </a:solidFill>
                <a:latin typeface="Aptos Display"/>
              </a:defRPr>
            </a:pPr>
            <a:r>
              <a:t>What students should do after setup</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645920"/>
            <a:ext cx="10241280" cy="42976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77393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After your account is ready</a:t>
            </a:r>
          </a:p>
        </p:txBody>
      </p:sp>
      <p:sp>
        <p:nvSpPr>
          <p:cNvPr id="7" name="TextBox 6"/>
          <p:cNvSpPr txBox="1"/>
          <p:nvPr/>
        </p:nvSpPr>
        <p:spPr>
          <a:xfrm>
            <a:off x="1069848" y="2212848"/>
            <a:ext cx="9838944" cy="3547872"/>
          </a:xfrm>
          <a:prstGeom prst="rect">
            <a:avLst/>
          </a:prstGeom>
          <a:noFill/>
        </p:spPr>
        <p:txBody>
          <a:bodyPr wrap="square">
            <a:noAutofit/>
          </a:bodyPr>
          <a:lstStyle/>
          <a:p>
            <a:pPr>
              <a:spcAft>
                <a:spcPts val="600"/>
              </a:spcAft>
              <a:defRPr sz="2100">
                <a:solidFill>
                  <a:srgbClr val="152934"/>
                </a:solidFill>
                <a:latin typeface="Aptos"/>
              </a:defRPr>
            </a:pPr>
            <a:r>
              <a:t>Sign in to Atlas and confirm you can see your project and cluster.</a:t>
            </a:r>
          </a:p>
          <a:p>
            <a:pPr>
              <a:spcAft>
                <a:spcPts val="600"/>
              </a:spcAft>
              <a:defRPr sz="2100">
                <a:solidFill>
                  <a:srgbClr val="152934"/>
                </a:solidFill>
                <a:latin typeface="Aptos"/>
              </a:defRPr>
            </a:pPr>
            <a:r>
              <a:t>Open Compass and test the connection.</a:t>
            </a:r>
          </a:p>
          <a:p>
            <a:pPr>
              <a:spcAft>
                <a:spcPts val="600"/>
              </a:spcAft>
              <a:defRPr sz="2100">
                <a:solidFill>
                  <a:srgbClr val="152934"/>
                </a:solidFill>
                <a:latin typeface="Aptos"/>
              </a:defRPr>
            </a:pPr>
            <a:r>
              <a:t>Be ready to describe the difference between the Atlas project, cluster, user, and IP access list.</a:t>
            </a:r>
          </a:p>
          <a:p>
            <a:pPr>
              <a:spcAft>
                <a:spcPts val="600"/>
              </a:spcAft>
              <a:defRPr sz="2100">
                <a:solidFill>
                  <a:srgbClr val="152934"/>
                </a:solidFill>
                <a:latin typeface="Aptos"/>
              </a:defRPr>
            </a:pPr>
            <a:r>
              <a:t>Connect this setup back to the course question: what kind of data model fits the use case?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