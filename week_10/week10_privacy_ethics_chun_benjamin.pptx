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we are using Ruha Benjamin and Wendy Hui Kyong Chun to study technology as a social and political system, not just a technical object. The goal is to help students learn the ideas first, then use those ideas in the writing assignment. I want them leaving the class with actual conceptual tools for analyzing data systems.</a:t>
            </a:r>
          </a:p>
          <a:p/>
          <a:p>
            <a:r>
              <a:t>Mention:</a:t>
            </a:r>
          </a:p>
          <a:p>
            <a:r>
              <a:t>- Say the deck teaches the concepts before the writing</a:t>
            </a:r>
          </a:p>
          <a:p>
            <a:r>
              <a:t>- Frame the class around power, defaults, and social consequences</a:t>
            </a:r>
          </a:p>
          <a:p>
            <a:r>
              <a:t>- Keep the opening broad and student-facing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why the class belongs in privacy, law, and ethics. Security alone does not tell us whether a system is fair, legitimate, or socially responsible. We also have to ask what data is collected, who is represented, who is burdened, and what institutions are being strengthened by the technology.</a:t>
            </a:r>
          </a:p>
          <a:p/>
          <a:p>
            <a:r>
              <a:t>Mention:</a:t>
            </a:r>
          </a:p>
          <a:p>
            <a:r>
              <a:t>- Connect to the course theme explicitly</a:t>
            </a:r>
          </a:p>
          <a:p>
            <a:r>
              <a:t>- Distinguish working systems from just systems</a:t>
            </a:r>
          </a:p>
          <a:p>
            <a:r>
              <a:t>- Set up why Benjamin and Chun matter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Benjamin begins by challenging two familiar stories. In one, technology saves us. In the other, technology destroys us. Her point is that both stories make technology seem autonomous, as if human values and institutions disappear. She wants us to pull human choices back into the frame and ask who is shaping the future and for whose benefit.</a:t>
            </a:r>
          </a:p>
          <a:p/>
          <a:p>
            <a:r>
              <a:t>Mention:</a:t>
            </a:r>
          </a:p>
          <a:p>
            <a:r>
              <a:t>- Explain savior versus slayer clearly</a:t>
            </a:r>
          </a:p>
          <a:p>
            <a:r>
              <a:t>- Stress that both stories hide human agency</a:t>
            </a:r>
          </a:p>
          <a:p>
            <a:r>
              <a:t>- Move students away from tech determinism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Benjamin uses the idea of ustopia to argue that the future is something people create together while awake, not something machines deliver on their own. She criticizes what she calls a lopsided imagination: billion-dollar faith in technical moonshots alongside refusal to imagine public goods like housing or health care for all. Her examples matter because they show technology can support collective decision-making, but it can also be used to impose top-down visions that ignore the public.</a:t>
            </a:r>
          </a:p>
          <a:p/>
          <a:p>
            <a:r>
              <a:t>Mention:</a:t>
            </a:r>
          </a:p>
          <a:p>
            <a:r>
              <a:t>- Define ustopia in plain language</a:t>
            </a:r>
          </a:p>
          <a:p>
            <a:r>
              <a:t>- Explain the lopsided imagination idea</a:t>
            </a:r>
          </a:p>
          <a:p>
            <a:r>
              <a:t>- Use Barcelona and Sidewalk Labs as contrasting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Chun helps students see that prediction is not neutral just because it is mathematical. Correlation and proxies let systems act on patterns without fully understanding people or causes. If the past data reflects exclusion, overpolicing, or unequal treatment, then the model can make those older patterns look objective and forward-looking.</a:t>
            </a:r>
          </a:p>
          <a:p/>
          <a:p>
            <a:r>
              <a:t>Mention:</a:t>
            </a:r>
          </a:p>
          <a:p>
            <a:r>
              <a:t>- Explain correlation and proxies simply</a:t>
            </a:r>
          </a:p>
          <a:p>
            <a:r>
              <a:t>- Say math can hide assumptions instead of removing them</a:t>
            </a:r>
          </a:p>
          <a:p>
            <a:r>
              <a:t>- Connect the past directly to future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Another major idea in Chun is homophily: the tendency to cluster around similarity. Many digital systems sort users into neighborhoods of sameness, whether by interests, habits, identities, or predicted preferences. Chun also argues that recognition systems reward stable, legible identities. That means users can be trained into predictable categories, and polarization can become a product of the platform rather than just a reflection of society.</a:t>
            </a:r>
          </a:p>
          <a:p/>
          <a:p>
            <a:r>
              <a:t>Mention:</a:t>
            </a:r>
          </a:p>
          <a:p>
            <a:r>
              <a:t>- Define homophily clearly</a:t>
            </a:r>
          </a:p>
          <a:p>
            <a:r>
              <a:t>- Explain recognition as legibility and predictability</a:t>
            </a:r>
          </a:p>
          <a:p>
            <a:r>
              <a:t>- Connect to feeds, recommenders, and platform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slide helps students keep the two thinkers distinct. Benjamin is especially strong on power, exclusion, and imagination. Chun is especially strong on correlation, categories, defaults, and repetition. Put together, they give students a more complete way to analyze a data-driven system: why the harms matter and how the system helps produce them.</a:t>
            </a:r>
          </a:p>
          <a:p/>
          <a:p>
            <a:r>
              <a:t>Mention:</a:t>
            </a:r>
          </a:p>
          <a:p>
            <a:r>
              <a:t>- Do not collapse the two thinkers into one</a:t>
            </a:r>
          </a:p>
          <a:p>
            <a:r>
              <a:t>- Name what each adds to the analysis</a:t>
            </a:r>
          </a:p>
          <a:p>
            <a:r>
              <a:t>- Use the 'why' versus 'how' distinction carefully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 want to model the move students will later make on their own. Predictive policing looks efficient because it converts past incidents into predictions. Benjamin helps us ask who is being governed through suspicion and surveillance. Chun helps us ask how old patterns enter the system as data and come back out as supposedly neutral forecasts. The point is to show how one case looks different when both lenses are applied.</a:t>
            </a:r>
          </a:p>
          <a:p/>
          <a:p>
            <a:r>
              <a:t>Mention:</a:t>
            </a:r>
          </a:p>
          <a:p>
            <a:r>
              <a:t>- Teach by example rather than jumping straight to the assignment</a:t>
            </a:r>
          </a:p>
          <a:p>
            <a:r>
              <a:t>- Keep the case concrete</a:t>
            </a:r>
          </a:p>
          <a:p>
            <a:r>
              <a:t>- Show how the two lenses can be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By this point, discussion should not be about basic comprehension only. It should be about making judgments. Which critique is more useful for a given system? What kind of intervention follows? Better models, better defaults, stronger public governance, or a different social response entirely? These are the questions that prepare students to write something more than summary.</a:t>
            </a:r>
          </a:p>
          <a:p/>
          <a:p>
            <a:r>
              <a:t>Mention:</a:t>
            </a:r>
          </a:p>
          <a:p>
            <a:r>
              <a:t>- Use discussion to deepen analysis</a:t>
            </a:r>
          </a:p>
          <a:p>
            <a:r>
              <a:t>- Push students toward judgment and reasoning</a:t>
            </a:r>
          </a:p>
          <a:p>
            <a:r>
              <a:t>- Bridge from concepts to argument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Only now do I move directly into the writing task. The assignment should feel like an application of what students have learned, not the whole substance of the lesson. I want them to use Benjamin and Chun as analytical tools, choose one concrete technology, and make a reasoned claim about responsibility.</a:t>
            </a:r>
          </a:p>
          <a:p/>
          <a:p>
            <a:r>
              <a:t>Mention:</a:t>
            </a:r>
          </a:p>
          <a:p>
            <a:r>
              <a:t>- Position writing as the endpoint</a:t>
            </a:r>
          </a:p>
          <a:p>
            <a:r>
              <a:t>- Remind students to be specific</a:t>
            </a:r>
          </a:p>
          <a:p>
            <a:r>
              <a:t>- Keep focus on argument, not recap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52934"/>
          </a:solidFill>
          <a:ln>
            <a:solidFill>
              <a:srgbClr val="15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972800" cy="822960"/>
          </a:xfrm>
          <a:prstGeom prst="rect">
            <a:avLst/>
          </a:prstGeom>
          <a:noFill/>
        </p:spPr>
        <p:txBody>
          <a:bodyPr wrap="none">
            <a:spAutoFit/>
          </a:bodyPr>
          <a:lstStyle/>
          <a:p>
            <a:pPr>
              <a:defRPr sz="2800" b="1">
                <a:solidFill>
                  <a:srgbClr val="FFFFFF"/>
                </a:solidFill>
                <a:latin typeface="Aptos Display"/>
              </a:defRPr>
            </a:pPr>
            <a:r>
              <a:t>Week 10: Privacy, Law, and Ethics Through Chun and Benjamin</a:t>
            </a:r>
          </a:p>
        </p:txBody>
      </p:sp>
      <p:sp>
        <p:nvSpPr>
          <p:cNvPr id="4" name="Rounded Rectangle 3"/>
          <p:cNvSpPr/>
          <p:nvPr/>
        </p:nvSpPr>
        <p:spPr>
          <a:xfrm>
            <a:off x="777240" y="1481328"/>
            <a:ext cx="10789920" cy="822960"/>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554480"/>
            <a:ext cx="10570464" cy="676656"/>
          </a:xfrm>
          <a:prstGeom prst="rect">
            <a:avLst/>
          </a:prstGeom>
          <a:noFill/>
        </p:spPr>
        <p:txBody>
          <a:bodyPr wrap="square">
            <a:noAutofit/>
          </a:bodyPr>
          <a:lstStyle/>
          <a:p>
            <a:pPr>
              <a:spcAft>
                <a:spcPts val="600"/>
              </a:spcAft>
              <a:defRPr sz="2100">
                <a:solidFill>
                  <a:srgbClr val="152934"/>
                </a:solidFill>
                <a:latin typeface="Aptos"/>
              </a:defRPr>
            </a:pPr>
            <a:r>
              <a:t>Today we use two thinkers to ask how real data systems distribute power, risk, and possibility.</a:t>
            </a:r>
          </a:p>
        </p:txBody>
      </p:sp>
      <p:sp>
        <p:nvSpPr>
          <p:cNvPr id="6" name="Rounded Rectangle 5"/>
          <p:cNvSpPr/>
          <p:nvPr/>
        </p:nvSpPr>
        <p:spPr>
          <a:xfrm>
            <a:off x="868680" y="2743200"/>
            <a:ext cx="3337560" cy="25603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871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Big idea</a:t>
            </a:r>
          </a:p>
        </p:txBody>
      </p:sp>
      <p:sp>
        <p:nvSpPr>
          <p:cNvPr id="8" name="TextBox 7"/>
          <p:cNvSpPr txBox="1"/>
          <p:nvPr/>
        </p:nvSpPr>
        <p:spPr>
          <a:xfrm>
            <a:off x="1069848" y="3310128"/>
            <a:ext cx="2935224" cy="1810512"/>
          </a:xfrm>
          <a:prstGeom prst="rect">
            <a:avLst/>
          </a:prstGeom>
          <a:noFill/>
        </p:spPr>
        <p:txBody>
          <a:bodyPr wrap="square">
            <a:noAutofit/>
          </a:bodyPr>
          <a:lstStyle/>
          <a:p>
            <a:pPr>
              <a:spcAft>
                <a:spcPts val="600"/>
              </a:spcAft>
              <a:defRPr sz="1800">
                <a:solidFill>
                  <a:srgbClr val="152934"/>
                </a:solidFill>
                <a:latin typeface="Aptos"/>
              </a:defRPr>
            </a:pPr>
            <a:r>
              <a:t>Technology is not just code and performance.</a:t>
            </a:r>
          </a:p>
          <a:p>
            <a:pPr>
              <a:spcAft>
                <a:spcPts val="600"/>
              </a:spcAft>
              <a:defRPr sz="1800">
                <a:solidFill>
                  <a:srgbClr val="152934"/>
                </a:solidFill>
                <a:latin typeface="Aptos"/>
              </a:defRPr>
            </a:pPr>
            <a:r>
              <a:t>It also reflects values, defaults, and power.</a:t>
            </a:r>
          </a:p>
        </p:txBody>
      </p:sp>
      <p:sp>
        <p:nvSpPr>
          <p:cNvPr id="9" name="Rounded Rectangle 8"/>
          <p:cNvSpPr/>
          <p:nvPr/>
        </p:nvSpPr>
        <p:spPr>
          <a:xfrm>
            <a:off x="4434840" y="2743200"/>
            <a:ext cx="3337560" cy="25603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871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Today's thinkers</a:t>
            </a:r>
          </a:p>
        </p:txBody>
      </p:sp>
      <p:sp>
        <p:nvSpPr>
          <p:cNvPr id="11" name="TextBox 10"/>
          <p:cNvSpPr txBox="1"/>
          <p:nvPr/>
        </p:nvSpPr>
        <p:spPr>
          <a:xfrm>
            <a:off x="4636008" y="3310128"/>
            <a:ext cx="2935224" cy="1810512"/>
          </a:xfrm>
          <a:prstGeom prst="rect">
            <a:avLst/>
          </a:prstGeom>
          <a:noFill/>
        </p:spPr>
        <p:txBody>
          <a:bodyPr wrap="square">
            <a:noAutofit/>
          </a:bodyPr>
          <a:lstStyle/>
          <a:p>
            <a:pPr>
              <a:spcAft>
                <a:spcPts val="600"/>
              </a:spcAft>
              <a:defRPr sz="2000">
                <a:solidFill>
                  <a:srgbClr val="152934"/>
                </a:solidFill>
                <a:latin typeface="Aptos"/>
              </a:defRPr>
            </a:pPr>
            <a:r>
              <a:t>Ruha Benjamin</a:t>
            </a:r>
          </a:p>
          <a:p>
            <a:pPr>
              <a:spcAft>
                <a:spcPts val="600"/>
              </a:spcAft>
              <a:defRPr sz="2000">
                <a:solidFill>
                  <a:srgbClr val="152934"/>
                </a:solidFill>
                <a:latin typeface="Aptos"/>
              </a:defRPr>
            </a:pPr>
            <a:r>
              <a:t>Wendy Hui Kyong Chun</a:t>
            </a:r>
          </a:p>
        </p:txBody>
      </p:sp>
      <p:sp>
        <p:nvSpPr>
          <p:cNvPr id="12" name="Rounded Rectangle 11"/>
          <p:cNvSpPr/>
          <p:nvPr/>
        </p:nvSpPr>
        <p:spPr>
          <a:xfrm>
            <a:off x="8001000" y="2743200"/>
            <a:ext cx="3063240" cy="25603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871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Main question</a:t>
            </a:r>
          </a:p>
        </p:txBody>
      </p:sp>
      <p:sp>
        <p:nvSpPr>
          <p:cNvPr id="14" name="TextBox 13"/>
          <p:cNvSpPr txBox="1"/>
          <p:nvPr/>
        </p:nvSpPr>
        <p:spPr>
          <a:xfrm>
            <a:off x="8202168" y="3310128"/>
            <a:ext cx="2660904" cy="1810512"/>
          </a:xfrm>
          <a:prstGeom prst="rect">
            <a:avLst/>
          </a:prstGeom>
          <a:noFill/>
        </p:spPr>
        <p:txBody>
          <a:bodyPr wrap="square">
            <a:noAutofit/>
          </a:bodyPr>
          <a:lstStyle/>
          <a:p>
            <a:pPr>
              <a:spcAft>
                <a:spcPts val="600"/>
              </a:spcAft>
              <a:defRPr sz="1800">
                <a:solidFill>
                  <a:srgbClr val="152934"/>
                </a:solidFill>
                <a:latin typeface="Aptos"/>
              </a:defRPr>
            </a:pPr>
            <a:r>
              <a:t>What becomes visible when we stop treating data systems as neutral?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Course Link</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Why this belongs in a privacy, law, and ethics course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Security is not enough</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A system can work exactly as designed and still create harm.</a:t>
            </a:r>
          </a:p>
          <a:p>
            <a:pPr>
              <a:spcAft>
                <a:spcPts val="600"/>
              </a:spcAft>
              <a:defRPr sz="1800">
                <a:solidFill>
                  <a:srgbClr val="152934"/>
                </a:solidFill>
                <a:latin typeface="Aptos"/>
              </a:defRPr>
            </a:pPr>
            <a:r>
              <a:t>Privacy asks what data is collected and who controls it.</a:t>
            </a:r>
          </a:p>
          <a:p>
            <a:pPr>
              <a:spcAft>
                <a:spcPts val="600"/>
              </a:spcAft>
              <a:defRPr sz="1800">
                <a:solidFill>
                  <a:srgbClr val="152934"/>
                </a:solidFill>
                <a:latin typeface="Aptos"/>
              </a:defRPr>
            </a:pPr>
            <a:r>
              <a:t>Ethics asks whose lives are improved, burdened, or ignored.</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Questions for today</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Who gets represented fairly in the data?</a:t>
            </a:r>
          </a:p>
          <a:p>
            <a:pPr>
              <a:spcAft>
                <a:spcPts val="600"/>
              </a:spcAft>
              <a:defRPr sz="1800">
                <a:solidFill>
                  <a:srgbClr val="152934"/>
                </a:solidFill>
                <a:latin typeface="Aptos"/>
              </a:defRPr>
            </a:pPr>
            <a:r>
              <a:t>Which assumptions get built into models and categories?</a:t>
            </a:r>
          </a:p>
          <a:p>
            <a:pPr>
              <a:spcAft>
                <a:spcPts val="600"/>
              </a:spcAft>
              <a:defRPr sz="1800">
                <a:solidFill>
                  <a:srgbClr val="152934"/>
                </a:solidFill>
                <a:latin typeface="Aptos"/>
              </a:defRPr>
            </a:pPr>
            <a:r>
              <a:t>What responsibilities remain when a system is efficient but unequal?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Ruha Benjamin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Beyond the savior or slayer story</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Two common stories</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Story 1: technology saves us through speed, convenience, and optimization.</a:t>
            </a:r>
          </a:p>
          <a:p>
            <a:pPr>
              <a:spcAft>
                <a:spcPts val="600"/>
              </a:spcAft>
              <a:defRPr sz="1800">
                <a:solidFill>
                  <a:srgbClr val="152934"/>
                </a:solidFill>
                <a:latin typeface="Aptos"/>
              </a:defRPr>
            </a:pPr>
            <a:r>
              <a:t>Story 2: technology destroys us through chaos, surveillance, and control.</a:t>
            </a:r>
          </a:p>
          <a:p>
            <a:pPr>
              <a:spcAft>
                <a:spcPts val="600"/>
              </a:spcAft>
              <a:defRPr sz="1800">
                <a:solidFill>
                  <a:srgbClr val="152934"/>
                </a:solidFill>
                <a:latin typeface="Aptos"/>
              </a:defRPr>
            </a:pPr>
            <a:r>
              <a:t>Benjamin argues both stories make technology seem more powerful than people.</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Benjamin's move</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Put human choices back into view.</a:t>
            </a:r>
          </a:p>
          <a:p>
            <a:pPr>
              <a:spcAft>
                <a:spcPts val="600"/>
              </a:spcAft>
              <a:defRPr sz="1800">
                <a:solidFill>
                  <a:srgbClr val="152934"/>
                </a:solidFill>
                <a:latin typeface="Aptos"/>
              </a:defRPr>
            </a:pPr>
            <a:r>
              <a:t>Ask whose needs and fantasies shape the future.</a:t>
            </a:r>
          </a:p>
          <a:p>
            <a:pPr>
              <a:spcAft>
                <a:spcPts val="600"/>
              </a:spcAft>
              <a:defRPr sz="1800">
                <a:solidFill>
                  <a:srgbClr val="152934"/>
                </a:solidFill>
                <a:latin typeface="Aptos"/>
              </a:defRPr>
            </a:pPr>
            <a:r>
              <a:t>Treat technology as political and social, not automatic.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Ruha Benjamin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Ustopia, collective imagination, and public life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Ustopia</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700">
                <a:solidFill>
                  <a:srgbClr val="152934"/>
                </a:solidFill>
                <a:latin typeface="Aptos"/>
              </a:defRPr>
            </a:pPr>
            <a:r>
              <a:t>Benjamin borrows 'ustopia' to say the future is something people make together.</a:t>
            </a:r>
          </a:p>
          <a:p>
            <a:pPr>
              <a:spcAft>
                <a:spcPts val="600"/>
              </a:spcAft>
              <a:defRPr sz="1700">
                <a:solidFill>
                  <a:srgbClr val="152934"/>
                </a:solidFill>
                <a:latin typeface="Aptos"/>
              </a:defRPr>
            </a:pPr>
            <a:r>
              <a:t>The key issue is not machine destiny. It is whose imagination gets funded and normalized.</a:t>
            </a:r>
          </a:p>
          <a:p>
            <a:pPr>
              <a:spcAft>
                <a:spcPts val="600"/>
              </a:spcAft>
              <a:defRPr sz="1700">
                <a:solidFill>
                  <a:srgbClr val="152934"/>
                </a:solidFill>
                <a:latin typeface="Aptos"/>
              </a:defRPr>
            </a:pPr>
            <a:r>
              <a:t>She asks why radical technical projects seem realistic while housing or health care for all seem impossible.</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Examples in the talk</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700">
                <a:solidFill>
                  <a:srgbClr val="152934"/>
                </a:solidFill>
                <a:latin typeface="Aptos"/>
              </a:defRPr>
            </a:pPr>
            <a:r>
              <a:t>Barcelona's Decidim shows a people-centered digital platform for public decision-making.</a:t>
            </a:r>
          </a:p>
          <a:p>
            <a:pPr>
              <a:spcAft>
                <a:spcPts val="600"/>
              </a:spcAft>
              <a:defRPr sz="1700">
                <a:solidFill>
                  <a:srgbClr val="152934"/>
                </a:solidFill>
                <a:latin typeface="Aptos"/>
              </a:defRPr>
            </a:pPr>
            <a:r>
              <a:t>Sidewalk Labs becomes a warning about top-down smart city logic.</a:t>
            </a:r>
          </a:p>
          <a:p>
            <a:pPr>
              <a:spcAft>
                <a:spcPts val="600"/>
              </a:spcAft>
              <a:defRPr sz="1700">
                <a:solidFill>
                  <a:srgbClr val="152934"/>
                </a:solidFill>
                <a:latin typeface="Aptos"/>
              </a:defRPr>
            </a:pPr>
            <a:r>
              <a:t>Atlanta activism shows technology, policing, environment, and inequality are connected.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Wendy Hui Kyong Chun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Correlation, proxies, and the problem of neutral data</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Core claims</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Predictive systems often rely on correlation rather than deep understanding.</a:t>
            </a:r>
          </a:p>
          <a:p>
            <a:pPr>
              <a:spcAft>
                <a:spcPts val="600"/>
              </a:spcAft>
              <a:defRPr sz="1800">
                <a:solidFill>
                  <a:srgbClr val="152934"/>
                </a:solidFill>
                <a:latin typeface="Aptos"/>
              </a:defRPr>
            </a:pPr>
            <a:r>
              <a:t>They use proxies and patterns drawn from selected past data.</a:t>
            </a:r>
          </a:p>
          <a:p>
            <a:pPr>
              <a:spcAft>
                <a:spcPts val="600"/>
              </a:spcAft>
              <a:defRPr sz="1800">
                <a:solidFill>
                  <a:srgbClr val="152934"/>
                </a:solidFill>
                <a:latin typeface="Aptos"/>
              </a:defRPr>
            </a:pPr>
            <a:r>
              <a:t>That means old inequalities can be repeated through new technical systems.</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Why this matters</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Mathematical outputs can look objective even when assumptions stay hidden.</a:t>
            </a:r>
          </a:p>
          <a:p>
            <a:pPr>
              <a:spcAft>
                <a:spcPts val="600"/>
              </a:spcAft>
              <a:defRPr sz="1800">
                <a:solidFill>
                  <a:srgbClr val="152934"/>
                </a:solidFill>
                <a:latin typeface="Aptos"/>
              </a:defRPr>
            </a:pPr>
            <a:r>
              <a:t>A system can avoid explicit race labels and still encode biased defaults.</a:t>
            </a:r>
          </a:p>
          <a:p>
            <a:pPr>
              <a:spcAft>
                <a:spcPts val="600"/>
              </a:spcAft>
              <a:defRPr sz="1800">
                <a:solidFill>
                  <a:srgbClr val="152934"/>
                </a:solidFill>
                <a:latin typeface="Aptos"/>
              </a:defRPr>
            </a:pPr>
            <a:r>
              <a:t>For Chun, discrimination is built into how data is sorted and used.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Wendy Hui Kyong Chun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Homophily, recognition, and polarization</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Homophily</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Platforms often group people by similarity: what they click, watch, buy, or believe.</a:t>
            </a:r>
          </a:p>
          <a:p>
            <a:pPr>
              <a:spcAft>
                <a:spcPts val="600"/>
              </a:spcAft>
              <a:defRPr sz="1800">
                <a:solidFill>
                  <a:srgbClr val="152934"/>
                </a:solidFill>
                <a:latin typeface="Aptos"/>
              </a:defRPr>
            </a:pPr>
            <a:r>
              <a:t>Recommendation systems can strengthen sameness instead of widening contact.</a:t>
            </a:r>
          </a:p>
          <a:p>
            <a:pPr>
              <a:spcAft>
                <a:spcPts val="600"/>
              </a:spcAft>
              <a:defRPr sz="1800">
                <a:solidFill>
                  <a:srgbClr val="152934"/>
                </a:solidFill>
                <a:latin typeface="Aptos"/>
              </a:defRPr>
            </a:pPr>
            <a:r>
              <a:t>Difference starts to look abnormal or threatening.</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Recognition</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Users get trained into legible, predictable identities.</a:t>
            </a:r>
          </a:p>
          <a:p>
            <a:pPr>
              <a:spcAft>
                <a:spcPts val="600"/>
              </a:spcAft>
              <a:defRPr sz="1800">
                <a:solidFill>
                  <a:srgbClr val="152934"/>
                </a:solidFill>
                <a:latin typeface="Aptos"/>
              </a:defRPr>
            </a:pPr>
            <a:r>
              <a:t>Systems reward what is repeatable and easy to classify.</a:t>
            </a:r>
          </a:p>
          <a:p>
            <a:pPr>
              <a:spcAft>
                <a:spcPts val="600"/>
              </a:spcAft>
              <a:defRPr sz="1800">
                <a:solidFill>
                  <a:srgbClr val="152934"/>
                </a:solidFill>
                <a:latin typeface="Aptos"/>
              </a:defRPr>
            </a:pPr>
            <a:r>
              <a:t>Polarization can be produced by the system, not just imported into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Compare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What each speaker helps us see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85800" y="1645920"/>
            <a:ext cx="3520440" cy="4251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7393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Benjamin</a:t>
            </a:r>
          </a:p>
        </p:txBody>
      </p:sp>
      <p:sp>
        <p:nvSpPr>
          <p:cNvPr id="7" name="TextBox 6"/>
          <p:cNvSpPr txBox="1"/>
          <p:nvPr/>
        </p:nvSpPr>
        <p:spPr>
          <a:xfrm>
            <a:off x="886968" y="2212848"/>
            <a:ext cx="3118104" cy="3502152"/>
          </a:xfrm>
          <a:prstGeom prst="rect">
            <a:avLst/>
          </a:prstGeom>
          <a:noFill/>
        </p:spPr>
        <p:txBody>
          <a:bodyPr wrap="square">
            <a:noAutofit/>
          </a:bodyPr>
          <a:lstStyle/>
          <a:p>
            <a:pPr>
              <a:spcAft>
                <a:spcPts val="600"/>
              </a:spcAft>
              <a:defRPr sz="1800">
                <a:solidFill>
                  <a:srgbClr val="152934"/>
                </a:solidFill>
                <a:latin typeface="Aptos"/>
              </a:defRPr>
            </a:pPr>
            <a:r>
              <a:t>Focus on power, imagination, exclusion, and public life.</a:t>
            </a:r>
          </a:p>
          <a:p>
            <a:pPr>
              <a:spcAft>
                <a:spcPts val="600"/>
              </a:spcAft>
              <a:defRPr sz="1800">
                <a:solidFill>
                  <a:srgbClr val="152934"/>
                </a:solidFill>
                <a:latin typeface="Aptos"/>
              </a:defRPr>
            </a:pPr>
            <a:r>
              <a:t>Ask who benefits and who bears the cost.</a:t>
            </a:r>
          </a:p>
        </p:txBody>
      </p:sp>
      <p:sp>
        <p:nvSpPr>
          <p:cNvPr id="8" name="Rounded Rectangle 7"/>
          <p:cNvSpPr/>
          <p:nvPr/>
        </p:nvSpPr>
        <p:spPr>
          <a:xfrm>
            <a:off x="4334256" y="1645920"/>
            <a:ext cx="3520440" cy="4251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71416" y="177393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Chun</a:t>
            </a:r>
          </a:p>
        </p:txBody>
      </p:sp>
      <p:sp>
        <p:nvSpPr>
          <p:cNvPr id="10" name="TextBox 9"/>
          <p:cNvSpPr txBox="1"/>
          <p:nvPr/>
        </p:nvSpPr>
        <p:spPr>
          <a:xfrm>
            <a:off x="4535424" y="2212848"/>
            <a:ext cx="3118104" cy="3502152"/>
          </a:xfrm>
          <a:prstGeom prst="rect">
            <a:avLst/>
          </a:prstGeom>
          <a:noFill/>
        </p:spPr>
        <p:txBody>
          <a:bodyPr wrap="square">
            <a:noAutofit/>
          </a:bodyPr>
          <a:lstStyle/>
          <a:p>
            <a:pPr>
              <a:spcAft>
                <a:spcPts val="600"/>
              </a:spcAft>
              <a:defRPr sz="1800">
                <a:solidFill>
                  <a:srgbClr val="152934"/>
                </a:solidFill>
                <a:latin typeface="Aptos"/>
              </a:defRPr>
            </a:pPr>
            <a:r>
              <a:t>Focus on correlation, defaults, categories, and repetition.</a:t>
            </a:r>
          </a:p>
          <a:p>
            <a:pPr>
              <a:spcAft>
                <a:spcPts val="600"/>
              </a:spcAft>
              <a:defRPr sz="1800">
                <a:solidFill>
                  <a:srgbClr val="152934"/>
                </a:solidFill>
                <a:latin typeface="Aptos"/>
              </a:defRPr>
            </a:pPr>
            <a:r>
              <a:t>Ask how data logics reproduce patterns.</a:t>
            </a:r>
          </a:p>
        </p:txBody>
      </p:sp>
      <p:sp>
        <p:nvSpPr>
          <p:cNvPr id="11" name="Rounded Rectangle 10"/>
          <p:cNvSpPr/>
          <p:nvPr/>
        </p:nvSpPr>
        <p:spPr>
          <a:xfrm>
            <a:off x="7982712" y="1645920"/>
            <a:ext cx="3520440" cy="4251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19872" y="177393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Together</a:t>
            </a:r>
          </a:p>
        </p:txBody>
      </p:sp>
      <p:sp>
        <p:nvSpPr>
          <p:cNvPr id="13" name="TextBox 12"/>
          <p:cNvSpPr txBox="1"/>
          <p:nvPr/>
        </p:nvSpPr>
        <p:spPr>
          <a:xfrm>
            <a:off x="8183880" y="2212848"/>
            <a:ext cx="3118104" cy="3502152"/>
          </a:xfrm>
          <a:prstGeom prst="rect">
            <a:avLst/>
          </a:prstGeom>
          <a:noFill/>
        </p:spPr>
        <p:txBody>
          <a:bodyPr wrap="square">
            <a:noAutofit/>
          </a:bodyPr>
          <a:lstStyle/>
          <a:p>
            <a:pPr>
              <a:spcAft>
                <a:spcPts val="600"/>
              </a:spcAft>
              <a:defRPr sz="1800">
                <a:solidFill>
                  <a:srgbClr val="152934"/>
                </a:solidFill>
                <a:latin typeface="Aptos"/>
              </a:defRPr>
            </a:pPr>
            <a:r>
              <a:t>Benjamin helps explain why the harms matter.</a:t>
            </a:r>
          </a:p>
          <a:p>
            <a:pPr>
              <a:spcAft>
                <a:spcPts val="600"/>
              </a:spcAft>
              <a:defRPr sz="1800">
                <a:solidFill>
                  <a:srgbClr val="152934"/>
                </a:solidFill>
                <a:latin typeface="Aptos"/>
              </a:defRPr>
            </a:pPr>
            <a:r>
              <a:t>Chun helps explain how data systems keep generating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Case Study</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Reading predictive policing through both lenses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3200400" cy="45720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How the system works</a:t>
            </a:r>
          </a:p>
        </p:txBody>
      </p:sp>
      <p:sp>
        <p:nvSpPr>
          <p:cNvPr id="7" name="TextBox 6"/>
          <p:cNvSpPr txBox="1"/>
          <p:nvPr/>
        </p:nvSpPr>
        <p:spPr>
          <a:xfrm>
            <a:off x="1024128" y="2121408"/>
            <a:ext cx="2798064" cy="3822192"/>
          </a:xfrm>
          <a:prstGeom prst="rect">
            <a:avLst/>
          </a:prstGeom>
          <a:noFill/>
        </p:spPr>
        <p:txBody>
          <a:bodyPr wrap="square">
            <a:noAutofit/>
          </a:bodyPr>
          <a:lstStyle/>
          <a:p>
            <a:pPr>
              <a:spcAft>
                <a:spcPts val="600"/>
              </a:spcAft>
              <a:defRPr sz="1700">
                <a:solidFill>
                  <a:srgbClr val="152934"/>
                </a:solidFill>
                <a:latin typeface="Aptos"/>
              </a:defRPr>
            </a:pPr>
            <a:r>
              <a:t>Past arrest and incident data are used to predict where police attention should go next.</a:t>
            </a:r>
          </a:p>
          <a:p>
            <a:pPr>
              <a:spcAft>
                <a:spcPts val="600"/>
              </a:spcAft>
              <a:defRPr sz="1700">
                <a:solidFill>
                  <a:srgbClr val="152934"/>
                </a:solidFill>
                <a:latin typeface="Aptos"/>
              </a:defRPr>
            </a:pPr>
            <a:r>
              <a:t>The system looks efficient because it turns messy history into maps and scores.</a:t>
            </a:r>
          </a:p>
        </p:txBody>
      </p:sp>
      <p:sp>
        <p:nvSpPr>
          <p:cNvPr id="8" name="Rounded Rectangle 7"/>
          <p:cNvSpPr/>
          <p:nvPr/>
        </p:nvSpPr>
        <p:spPr>
          <a:xfrm>
            <a:off x="4251960" y="1554480"/>
            <a:ext cx="3200400" cy="45720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Benjamin's lens</a:t>
            </a:r>
          </a:p>
        </p:txBody>
      </p:sp>
      <p:sp>
        <p:nvSpPr>
          <p:cNvPr id="10" name="TextBox 9"/>
          <p:cNvSpPr txBox="1"/>
          <p:nvPr/>
        </p:nvSpPr>
        <p:spPr>
          <a:xfrm>
            <a:off x="4453128" y="2121408"/>
            <a:ext cx="2798064" cy="3822192"/>
          </a:xfrm>
          <a:prstGeom prst="rect">
            <a:avLst/>
          </a:prstGeom>
          <a:noFill/>
        </p:spPr>
        <p:txBody>
          <a:bodyPr wrap="square">
            <a:noAutofit/>
          </a:bodyPr>
          <a:lstStyle/>
          <a:p>
            <a:pPr>
              <a:spcAft>
                <a:spcPts val="600"/>
              </a:spcAft>
              <a:defRPr sz="1700">
                <a:solidFill>
                  <a:srgbClr val="152934"/>
                </a:solidFill>
                <a:latin typeface="Aptos"/>
              </a:defRPr>
            </a:pPr>
            <a:r>
              <a:t>What social problems are being reframed as data problems?</a:t>
            </a:r>
          </a:p>
          <a:p>
            <a:pPr>
              <a:spcAft>
                <a:spcPts val="600"/>
              </a:spcAft>
              <a:defRPr sz="1700">
                <a:solidFill>
                  <a:srgbClr val="152934"/>
                </a:solidFill>
                <a:latin typeface="Aptos"/>
              </a:defRPr>
            </a:pPr>
            <a:r>
              <a:t>Which communities are treated as targets rather than participants?</a:t>
            </a:r>
          </a:p>
          <a:p>
            <a:pPr>
              <a:spcAft>
                <a:spcPts val="600"/>
              </a:spcAft>
              <a:defRPr sz="1700">
                <a:solidFill>
                  <a:srgbClr val="152934"/>
                </a:solidFill>
                <a:latin typeface="Aptos"/>
              </a:defRPr>
            </a:pPr>
            <a:r>
              <a:t>Who gets safety, and who gets surveillance?</a:t>
            </a:r>
          </a:p>
        </p:txBody>
      </p:sp>
      <p:sp>
        <p:nvSpPr>
          <p:cNvPr id="11" name="Rounded Rectangle 10"/>
          <p:cNvSpPr/>
          <p:nvPr/>
        </p:nvSpPr>
        <p:spPr>
          <a:xfrm>
            <a:off x="7680960" y="1554480"/>
            <a:ext cx="3200400" cy="45720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18120" y="168249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Chun's lens</a:t>
            </a:r>
          </a:p>
        </p:txBody>
      </p:sp>
      <p:sp>
        <p:nvSpPr>
          <p:cNvPr id="13" name="TextBox 12"/>
          <p:cNvSpPr txBox="1"/>
          <p:nvPr/>
        </p:nvSpPr>
        <p:spPr>
          <a:xfrm>
            <a:off x="7882128" y="2121408"/>
            <a:ext cx="2798064" cy="3822192"/>
          </a:xfrm>
          <a:prstGeom prst="rect">
            <a:avLst/>
          </a:prstGeom>
          <a:noFill/>
        </p:spPr>
        <p:txBody>
          <a:bodyPr wrap="square">
            <a:noAutofit/>
          </a:bodyPr>
          <a:lstStyle/>
          <a:p>
            <a:pPr>
              <a:spcAft>
                <a:spcPts val="600"/>
              </a:spcAft>
              <a:defRPr sz="1700">
                <a:solidFill>
                  <a:srgbClr val="152934"/>
                </a:solidFill>
                <a:latin typeface="Aptos"/>
              </a:defRPr>
            </a:pPr>
            <a:r>
              <a:t>What biased past is being repeated as prediction?</a:t>
            </a:r>
          </a:p>
          <a:p>
            <a:pPr>
              <a:spcAft>
                <a:spcPts val="600"/>
              </a:spcAft>
              <a:defRPr sz="1700">
                <a:solidFill>
                  <a:srgbClr val="152934"/>
                </a:solidFill>
                <a:latin typeface="Aptos"/>
              </a:defRPr>
            </a:pPr>
            <a:r>
              <a:t>Which proxies stand in for race, class, or neighborhood?</a:t>
            </a:r>
          </a:p>
          <a:p>
            <a:pPr>
              <a:spcAft>
                <a:spcPts val="600"/>
              </a:spcAft>
              <a:defRPr sz="1700">
                <a:solidFill>
                  <a:srgbClr val="152934"/>
                </a:solidFill>
                <a:latin typeface="Aptos"/>
              </a:defRPr>
            </a:pPr>
            <a:r>
              <a:t>How does the model make old patterns look natural?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Discussion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Questions worth debating before you write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Talk questions</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700">
                <a:solidFill>
                  <a:srgbClr val="152934"/>
                </a:solidFill>
                <a:latin typeface="Aptos"/>
              </a:defRPr>
            </a:pPr>
            <a:r>
              <a:t>Which speaker gives the sharper critique of data systems, and why?</a:t>
            </a:r>
          </a:p>
          <a:p>
            <a:pPr>
              <a:spcAft>
                <a:spcPts val="600"/>
              </a:spcAft>
              <a:defRPr sz="1700">
                <a:solidFill>
                  <a:srgbClr val="152934"/>
                </a:solidFill>
                <a:latin typeface="Aptos"/>
              </a:defRPr>
            </a:pPr>
            <a:r>
              <a:t>Can a system be accurate and still unethical?</a:t>
            </a:r>
          </a:p>
          <a:p>
            <a:pPr>
              <a:spcAft>
                <a:spcPts val="600"/>
              </a:spcAft>
              <a:defRPr sz="1700">
                <a:solidFill>
                  <a:srgbClr val="152934"/>
                </a:solidFill>
                <a:latin typeface="Aptos"/>
              </a:defRPr>
            </a:pPr>
            <a:r>
              <a:t>What counts as a meaningful intervention: better models, different defaults, or a different social response?</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Move toward argument</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Pick one technology.</a:t>
            </a:r>
          </a:p>
          <a:p>
            <a:pPr>
              <a:spcAft>
                <a:spcPts val="600"/>
              </a:spcAft>
              <a:defRPr sz="1800">
                <a:solidFill>
                  <a:srgbClr val="152934"/>
                </a:solidFill>
                <a:latin typeface="Aptos"/>
              </a:defRPr>
            </a:pPr>
            <a:r>
              <a:t>Choose one claim from each speaker.</a:t>
            </a:r>
          </a:p>
          <a:p>
            <a:pPr>
              <a:spcAft>
                <a:spcPts val="600"/>
              </a:spcAft>
              <a:defRPr sz="1800">
                <a:solidFill>
                  <a:srgbClr val="152934"/>
                </a:solidFill>
                <a:latin typeface="Aptos"/>
              </a:defRPr>
            </a:pPr>
            <a:r>
              <a:t>Decide where they overlap, where they differ, and what responsibility follows.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874519"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Writing</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52934"/>
                </a:solidFill>
                <a:latin typeface="Aptos Display"/>
              </a:defRPr>
            </a:pPr>
            <a:r>
              <a:t>Your in-class response is the final step, not the whole lesson</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What to do</a:t>
            </a:r>
          </a:p>
        </p:txBody>
      </p:sp>
      <p:sp>
        <p:nvSpPr>
          <p:cNvPr id="7" name="TextBox 6"/>
          <p:cNvSpPr txBox="1"/>
          <p:nvPr/>
        </p:nvSpPr>
        <p:spPr>
          <a:xfrm>
            <a:off x="102412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Summarize one claim from Benjamin.</a:t>
            </a:r>
          </a:p>
          <a:p>
            <a:pPr>
              <a:spcAft>
                <a:spcPts val="600"/>
              </a:spcAft>
              <a:defRPr sz="1800">
                <a:solidFill>
                  <a:srgbClr val="152934"/>
                </a:solidFill>
                <a:latin typeface="Aptos"/>
              </a:defRPr>
            </a:pPr>
            <a:r>
              <a:t>Summarize one claim from Chun.</a:t>
            </a:r>
          </a:p>
          <a:p>
            <a:pPr>
              <a:spcAft>
                <a:spcPts val="600"/>
              </a:spcAft>
              <a:defRPr sz="1800">
                <a:solidFill>
                  <a:srgbClr val="152934"/>
                </a:solidFill>
                <a:latin typeface="Aptos"/>
              </a:defRPr>
            </a:pPr>
            <a:r>
              <a:t>Apply both to one concrete technology.</a:t>
            </a:r>
          </a:p>
          <a:p>
            <a:pPr>
              <a:spcAft>
                <a:spcPts val="600"/>
              </a:spcAft>
              <a:defRPr sz="1800">
                <a:solidFill>
                  <a:srgbClr val="152934"/>
                </a:solidFill>
                <a:latin typeface="Aptos"/>
              </a:defRPr>
            </a:pPr>
            <a:r>
              <a:t>End with one clear responsibility for STEM practice.</a:t>
            </a:r>
          </a:p>
        </p:txBody>
      </p:sp>
      <p:sp>
        <p:nvSpPr>
          <p:cNvPr id="8" name="Rounded Rectangle 7"/>
          <p:cNvSpPr/>
          <p:nvPr/>
        </p:nvSpPr>
        <p:spPr>
          <a:xfrm>
            <a:off x="6172200" y="155448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8249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What stronger responses do</a:t>
            </a:r>
          </a:p>
        </p:txBody>
      </p:sp>
      <p:sp>
        <p:nvSpPr>
          <p:cNvPr id="10" name="TextBox 9"/>
          <p:cNvSpPr txBox="1"/>
          <p:nvPr/>
        </p:nvSpPr>
        <p:spPr>
          <a:xfrm>
            <a:off x="6373368" y="2121408"/>
            <a:ext cx="4581144" cy="3776472"/>
          </a:xfrm>
          <a:prstGeom prst="rect">
            <a:avLst/>
          </a:prstGeom>
          <a:noFill/>
        </p:spPr>
        <p:txBody>
          <a:bodyPr wrap="square">
            <a:noAutofit/>
          </a:bodyPr>
          <a:lstStyle/>
          <a:p>
            <a:pPr>
              <a:spcAft>
                <a:spcPts val="600"/>
              </a:spcAft>
              <a:defRPr sz="1800">
                <a:solidFill>
                  <a:srgbClr val="152934"/>
                </a:solidFill>
                <a:latin typeface="Aptos"/>
              </a:defRPr>
            </a:pPr>
            <a:r>
              <a:t>They use the talks as tools, not as decoration.</a:t>
            </a:r>
          </a:p>
          <a:p>
            <a:pPr>
              <a:spcAft>
                <a:spcPts val="600"/>
              </a:spcAft>
              <a:defRPr sz="1800">
                <a:solidFill>
                  <a:srgbClr val="152934"/>
                </a:solidFill>
                <a:latin typeface="Aptos"/>
              </a:defRPr>
            </a:pPr>
            <a:r>
              <a:t>They connect ideas to an actual system and its consequences.</a:t>
            </a:r>
          </a:p>
          <a:p>
            <a:pPr>
              <a:spcAft>
                <a:spcPts val="600"/>
              </a:spcAft>
              <a:defRPr sz="1800">
                <a:solidFill>
                  <a:srgbClr val="152934"/>
                </a:solidFill>
                <a:latin typeface="Aptos"/>
              </a:defRPr>
            </a:pPr>
            <a:r>
              <a:t>They make a reasoned claim instead of only summarizing.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