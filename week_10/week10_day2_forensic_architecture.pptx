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Today we are shifting from critique to method. The Day 1 class asked how technology can reproduce power and inequality. This Day 2 class asks how technical methods can also be used to investigate harm, challenge official narratives, and assemble evidence in public-interest cases. The Forensic Architecture lecture is useful because it is not just a political statement. It is a workflow lecture.</a:t>
            </a:r>
          </a:p>
          <a:p/>
          <a:p>
            <a:r>
              <a:t>Mention:</a:t>
            </a:r>
          </a:p>
          <a:p>
            <a:r>
              <a:t>- Frame the day as method-centered</a:t>
            </a:r>
          </a:p>
          <a:p>
            <a:r>
              <a:t>- Connect back to Day 1 without repeating it</a:t>
            </a:r>
          </a:p>
          <a:p>
            <a:r>
              <a:t>- Stress that the talk is about workflow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belongs in the course because it sits right at the boundary of privacy, law, ethics, and technical practice. It asks what counts as evidence, how computational tools should be used when human harm is involved, and how technical reconstructions enter public debates, journalism, or legal process. That is exactly the kind of question this course should train students to handle.</a:t>
            </a:r>
          </a:p>
          <a:p/>
          <a:p>
            <a:r>
              <a:t>Mention:</a:t>
            </a:r>
          </a:p>
          <a:p>
            <a:r>
              <a:t>- Tie method to accountability</a:t>
            </a:r>
          </a:p>
          <a:p>
            <a:r>
              <a:t>- Explain why this is not just a design or media lecture</a:t>
            </a:r>
          </a:p>
          <a:p>
            <a:r>
              <a:t>- Name the connection to law and public evidence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Students should understand that Forensic Architecture is not just an art project and not just a software demo. It is a research agency that mixes architecture, media analysis, open-source intelligence, and human rights investigation. This lecture is unusual because it does not mainly tell one story. It explains how a research workflow is built.</a:t>
            </a:r>
          </a:p>
          <a:p/>
          <a:p>
            <a:r>
              <a:t>Mention:</a:t>
            </a:r>
          </a:p>
          <a:p>
            <a:r>
              <a:t>- Define the agency clearly</a:t>
            </a:r>
          </a:p>
          <a:p>
            <a:r>
              <a:t>- Stress multidisciplinary practice</a:t>
            </a:r>
          </a:p>
          <a:p>
            <a:r>
              <a:t>- Say this is method-first, not case-first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is one of the main conceptual moves in the lecture. Architecture is not only buildings. Space itself can preserve traces. The arrangement of a room, the sightline from a window, the location of a camera, the angle of light, or the path of smoke can all help test whether a claim about an event makes sense. So architecture becomes part of an evidentiary medium.</a:t>
            </a:r>
          </a:p>
          <a:p/>
          <a:p>
            <a:r>
              <a:t>Mention:</a:t>
            </a:r>
          </a:p>
          <a:p>
            <a:r>
              <a:t>- Define architecture broadly</a:t>
            </a:r>
          </a:p>
          <a:p>
            <a:r>
              <a:t>- Use examples like sightline, shadow, facade, or room layout</a:t>
            </a:r>
          </a:p>
          <a:p>
            <a:r>
              <a:t>- Make clear that space can test claims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workflow is the spine of the lecture. First, material is collected. Then it is aligned in time and space. Then a model is built. Then claims are tested by comparing sources inside that structured environment. Finally, the results are presented in a form that other people can evaluate. Students need to see this as a pipeline, not as isolated technical tricks.</a:t>
            </a:r>
          </a:p>
          <a:p/>
          <a:p>
            <a:r>
              <a:t>Mention:</a:t>
            </a:r>
          </a:p>
          <a:p>
            <a:r>
              <a:t>- Walk through the five stages slowly</a:t>
            </a:r>
          </a:p>
          <a:p>
            <a:r>
              <a:t>- Emphasize alignment before interpretation</a:t>
            </a:r>
          </a:p>
          <a:p>
            <a:r>
              <a:t>- Call this a pipeline of reasoning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major strength of this method is that it does not depend on one perfect source. Instead, it combines many partial sources: visual media, spatial data, and human testimony. Each source is incomplete on its own. The power comes from putting them into relation. That is also why the lecture is so useful for technical students: it shows data integration as an evidentiary act.</a:t>
            </a:r>
          </a:p>
          <a:p/>
          <a:p>
            <a:r>
              <a:t>Mention:</a:t>
            </a:r>
          </a:p>
          <a:p>
            <a:r>
              <a:t>- Stress partial sources</a:t>
            </a:r>
          </a:p>
          <a:p>
            <a:r>
              <a:t>- Explain integration as a method, not a convenience</a:t>
            </a:r>
          </a:p>
          <a:p>
            <a:r>
              <a:t>- Keep witness testimony alongside digital evidence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Camera matching is one of the clearest examples of how a visual-forensics technique becomes a reasoning tool. By recreating the perspective of a camera inside a model, investigators can test what was visible, where the image was likely taken, and whether a claim about movement or line of sight is plausible. It turns a flat image into a more explicit spatial claim.</a:t>
            </a:r>
          </a:p>
          <a:p/>
          <a:p>
            <a:r>
              <a:t>Mention:</a:t>
            </a:r>
          </a:p>
          <a:p>
            <a:r>
              <a:t>- Define camera matching in plain terms</a:t>
            </a:r>
          </a:p>
          <a:p>
            <a:r>
              <a:t>- Explain why viewpoint matters</a:t>
            </a:r>
          </a:p>
          <a:p>
            <a:r>
              <a:t>- Connect this to Blender and 3D modelling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Photogrammetry lets investigators combine many photographs into a 3D model. This matters because a single image can be misleading or narrow, but dozens of overlapping images can help reconstruct shape and spatial relation much more precisely. In other words, the method transforms many small fragments into a navigable scene that can support further comparison.</a:t>
            </a:r>
          </a:p>
          <a:p/>
          <a:p>
            <a:r>
              <a:t>Mention:</a:t>
            </a:r>
          </a:p>
          <a:p>
            <a:r>
              <a:t>- Say photogrammetry is image-based 3D reconstruction</a:t>
            </a:r>
          </a:p>
          <a:p>
            <a:r>
              <a:t>- Stress overlap across many images</a:t>
            </a:r>
          </a:p>
          <a:p>
            <a:r>
              <a:t>- Explain why a navigable model matters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Geolocation and remote sensing expand the investigation beyond one room or one clip. Geolocation anchors media to real terrain. Remote sensing uses satellite or environmental data to observe larger-scale change over time. This is how local evidence can be connected to landscape, border, environmental, or territorial analysis.</a:t>
            </a:r>
          </a:p>
          <a:p/>
          <a:p>
            <a:r>
              <a:t>Mention:</a:t>
            </a:r>
          </a:p>
          <a:p>
            <a:r>
              <a:t>- Differentiate geolocation from remote sensing</a:t>
            </a:r>
          </a:p>
          <a:p>
            <a:r>
              <a:t>- Mention satellite imagery and NDVI</a:t>
            </a:r>
          </a:p>
          <a:p>
            <a:r>
              <a:t>- Explain the move from scene to terrain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Synchronization is about time. If several clips show or hear the same event from different angles, they can often be aligned. That makes it possible to reconstruct sequence much more carefully than any single video would allow. This matters because many public disputes are really disputes about order, timing, and consistency.</a:t>
            </a:r>
          </a:p>
          <a:p/>
          <a:p>
            <a:r>
              <a:t>Mention:</a:t>
            </a:r>
          </a:p>
          <a:p>
            <a:r>
              <a:t>- Define synchronization clearly</a:t>
            </a:r>
          </a:p>
          <a:p>
            <a:r>
              <a:t>- Use flashes, sounds, and timestamps as examples</a:t>
            </a:r>
          </a:p>
          <a:p>
            <a:r>
              <a:t>- Explain why sequence matters in evidence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Situated testimony is especially important because it shows witness memory being treated with both seriousness and structure. The witness is not only asked to tell a story abstractly. A model helps anchor memory to place, sequence, and viewpoint. The Grenfell material is a strong example because Forensic Architecture describes using 3D models to help survivors and nearby residents reconstruct the event and combine those memories with audio and video analysis.</a:t>
            </a:r>
          </a:p>
          <a:p/>
          <a:p>
            <a:r>
              <a:t>Mention:</a:t>
            </a:r>
          </a:p>
          <a:p>
            <a:r>
              <a:t>- Define situated testimony carefully</a:t>
            </a:r>
          </a:p>
          <a:p>
            <a:r>
              <a:t>- Explain the model as an interviewing tool</a:t>
            </a:r>
          </a:p>
          <a:p>
            <a:r>
              <a:t>- Use Grenfell as the concrete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toolkit material matters because it shows this practice can be broken into modules. Camera matching, panorama work, terrain generation, and NDVI analysis are not random add-ons. They are teachable components inside a larger method. That reinforces the main point of the day: Forensic Architecture is not only making arguments. It is building a reproducible toolbox.</a:t>
            </a:r>
          </a:p>
          <a:p/>
          <a:p>
            <a:r>
              <a:t>Mention:</a:t>
            </a:r>
          </a:p>
          <a:p>
            <a:r>
              <a:t>- Stress modular techniques</a:t>
            </a:r>
          </a:p>
          <a:p>
            <a:r>
              <a:t>- Explain why tutorials matter</a:t>
            </a:r>
          </a:p>
          <a:p>
            <a:r>
              <a:t>- Connect modules back to the larger workflow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This slide is the payoff. The goal is not only to create a compelling visual. The goal is to test claims. Different sources are brought into the same frame to see whether they converge or contradict one another. At the same time, a model is never the event itself. It is still an interpretation, so transparency about assumptions is critical.</a:t>
            </a:r>
          </a:p>
          <a:p/>
          <a:p>
            <a:r>
              <a:t>Mention:</a:t>
            </a:r>
          </a:p>
          <a:p>
            <a:r>
              <a:t>- Say the method tests rather than merely illustrates</a:t>
            </a:r>
          </a:p>
          <a:p>
            <a:r>
              <a:t>- Stress convergence and contradiction</a:t>
            </a:r>
          </a:p>
          <a:p>
            <a:r>
              <a:t>- Warn against treating the model as pure truth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 good class on this topic has to include limits. Technical problems like missing data or uncertain timestamps remain real. Ethical problems also remain real: witness trauma, false precision, visual simplification, and the risk that polished models can seem more certain than they actually are. Responsible technical work requires both skill and restraint.</a:t>
            </a:r>
          </a:p>
          <a:p/>
          <a:p>
            <a:r>
              <a:t>Mention:</a:t>
            </a:r>
          </a:p>
          <a:p>
            <a:r>
              <a:t>- Do not let the lecture feel triumphant or naive</a:t>
            </a:r>
          </a:p>
          <a:p>
            <a:r>
              <a:t>- Name false precision explicitly</a:t>
            </a:r>
          </a:p>
          <a:p>
            <a:r>
              <a:t>- Pair technical limits with ethical limits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At this point the discussion should move beyond basic comprehension. Students should be arguing about what makes a reconstruction convincing, what kinds of evidence should be enough, and how technical methods change public understanding of harm. This is also a good place to ask how these tools differ from the more familiar use of computation in surveillance and prediction.</a:t>
            </a:r>
          </a:p>
          <a:p/>
          <a:p>
            <a:r>
              <a:t>Mention:</a:t>
            </a:r>
          </a:p>
          <a:p>
            <a:r>
              <a:t>- Push toward judgment, not recap</a:t>
            </a:r>
          </a:p>
          <a:p>
            <a:r>
              <a:t>- Use discussion to prepare the writing</a:t>
            </a:r>
          </a:p>
          <a:p>
            <a:r>
              <a:t>- Bring back the course theme of responsible technical practice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Script:</a:t>
            </a:r>
          </a:p>
          <a:p>
            <a:r>
              <a:t>The writing response is the endpoint. Students should explain the central method, describe at least two techniques, evaluate one strength and one limitation, and end with a responsibility point for technical practice. The best responses will stay focused on method and evidence, not just say the topic is important.</a:t>
            </a:r>
          </a:p>
          <a:p/>
          <a:p>
            <a:r>
              <a:t>Mention:</a:t>
            </a:r>
          </a:p>
          <a:p>
            <a:r>
              <a:t>- Keep writing tied to method</a:t>
            </a:r>
          </a:p>
          <a:p>
            <a:r>
              <a:t>- Require both strength and limitation</a:t>
            </a:r>
          </a:p>
          <a:p>
            <a:r>
              <a:t>- End on STEM responsibility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78992"/>
          </a:xfrm>
          <a:prstGeom prst="rect">
            <a:avLst/>
          </a:prstGeom>
          <a:solidFill>
            <a:srgbClr val="182838"/>
          </a:solidFill>
          <a:ln>
            <a:solidFill>
              <a:srgbClr val="182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256032"/>
            <a:ext cx="10972800" cy="822960"/>
          </a:xfrm>
          <a:prstGeom prst="rect">
            <a:avLst/>
          </a:prstGeom>
          <a:noFill/>
        </p:spPr>
        <p:txBody>
          <a:bodyPr wrap="none">
            <a:spAutoFit/>
          </a:bodyPr>
          <a:lstStyle/>
          <a:p>
            <a:pPr>
              <a:defRPr sz="2700" b="1">
                <a:solidFill>
                  <a:srgbClr val="FFFFFF"/>
                </a:solidFill>
                <a:latin typeface="Aptos Display"/>
              </a:defRPr>
            </a:pPr>
            <a:r>
              <a:t>Week 10 Day 2: Forensic Architecture and Spatial Analysis</a:t>
            </a:r>
          </a:p>
        </p:txBody>
      </p:sp>
      <p:sp>
        <p:nvSpPr>
          <p:cNvPr id="4" name="Rounded Rectangle 3"/>
          <p:cNvSpPr/>
          <p:nvPr/>
        </p:nvSpPr>
        <p:spPr>
          <a:xfrm>
            <a:off x="768096" y="1444752"/>
            <a:ext cx="10881360" cy="822960"/>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17904"/>
            <a:ext cx="10661904" cy="676656"/>
          </a:xfrm>
          <a:prstGeom prst="rect">
            <a:avLst/>
          </a:prstGeom>
          <a:noFill/>
        </p:spPr>
        <p:txBody>
          <a:bodyPr wrap="square">
            <a:noAutofit/>
          </a:bodyPr>
          <a:lstStyle/>
          <a:p>
            <a:pPr>
              <a:spcAft>
                <a:spcPts val="600"/>
              </a:spcAft>
              <a:defRPr sz="2100">
                <a:solidFill>
                  <a:srgbClr val="182838"/>
                </a:solidFill>
                <a:latin typeface="Aptos"/>
              </a:defRPr>
            </a:pPr>
            <a:r>
              <a:t>Today we study a method-centered lecture about how spatial reconstruction can support human rights investigations.</a:t>
            </a:r>
          </a:p>
        </p:txBody>
      </p:sp>
      <p:sp>
        <p:nvSpPr>
          <p:cNvPr id="6" name="Rounded Rectangle 5"/>
          <p:cNvSpPr/>
          <p:nvPr/>
        </p:nvSpPr>
        <p:spPr>
          <a:xfrm>
            <a:off x="868680" y="2697480"/>
            <a:ext cx="3337560" cy="260604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5840" y="282549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Video</a:t>
            </a:r>
          </a:p>
        </p:txBody>
      </p:sp>
      <p:sp>
        <p:nvSpPr>
          <p:cNvPr id="8" name="TextBox 7"/>
          <p:cNvSpPr txBox="1"/>
          <p:nvPr/>
        </p:nvSpPr>
        <p:spPr>
          <a:xfrm>
            <a:off x="1069848" y="3264408"/>
            <a:ext cx="2935224" cy="1856232"/>
          </a:xfrm>
          <a:prstGeom prst="rect">
            <a:avLst/>
          </a:prstGeom>
          <a:noFill/>
        </p:spPr>
        <p:txBody>
          <a:bodyPr wrap="square">
            <a:noAutofit/>
          </a:bodyPr>
          <a:lstStyle/>
          <a:p>
            <a:pPr>
              <a:spcAft>
                <a:spcPts val="600"/>
              </a:spcAft>
              <a:defRPr sz="1800">
                <a:solidFill>
                  <a:srgbClr val="182838"/>
                </a:solidFill>
                <a:latin typeface="Aptos"/>
              </a:defRPr>
            </a:pPr>
            <a:r>
              <a:t>Blender Conference 2022</a:t>
            </a:r>
          </a:p>
          <a:p>
            <a:pPr>
              <a:spcAft>
                <a:spcPts val="600"/>
              </a:spcAft>
              <a:defRPr sz="1800">
                <a:solidFill>
                  <a:srgbClr val="182838"/>
                </a:solidFill>
                <a:latin typeface="Aptos"/>
              </a:defRPr>
            </a:pPr>
            <a:r>
              <a:t>about 54 minutes</a:t>
            </a:r>
          </a:p>
          <a:p>
            <a:pPr>
              <a:spcAft>
                <a:spcPts val="600"/>
              </a:spcAft>
              <a:defRPr sz="1800">
                <a:solidFill>
                  <a:srgbClr val="182838"/>
                </a:solidFill>
                <a:latin typeface="Aptos"/>
              </a:defRPr>
            </a:pPr>
            <a:r>
              <a:t>method and workflow, not just opinion</a:t>
            </a:r>
          </a:p>
        </p:txBody>
      </p:sp>
      <p:sp>
        <p:nvSpPr>
          <p:cNvPr id="9" name="Rounded Rectangle 8"/>
          <p:cNvSpPr/>
          <p:nvPr/>
        </p:nvSpPr>
        <p:spPr>
          <a:xfrm>
            <a:off x="4434840" y="2697480"/>
            <a:ext cx="3337560" cy="260604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72000" y="282549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Big idea</a:t>
            </a:r>
          </a:p>
        </p:txBody>
      </p:sp>
      <p:sp>
        <p:nvSpPr>
          <p:cNvPr id="11" name="TextBox 10"/>
          <p:cNvSpPr txBox="1"/>
          <p:nvPr/>
        </p:nvSpPr>
        <p:spPr>
          <a:xfrm>
            <a:off x="4636008" y="3264408"/>
            <a:ext cx="2935224" cy="1856232"/>
          </a:xfrm>
          <a:prstGeom prst="rect">
            <a:avLst/>
          </a:prstGeom>
          <a:noFill/>
        </p:spPr>
        <p:txBody>
          <a:bodyPr wrap="square">
            <a:noAutofit/>
          </a:bodyPr>
          <a:lstStyle/>
          <a:p>
            <a:pPr>
              <a:spcAft>
                <a:spcPts val="600"/>
              </a:spcAft>
              <a:defRPr sz="1900">
                <a:solidFill>
                  <a:srgbClr val="182838"/>
                </a:solidFill>
                <a:latin typeface="Aptos"/>
              </a:defRPr>
            </a:pPr>
            <a:r>
              <a:t>Space, time, viewpoint, and media traces can become evidence.</a:t>
            </a:r>
          </a:p>
        </p:txBody>
      </p:sp>
      <p:sp>
        <p:nvSpPr>
          <p:cNvPr id="12" name="Rounded Rectangle 11"/>
          <p:cNvSpPr/>
          <p:nvPr/>
        </p:nvSpPr>
        <p:spPr>
          <a:xfrm>
            <a:off x="8001000" y="2697480"/>
            <a:ext cx="3063240" cy="260604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38160" y="282549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Question</a:t>
            </a:r>
          </a:p>
        </p:txBody>
      </p:sp>
      <p:sp>
        <p:nvSpPr>
          <p:cNvPr id="14" name="TextBox 13"/>
          <p:cNvSpPr txBox="1"/>
          <p:nvPr/>
        </p:nvSpPr>
        <p:spPr>
          <a:xfrm>
            <a:off x="8202168" y="3264408"/>
            <a:ext cx="2660904" cy="1856232"/>
          </a:xfrm>
          <a:prstGeom prst="rect">
            <a:avLst/>
          </a:prstGeom>
          <a:noFill/>
        </p:spPr>
        <p:txBody>
          <a:bodyPr wrap="square">
            <a:noAutofit/>
          </a:bodyPr>
          <a:lstStyle/>
          <a:p>
            <a:pPr>
              <a:spcAft>
                <a:spcPts val="600"/>
              </a:spcAft>
              <a:defRPr sz="1800">
                <a:solidFill>
                  <a:srgbClr val="182838"/>
                </a:solidFill>
                <a:latin typeface="Aptos"/>
              </a:defRPr>
            </a:pPr>
            <a:r>
              <a:t>How do fragmented images and testimony become testable claims?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Course Link</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Why this matters in a privacy, law, and ethics course</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it belongs here</a:t>
            </a:r>
          </a:p>
        </p:txBody>
      </p:sp>
      <p:sp>
        <p:nvSpPr>
          <p:cNvPr id="7" name="TextBox 6"/>
          <p:cNvSpPr txBox="1"/>
          <p:nvPr/>
        </p:nvSpPr>
        <p:spPr>
          <a:xfrm>
            <a:off x="1024128" y="2167128"/>
            <a:ext cx="4581144" cy="3730752"/>
          </a:xfrm>
          <a:prstGeom prst="rect">
            <a:avLst/>
          </a:prstGeom>
          <a:noFill/>
        </p:spPr>
        <p:txBody>
          <a:bodyPr wrap="square">
            <a:noAutofit/>
          </a:bodyPr>
          <a:lstStyle/>
          <a:p>
            <a:pPr>
              <a:spcAft>
                <a:spcPts val="600"/>
              </a:spcAft>
              <a:defRPr sz="1700">
                <a:solidFill>
                  <a:srgbClr val="182838"/>
                </a:solidFill>
                <a:latin typeface="Aptos"/>
              </a:defRPr>
            </a:pPr>
            <a:r>
              <a:t>The lecture is about evidence, accountability, and official narratives.</a:t>
            </a:r>
          </a:p>
          <a:p>
            <a:pPr>
              <a:spcAft>
                <a:spcPts val="600"/>
              </a:spcAft>
              <a:defRPr sz="1700">
                <a:solidFill>
                  <a:srgbClr val="182838"/>
                </a:solidFill>
                <a:latin typeface="Aptos"/>
              </a:defRPr>
            </a:pPr>
            <a:r>
              <a:t>It shows technical tools being used for public-interest investigation, not just surveillance or optimization.</a:t>
            </a:r>
          </a:p>
          <a:p>
            <a:pPr>
              <a:spcAft>
                <a:spcPts val="600"/>
              </a:spcAft>
              <a:defRPr sz="1700">
                <a:solidFill>
                  <a:srgbClr val="182838"/>
                </a:solidFill>
                <a:latin typeface="Aptos"/>
              </a:defRPr>
            </a:pPr>
            <a:r>
              <a:t>It connects data, media, human rights, and institutional power.</a:t>
            </a:r>
          </a:p>
        </p:txBody>
      </p:sp>
      <p:sp>
        <p:nvSpPr>
          <p:cNvPr id="8" name="Rounded Rectangle 7"/>
          <p:cNvSpPr/>
          <p:nvPr/>
        </p:nvSpPr>
        <p:spPr>
          <a:xfrm>
            <a:off x="6172200" y="1600200"/>
            <a:ext cx="498348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Course questions</a:t>
            </a:r>
          </a:p>
        </p:txBody>
      </p:sp>
      <p:sp>
        <p:nvSpPr>
          <p:cNvPr id="10" name="TextBox 9"/>
          <p:cNvSpPr txBox="1"/>
          <p:nvPr/>
        </p:nvSpPr>
        <p:spPr>
          <a:xfrm>
            <a:off x="6373368" y="2167128"/>
            <a:ext cx="4581144" cy="3730752"/>
          </a:xfrm>
          <a:prstGeom prst="rect">
            <a:avLst/>
          </a:prstGeom>
          <a:noFill/>
        </p:spPr>
        <p:txBody>
          <a:bodyPr wrap="square">
            <a:noAutofit/>
          </a:bodyPr>
          <a:lstStyle/>
          <a:p>
            <a:pPr>
              <a:spcAft>
                <a:spcPts val="600"/>
              </a:spcAft>
              <a:defRPr sz="1700">
                <a:solidFill>
                  <a:srgbClr val="182838"/>
                </a:solidFill>
                <a:latin typeface="Aptos"/>
              </a:defRPr>
            </a:pPr>
            <a:r>
              <a:t>What counts as trustworthy evidence?</a:t>
            </a:r>
          </a:p>
          <a:p>
            <a:pPr>
              <a:spcAft>
                <a:spcPts val="600"/>
              </a:spcAft>
              <a:defRPr sz="1700">
                <a:solidFill>
                  <a:srgbClr val="182838"/>
                </a:solidFill>
                <a:latin typeface="Aptos"/>
              </a:defRPr>
            </a:pPr>
            <a:r>
              <a:t>How should technical methods handle human harm and witness memory?</a:t>
            </a:r>
          </a:p>
          <a:p>
            <a:pPr>
              <a:spcAft>
                <a:spcPts val="600"/>
              </a:spcAft>
              <a:defRPr sz="1700">
                <a:solidFill>
                  <a:srgbClr val="182838"/>
                </a:solidFill>
                <a:latin typeface="Aptos"/>
              </a:defRPr>
            </a:pPr>
            <a:r>
              <a:t>When does reconstruction clarify events, and when can it oversimplify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Forensic Architecture</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What Forensic Architecture is and what makes this lecture unusual</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Who they are</a:t>
            </a:r>
          </a:p>
        </p:txBody>
      </p:sp>
      <p:sp>
        <p:nvSpPr>
          <p:cNvPr id="7" name="TextBox 6"/>
          <p:cNvSpPr txBox="1"/>
          <p:nvPr/>
        </p:nvSpPr>
        <p:spPr>
          <a:xfrm>
            <a:off x="1024128" y="2167128"/>
            <a:ext cx="4581144" cy="3730752"/>
          </a:xfrm>
          <a:prstGeom prst="rect">
            <a:avLst/>
          </a:prstGeom>
          <a:noFill/>
        </p:spPr>
        <p:txBody>
          <a:bodyPr wrap="square">
            <a:noAutofit/>
          </a:bodyPr>
          <a:lstStyle/>
          <a:p>
            <a:pPr>
              <a:spcAft>
                <a:spcPts val="600"/>
              </a:spcAft>
              <a:defRPr sz="1700">
                <a:solidFill>
                  <a:srgbClr val="182838"/>
                </a:solidFill>
                <a:latin typeface="Aptos"/>
              </a:defRPr>
            </a:pPr>
            <a:r>
              <a:t>A research agency based at Goldsmiths, University of London.</a:t>
            </a:r>
          </a:p>
          <a:p>
            <a:pPr>
              <a:spcAft>
                <a:spcPts val="600"/>
              </a:spcAft>
              <a:defRPr sz="1700">
                <a:solidFill>
                  <a:srgbClr val="182838"/>
                </a:solidFill>
                <a:latin typeface="Aptos"/>
              </a:defRPr>
            </a:pPr>
            <a:r>
              <a:t>Their work combines architecture, media analysis, open-source research, software, and human rights investigation.</a:t>
            </a:r>
          </a:p>
          <a:p>
            <a:pPr>
              <a:spcAft>
                <a:spcPts val="600"/>
              </a:spcAft>
              <a:defRPr sz="1700">
                <a:solidFill>
                  <a:srgbClr val="182838"/>
                </a:solidFill>
                <a:latin typeface="Aptos"/>
              </a:defRPr>
            </a:pPr>
            <a:r>
              <a:t>They treat built space and visual media as part of a forensic process.</a:t>
            </a:r>
          </a:p>
        </p:txBody>
      </p:sp>
      <p:sp>
        <p:nvSpPr>
          <p:cNvPr id="8" name="Rounded Rectangle 7"/>
          <p:cNvSpPr/>
          <p:nvPr/>
        </p:nvSpPr>
        <p:spPr>
          <a:xfrm>
            <a:off x="6172200" y="1600200"/>
            <a:ext cx="498348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this talk is different</a:t>
            </a:r>
          </a:p>
        </p:txBody>
      </p:sp>
      <p:sp>
        <p:nvSpPr>
          <p:cNvPr id="10" name="TextBox 9"/>
          <p:cNvSpPr txBox="1"/>
          <p:nvPr/>
        </p:nvSpPr>
        <p:spPr>
          <a:xfrm>
            <a:off x="6373368" y="2167128"/>
            <a:ext cx="4581144" cy="3730752"/>
          </a:xfrm>
          <a:prstGeom prst="rect">
            <a:avLst/>
          </a:prstGeom>
          <a:noFill/>
        </p:spPr>
        <p:txBody>
          <a:bodyPr wrap="square">
            <a:noAutofit/>
          </a:bodyPr>
          <a:lstStyle/>
          <a:p>
            <a:pPr>
              <a:spcAft>
                <a:spcPts val="600"/>
              </a:spcAft>
              <a:defRPr sz="1700">
                <a:solidFill>
                  <a:srgbClr val="182838"/>
                </a:solidFill>
                <a:latin typeface="Aptos"/>
              </a:defRPr>
            </a:pPr>
            <a:r>
              <a:t>It is not mainly a documentary about one event.</a:t>
            </a:r>
          </a:p>
          <a:p>
            <a:pPr>
              <a:spcAft>
                <a:spcPts val="600"/>
              </a:spcAft>
              <a:defRPr sz="1700">
                <a:solidFill>
                  <a:srgbClr val="182838"/>
                </a:solidFill>
                <a:latin typeface="Aptos"/>
              </a:defRPr>
            </a:pPr>
            <a:r>
              <a:t>It is a workflow lecture about how investigators collect, align, model, and test evidence.</a:t>
            </a:r>
          </a:p>
          <a:p>
            <a:pPr>
              <a:spcAft>
                <a:spcPts val="600"/>
              </a:spcAft>
              <a:defRPr sz="1700">
                <a:solidFill>
                  <a:srgbClr val="182838"/>
                </a:solidFill>
                <a:latin typeface="Aptos"/>
              </a:defRPr>
            </a:pPr>
            <a:r>
              <a:t>The emphasis is on method, reproducibility, and evidentiary reasoning.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Core Idea</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Architecture becomes an evidentiary medium</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01568"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Space</a:t>
            </a:r>
          </a:p>
        </p:txBody>
      </p:sp>
      <p:sp>
        <p:nvSpPr>
          <p:cNvPr id="7" name="TextBox 6"/>
          <p:cNvSpPr txBox="1"/>
          <p:nvPr/>
        </p:nvSpPr>
        <p:spPr>
          <a:xfrm>
            <a:off x="1024128" y="2167128"/>
            <a:ext cx="2999232" cy="3730752"/>
          </a:xfrm>
          <a:prstGeom prst="rect">
            <a:avLst/>
          </a:prstGeom>
          <a:noFill/>
        </p:spPr>
        <p:txBody>
          <a:bodyPr wrap="square">
            <a:noAutofit/>
          </a:bodyPr>
          <a:lstStyle/>
          <a:p>
            <a:pPr>
              <a:spcAft>
                <a:spcPts val="600"/>
              </a:spcAft>
              <a:defRPr sz="1900">
                <a:solidFill>
                  <a:srgbClr val="182838"/>
                </a:solidFill>
                <a:latin typeface="Aptos"/>
              </a:defRPr>
            </a:pPr>
            <a:r>
              <a:t>rooms</a:t>
            </a:r>
          </a:p>
          <a:p>
            <a:pPr>
              <a:spcAft>
                <a:spcPts val="600"/>
              </a:spcAft>
              <a:defRPr sz="1900">
                <a:solidFill>
                  <a:srgbClr val="182838"/>
                </a:solidFill>
                <a:latin typeface="Aptos"/>
              </a:defRPr>
            </a:pPr>
            <a:r>
              <a:t>streets</a:t>
            </a:r>
          </a:p>
          <a:p>
            <a:pPr>
              <a:spcAft>
                <a:spcPts val="600"/>
              </a:spcAft>
              <a:defRPr sz="1900">
                <a:solidFill>
                  <a:srgbClr val="182838"/>
                </a:solidFill>
                <a:latin typeface="Aptos"/>
              </a:defRPr>
            </a:pPr>
            <a:r>
              <a:t>landscapes</a:t>
            </a:r>
          </a:p>
          <a:p>
            <a:pPr>
              <a:spcAft>
                <a:spcPts val="600"/>
              </a:spcAft>
              <a:defRPr sz="1900">
                <a:solidFill>
                  <a:srgbClr val="182838"/>
                </a:solidFill>
                <a:latin typeface="Aptos"/>
              </a:defRPr>
            </a:pPr>
            <a:r>
              <a:t>building interiors and facades</a:t>
            </a:r>
          </a:p>
        </p:txBody>
      </p:sp>
      <p:sp>
        <p:nvSpPr>
          <p:cNvPr id="8" name="Rounded Rectangle 7"/>
          <p:cNvSpPr/>
          <p:nvPr/>
        </p:nvSpPr>
        <p:spPr>
          <a:xfrm>
            <a:off x="4389120" y="1600200"/>
            <a:ext cx="3401568"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2628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Observation</a:t>
            </a:r>
          </a:p>
        </p:txBody>
      </p:sp>
      <p:sp>
        <p:nvSpPr>
          <p:cNvPr id="10" name="TextBox 9"/>
          <p:cNvSpPr txBox="1"/>
          <p:nvPr/>
        </p:nvSpPr>
        <p:spPr>
          <a:xfrm>
            <a:off x="4590288" y="2167128"/>
            <a:ext cx="2999232" cy="3730752"/>
          </a:xfrm>
          <a:prstGeom prst="rect">
            <a:avLst/>
          </a:prstGeom>
          <a:noFill/>
        </p:spPr>
        <p:txBody>
          <a:bodyPr wrap="square">
            <a:noAutofit/>
          </a:bodyPr>
          <a:lstStyle/>
          <a:p>
            <a:pPr>
              <a:spcAft>
                <a:spcPts val="600"/>
              </a:spcAft>
              <a:defRPr sz="1900">
                <a:solidFill>
                  <a:srgbClr val="182838"/>
                </a:solidFill>
                <a:latin typeface="Aptos"/>
              </a:defRPr>
            </a:pPr>
            <a:r>
              <a:t>camera angles</a:t>
            </a:r>
          </a:p>
          <a:p>
            <a:pPr>
              <a:spcAft>
                <a:spcPts val="600"/>
              </a:spcAft>
              <a:defRPr sz="1900">
                <a:solidFill>
                  <a:srgbClr val="182838"/>
                </a:solidFill>
                <a:latin typeface="Aptos"/>
              </a:defRPr>
            </a:pPr>
            <a:r>
              <a:t>sightlines</a:t>
            </a:r>
          </a:p>
          <a:p>
            <a:pPr>
              <a:spcAft>
                <a:spcPts val="600"/>
              </a:spcAft>
              <a:defRPr sz="1900">
                <a:solidFill>
                  <a:srgbClr val="182838"/>
                </a:solidFill>
                <a:latin typeface="Aptos"/>
              </a:defRPr>
            </a:pPr>
            <a:r>
              <a:t>blast patterns</a:t>
            </a:r>
          </a:p>
          <a:p>
            <a:pPr>
              <a:spcAft>
                <a:spcPts val="600"/>
              </a:spcAft>
              <a:defRPr sz="1900">
                <a:solidFill>
                  <a:srgbClr val="182838"/>
                </a:solidFill>
                <a:latin typeface="Aptos"/>
              </a:defRPr>
            </a:pPr>
            <a:r>
              <a:t>shadows and sound</a:t>
            </a:r>
          </a:p>
        </p:txBody>
      </p:sp>
      <p:sp>
        <p:nvSpPr>
          <p:cNvPr id="11" name="Rounded Rectangle 10"/>
          <p:cNvSpPr/>
          <p:nvPr/>
        </p:nvSpPr>
        <p:spPr>
          <a:xfrm>
            <a:off x="7955279" y="1600200"/>
            <a:ext cx="320040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39"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it matters</a:t>
            </a:r>
          </a:p>
        </p:txBody>
      </p:sp>
      <p:sp>
        <p:nvSpPr>
          <p:cNvPr id="13" name="TextBox 12"/>
          <p:cNvSpPr txBox="1"/>
          <p:nvPr/>
        </p:nvSpPr>
        <p:spPr>
          <a:xfrm>
            <a:off x="8156447" y="2167128"/>
            <a:ext cx="2798064" cy="3730752"/>
          </a:xfrm>
          <a:prstGeom prst="rect">
            <a:avLst/>
          </a:prstGeom>
          <a:noFill/>
        </p:spPr>
        <p:txBody>
          <a:bodyPr wrap="square">
            <a:noAutofit/>
          </a:bodyPr>
          <a:lstStyle/>
          <a:p>
            <a:pPr>
              <a:spcAft>
                <a:spcPts val="600"/>
              </a:spcAft>
              <a:defRPr sz="1800">
                <a:solidFill>
                  <a:srgbClr val="182838"/>
                </a:solidFill>
                <a:latin typeface="Aptos"/>
              </a:defRPr>
            </a:pPr>
            <a:r>
              <a:t>Claims about violence or destruction can be tested against the structure of space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Workflow</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The method moves from fragments to structured claims</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685800" y="1600200"/>
            <a:ext cx="214884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2296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1. Collect</a:t>
            </a:r>
          </a:p>
        </p:txBody>
      </p:sp>
      <p:sp>
        <p:nvSpPr>
          <p:cNvPr id="7" name="TextBox 6"/>
          <p:cNvSpPr txBox="1"/>
          <p:nvPr/>
        </p:nvSpPr>
        <p:spPr>
          <a:xfrm>
            <a:off x="886968" y="2167128"/>
            <a:ext cx="1746504" cy="3730752"/>
          </a:xfrm>
          <a:prstGeom prst="rect">
            <a:avLst/>
          </a:prstGeom>
          <a:noFill/>
        </p:spPr>
        <p:txBody>
          <a:bodyPr wrap="square">
            <a:noAutofit/>
          </a:bodyPr>
          <a:lstStyle/>
          <a:p>
            <a:pPr>
              <a:spcAft>
                <a:spcPts val="600"/>
              </a:spcAft>
              <a:defRPr sz="1800">
                <a:solidFill>
                  <a:srgbClr val="182838"/>
                </a:solidFill>
                <a:latin typeface="Aptos"/>
              </a:defRPr>
            </a:pPr>
            <a:r>
              <a:t>videos</a:t>
            </a:r>
          </a:p>
          <a:p>
            <a:pPr>
              <a:spcAft>
                <a:spcPts val="600"/>
              </a:spcAft>
              <a:defRPr sz="1800">
                <a:solidFill>
                  <a:srgbClr val="182838"/>
                </a:solidFill>
                <a:latin typeface="Aptos"/>
              </a:defRPr>
            </a:pPr>
            <a:r>
              <a:t>photos</a:t>
            </a:r>
          </a:p>
          <a:p>
            <a:pPr>
              <a:spcAft>
                <a:spcPts val="600"/>
              </a:spcAft>
              <a:defRPr sz="1800">
                <a:solidFill>
                  <a:srgbClr val="182838"/>
                </a:solidFill>
                <a:latin typeface="Aptos"/>
              </a:defRPr>
            </a:pPr>
            <a:r>
              <a:t>maps</a:t>
            </a:r>
          </a:p>
          <a:p>
            <a:pPr>
              <a:spcAft>
                <a:spcPts val="600"/>
              </a:spcAft>
              <a:defRPr sz="1800">
                <a:solidFill>
                  <a:srgbClr val="182838"/>
                </a:solidFill>
                <a:latin typeface="Aptos"/>
              </a:defRPr>
            </a:pPr>
            <a:r>
              <a:t>satellite images</a:t>
            </a:r>
          </a:p>
          <a:p>
            <a:pPr>
              <a:spcAft>
                <a:spcPts val="600"/>
              </a:spcAft>
              <a:defRPr sz="1800">
                <a:solidFill>
                  <a:srgbClr val="182838"/>
                </a:solidFill>
                <a:latin typeface="Aptos"/>
              </a:defRPr>
            </a:pPr>
            <a:r>
              <a:t>witness accounts</a:t>
            </a:r>
          </a:p>
        </p:txBody>
      </p:sp>
      <p:sp>
        <p:nvSpPr>
          <p:cNvPr id="8" name="Rounded Rectangle 7"/>
          <p:cNvSpPr/>
          <p:nvPr/>
        </p:nvSpPr>
        <p:spPr>
          <a:xfrm>
            <a:off x="2999232" y="1600200"/>
            <a:ext cx="214884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36392"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2. Align</a:t>
            </a:r>
          </a:p>
        </p:txBody>
      </p:sp>
      <p:sp>
        <p:nvSpPr>
          <p:cNvPr id="10" name="TextBox 9"/>
          <p:cNvSpPr txBox="1"/>
          <p:nvPr/>
        </p:nvSpPr>
        <p:spPr>
          <a:xfrm>
            <a:off x="3200400" y="2167128"/>
            <a:ext cx="1746504" cy="3730752"/>
          </a:xfrm>
          <a:prstGeom prst="rect">
            <a:avLst/>
          </a:prstGeom>
          <a:noFill/>
        </p:spPr>
        <p:txBody>
          <a:bodyPr wrap="square">
            <a:noAutofit/>
          </a:bodyPr>
          <a:lstStyle/>
          <a:p>
            <a:pPr>
              <a:spcAft>
                <a:spcPts val="600"/>
              </a:spcAft>
              <a:defRPr sz="1800">
                <a:solidFill>
                  <a:srgbClr val="182838"/>
                </a:solidFill>
                <a:latin typeface="Aptos"/>
              </a:defRPr>
            </a:pPr>
            <a:r>
              <a:t>time</a:t>
            </a:r>
          </a:p>
          <a:p>
            <a:pPr>
              <a:spcAft>
                <a:spcPts val="600"/>
              </a:spcAft>
              <a:defRPr sz="1800">
                <a:solidFill>
                  <a:srgbClr val="182838"/>
                </a:solidFill>
                <a:latin typeface="Aptos"/>
              </a:defRPr>
            </a:pPr>
            <a:r>
              <a:t>location</a:t>
            </a:r>
          </a:p>
          <a:p>
            <a:pPr>
              <a:spcAft>
                <a:spcPts val="600"/>
              </a:spcAft>
              <a:defRPr sz="1800">
                <a:solidFill>
                  <a:srgbClr val="182838"/>
                </a:solidFill>
                <a:latin typeface="Aptos"/>
              </a:defRPr>
            </a:pPr>
            <a:r>
              <a:t>viewpoint</a:t>
            </a:r>
          </a:p>
          <a:p>
            <a:pPr>
              <a:spcAft>
                <a:spcPts val="600"/>
              </a:spcAft>
              <a:defRPr sz="1800">
                <a:solidFill>
                  <a:srgbClr val="182838"/>
                </a:solidFill>
                <a:latin typeface="Aptos"/>
              </a:defRPr>
            </a:pPr>
            <a:r>
              <a:t>sequence</a:t>
            </a:r>
          </a:p>
        </p:txBody>
      </p:sp>
      <p:sp>
        <p:nvSpPr>
          <p:cNvPr id="11" name="Rounded Rectangle 10"/>
          <p:cNvSpPr/>
          <p:nvPr/>
        </p:nvSpPr>
        <p:spPr>
          <a:xfrm>
            <a:off x="5312664" y="1600200"/>
            <a:ext cx="214884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449824"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3. Model</a:t>
            </a:r>
          </a:p>
        </p:txBody>
      </p:sp>
      <p:sp>
        <p:nvSpPr>
          <p:cNvPr id="13" name="TextBox 12"/>
          <p:cNvSpPr txBox="1"/>
          <p:nvPr/>
        </p:nvSpPr>
        <p:spPr>
          <a:xfrm>
            <a:off x="5513832" y="2167128"/>
            <a:ext cx="1746504" cy="3730752"/>
          </a:xfrm>
          <a:prstGeom prst="rect">
            <a:avLst/>
          </a:prstGeom>
          <a:noFill/>
        </p:spPr>
        <p:txBody>
          <a:bodyPr wrap="square">
            <a:noAutofit/>
          </a:bodyPr>
          <a:lstStyle/>
          <a:p>
            <a:pPr>
              <a:spcAft>
                <a:spcPts val="600"/>
              </a:spcAft>
              <a:defRPr sz="1800">
                <a:solidFill>
                  <a:srgbClr val="182838"/>
                </a:solidFill>
                <a:latin typeface="Aptos"/>
              </a:defRPr>
            </a:pPr>
            <a:r>
              <a:t>3D scenes</a:t>
            </a:r>
          </a:p>
          <a:p>
            <a:pPr>
              <a:spcAft>
                <a:spcPts val="600"/>
              </a:spcAft>
              <a:defRPr sz="1800">
                <a:solidFill>
                  <a:srgbClr val="182838"/>
                </a:solidFill>
                <a:latin typeface="Aptos"/>
              </a:defRPr>
            </a:pPr>
            <a:r>
              <a:t>terrain</a:t>
            </a:r>
          </a:p>
          <a:p>
            <a:pPr>
              <a:spcAft>
                <a:spcPts val="600"/>
              </a:spcAft>
              <a:defRPr sz="1800">
                <a:solidFill>
                  <a:srgbClr val="182838"/>
                </a:solidFill>
                <a:latin typeface="Aptos"/>
              </a:defRPr>
            </a:pPr>
            <a:r>
              <a:t>camera positions</a:t>
            </a:r>
          </a:p>
          <a:p>
            <a:pPr>
              <a:spcAft>
                <a:spcPts val="600"/>
              </a:spcAft>
              <a:defRPr sz="1800">
                <a:solidFill>
                  <a:srgbClr val="182838"/>
                </a:solidFill>
                <a:latin typeface="Aptos"/>
              </a:defRPr>
            </a:pPr>
            <a:r>
              <a:t>movement</a:t>
            </a:r>
          </a:p>
        </p:txBody>
      </p:sp>
      <p:sp>
        <p:nvSpPr>
          <p:cNvPr id="14" name="Rounded Rectangle 13"/>
          <p:cNvSpPr/>
          <p:nvPr/>
        </p:nvSpPr>
        <p:spPr>
          <a:xfrm>
            <a:off x="7626096" y="1600200"/>
            <a:ext cx="214884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63256"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4. Test</a:t>
            </a:r>
          </a:p>
        </p:txBody>
      </p:sp>
      <p:sp>
        <p:nvSpPr>
          <p:cNvPr id="16" name="TextBox 15"/>
          <p:cNvSpPr txBox="1"/>
          <p:nvPr/>
        </p:nvSpPr>
        <p:spPr>
          <a:xfrm>
            <a:off x="7827264" y="2167128"/>
            <a:ext cx="1746504" cy="3730752"/>
          </a:xfrm>
          <a:prstGeom prst="rect">
            <a:avLst/>
          </a:prstGeom>
          <a:noFill/>
        </p:spPr>
        <p:txBody>
          <a:bodyPr wrap="square">
            <a:noAutofit/>
          </a:bodyPr>
          <a:lstStyle/>
          <a:p>
            <a:pPr>
              <a:spcAft>
                <a:spcPts val="600"/>
              </a:spcAft>
              <a:defRPr sz="1800">
                <a:solidFill>
                  <a:srgbClr val="182838"/>
                </a:solidFill>
                <a:latin typeface="Aptos"/>
              </a:defRPr>
            </a:pPr>
            <a:r>
              <a:t>compare sources</a:t>
            </a:r>
          </a:p>
          <a:p>
            <a:pPr>
              <a:spcAft>
                <a:spcPts val="600"/>
              </a:spcAft>
              <a:defRPr sz="1800">
                <a:solidFill>
                  <a:srgbClr val="182838"/>
                </a:solidFill>
                <a:latin typeface="Aptos"/>
              </a:defRPr>
            </a:pPr>
            <a:r>
              <a:t>check consistency</a:t>
            </a:r>
          </a:p>
          <a:p>
            <a:pPr>
              <a:spcAft>
                <a:spcPts val="600"/>
              </a:spcAft>
              <a:defRPr sz="1800">
                <a:solidFill>
                  <a:srgbClr val="182838"/>
                </a:solidFill>
                <a:latin typeface="Aptos"/>
              </a:defRPr>
            </a:pPr>
            <a:r>
              <a:t>challenge narratives</a:t>
            </a:r>
          </a:p>
        </p:txBody>
      </p:sp>
      <p:sp>
        <p:nvSpPr>
          <p:cNvPr id="17" name="Rounded Rectangle 16"/>
          <p:cNvSpPr/>
          <p:nvPr/>
        </p:nvSpPr>
        <p:spPr>
          <a:xfrm>
            <a:off x="9939528" y="1600200"/>
            <a:ext cx="1554480" cy="448056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10076688"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5. Present</a:t>
            </a:r>
          </a:p>
        </p:txBody>
      </p:sp>
      <p:sp>
        <p:nvSpPr>
          <p:cNvPr id="19" name="TextBox 18"/>
          <p:cNvSpPr txBox="1"/>
          <p:nvPr/>
        </p:nvSpPr>
        <p:spPr>
          <a:xfrm>
            <a:off x="10140696" y="2167128"/>
            <a:ext cx="1152144" cy="3730752"/>
          </a:xfrm>
          <a:prstGeom prst="rect">
            <a:avLst/>
          </a:prstGeom>
          <a:noFill/>
        </p:spPr>
        <p:txBody>
          <a:bodyPr wrap="square">
            <a:noAutofit/>
          </a:bodyPr>
          <a:lstStyle/>
          <a:p>
            <a:pPr>
              <a:spcAft>
                <a:spcPts val="600"/>
              </a:spcAft>
              <a:defRPr sz="1600">
                <a:solidFill>
                  <a:srgbClr val="182838"/>
                </a:solidFill>
                <a:latin typeface="Aptos"/>
              </a:defRPr>
            </a:pPr>
            <a:r>
              <a:t>report</a:t>
            </a:r>
          </a:p>
          <a:p>
            <a:pPr>
              <a:spcAft>
                <a:spcPts val="600"/>
              </a:spcAft>
              <a:defRPr sz="1600">
                <a:solidFill>
                  <a:srgbClr val="182838"/>
                </a:solidFill>
                <a:latin typeface="Aptos"/>
              </a:defRPr>
            </a:pPr>
            <a:r>
              <a:t>film</a:t>
            </a:r>
          </a:p>
          <a:p>
            <a:pPr>
              <a:spcAft>
                <a:spcPts val="600"/>
              </a:spcAft>
              <a:defRPr sz="1600">
                <a:solidFill>
                  <a:srgbClr val="182838"/>
                </a:solidFill>
                <a:latin typeface="Aptos"/>
              </a:defRPr>
            </a:pPr>
            <a:r>
              <a:t>court</a:t>
            </a:r>
          </a:p>
          <a:p>
            <a:pPr>
              <a:spcAft>
                <a:spcPts val="600"/>
              </a:spcAft>
              <a:defRPr sz="1600">
                <a:solidFill>
                  <a:srgbClr val="182838"/>
                </a:solidFill>
                <a:latin typeface="Aptos"/>
              </a:defRPr>
            </a:pPr>
            <a:r>
              <a:t>public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Evidence Inputs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The method depends on combining many partial sources</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Visual media</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phone videos</a:t>
            </a:r>
          </a:p>
          <a:p>
            <a:pPr>
              <a:spcAft>
                <a:spcPts val="600"/>
              </a:spcAft>
              <a:defRPr sz="1800">
                <a:solidFill>
                  <a:srgbClr val="182838"/>
                </a:solidFill>
                <a:latin typeface="Aptos"/>
              </a:defRPr>
            </a:pPr>
            <a:r>
              <a:t>photos</a:t>
            </a:r>
          </a:p>
          <a:p>
            <a:pPr>
              <a:spcAft>
                <a:spcPts val="600"/>
              </a:spcAft>
              <a:defRPr sz="1800">
                <a:solidFill>
                  <a:srgbClr val="182838"/>
                </a:solidFill>
                <a:latin typeface="Aptos"/>
              </a:defRPr>
            </a:pPr>
            <a:r>
              <a:t>CCTV or broadcast clips</a:t>
            </a:r>
          </a:p>
          <a:p>
            <a:pPr>
              <a:spcAft>
                <a:spcPts val="600"/>
              </a:spcAft>
              <a:defRPr sz="1800">
                <a:solidFill>
                  <a:srgbClr val="182838"/>
                </a:solidFill>
                <a:latin typeface="Aptos"/>
              </a:defRPr>
            </a:pPr>
            <a:r>
              <a:t>panoramas and screenshots</a:t>
            </a:r>
          </a:p>
        </p:txBody>
      </p:sp>
      <p:sp>
        <p:nvSpPr>
          <p:cNvPr id="8" name="Rounded Rectangle 7"/>
          <p:cNvSpPr/>
          <p:nvPr/>
        </p:nvSpPr>
        <p:spPr>
          <a:xfrm>
            <a:off x="443484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Spatial data</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maps</a:t>
            </a:r>
          </a:p>
          <a:p>
            <a:pPr>
              <a:spcAft>
                <a:spcPts val="600"/>
              </a:spcAft>
              <a:defRPr sz="1800">
                <a:solidFill>
                  <a:srgbClr val="182838"/>
                </a:solidFill>
                <a:latin typeface="Aptos"/>
              </a:defRPr>
            </a:pPr>
            <a:r>
              <a:t>floor plans</a:t>
            </a:r>
          </a:p>
          <a:p>
            <a:pPr>
              <a:spcAft>
                <a:spcPts val="600"/>
              </a:spcAft>
              <a:defRPr sz="1800">
                <a:solidFill>
                  <a:srgbClr val="182838"/>
                </a:solidFill>
                <a:latin typeface="Aptos"/>
              </a:defRPr>
            </a:pPr>
            <a:r>
              <a:t>satellite imagery</a:t>
            </a:r>
          </a:p>
          <a:p>
            <a:pPr>
              <a:spcAft>
                <a:spcPts val="600"/>
              </a:spcAft>
              <a:defRPr sz="1800">
                <a:solidFill>
                  <a:srgbClr val="182838"/>
                </a:solidFill>
                <a:latin typeface="Aptos"/>
              </a:defRPr>
            </a:pPr>
            <a:r>
              <a:t>terrain and GIS layers</a:t>
            </a:r>
          </a:p>
        </p:txBody>
      </p:sp>
      <p:sp>
        <p:nvSpPr>
          <p:cNvPr id="11" name="Rounded Rectangle 10"/>
          <p:cNvSpPr/>
          <p:nvPr/>
        </p:nvSpPr>
        <p:spPr>
          <a:xfrm>
            <a:off x="8046720" y="1600200"/>
            <a:ext cx="310896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Human sources</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800">
                <a:solidFill>
                  <a:srgbClr val="182838"/>
                </a:solidFill>
                <a:latin typeface="Aptos"/>
              </a:defRPr>
            </a:pPr>
            <a:r>
              <a:t>witness memory</a:t>
            </a:r>
          </a:p>
          <a:p>
            <a:pPr>
              <a:spcAft>
                <a:spcPts val="600"/>
              </a:spcAft>
              <a:defRPr sz="1800">
                <a:solidFill>
                  <a:srgbClr val="182838"/>
                </a:solidFill>
                <a:latin typeface="Aptos"/>
              </a:defRPr>
            </a:pPr>
            <a:r>
              <a:t>situated testimony</a:t>
            </a:r>
          </a:p>
          <a:p>
            <a:pPr>
              <a:spcAft>
                <a:spcPts val="600"/>
              </a:spcAft>
              <a:defRPr sz="1800">
                <a:solidFill>
                  <a:srgbClr val="182838"/>
                </a:solidFill>
                <a:latin typeface="Aptos"/>
              </a:defRPr>
            </a:pPr>
            <a:r>
              <a:t>local knowledge</a:t>
            </a:r>
          </a:p>
          <a:p>
            <a:pPr>
              <a:spcAft>
                <a:spcPts val="600"/>
              </a:spcAft>
              <a:defRPr sz="1800">
                <a:solidFill>
                  <a:srgbClr val="182838"/>
                </a:solidFill>
                <a:latin typeface="Aptos"/>
              </a:defRPr>
            </a:pPr>
            <a:r>
              <a:t>comparison with official claims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3D Modelling</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Camera matching turns a flat image into a testable viewpoint</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What camera matching does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Recreates the perspective of a photograph or video inside a 3D model.</a:t>
            </a:r>
          </a:p>
          <a:p>
            <a:pPr>
              <a:spcAft>
                <a:spcPts val="600"/>
              </a:spcAft>
              <a:defRPr sz="1700">
                <a:solidFill>
                  <a:srgbClr val="182838"/>
                </a:solidFill>
                <a:latin typeface="Aptos"/>
              </a:defRPr>
            </a:pPr>
            <a:r>
              <a:t>Lets investigators estimate where the camera was and what it could actually see.</a:t>
            </a:r>
          </a:p>
          <a:p>
            <a:pPr>
              <a:spcAft>
                <a:spcPts val="600"/>
              </a:spcAft>
              <a:defRPr sz="1700">
                <a:solidFill>
                  <a:srgbClr val="182838"/>
                </a:solidFill>
                <a:latin typeface="Aptos"/>
              </a:defRPr>
            </a:pPr>
            <a:r>
              <a:t>Helps test line of sight, distance, motion, and physical plausibility.</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that matters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A claim can look persuasive in a screenshot but fail once perspective is reconstructed.</a:t>
            </a:r>
          </a:p>
          <a:p>
            <a:pPr>
              <a:spcAft>
                <a:spcPts val="600"/>
              </a:spcAft>
              <a:defRPr sz="1700">
                <a:solidFill>
                  <a:srgbClr val="182838"/>
                </a:solidFill>
                <a:latin typeface="Aptos"/>
              </a:defRPr>
            </a:pPr>
            <a:r>
              <a:t>The model makes viewpoint explicit instead of assumed.</a:t>
            </a:r>
          </a:p>
          <a:p>
            <a:pPr>
              <a:spcAft>
                <a:spcPts val="600"/>
              </a:spcAft>
              <a:defRPr sz="1700">
                <a:solidFill>
                  <a:srgbClr val="182838"/>
                </a:solidFill>
                <a:latin typeface="Aptos"/>
              </a:defRPr>
            </a:pPr>
            <a:r>
              <a:t>This is one reason Blender appears so often in FA teaching materials.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Photogrammetry</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Many images can be combined into a precise 3D environment</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How it works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Large numbers of still images are used to reconstruct the shape of an object or scene.</a:t>
            </a:r>
          </a:p>
          <a:p>
            <a:pPr>
              <a:spcAft>
                <a:spcPts val="600"/>
              </a:spcAft>
              <a:defRPr sz="1700">
                <a:solidFill>
                  <a:srgbClr val="182838"/>
                </a:solidFill>
                <a:latin typeface="Aptos"/>
              </a:defRPr>
            </a:pPr>
            <a:r>
              <a:t>Repeated visual overlap helps software estimate geometry and spatial relation.</a:t>
            </a:r>
          </a:p>
          <a:p>
            <a:pPr>
              <a:spcAft>
                <a:spcPts val="600"/>
              </a:spcAft>
              <a:defRPr sz="1700">
                <a:solidFill>
                  <a:srgbClr val="182838"/>
                </a:solidFill>
                <a:latin typeface="Aptos"/>
              </a:defRPr>
            </a:pPr>
            <a:r>
              <a:t>The result is a navigable model rather than one isolated image.</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it helps investigations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It preserves detail from damaged sites or hard-to-access spaces.</a:t>
            </a:r>
          </a:p>
          <a:p>
            <a:pPr>
              <a:spcAft>
                <a:spcPts val="600"/>
              </a:spcAft>
              <a:defRPr sz="1700">
                <a:solidFill>
                  <a:srgbClr val="182838"/>
                </a:solidFill>
                <a:latin typeface="Aptos"/>
              </a:defRPr>
            </a:pPr>
            <a:r>
              <a:t>It creates a common reference space for comparing multiple pieces of evidence.</a:t>
            </a:r>
          </a:p>
          <a:p>
            <a:pPr>
              <a:spcAft>
                <a:spcPts val="600"/>
              </a:spcAft>
              <a:defRPr sz="1700">
                <a:solidFill>
                  <a:srgbClr val="182838"/>
                </a:solidFill>
                <a:latin typeface="Aptos"/>
              </a:defRPr>
            </a:pPr>
            <a:r>
              <a:t>It turns scattered photographs into a structured environment investigators can interrogate.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Geolocation and Remote Sensing</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Scenes can be anchored to real terrain and landscape change</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Geolocation</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Match visible landmarks to a real place.</a:t>
            </a:r>
          </a:p>
          <a:p>
            <a:pPr>
              <a:spcAft>
                <a:spcPts val="600"/>
              </a:spcAft>
              <a:defRPr sz="1800">
                <a:solidFill>
                  <a:srgbClr val="182838"/>
                </a:solidFill>
                <a:latin typeface="Aptos"/>
              </a:defRPr>
            </a:pPr>
            <a:r>
              <a:t>Use roads, buildings, hills, and shadows to place a video or image.</a:t>
            </a:r>
          </a:p>
        </p:txBody>
      </p:sp>
      <p:sp>
        <p:nvSpPr>
          <p:cNvPr id="8" name="Rounded Rectangle 7"/>
          <p:cNvSpPr/>
          <p:nvPr/>
        </p:nvSpPr>
        <p:spPr>
          <a:xfrm>
            <a:off x="443484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Remote sensing</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Use satellite imagery and environmental data to observe change across time.</a:t>
            </a:r>
          </a:p>
          <a:p>
            <a:pPr>
              <a:spcAft>
                <a:spcPts val="600"/>
              </a:spcAft>
              <a:defRPr sz="1800">
                <a:solidFill>
                  <a:srgbClr val="182838"/>
                </a:solidFill>
                <a:latin typeface="Aptos"/>
              </a:defRPr>
            </a:pPr>
            <a:r>
              <a:t>NDVI and similar tools help reveal landscape or vegetation change.</a:t>
            </a:r>
          </a:p>
        </p:txBody>
      </p:sp>
      <p:sp>
        <p:nvSpPr>
          <p:cNvPr id="11" name="Rounded Rectangle 10"/>
          <p:cNvSpPr/>
          <p:nvPr/>
        </p:nvSpPr>
        <p:spPr>
          <a:xfrm>
            <a:off x="8046720" y="1600200"/>
            <a:ext cx="310896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it matters</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82838"/>
                </a:solidFill>
                <a:latin typeface="Aptos"/>
              </a:defRPr>
            </a:pPr>
            <a:r>
              <a:t>The investigation is not trapped inside one clip. It can connect local events to a larger terrain and timeline.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Synchronization</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Multiple recordings can be aligned into one temporal sequence</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What gets aligned</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82838"/>
                </a:solidFill>
                <a:latin typeface="Aptos"/>
              </a:defRPr>
            </a:pPr>
            <a:r>
              <a:t>audio spikes</a:t>
            </a:r>
          </a:p>
          <a:p>
            <a:pPr>
              <a:spcAft>
                <a:spcPts val="600"/>
              </a:spcAft>
              <a:defRPr sz="1800">
                <a:solidFill>
                  <a:srgbClr val="182838"/>
                </a:solidFill>
                <a:latin typeface="Aptos"/>
              </a:defRPr>
            </a:pPr>
            <a:r>
              <a:t>visible flashes</a:t>
            </a:r>
          </a:p>
          <a:p>
            <a:pPr>
              <a:spcAft>
                <a:spcPts val="600"/>
              </a:spcAft>
              <a:defRPr sz="1800">
                <a:solidFill>
                  <a:srgbClr val="182838"/>
                </a:solidFill>
                <a:latin typeface="Aptos"/>
              </a:defRPr>
            </a:pPr>
            <a:r>
              <a:t>movement across clips</a:t>
            </a:r>
          </a:p>
          <a:p>
            <a:pPr>
              <a:spcAft>
                <a:spcPts val="600"/>
              </a:spcAft>
              <a:defRPr sz="1800">
                <a:solidFill>
                  <a:srgbClr val="182838"/>
                </a:solidFill>
                <a:latin typeface="Aptos"/>
              </a:defRPr>
            </a:pPr>
            <a:r>
              <a:t>metadata, clock times, or public timestamps</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What synchronization gives you</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A clearer timeline of what happened and in what order.</a:t>
            </a:r>
          </a:p>
          <a:p>
            <a:pPr>
              <a:spcAft>
                <a:spcPts val="600"/>
              </a:spcAft>
              <a:defRPr sz="1700">
                <a:solidFill>
                  <a:srgbClr val="182838"/>
                </a:solidFill>
                <a:latin typeface="Aptos"/>
              </a:defRPr>
            </a:pPr>
            <a:r>
              <a:t>A way to compare witness claims against visible and audible events.</a:t>
            </a:r>
          </a:p>
          <a:p>
            <a:pPr>
              <a:spcAft>
                <a:spcPts val="600"/>
              </a:spcAft>
              <a:defRPr sz="1700">
                <a:solidFill>
                  <a:srgbClr val="182838"/>
                </a:solidFill>
                <a:latin typeface="Aptos"/>
              </a:defRPr>
            </a:pPr>
            <a:r>
              <a:t>A stronger basis for saying whether official accounts are temporally consistent.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Situated Testimony</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Witness memory is anchored to a modelled environment</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Core idea</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Witnesses do not speak only in the abstract.</a:t>
            </a:r>
          </a:p>
          <a:p>
            <a:pPr>
              <a:spcAft>
                <a:spcPts val="600"/>
              </a:spcAft>
              <a:defRPr sz="1700">
                <a:solidFill>
                  <a:srgbClr val="182838"/>
                </a:solidFill>
                <a:latin typeface="Aptos"/>
              </a:defRPr>
            </a:pPr>
            <a:r>
              <a:t>A 3D model helps them re-enter a space and describe position, sequence, sound, and viewpoint.</a:t>
            </a:r>
          </a:p>
          <a:p>
            <a:pPr>
              <a:spcAft>
                <a:spcPts val="600"/>
              </a:spcAft>
              <a:defRPr sz="1700">
                <a:solidFill>
                  <a:srgbClr val="182838"/>
                </a:solidFill>
                <a:latin typeface="Aptos"/>
              </a:defRPr>
            </a:pPr>
            <a:r>
              <a:t>Testimony becomes spatialized and can be compared with media evidence.</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Grenfell example</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600">
                <a:solidFill>
                  <a:srgbClr val="182838"/>
                </a:solidFill>
                <a:latin typeface="Aptos"/>
              </a:defRPr>
            </a:pPr>
            <a:r>
              <a:t>FA describes using 3D models of Grenfell Tower and its surroundings to help survivors and nearby residents access their memories in a safer setting.</a:t>
            </a:r>
          </a:p>
          <a:p>
            <a:pPr>
              <a:spcAft>
                <a:spcPts val="600"/>
              </a:spcAft>
              <a:defRPr sz="1600">
                <a:solidFill>
                  <a:srgbClr val="182838"/>
                </a:solidFill>
                <a:latin typeface="Aptos"/>
              </a:defRPr>
            </a:pPr>
            <a:r>
              <a:t>Those accounts were then combined with video and audio analysis to reconstruct the event.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Investigative Toolkit</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The broader method can be broken into teachable modules</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731520" y="1600200"/>
            <a:ext cx="27432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6868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Examples</a:t>
            </a:r>
          </a:p>
        </p:txBody>
      </p:sp>
      <p:sp>
        <p:nvSpPr>
          <p:cNvPr id="7" name="TextBox 6"/>
          <p:cNvSpPr txBox="1"/>
          <p:nvPr/>
        </p:nvSpPr>
        <p:spPr>
          <a:xfrm>
            <a:off x="932688" y="2167128"/>
            <a:ext cx="2340864" cy="3776472"/>
          </a:xfrm>
          <a:prstGeom prst="rect">
            <a:avLst/>
          </a:prstGeom>
          <a:noFill/>
        </p:spPr>
        <p:txBody>
          <a:bodyPr wrap="square">
            <a:noAutofit/>
          </a:bodyPr>
          <a:lstStyle/>
          <a:p>
            <a:pPr>
              <a:spcAft>
                <a:spcPts val="600"/>
              </a:spcAft>
              <a:defRPr sz="1700">
                <a:solidFill>
                  <a:srgbClr val="182838"/>
                </a:solidFill>
                <a:latin typeface="Aptos"/>
              </a:defRPr>
            </a:pPr>
            <a:r>
              <a:t>Camera Matching in Blender</a:t>
            </a:r>
          </a:p>
          <a:p>
            <a:pPr>
              <a:spcAft>
                <a:spcPts val="600"/>
              </a:spcAft>
              <a:defRPr sz="1700">
                <a:solidFill>
                  <a:srgbClr val="182838"/>
                </a:solidFill>
                <a:latin typeface="Aptos"/>
              </a:defRPr>
            </a:pPr>
            <a:r>
              <a:t>Panorama Paint</a:t>
            </a:r>
          </a:p>
          <a:p>
            <a:pPr>
              <a:spcAft>
                <a:spcPts val="600"/>
              </a:spcAft>
              <a:defRPr sz="1700">
                <a:solidFill>
                  <a:srgbClr val="182838"/>
                </a:solidFill>
                <a:latin typeface="Aptos"/>
              </a:defRPr>
            </a:pPr>
            <a:r>
              <a:t>Landscape Generation from real-world data</a:t>
            </a:r>
          </a:p>
          <a:p>
            <a:pPr>
              <a:spcAft>
                <a:spcPts val="600"/>
              </a:spcAft>
              <a:defRPr sz="1700">
                <a:solidFill>
                  <a:srgbClr val="182838"/>
                </a:solidFill>
                <a:latin typeface="Aptos"/>
              </a:defRPr>
            </a:pPr>
            <a:r>
              <a:t>Using NDVI with GIS</a:t>
            </a:r>
          </a:p>
        </p:txBody>
      </p:sp>
      <p:sp>
        <p:nvSpPr>
          <p:cNvPr id="8" name="Rounded Rectangle 7"/>
          <p:cNvSpPr/>
          <p:nvPr/>
        </p:nvSpPr>
        <p:spPr>
          <a:xfrm>
            <a:off x="3794760" y="1600200"/>
            <a:ext cx="3840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93192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Why this matters</a:t>
            </a:r>
          </a:p>
        </p:txBody>
      </p:sp>
      <p:sp>
        <p:nvSpPr>
          <p:cNvPr id="10" name="TextBox 9"/>
          <p:cNvSpPr txBox="1"/>
          <p:nvPr/>
        </p:nvSpPr>
        <p:spPr>
          <a:xfrm>
            <a:off x="3995928" y="2167128"/>
            <a:ext cx="3438144" cy="3776472"/>
          </a:xfrm>
          <a:prstGeom prst="rect">
            <a:avLst/>
          </a:prstGeom>
          <a:noFill/>
        </p:spPr>
        <p:txBody>
          <a:bodyPr wrap="square">
            <a:noAutofit/>
          </a:bodyPr>
          <a:lstStyle/>
          <a:p>
            <a:pPr>
              <a:spcAft>
                <a:spcPts val="600"/>
              </a:spcAft>
              <a:defRPr sz="1700">
                <a:solidFill>
                  <a:srgbClr val="182838"/>
                </a:solidFill>
                <a:latin typeface="Aptos"/>
              </a:defRPr>
            </a:pPr>
            <a:r>
              <a:t>The practice is not only rhetorical critique.</a:t>
            </a:r>
          </a:p>
          <a:p>
            <a:pPr>
              <a:spcAft>
                <a:spcPts val="600"/>
              </a:spcAft>
              <a:defRPr sz="1700">
                <a:solidFill>
                  <a:srgbClr val="182838"/>
                </a:solidFill>
                <a:latin typeface="Aptos"/>
              </a:defRPr>
            </a:pPr>
            <a:r>
              <a:t>It is a pipeline of concrete visual and computational techniques that can be taught, reused, and adapted.</a:t>
            </a:r>
          </a:p>
        </p:txBody>
      </p:sp>
      <p:sp>
        <p:nvSpPr>
          <p:cNvPr id="11" name="Rounded Rectangle 10"/>
          <p:cNvSpPr/>
          <p:nvPr/>
        </p:nvSpPr>
        <p:spPr>
          <a:xfrm>
            <a:off x="7955279" y="1600200"/>
            <a:ext cx="324612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39"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Main takeaway</a:t>
            </a:r>
          </a:p>
        </p:txBody>
      </p:sp>
      <p:sp>
        <p:nvSpPr>
          <p:cNvPr id="13" name="TextBox 12"/>
          <p:cNvSpPr txBox="1"/>
          <p:nvPr/>
        </p:nvSpPr>
        <p:spPr>
          <a:xfrm>
            <a:off x="8156447" y="2167128"/>
            <a:ext cx="2843784" cy="3776472"/>
          </a:xfrm>
          <a:prstGeom prst="rect">
            <a:avLst/>
          </a:prstGeom>
          <a:noFill/>
        </p:spPr>
        <p:txBody>
          <a:bodyPr wrap="square">
            <a:noAutofit/>
          </a:bodyPr>
          <a:lstStyle/>
          <a:p>
            <a:pPr>
              <a:spcAft>
                <a:spcPts val="600"/>
              </a:spcAft>
              <a:defRPr sz="1800">
                <a:solidFill>
                  <a:srgbClr val="182838"/>
                </a:solidFill>
                <a:latin typeface="Aptos"/>
              </a:defRPr>
            </a:pPr>
            <a:r>
              <a:t>The lecture shows a toolbox, not one trick.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Evidentiary Claims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The goal is to test narratives, not just make them</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What makes the method strong</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It asks whether different sources converge when placed in the same spatial and temporal frame.</a:t>
            </a:r>
          </a:p>
          <a:p>
            <a:pPr>
              <a:spcAft>
                <a:spcPts val="600"/>
              </a:spcAft>
              <a:defRPr sz="1700">
                <a:solidFill>
                  <a:srgbClr val="182838"/>
                </a:solidFill>
                <a:latin typeface="Aptos"/>
              </a:defRPr>
            </a:pPr>
            <a:r>
              <a:t>It makes assumptions visible through models, timelines, and explicit reconstruction choices.</a:t>
            </a:r>
          </a:p>
          <a:p>
            <a:pPr>
              <a:spcAft>
                <a:spcPts val="600"/>
              </a:spcAft>
              <a:defRPr sz="1700">
                <a:solidFill>
                  <a:srgbClr val="182838"/>
                </a:solidFill>
                <a:latin typeface="Aptos"/>
              </a:defRPr>
            </a:pPr>
            <a:r>
              <a:t>It can challenge official statements by showing where they fail spatial or temporal tests.</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But it is not magic</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A model is still an interpretation.</a:t>
            </a:r>
          </a:p>
          <a:p>
            <a:pPr>
              <a:spcAft>
                <a:spcPts val="600"/>
              </a:spcAft>
              <a:defRPr sz="1700">
                <a:solidFill>
                  <a:srgbClr val="182838"/>
                </a:solidFill>
                <a:latin typeface="Aptos"/>
              </a:defRPr>
            </a:pPr>
            <a:r>
              <a:t>The quality of the claim depends on source quality, transparency, and careful explanation.</a:t>
            </a:r>
          </a:p>
          <a:p>
            <a:pPr>
              <a:spcAft>
                <a:spcPts val="600"/>
              </a:spcAft>
              <a:defRPr sz="1700">
                <a:solidFill>
                  <a:srgbClr val="182838"/>
                </a:solidFill>
                <a:latin typeface="Aptos"/>
              </a:defRPr>
            </a:pPr>
            <a:r>
              <a:t>Public trust requires showing method, not just showing polished visuals.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Limits and Ethics</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Strong method still leaves hard questions</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Technical limits</a:t>
            </a:r>
          </a:p>
        </p:txBody>
      </p:sp>
      <p:sp>
        <p:nvSpPr>
          <p:cNvPr id="7" name="TextBox 6"/>
          <p:cNvSpPr txBox="1"/>
          <p:nvPr/>
        </p:nvSpPr>
        <p:spPr>
          <a:xfrm>
            <a:off x="102412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missing footage</a:t>
            </a:r>
          </a:p>
          <a:p>
            <a:pPr>
              <a:spcAft>
                <a:spcPts val="600"/>
              </a:spcAft>
              <a:defRPr sz="1800">
                <a:solidFill>
                  <a:srgbClr val="182838"/>
                </a:solidFill>
                <a:latin typeface="Aptos"/>
              </a:defRPr>
            </a:pPr>
            <a:r>
              <a:t>low-quality images</a:t>
            </a:r>
          </a:p>
          <a:p>
            <a:pPr>
              <a:spcAft>
                <a:spcPts val="600"/>
              </a:spcAft>
              <a:defRPr sz="1800">
                <a:solidFill>
                  <a:srgbClr val="182838"/>
                </a:solidFill>
                <a:latin typeface="Aptos"/>
              </a:defRPr>
            </a:pPr>
            <a:r>
              <a:t>uncertain timestamps</a:t>
            </a:r>
          </a:p>
          <a:p>
            <a:pPr>
              <a:spcAft>
                <a:spcPts val="600"/>
              </a:spcAft>
              <a:defRPr sz="1800">
                <a:solidFill>
                  <a:srgbClr val="182838"/>
                </a:solidFill>
                <a:latin typeface="Aptos"/>
              </a:defRPr>
            </a:pPr>
            <a:r>
              <a:t>incomplete terrain data</a:t>
            </a:r>
          </a:p>
        </p:txBody>
      </p:sp>
      <p:sp>
        <p:nvSpPr>
          <p:cNvPr id="8" name="Rounded Rectangle 7"/>
          <p:cNvSpPr/>
          <p:nvPr/>
        </p:nvSpPr>
        <p:spPr>
          <a:xfrm>
            <a:off x="4434840" y="1600200"/>
            <a:ext cx="342900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57200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Ethical limits</a:t>
            </a:r>
          </a:p>
        </p:txBody>
      </p:sp>
      <p:sp>
        <p:nvSpPr>
          <p:cNvPr id="10" name="TextBox 9"/>
          <p:cNvSpPr txBox="1"/>
          <p:nvPr/>
        </p:nvSpPr>
        <p:spPr>
          <a:xfrm>
            <a:off x="4636008" y="2167128"/>
            <a:ext cx="3026664" cy="3776472"/>
          </a:xfrm>
          <a:prstGeom prst="rect">
            <a:avLst/>
          </a:prstGeom>
          <a:noFill/>
        </p:spPr>
        <p:txBody>
          <a:bodyPr wrap="square">
            <a:noAutofit/>
          </a:bodyPr>
          <a:lstStyle/>
          <a:p>
            <a:pPr>
              <a:spcAft>
                <a:spcPts val="600"/>
              </a:spcAft>
              <a:defRPr sz="1800">
                <a:solidFill>
                  <a:srgbClr val="182838"/>
                </a:solidFill>
                <a:latin typeface="Aptos"/>
              </a:defRPr>
            </a:pPr>
            <a:r>
              <a:t>trauma and witness care</a:t>
            </a:r>
          </a:p>
          <a:p>
            <a:pPr>
              <a:spcAft>
                <a:spcPts val="600"/>
              </a:spcAft>
              <a:defRPr sz="1800">
                <a:solidFill>
                  <a:srgbClr val="182838"/>
                </a:solidFill>
                <a:latin typeface="Aptos"/>
              </a:defRPr>
            </a:pPr>
            <a:r>
              <a:t>representation of violence</a:t>
            </a:r>
          </a:p>
          <a:p>
            <a:pPr>
              <a:spcAft>
                <a:spcPts val="600"/>
              </a:spcAft>
              <a:defRPr sz="1800">
                <a:solidFill>
                  <a:srgbClr val="182838"/>
                </a:solidFill>
                <a:latin typeface="Aptos"/>
              </a:defRPr>
            </a:pPr>
            <a:r>
              <a:t>false precision</a:t>
            </a:r>
          </a:p>
          <a:p>
            <a:pPr>
              <a:spcAft>
                <a:spcPts val="600"/>
              </a:spcAft>
              <a:defRPr sz="1800">
                <a:solidFill>
                  <a:srgbClr val="182838"/>
                </a:solidFill>
                <a:latin typeface="Aptos"/>
              </a:defRPr>
            </a:pPr>
            <a:r>
              <a:t>public interpretation of models</a:t>
            </a:r>
          </a:p>
        </p:txBody>
      </p:sp>
      <p:sp>
        <p:nvSpPr>
          <p:cNvPr id="11" name="Rounded Rectangle 10"/>
          <p:cNvSpPr/>
          <p:nvPr/>
        </p:nvSpPr>
        <p:spPr>
          <a:xfrm>
            <a:off x="8046720" y="1600200"/>
            <a:ext cx="310896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18388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Responsible practice</a:t>
            </a:r>
          </a:p>
        </p:txBody>
      </p:sp>
      <p:sp>
        <p:nvSpPr>
          <p:cNvPr id="13" name="TextBox 12"/>
          <p:cNvSpPr txBox="1"/>
          <p:nvPr/>
        </p:nvSpPr>
        <p:spPr>
          <a:xfrm>
            <a:off x="8247888" y="2167128"/>
            <a:ext cx="2706624" cy="3776472"/>
          </a:xfrm>
          <a:prstGeom prst="rect">
            <a:avLst/>
          </a:prstGeom>
          <a:noFill/>
        </p:spPr>
        <p:txBody>
          <a:bodyPr wrap="square">
            <a:noAutofit/>
          </a:bodyPr>
          <a:lstStyle/>
          <a:p>
            <a:pPr>
              <a:spcAft>
                <a:spcPts val="600"/>
              </a:spcAft>
              <a:defRPr sz="1700">
                <a:solidFill>
                  <a:srgbClr val="182838"/>
                </a:solidFill>
                <a:latin typeface="Aptos"/>
              </a:defRPr>
            </a:pPr>
            <a:r>
              <a:t>Technical skill has to be paired with humility, transparency, and care for affected people.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Discussion</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Questions worth debating before you write</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Method questions</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What is gained by building a model instead of only collecting screenshots?</a:t>
            </a:r>
          </a:p>
          <a:p>
            <a:pPr>
              <a:spcAft>
                <a:spcPts val="600"/>
              </a:spcAft>
              <a:defRPr sz="1700">
                <a:solidFill>
                  <a:srgbClr val="182838"/>
                </a:solidFill>
                <a:latin typeface="Aptos"/>
              </a:defRPr>
            </a:pPr>
            <a:r>
              <a:t>Which part of the workflow seems most persuasive to you, and why?</a:t>
            </a:r>
          </a:p>
          <a:p>
            <a:pPr>
              <a:spcAft>
                <a:spcPts val="600"/>
              </a:spcAft>
              <a:defRPr sz="1700">
                <a:solidFill>
                  <a:srgbClr val="182838"/>
                </a:solidFill>
                <a:latin typeface="Aptos"/>
              </a:defRPr>
            </a:pPr>
            <a:r>
              <a:t>What makes a reconstruction feel trustworthy?</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F6EEE1"/>
          </a:solidFill>
          <a:ln>
            <a:solidFill>
              <a:srgbClr val="F6EEE1"/>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Ethics questions</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700">
                <a:solidFill>
                  <a:srgbClr val="182838"/>
                </a:solidFill>
                <a:latin typeface="Aptos"/>
              </a:defRPr>
            </a:pPr>
            <a:r>
              <a:t>When does reconstruction clarify harm, and when can it risk flattening human experience?</a:t>
            </a:r>
          </a:p>
          <a:p>
            <a:pPr>
              <a:spcAft>
                <a:spcPts val="600"/>
              </a:spcAft>
              <a:defRPr sz="1700">
                <a:solidFill>
                  <a:srgbClr val="182838"/>
                </a:solidFill>
                <a:latin typeface="Aptos"/>
              </a:defRPr>
            </a:pPr>
            <a:r>
              <a:t>What responsibilities come with turning suffering into visual evidence?</a:t>
            </a:r>
          </a:p>
          <a:p>
            <a:pPr>
              <a:spcAft>
                <a:spcPts val="600"/>
              </a:spcAft>
              <a:defRPr sz="1700">
                <a:solidFill>
                  <a:srgbClr val="182838"/>
                </a:solidFill>
                <a:latin typeface="Aptos"/>
              </a:defRPr>
            </a:pPr>
            <a:r>
              <a:t>How is this use of technology different from predictive or surveillance uses of technology?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A"/>
        </a:solidFill>
        <a:effectLst/>
      </p:bgPr>
    </p:bg>
    <p:spTree>
      <p:nvGrpSpPr>
        <p:cNvPr id="1" name=""/>
        <p:cNvGrpSpPr/>
        <p:nvPr/>
      </p:nvGrpSpPr>
      <p:grpSpPr/>
      <p:sp>
        <p:nvSpPr>
          <p:cNvPr id="2" name="Rounded Rectangle 1"/>
          <p:cNvSpPr/>
          <p:nvPr/>
        </p:nvSpPr>
        <p:spPr>
          <a:xfrm>
            <a:off x="502920" y="201168"/>
            <a:ext cx="201168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86E7A"/>
                </a:solidFill>
                <a:latin typeface="Aptos"/>
              </a:defRPr>
            </a:pPr>
            <a:r>
              <a:t>Writing</a:t>
            </a:r>
          </a:p>
        </p:txBody>
      </p:sp>
      <p:sp>
        <p:nvSpPr>
          <p:cNvPr id="3" name="TextBox 2"/>
          <p:cNvSpPr txBox="1"/>
          <p:nvPr/>
        </p:nvSpPr>
        <p:spPr>
          <a:xfrm>
            <a:off x="548640" y="493776"/>
            <a:ext cx="10972800" cy="841248"/>
          </a:xfrm>
          <a:prstGeom prst="rect">
            <a:avLst/>
          </a:prstGeom>
          <a:noFill/>
        </p:spPr>
        <p:txBody>
          <a:bodyPr wrap="square">
            <a:spAutoFit/>
          </a:bodyPr>
          <a:lstStyle/>
          <a:p>
            <a:pPr>
              <a:defRPr sz="2200" b="1">
                <a:solidFill>
                  <a:srgbClr val="182838"/>
                </a:solidFill>
                <a:latin typeface="Aptos Display"/>
              </a:defRPr>
            </a:pPr>
            <a:r>
              <a:t>Use the Day 2 response to explain and evaluate the method</a:t>
            </a:r>
          </a:p>
        </p:txBody>
      </p:sp>
      <p:cxnSp>
        <p:nvCxnSpPr>
          <p:cNvPr id="4" name="Connector 3"/>
          <p:cNvCxnSpPr/>
          <p:nvPr/>
        </p:nvCxnSpPr>
        <p:spPr>
          <a:xfrm>
            <a:off x="548640" y="1078992"/>
            <a:ext cx="11064240" cy="0"/>
          </a:xfrm>
          <a:prstGeom prst="line">
            <a:avLst/>
          </a:prstGeom>
          <a:ln w="12700">
            <a:solidFill>
              <a:srgbClr val="9DABB5"/>
            </a:solidFill>
          </a:ln>
        </p:spPr>
        <p:style>
          <a:lnRef idx="2">
            <a:schemeClr val="accent1"/>
          </a:lnRef>
          <a:fillRef idx="0">
            <a:schemeClr val="accent1"/>
          </a:fillRef>
          <a:effectRef idx="1">
            <a:schemeClr val="accent1"/>
          </a:effectRef>
          <a:fontRef idx="minor">
            <a:schemeClr val="tx1"/>
          </a:fontRef>
        </p:style>
      </p:cxnSp>
      <p:sp>
        <p:nvSpPr>
          <p:cNvPr id="5" name="Rounded Rectangle 4"/>
          <p:cNvSpPr/>
          <p:nvPr/>
        </p:nvSpPr>
        <p:spPr>
          <a:xfrm>
            <a:off x="82296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60120" y="1728216"/>
            <a:ext cx="2377440" cy="310896"/>
          </a:xfrm>
          <a:prstGeom prst="roundRect">
            <a:avLst/>
          </a:prstGeom>
          <a:solidFill>
            <a:srgbClr val="E6EFF3"/>
          </a:solidFill>
          <a:ln>
            <a:solidFill>
              <a:srgbClr val="E6EFF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Your response should</a:t>
            </a:r>
          </a:p>
        </p:txBody>
      </p:sp>
      <p:sp>
        <p:nvSpPr>
          <p:cNvPr id="7" name="TextBox 6"/>
          <p:cNvSpPr txBox="1"/>
          <p:nvPr/>
        </p:nvSpPr>
        <p:spPr>
          <a:xfrm>
            <a:off x="1024128" y="2167128"/>
            <a:ext cx="4581144" cy="3776472"/>
          </a:xfrm>
          <a:prstGeom prst="rect">
            <a:avLst/>
          </a:prstGeom>
          <a:noFill/>
        </p:spPr>
        <p:txBody>
          <a:bodyPr wrap="square">
            <a:noAutofit/>
          </a:bodyPr>
          <a:lstStyle/>
          <a:p>
            <a:pPr>
              <a:spcAft>
                <a:spcPts val="600"/>
              </a:spcAft>
              <a:defRPr sz="1800">
                <a:solidFill>
                  <a:srgbClr val="182838"/>
                </a:solidFill>
                <a:latin typeface="Aptos"/>
              </a:defRPr>
            </a:pPr>
            <a:r>
              <a:t>Explain the central method.</a:t>
            </a:r>
          </a:p>
          <a:p>
            <a:pPr>
              <a:spcAft>
                <a:spcPts val="600"/>
              </a:spcAft>
              <a:defRPr sz="1800">
                <a:solidFill>
                  <a:srgbClr val="182838"/>
                </a:solidFill>
                <a:latin typeface="Aptos"/>
              </a:defRPr>
            </a:pPr>
            <a:r>
              <a:t>Describe at least two techniques.</a:t>
            </a:r>
          </a:p>
          <a:p>
            <a:pPr>
              <a:spcAft>
                <a:spcPts val="600"/>
              </a:spcAft>
              <a:defRPr sz="1800">
                <a:solidFill>
                  <a:srgbClr val="182838"/>
                </a:solidFill>
                <a:latin typeface="Aptos"/>
              </a:defRPr>
            </a:pPr>
            <a:r>
              <a:t>Identify one strength and one limitation.</a:t>
            </a:r>
          </a:p>
          <a:p>
            <a:pPr>
              <a:spcAft>
                <a:spcPts val="600"/>
              </a:spcAft>
              <a:defRPr sz="1800">
                <a:solidFill>
                  <a:srgbClr val="182838"/>
                </a:solidFill>
                <a:latin typeface="Aptos"/>
              </a:defRPr>
            </a:pPr>
            <a:r>
              <a:t>End with a STEM responsibility point.</a:t>
            </a:r>
          </a:p>
        </p:txBody>
      </p:sp>
      <p:sp>
        <p:nvSpPr>
          <p:cNvPr id="8" name="Rounded Rectangle 7"/>
          <p:cNvSpPr/>
          <p:nvPr/>
        </p:nvSpPr>
        <p:spPr>
          <a:xfrm>
            <a:off x="6172200" y="1600200"/>
            <a:ext cx="4983480" cy="4526280"/>
          </a:xfrm>
          <a:prstGeom prst="roundRect">
            <a:avLst/>
          </a:prstGeom>
          <a:solidFill>
            <a:srgbClr val="FFFFFF"/>
          </a:solidFill>
          <a:ln>
            <a:solidFill>
              <a:srgbClr val="9DA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728216"/>
            <a:ext cx="2377440" cy="310896"/>
          </a:xfrm>
          <a:prstGeom prst="roundRect">
            <a:avLst/>
          </a:prstGeom>
          <a:solidFill>
            <a:srgbClr val="E8F4ED"/>
          </a:solidFill>
          <a:ln>
            <a:solidFill>
              <a:srgbClr val="E8F4E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50" b="1">
                <a:solidFill>
                  <a:srgbClr val="182838"/>
                </a:solidFill>
                <a:latin typeface="Aptos"/>
              </a:defRPr>
            </a:pPr>
            <a:r>
              <a:t>What stronger responses do</a:t>
            </a:r>
          </a:p>
        </p:txBody>
      </p:sp>
      <p:sp>
        <p:nvSpPr>
          <p:cNvPr id="10" name="TextBox 9"/>
          <p:cNvSpPr txBox="1"/>
          <p:nvPr/>
        </p:nvSpPr>
        <p:spPr>
          <a:xfrm>
            <a:off x="6373368" y="2167128"/>
            <a:ext cx="4581144" cy="3776472"/>
          </a:xfrm>
          <a:prstGeom prst="rect">
            <a:avLst/>
          </a:prstGeom>
          <a:noFill/>
        </p:spPr>
        <p:txBody>
          <a:bodyPr wrap="square">
            <a:noAutofit/>
          </a:bodyPr>
          <a:lstStyle/>
          <a:p>
            <a:pPr>
              <a:spcAft>
                <a:spcPts val="600"/>
              </a:spcAft>
              <a:defRPr sz="1800">
                <a:solidFill>
                  <a:srgbClr val="182838"/>
                </a:solidFill>
                <a:latin typeface="Aptos"/>
              </a:defRPr>
            </a:pPr>
            <a:r>
              <a:t>They focus on method, not only topic.</a:t>
            </a:r>
          </a:p>
          <a:p>
            <a:pPr>
              <a:spcAft>
                <a:spcPts val="600"/>
              </a:spcAft>
              <a:defRPr sz="1800">
                <a:solidFill>
                  <a:srgbClr val="182838"/>
                </a:solidFill>
                <a:latin typeface="Aptos"/>
              </a:defRPr>
            </a:pPr>
            <a:r>
              <a:t>They explain how evidence gets aligned and tested.</a:t>
            </a:r>
          </a:p>
          <a:p>
            <a:pPr>
              <a:spcAft>
                <a:spcPts val="600"/>
              </a:spcAft>
              <a:defRPr sz="1800">
                <a:solidFill>
                  <a:srgbClr val="182838"/>
                </a:solidFill>
                <a:latin typeface="Aptos"/>
              </a:defRPr>
            </a:pPr>
            <a:r>
              <a:t>They connect technical workflow to ethical responsibility.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