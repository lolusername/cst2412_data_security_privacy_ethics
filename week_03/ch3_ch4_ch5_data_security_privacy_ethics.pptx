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7"/>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22" r:id="rId6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65949"/>
  </p:normalViewPr>
  <p:slideViewPr>
    <p:cSldViewPr snapToGrid="0" snapToObjects="1">
      <p:cViewPr varScale="1">
        <p:scale>
          <a:sx n="103" d="100"/>
          <a:sy n="103" d="100"/>
        </p:scale>
        <p:origin x="195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62400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are grounding the class in a single method we will reuse for the entire module: identify the trust boundary, name the assumption behind it, and then decide which control must verify that assumption. This slide, CST 2412 Module: Programs, Web, and Operating System Security, sets that frame. If students remember only one thing from the opening, I want them to remember that most security failures are really trust failures. Once that idea is clear, all the chapter details become easier to understand and easier to apply.</a:t>
            </a:r>
          </a:p>
          <a:p>
            <a:endParaRPr/>
          </a:p>
          <a:p>
            <a:r>
              <a:t>Textbook focus: Chapter 3, Chapter 4, Chapter 5. I explain why this scope matters. Chapter 3 gives us defect-to-exploit reasoning in software, Chapter 4 shows how user-facing web flows amplify that risk, and Chapter 5 adds platform-level containment principles. By sequencing the chapters this way, students can see a complete chain from coding decisions to browser exposure to operating-system enforcement.</a:t>
            </a:r>
          </a:p>
          <a:p>
            <a:endParaRPr/>
          </a:p>
          <a:p>
            <a:r>
              <a:t>Theme: Data security, privacy, and ethics in real systems. I clarify that this course is not just technical troubleshooting. Data security, privacy, and ethics are intertwined because engineering choices directly affect who can be harmed, how quickly harm spreads, and whether people can recover. Students should hear that good security practice includes both preventive controls and responsible governance behavior.</a:t>
            </a:r>
          </a:p>
          <a:p>
            <a:endParaRPr/>
          </a:p>
          <a:p>
            <a:r>
              <a:t>Includes: quick lab, applied scenario analysis, and career pathway mapping. I frame these elements as a deliberate learning sequence. Concepts come first, then applied analysis, then practical output that can be assessed. This structure helps students retain material because they move from theory to evidence-based reasoning instead of stopping at definitions.</a:t>
            </a:r>
          </a:p>
          <a:p>
            <a:endParaRPr/>
          </a:p>
          <a:p>
            <a:r>
              <a:t>At a theory level, this opening material establishes a repeatable analysis model. Security decisions improve when students consistently separate assets, threats, vulnerabilities, controls, and outcomes. I explicitly connect this to the CIA triad and risk management language from earlier weeks: a control is valuable only if it reduces either likelihood, impact, or detection time for a defined threat path. That disciplined structure is what prevents vague answers and supports stronger technical communication throughout the lesson.</a:t>
            </a:r>
          </a:p>
          <a:p>
            <a:endParaRPr/>
          </a:p>
          <a:p>
            <a:r>
              <a:t>A common misunderstanding at this stage is treating security as a fixed checklist. I address that directly: security is continuous risk management in adversarial conditions. Controls must be selected, maintained, tested, and revisited as systems and threats evolve.</a:t>
            </a:r>
          </a:p>
          <a:p>
            <a:endParaRPr/>
          </a:p>
          <a:p>
            <a:r>
              <a:t>To close this slide, I restate the pattern: trust assumptions must be verified at boundaries, and controls must have clear ownership. That pattern is what we will apply in every technical section that follows.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How This Builds on Weeks 1 and 2, I am intentionally slowing down and making the structure explicit. We are not collecting random facts; we are building an analysis workflow. First we define the asset and boundary, then we analyze how a flaw can violate confidentiality, integrity, or availability, and finally we map controls to owners. Framing it this way helps students connect Week 3 to Week 1 and Week 2 instead of treating each week as a disconnected topic.</a:t>
            </a:r>
          </a:p>
          <a:p>
            <a:endParaRPr/>
          </a:p>
          <a:p>
            <a:r>
              <a:t>Week 1: CIA triad, threats, vulnerabilities, legal/ethical framing. I remind students that CIA is not three vocabulary words; it is a diagnostic lens. Whenever we discuss an attack path, we should explicitly state which part of confidentiality, integrity, or availability is being violated and why that violation matters to users and operations.</a:t>
            </a:r>
          </a:p>
          <a:p>
            <a:endParaRPr/>
          </a:p>
          <a:p>
            <a:r>
              <a:t>Week 2: risk management, security toolbox, secure programming bridge. I connect this to control placement and risk prioritization. Week 2 introduced control categories; now we evaluate whether those controls are actually placed at the right trust boundaries and owned by the right teams.</a:t>
            </a:r>
          </a:p>
          <a:p>
            <a:endParaRPr/>
          </a:p>
          <a:p>
            <a:r>
              <a:t>This module: apply CIA + risk + controls to software, web, and OS layers. I emphasize that this is where abstraction becomes execution. Students should practice mapping one concrete flaw to one exploit path, then one feasible mitigation, and finally one accountable owner. That chain is what makes an analysis operationally useful.</a:t>
            </a:r>
          </a:p>
          <a:p>
            <a:endParaRPr/>
          </a:p>
          <a:p>
            <a:r>
              <a:t>At a theory level, this opening material establishes a repeatable analysis model. Security decisions improve when students consistently separate assets, threats, vulnerabilities, controls, and outcomes. I explicitly connect this to the CIA triad and risk management language from earlier weeks: a control is valuable only if it reduces either likelihood, impact, or detection time for a defined threat path. That disciplined structure is what prevents vague answers and supports stronger technical communication throughout the lesson.</a:t>
            </a:r>
          </a:p>
          <a:p>
            <a:endParaRPr/>
          </a:p>
          <a:p>
            <a:r>
              <a:t>I also clarify that confidence in a system should come from evidence, not optimism. Good teams document assumptions, monitor control performance, and update designs when reality contradicts earlier expectations.</a:t>
            </a:r>
          </a:p>
          <a:p>
            <a:endParaRPr/>
          </a:p>
          <a:p>
            <a:r>
              <a:t>I end this part by reminding the class that our goal is diagnostic clarity. If they can explain cause, impact, and control placement, they are already thinking like security professionals.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Agenda, is where I set expectations for how we will think in this class period. My tone here is practical: security work is diagnosis under uncertainty, not memorization. I want students to hear that professionals ask disciplined questions: what is trusted, what should be verified, where can state change unexpectedly, and which control reduces both likelihood and impact. That structure becomes the backbone of the rest of the lecture.</a:t>
            </a:r>
          </a:p>
          <a:p>
            <a:endParaRPr/>
          </a:p>
          <a:p>
            <a:r>
              <a:t>Part 1: Chapter 3 - Programs and programming security. I narrate how each part builds on the previous one. The class starts with software flaws, moves to user-facing attack mechanics, then platform enforcement, then applied synthesis, and finally professional output. This progression mirrors how real incidents unfold across layers.</a:t>
            </a:r>
          </a:p>
          <a:p>
            <a:endParaRPr/>
          </a:p>
          <a:p>
            <a:r>
              <a:t>Part 2: Chapter 4 - Web and email attacks on users. I narrate how each part builds on the previous one. The class starts with software flaws, moves to user-facing attack mechanics, then platform enforcement, then applied synthesis, and finally professional output. This progression mirrors how real incidents unfold across layers.</a:t>
            </a:r>
          </a:p>
          <a:p>
            <a:endParaRPr/>
          </a:p>
          <a:p>
            <a:r>
              <a:t>Part 3: Chapter 5 - Operating system security and rootkits. I narrate how each part builds on the previous one. The class starts with software flaws, moves to user-facing attack mechanics, then platform enforcement, then applied synthesis, and finally professional output. This progression mirrors how real incidents unfold across layers.</a:t>
            </a:r>
          </a:p>
          <a:p>
            <a:endParaRPr/>
          </a:p>
          <a:p>
            <a:r>
              <a:t>Part 4: Applied scenario walkthrough. I narrate how each part builds on the previous one. The class starts with software flaws, moves to user-facing attack mechanics, then platform enforcement, then applied synthesis, and finally professional output. This progression mirrors how real incidents unfold across layers.</a:t>
            </a:r>
          </a:p>
          <a:p>
            <a:endParaRPr/>
          </a:p>
          <a:p>
            <a:r>
              <a:t>Part 5: Quick lab and career-connected wrap-up. I narrate how each part builds on the previous one. The class starts with software flaws, moves to user-facing attack mechanics, then platform enforcement, then applied synthesis, and finally professional output. This progression mirrors how real incidents unfold across layers.</a:t>
            </a:r>
          </a:p>
          <a:p>
            <a:endParaRPr/>
          </a:p>
          <a:p>
            <a:r>
              <a:t>At a theory level, this opening material establishes a repeatable analysis model. Security decisions improve when students consistently separate assets, threats, vulnerabilities, controls, and outcomes. I explicitly connect this to the CIA triad and risk management language from earlier weeks: a control is valuable only if it reduces either likelihood, impact, or detection time for a defined threat path. That disciplined structure is what prevents vague answers and supports stronger technical communication throughout the lesson.</a:t>
            </a:r>
          </a:p>
          <a:p>
            <a:endParaRPr/>
          </a:p>
          <a:p>
            <a:r>
              <a:t>At the start of a module, clarity of language is critical. When students use terms precisely, they can diagnose faster and produce mitigation plans that others can execute.</a:t>
            </a:r>
          </a:p>
          <a:p>
            <a:endParaRPr/>
          </a:p>
          <a:p>
            <a:r>
              <a:t>As we transition, I want students to carry one question forward: where can this system be tricked into trusting something it should verify? That question keeps the next sections grounded.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Today we are grounding the class in a single method we will reuse for the entire module: identify the trust boundary, name the assumption behind it, and then decide which control must verify that assumption. This slide, Learning Objectives, sets that frame. If students remember only one thing from the opening, I want them to remember that most security failures are really trust failures. Once that idea is clear, all the chapter details become easier to understand and easier to apply.</a:t>
            </a:r>
          </a:p>
          <a:p>
            <a:endParaRPr/>
          </a:p>
          <a:p>
            <a:r>
              <a:t>Differentiate programming flaws from malicious code and explain CIA impacts. I unpack this objective as classification plus consequence. Students should be able to separate accidental flaws from intentional malicious behavior while still mapping both to CIA impact and control design. That distinction improves triage and response prioritization.</a:t>
            </a:r>
          </a:p>
          <a:p>
            <a:endParaRPr/>
          </a:p>
          <a:p>
            <a:r>
              <a:t>Analyze browser, web, and email attack paths and propose mitigations. I stress that web and email attacks thrive at trust interfaces. The technical requirement is layered defense: secure input handling, strong identity validation, and operational response workflows when suspicious behavior appears.</a:t>
            </a:r>
          </a:p>
          <a:p>
            <a:endParaRPr/>
          </a:p>
          <a:p>
            <a:r>
              <a:t>Explain operating system security architecture, reference monitor, and rootkits. I explain that OS security is about enforceable mediation. Students should connect architecture decisions, like isolation boundaries and policy enforcement points, to whether attacks can be contained or can escalate to persistent compromise.</a:t>
            </a:r>
          </a:p>
          <a:p>
            <a:endParaRPr/>
          </a:p>
          <a:p>
            <a:r>
              <a:t>Apply risk, ethics, and governance analysis to a real breach. I define governance as decision quality under pressure: who acts, how quickly, with what evidence, and with what communication obligations to affected users. Ethical practice is not separate from security practice; it is part of security quality.</a:t>
            </a:r>
          </a:p>
          <a:p>
            <a:endParaRPr/>
          </a:p>
          <a:p>
            <a:r>
              <a:t>Connect course topics to entry-level cybersecurity roles and credentials. I translate this into employable behavior. Hiring managers look for candidates who can reason clearly, justify controls, and communicate uncertainty honestly. Those habits are exactly what this week’s artifacts are designed to demonstrate.</a:t>
            </a:r>
          </a:p>
          <a:p>
            <a:endParaRPr/>
          </a:p>
          <a:p>
            <a:r>
              <a:t>At a theory level, this opening material establishes a repeatable analysis model. Security decisions improve when students consistently separate assets, threats, vulnerabilities, controls, and outcomes. I explicitly connect this to the CIA triad and risk management language from earlier weeks: a control is valuable only if it reduces either likelihood, impact, or detection time for a defined threat path. That disciplined structure is what prevents vague answers and supports stronger technical communication throughout the lesson.</a:t>
            </a:r>
          </a:p>
          <a:p>
            <a:endParaRPr/>
          </a:p>
          <a:p>
            <a:r>
              <a:t>A common misunderstanding at this stage is treating security as a fixed checklist. I address that directly: security is continuous risk management in adversarial conditions. Controls must be selected, maintained, tested, and revisited as systems and threats evolve.</a:t>
            </a:r>
          </a:p>
          <a:p>
            <a:endParaRPr/>
          </a:p>
          <a:p>
            <a:r>
              <a:t>To close this slide, I restate the pattern: trust assumptions must be verified at boundaries, and controls must have clear ownership. That pattern is what we will apply in every technical section that follows.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Essential Questions, I am intentionally slowing down and making the structure explicit. We are not collecting random facts; we are building an analysis workflow. First we define the asset and boundary, then we analyze how a flaw can violate confidentiality, integrity, or availability, and finally we map controls to owners. Framing it this way helps students connect Week 3 to Week 1 and Week 2 instead of treating each week as a disconnected topic.</a:t>
            </a:r>
          </a:p>
          <a:p>
            <a:endParaRPr/>
          </a:p>
          <a:p>
            <a:r>
              <a:t>When does a normal software bug become a security vulnerability? I answer with exploitability criteria: attacker reach, controllable input or timing, meaningful CIA impact, and enough reliability to be used intentionally. This gives students a concrete way to rank severity and avoid vague debate.</a:t>
            </a:r>
          </a:p>
          <a:p>
            <a:endParaRPr/>
          </a:p>
          <a:p>
            <a:r>
              <a:t>Why do user-side web attacks keep succeeding even with better tools? I explain that attackers benefit from complexity and scale. Users cannot inspect every background behavior, and organizations often have uneven control implementation across apps and workflows. Consistent layered controls are the only sustainable answer.</a:t>
            </a:r>
          </a:p>
          <a:p>
            <a:endParaRPr/>
          </a:p>
          <a:p>
            <a:r>
              <a:t>What makes operating system compromise uniquely dangerous? I highlight two reasons: privilege and visibility. With platform-level control, attackers can disable defenses, hide activity, and persist across reboots. That is why OS integrity is strategic, not just technical.</a:t>
            </a:r>
          </a:p>
          <a:p>
            <a:endParaRPr/>
          </a:p>
          <a:p>
            <a:r>
              <a:t>How do technical decisions become ethical decisions in practice? I make this concrete by pointing to logging, retention, access policy, and incident disclosure decisions. Each choice changes who can be harmed and whether harmed users can recover. Ethics is operationalized through system design and response behavior.</a:t>
            </a:r>
          </a:p>
          <a:p>
            <a:endParaRPr/>
          </a:p>
          <a:p>
            <a:r>
              <a:t>At a theory level, this opening material establishes a repeatable analysis model. Security decisions improve when students consistently separate assets, threats, vulnerabilities, controls, and outcomes. I explicitly connect this to the CIA triad and risk management language from earlier weeks: a control is valuable only if it reduces either likelihood, impact, or detection time for a defined threat path. That disciplined structure is what prevents vague answers and supports stronger technical communication throughout the lesson.</a:t>
            </a:r>
          </a:p>
          <a:p>
            <a:endParaRPr/>
          </a:p>
          <a:p>
            <a:r>
              <a:t>I also clarify that confidence in a system should come from evidence, not optimism. Good teams document assumptions, monitor control performance, and update designs when reality contradicts earlier expectations.</a:t>
            </a:r>
          </a:p>
          <a:p>
            <a:endParaRPr/>
          </a:p>
          <a:p>
            <a:r>
              <a:t>I end this part by reminding the class that our goal is diagnostic clarity. If they can explain cause, impact, and control placement, they are already thinking like security professionals.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Chapter 3 territory. On Chapter 3 Overview: Programs and Programming, I want students to see that software quality and security quality are inseparable. A bug becomes a security issue when an attacker can intentionally use it to break confidentiality, integrity, or availability. So the emphasis is not just naming flaws, but understanding exploitability: can an attacker reach it, control it, and turn it into meaningful harm. That is the mindset that separates checklist learning from real security reasoning.</a:t>
            </a:r>
          </a:p>
          <a:p>
            <a:endParaRPr/>
          </a:p>
          <a:p>
            <a:r>
              <a:t>Unintentional flaws: overflow, mediation failures, race conditions. I explain that accidental defects are often the entry point for deliberate abuse. An attacker does not care whether the flaw was intentional; they care whether it is reachable and exploitable. That perspective helps students prioritize by risk impact instead of developer intent.</a:t>
            </a:r>
          </a:p>
          <a:p>
            <a:endParaRPr/>
          </a:p>
          <a:p>
            <a:r>
              <a:t>Malicious code: viruses, worms, Trojan horses. I frame malware by behavior: entry, execution, persistence, spread, and objective. Focusing on mechanism helps students reason through unfamiliar variants without needing to memorize every label.</a:t>
            </a:r>
          </a:p>
          <a:p>
            <a:endParaRPr/>
          </a:p>
          <a:p>
            <a:r>
              <a:t>Countermeasures for users and developers. I emphasize that user controls reduce exposure but do not eliminate risk. Patch hygiene, cautious software sourcing, recoverable backups, and reporting discipline are practical behaviors that lower attack success and speed up recovery.</a:t>
            </a:r>
          </a:p>
          <a:p>
            <a:endParaRPr/>
          </a:p>
          <a:p>
            <a:r>
              <a:t>Bottom line: software quality is a security issue. I restate this strongly: insecure software is not only a quality issue, it is a risk multiplier across the organization. Better software engineering directly reduces security incident frequency and severity.</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I add a practical engineering point here: secure coding quality depends on both technical patterns and team process. Even strong developers need peer review, dependency governance, and tests aimed at abuse cases, because adversarial behavior reveals weaknesses that normal tests often miss.</a:t>
            </a:r>
          </a:p>
          <a:p>
            <a:endParaRPr/>
          </a:p>
          <a:p>
            <a:r>
              <a:t>I close this slide by linking flaw analysis to action: identify the defect class, define exploitability, and choose mitigations that are testable before release. That turns theory into engineering practice.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Error, Fault, Failure: Why Terminology Matters, advances the core Chapter 3 message: insecure software behavior usually starts with normal engineering assumptions that were never fully validated. I explain that we should track the chain from developer error, to code fault, to production failure, and then to attacker opportunity. That cause-and-effect model keeps students from treating vulnerabilities as magic and helps them propose fixes that target root causes.</a:t>
            </a:r>
          </a:p>
          <a:p>
            <a:endParaRPr/>
          </a:p>
          <a:p>
            <a:r>
              <a:t>Error: human mistake during development. I use this to separate human decision mistakes from code artifacts and runtime outcomes. Precise language helps teams fix root causes instead of patching symptoms.</a:t>
            </a:r>
          </a:p>
          <a:p>
            <a:endParaRPr/>
          </a:p>
          <a:p>
            <a:r>
              <a:t>Fault: defect in code/design/documentation. I clarify that the fault is where the mistake becomes encoded in design, code, or configuration. This is the point where review and testing should catch issues before production.</a:t>
            </a:r>
          </a:p>
          <a:p>
            <a:endParaRPr/>
          </a:p>
          <a:p>
            <a:r>
              <a:t>Failure: observed deviation from intended behavior. I explain that failure is what users and operations observe. Security teams need to map failures back to their underlying faults and errors to prevent recurrence.</a:t>
            </a:r>
          </a:p>
          <a:p>
            <a:endParaRPr/>
          </a:p>
          <a:p>
            <a:r>
              <a:t>Security teams often use the umbrella term "flaw". I note that this shorthand is useful in early triage, but detailed analysis still requires precise classification because mitigation ownership differs by flaw type.</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The transition point here is simple: secure coding is not one trick; it is a discipline of consistent validation, mediation, and privilege control across all code paths.</a:t>
            </a:r>
          </a:p>
          <a:p>
            <a:endParaRPr/>
          </a:p>
          <a:p>
            <a:r>
              <a:t>I add a practical engineering point here: secure coding quality depends on both technical patterns and team process. Even strong developers need peer review, dependency governance, and tests aimed at abuse cases, because adversarial behavior reveals weaknesses that normal tests often miss.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Programming Flaw Spotlight: Buffer Overflow, I frame programming security as an engineering discipline. We are balancing correctness, completeness, and maintainability while assuming an intelligent adversary will test every boundary condition. The practical lesson is that secure coding is not a final patch phase; it is a design and implementation habit. Students need to internalize that every shortcut in validation, mediation, or privilege design can later become an exploit path.</a:t>
            </a:r>
          </a:p>
          <a:p>
            <a:endParaRPr/>
          </a:p>
          <a:p>
            <a:r>
              <a:t>Data exceeds allocated memory boundaries. I explain why this creates unpredictable behavior: adjacent memory may hold control data, object metadata, or sensitive values. Once overwritten, program behavior can become attacker-influenced.</a:t>
            </a:r>
          </a:p>
          <a:p>
            <a:endParaRPr/>
          </a:p>
          <a:p>
            <a:r>
              <a:t>Can cause crash, corruption, or control-flow hijack. I point out that availability loss is often the easiest outcome to observe, but confidentiality and integrity losses can be more damaging because they may be silent at first.</a:t>
            </a:r>
          </a:p>
          <a:p>
            <a:endParaRPr/>
          </a:p>
          <a:p>
            <a:r>
              <a:t>Historically common in low-level memory-unsafe code. I add that modern stacks still carry this risk through native components, unsafe libraries, and boundary mistakes in parser code. So the lesson is still current, not purely historical.</a:t>
            </a:r>
          </a:p>
          <a:p>
            <a:endParaRPr/>
          </a:p>
          <a:p>
            <a:r>
              <a:t>Defense: bounds checks, safer APIs, memory-safe language choices. I emphasize defense in depth: safer languages where feasible, secure compiler settings, and tests like fuzzing to discover edge cases before attackers do.</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I remind students that exploit chains usually combine multiple small weaknesses. Preventing just one link, through stronger validation or privilege control, can stop the entire chain.</a:t>
            </a:r>
          </a:p>
          <a:p>
            <a:endParaRPr/>
          </a:p>
          <a:p>
            <a:r>
              <a:t>Before moving on, I summarize the professional takeaway: if we cannot explain why a flaw is exploitable and who owns the fix, we are not done analyzing it.</a:t>
            </a:r>
          </a:p>
          <a:p>
            <a:endParaRPr/>
          </a:p>
          <a:p>
            <a:r>
              <a:t>I remind students that exploit chains usually combine multiple small weaknesses. Preventing just one link, through stronger validation or privilege control, can stop the entire chain.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Chapter 3 territory. On Programming Flaw Spotlight: Incomplete Mediation, I want students to see that software quality and security quality are inseparable. A bug becomes a security issue when an attacker can intentionally use it to break confidentiality, integrity, or availability. So the emphasis is not just naming flaws, but understanding exploitability: can an attacker reach it, control it, and turn it into meaningful harm. That is the mindset that separates checklist learning from real security reasoning.</a:t>
            </a:r>
          </a:p>
          <a:p>
            <a:endParaRPr/>
          </a:p>
          <a:p>
            <a:r>
              <a:t>Server trusts sensitive values controlled by client input. I explain the core fix: derive sensitive values on the server from authoritative data and policy, never from client-owned inputs.</a:t>
            </a:r>
          </a:p>
          <a:p>
            <a:endParaRPr/>
          </a:p>
          <a:p>
            <a:r>
              <a:t>Example pattern: client-supplied price or total in URL parameters. This is a classic teaching example because students instantly see how small trust mistakes create direct financial and integrity harm.</a:t>
            </a:r>
          </a:p>
          <a:p>
            <a:endParaRPr/>
          </a:p>
          <a:p>
            <a:r>
              <a:t>Result: integrity failures, fraud, and undetected long-term loss. I discuss observability. Many integrity attacks are quiet, so teams need anomaly detection and reconciliation processes, not just perimeter blocking.</a:t>
            </a:r>
          </a:p>
          <a:p>
            <a:endParaRPr/>
          </a:p>
          <a:p>
            <a:r>
              <a:t>Defense: server-side recomputation and full policy checks. I connect this to complete mediation: authorization should be evaluated at each sensitive action using current server-side context.</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I add a practical engineering point here: secure coding quality depends on both technical patterns and team process. Even strong developers need peer review, dependency governance, and tests aimed at abuse cases, because adversarial behavior reveals weaknesses that normal tests often miss.</a:t>
            </a:r>
          </a:p>
          <a:p>
            <a:endParaRPr/>
          </a:p>
          <a:p>
            <a:r>
              <a:t>I close this slide by linking flaw analysis to action: identify the defect class, define exploitability, and choose mitigations that are testable before release. That turns theory into engineering practice.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Programming Flaw Spotlight: TOCTTOU, advances the core Chapter 3 message: insecure software behavior usually starts with normal engineering assumptions that were never fully validated. I explain that we should track the chain from developer error, to code fault, to production failure, and then to attacker opportunity. That cause-and-effect model keeps students from treating vulnerabilities as magic and helps them propose fixes that target root causes.</a:t>
            </a:r>
          </a:p>
          <a:p>
            <a:endParaRPr/>
          </a:p>
          <a:p>
            <a:r>
              <a:t>Time-of-check to time-of-use race condition. I translate the term into practical reasoning: separate check and action steps can be raced unless state is locked or operations are atomic.</a:t>
            </a:r>
          </a:p>
          <a:p>
            <a:endParaRPr/>
          </a:p>
          <a:p>
            <a:r>
              <a:t>State changes after validation but before action. I stress that attackers exploit exactly this gap by modifying files, links, or shared values between validation and execution.</a:t>
            </a:r>
          </a:p>
          <a:p>
            <a:endParaRPr/>
          </a:p>
          <a:p>
            <a:r>
              <a:t>Produces access control failure despite apparent checks. I remind students that visible checks do not guarantee effective checks. Enforcement must be both correct and timely.</a:t>
            </a:r>
          </a:p>
          <a:p>
            <a:endParaRPr/>
          </a:p>
          <a:p>
            <a:r>
              <a:t>Defense: atomic operations, ownership of validated data, locking. I explain implementation options: transactions, locks, immutable handles, and immediate re-validation right before high-impact actions.</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The transition point here is simple: secure coding is not one trick; it is a discipline of consistent validation, mediation, and privilege control across all code paths.</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Other High-Frequency Flaws in Chapter 3, I frame programming security as an engineering discipline. We are balancing correctness, completeness, and maintainability while assuming an intelligent adversary will test every boundary condition. The practical lesson is that secure coding is not a final patch phase; it is a design and implementation habit. Students need to internalize that every shortcut in validation, mediation, or privilege design can later become an exploit path.</a:t>
            </a:r>
          </a:p>
          <a:p>
            <a:endParaRPr/>
          </a:p>
          <a:p>
            <a:r>
              <a:t>Undocumented access points (backdoors or trapdoors). I emphasize governance risk. Hidden access bypasses policy, logging, and review, making both security assurance and ethical accountability weaker.</a:t>
            </a:r>
          </a:p>
          <a:p>
            <a:endParaRPr/>
          </a:p>
          <a:p>
            <a:r>
              <a:t>Off-by-one indexing and boundary errors. I connect this to reliability and security. Small index mistakes can become memory corruption, data leakage, or bypass logic in edge cases.</a:t>
            </a:r>
          </a:p>
          <a:p>
            <a:endParaRPr/>
          </a:p>
          <a:p>
            <a:r>
              <a:t>Integer overflow or wraparound logic failures. I explain that arithmetic assumptions can break safety checks. If limits wrap unexpectedly, capacity and authorization logic can be bypassed.</a:t>
            </a:r>
          </a:p>
          <a:p>
            <a:endParaRPr/>
          </a:p>
          <a:p>
            <a:r>
              <a:t>Unterminated strings and parsing confusion. I use this to reinforce parser hardening and explicit encoding expectations, especially when handling untrusted or mixed-format input.</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I remind students that exploit chains usually combine multiple small weaknesses. Preventing just one link, through stronger validation or privilege control, can stop the entire chain.</a:t>
            </a:r>
          </a:p>
          <a:p>
            <a:endParaRPr/>
          </a:p>
          <a:p>
            <a:r>
              <a:t>Before moving on, I summarize the professional takeaway: if we cannot explain why a flaw is exploitable and who owns the fix, we are not done analyzing it.</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Chapter 3 territory. On Malicious Code in Chapter 3, I want students to see that software quality and security quality are inseparable. A bug becomes a security issue when an attacker can intentionally use it to break confidentiality, integrity, or availability. So the emphasis is not just naming flaws, but understanding exploitability: can an attacker reach it, control it, and turn it into meaningful harm. That is the mindset that separates checklist learning from real security reasoning.</a:t>
            </a:r>
          </a:p>
          <a:p>
            <a:endParaRPr/>
          </a:p>
          <a:p>
            <a:r>
              <a:t>Malware includes viruses, worms, Trojan horses, and variants. I emphasize that category labels are useful only if they inform defensive decisions about detection, containment, and recovery.</a:t>
            </a:r>
          </a:p>
          <a:p>
            <a:endParaRPr/>
          </a:p>
          <a:p>
            <a:r>
              <a:t>Focus on mechanism and impact, not only naming. A reliable analysis method is to walk through five questions every time: how it enters, executes, persists, spreads, and what objective it serves.</a:t>
            </a:r>
          </a:p>
          <a:p>
            <a:endParaRPr/>
          </a:p>
          <a:p>
            <a:r>
              <a:t>Propagation, persistence, concealment, and payload matter most. I explain that these dimensions predict operational impact better than family names and help prioritize controls quickly.</a:t>
            </a:r>
          </a:p>
          <a:p>
            <a:endParaRPr/>
          </a:p>
          <a:p>
            <a:r>
              <a:t>Benign-looking software can still include malicious behavior. I connect this to supply chain trust and installation hygiene: appearance and branding are weak indicators of safety without validation.</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I add a practical engineering point here: secure coding quality depends on both technical patterns and team process. Even strong developers need peer review, dependency governance, and tests aimed at abuse cases, because adversarial behavior reveals weaknesses that normal tests often miss.</a:t>
            </a:r>
          </a:p>
          <a:p>
            <a:endParaRPr/>
          </a:p>
          <a:p>
            <a:r>
              <a:t>I close this slide by linking flaw analysis to action: identify the defect class, define exploitability, and choose mitigations that are testable before release. That turns theory into engineering practice.</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Virus vs Worm vs Trojan Horse, advances the core Chapter 3 message: insecure software behavior usually starts with normal engineering assumptions that were never fully validated. I explain that we should track the chain from developer error, to code fault, to production failure, and then to attacker opportunity. That cause-and-effect model keeps students from treating vulnerabilities as magic and helps them propose fixes that target root causes.</a:t>
            </a:r>
          </a:p>
          <a:p>
            <a:endParaRPr/>
          </a:p>
          <a:p>
            <a:r>
              <a:t>Virus: infects other files/programs and replicates. I clarify that viruses depend on host execution behavior, so user actions and endpoint controls strongly affect spread speed.</a:t>
            </a:r>
          </a:p>
          <a:p>
            <a:endParaRPr/>
          </a:p>
          <a:p>
            <a:r>
              <a:t>Worm: self-propagates across networks. I highlight that worms exploit network reachability and can scale rapidly, which makes segmentation and patch discipline critical.</a:t>
            </a:r>
          </a:p>
          <a:p>
            <a:endParaRPr/>
          </a:p>
          <a:p>
            <a:r>
              <a:t>Trojan horse: hidden malicious function in benign-looking software. I connect this to supply chain trust and installation hygiene: appearance and branding are weak indicators of safety without validation.</a:t>
            </a:r>
          </a:p>
          <a:p>
            <a:endParaRPr/>
          </a:p>
          <a:p>
            <a:r>
              <a:t>Real incidents often combine multiple behaviors. I reinforce hybrid attack chains so students avoid over-simplifying real-world campaigns.</a:t>
            </a:r>
          </a:p>
          <a:p>
            <a:endParaRPr/>
          </a:p>
          <a:p>
            <a:r>
              <a:t>The deeper theory for this topic is exploitability, not taxonomy. I explain that severity depends on reachability, attacker control over inputs or timing, and resulting CIA impact. This is why development teams need both secure coding patterns and secure development lifecycle practices: threat-informed design, rigorous code review, dependency governance, and tests that deliberately target abuse cases. When students understand this, they stop asking only 'what is it called?' and start asking 'why does this fail and how do we prove the fix works?'.</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The transition point here is simple: secure coding is not one trick; it is a discipline of consistent validation, mediation, and privilege control across all code paths.</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Malware Economics: Zero-Day and Toolkits, I frame programming security as an engineering discipline. We are balancing correctness, completeness, and maintainability while assuming an intelligent adversary will test every boundary condition. The practical lesson is that secure coding is not a final patch phase; it is a design and implementation habit. Students need to internalize that every shortcut in validation, mediation, or privilege design can later become an exploit path.</a:t>
            </a:r>
          </a:p>
          <a:p>
            <a:endParaRPr/>
          </a:p>
          <a:p>
            <a:r>
              <a:t>Many attacks use known, unpatched vulnerabilities. I explain that basic hygiene gaps still drive major incidents. Attackers frequently choose reliability over novelty.</a:t>
            </a:r>
          </a:p>
          <a:p>
            <a:endParaRPr/>
          </a:p>
          <a:p>
            <a:r>
              <a:t>Zero-day: exploit before a fix is available or deployed. I clarify that zero-day risk is about timing and exposure before mitigation is available or deployed, which is why layered controls are important.</a:t>
            </a:r>
          </a:p>
          <a:p>
            <a:endParaRPr/>
          </a:p>
          <a:p>
            <a:r>
              <a:t>Toolkits lower attacker skill barriers (script-kiddie effect). I explain that packaged tooling lowers attacker skill barriers, so defenders need resilient processes, not assumptions about attacker sophistication.</a:t>
            </a:r>
          </a:p>
          <a:p>
            <a:endParaRPr/>
          </a:p>
          <a:p>
            <a:r>
              <a:t>Defense challenge: defenders must cover many paths, attacker needs one. I call this asymmetry out explicitly and connect it to defense-in-depth and rapid detection-and-response capability.</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I remind students that exploit chains usually combine multiple small weaknesses. Preventing just one link, through stronger validation or privilege control, can stop the entire chain.</a:t>
            </a:r>
          </a:p>
          <a:p>
            <a:endParaRPr/>
          </a:p>
          <a:p>
            <a:r>
              <a:t>Before moving on, I summarize the professional takeaway: if we cannot explain why a flaw is exploitable and who owns the fix, we are not done analyzing it.</a:t>
            </a:r>
          </a:p>
          <a:p>
            <a:endParaRPr/>
          </a:p>
          <a:p>
            <a:r>
              <a:t>I remind students that exploit chains usually combine multiple small weaknesses. Preventing just one link, through stronger validation or privilege control, can stop the entire chain.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we are in Chapter 3 territory. On Countermeasures for Users (Chapter 3), I want students to see that software quality and security quality are inseparable. A bug becomes a security issue when an attacker can intentionally use it to break confidentiality, integrity, or availability. So the emphasis is not just naming flaws, but understanding exploitability: can an attacker reach it, control it, and turn it into meaningful harm. That is the mindset that separates checklist learning from real security reasoning.</a:t>
            </a:r>
          </a:p>
          <a:p>
            <a:endParaRPr/>
          </a:p>
          <a:p>
            <a:r>
              <a:t>Practice software hygiene and source skepticism. I stress practical habits: controlled installs, verified sources, and reduced privilege by default.</a:t>
            </a:r>
          </a:p>
          <a:p>
            <a:endParaRPr/>
          </a:p>
          <a:p>
            <a:r>
              <a:t>Patch promptly with change control awareness. I add operational nuance: patch quickly, but with visibility and rollback planning so availability is protected too.</a:t>
            </a:r>
          </a:p>
          <a:p>
            <a:endParaRPr/>
          </a:p>
          <a:p>
            <a:r>
              <a:t>Use backups and recoverable system images. I explain that recovery readiness is a security control, not just an IT convenience. Restore tests are as important as backup existence.</a:t>
            </a:r>
          </a:p>
          <a:p>
            <a:endParaRPr/>
          </a:p>
          <a:p>
            <a:r>
              <a:t>Understand limits of antivirus and signature-based detection. I explain signature lag and evasive behavior, then reinforce layered endpoint controls and behavior-based detection.</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I add a practical engineering point here: secure coding quality depends on both technical patterns and team process. Even strong developers need peer review, dependency governance, and tests aimed at abuse cases, because adversarial behavior reveals weaknesses that normal tests often miss.</a:t>
            </a:r>
          </a:p>
          <a:p>
            <a:endParaRPr/>
          </a:p>
          <a:p>
            <a:r>
              <a:t>I close this slide by linking flaw analysis to action: identify the defect class, define exploitability, and choose mitigations that are testable before release. That turns theory into engineering practice.</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Countermeasures for Developers (Chapter 3), advances the core Chapter 3 message: insecure software behavior usually starts with normal engineering assumptions that were never fully validated. I explain that we should track the chain from developer error, to code fault, to production failure, and then to attacker opportunity. That cause-and-effect model keeps students from treating vulnerabilities as magic and helps them propose fixes that target root causes.</a:t>
            </a:r>
          </a:p>
          <a:p>
            <a:endParaRPr/>
          </a:p>
          <a:p>
            <a:r>
              <a:t>Modularity and encapsulation reduce blast radius. I connect architecture to blast radius: smaller, well-bounded components reduce how far one flaw can propagate.</a:t>
            </a:r>
          </a:p>
          <a:p>
            <a:endParaRPr/>
          </a:p>
          <a:p>
            <a:r>
              <a:t>Input validation at trust boundaries. I stress that validation belongs at every trust transition and must be context-aware, not one-size-fits-all.</a:t>
            </a:r>
          </a:p>
          <a:p>
            <a:endParaRPr/>
          </a:p>
          <a:p>
            <a:r>
              <a:t>Complete mediation for every sensitive action. I map this to exploitability and CIA impact, then discuss the developer and operations controls that reduce likelihood or limit blast radius.</a:t>
            </a:r>
          </a:p>
          <a:p>
            <a:endParaRPr/>
          </a:p>
          <a:p>
            <a:r>
              <a:t>Secure code review, testing, and threat-informed design. I frame this as continuous assurance: design review, code review, and abuse-case testing should reinforce one another.</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The transition point here is simple: secure coding is not one trick; it is a discipline of consistent validation, mediation, and privilege control across all code paths.</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Countermeasures That Commonly Fail, I frame programming security as an engineering discipline. We are balancing correctness, completeness, and maintainability while assuming an intelligent adversary will test every boundary condition. The practical lesson is that secure coding is not a final patch phase; it is a design and implementation habit. Students need to internalize that every shortcut in validation, mediation, or privilege design can later become an exploit path.</a:t>
            </a:r>
          </a:p>
          <a:p>
            <a:endParaRPr/>
          </a:p>
          <a:p>
            <a:r>
              <a:t>Security by obscurity (hidden backdoors, hidden assumptions). I emphasize governance risk. Hidden access bypasses policy, logging, and review, making both security assurance and ethical accountability weaker.</a:t>
            </a:r>
          </a:p>
          <a:p>
            <a:endParaRPr/>
          </a:p>
          <a:p>
            <a:r>
              <a:t>Patch-and-pray without asset visibility. I tie this to inventory discipline. Without asset visibility, patching can leave critical exposure untouched.</a:t>
            </a:r>
          </a:p>
          <a:p>
            <a:endParaRPr/>
          </a:p>
          <a:p>
            <a:r>
              <a:t>Checklist compliance without threat modeling. I emphasize that compliance artifacts are not substitutes for adversarial reasoning about how systems can fail.</a:t>
            </a:r>
          </a:p>
          <a:p>
            <a:endParaRPr/>
          </a:p>
          <a:p>
            <a:r>
              <a:t>Over-reliance on one tool category. I reinforce that no single control category can cover all attack paths; resilient programs combine prevention, detection, and response.</a:t>
            </a:r>
          </a:p>
          <a:p>
            <a:endParaRPr/>
          </a:p>
          <a:p>
            <a:r>
              <a:t>A useful Chapter 3 principle is that secure software is built, not inspected into existence at the end. Controls must appear in architecture, code, test strategy, deployment policy, and operational monitoring. I reinforce that defensive quality comes from consistency: if one path skips validation or mediation, the whole system can still fail. This is the reason teams emphasize complete mediation, least privilege, and code paths that are simple enough to analyze and maintain under pressure.</a:t>
            </a:r>
          </a:p>
          <a:p>
            <a:endParaRPr/>
          </a:p>
          <a:p>
            <a:r>
              <a:t>I remind students that exploit chains usually combine multiple small weaknesses. Preventing just one link, through stronger validation or privilege control, can stop the entire chain.</a:t>
            </a:r>
          </a:p>
          <a:p>
            <a:endParaRPr/>
          </a:p>
          <a:p>
            <a:r>
              <a:t>Before moving on, I summarize the professional takeaway: if we cannot explain why a flaw is exploitable and who owns the fix, we are not done analyzing it.</a:t>
            </a:r>
          </a:p>
          <a:p>
            <a:endParaRPr/>
          </a:p>
          <a:p>
            <a:r>
              <a:t>I remind students that exploit chains usually combine multiple small weaknesses. Preventing just one link, through stronger validation or privilege control, can stop the entire chain.</a:t>
            </a:r>
          </a:p>
          <a:p>
            <a:endParaRPr/>
          </a:p>
          <a:p>
            <a:r>
              <a:t>Another lesson I make explicit is ownership discipline. Every mitigation should have an accountable owner and a verification method. Without ownership and verification, even good recommendations often fail in production.</a:t>
            </a:r>
          </a:p>
          <a:p>
            <a:endParaRPr/>
          </a:p>
          <a:p>
            <a:r>
              <a:t>Another lesson I make explicit is ownership discipline. Every mitigation should have an accountable owner and a verification method. Without ownership and verification, even good recommendations often fail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Chapter 4 Overview: The Web - User Side, is where I remind students that web attacks often succeed through ordinary workflows, not obvious red flags. Good security practice here means defending both code paths and decision paths. We need secure defaults in the application, and we need process controls that reduce the chance of unsafe user actions. Thinking in layers is the key idea that keeps Chapter 4 coherent.</a:t>
            </a:r>
          </a:p>
          <a:p>
            <a:endParaRPr/>
          </a:p>
          <a:p>
            <a:r>
              <a:t>Browser attack surface. I describe browsers as complex runtimes with scripting engines, storage, extension models, and network behavior that users rarely see directly.</a:t>
            </a:r>
          </a:p>
          <a:p>
            <a:endParaRPr/>
          </a:p>
          <a:p>
            <a:r>
              <a:t>Web content attacks targeting users. I explain that malicious content can weaponize normal workflows, especially when trust checks are weak or inconsistent.</a:t>
            </a:r>
          </a:p>
          <a:p>
            <a:endParaRPr/>
          </a:p>
          <a:p>
            <a:r>
              <a:t>Data extraction attacks through script/injection. I connect this to injection and script abuse patterns where untrusted input shifts application behavior and exposes protected data.</a:t>
            </a:r>
          </a:p>
          <a:p>
            <a:endParaRPr/>
          </a:p>
          <a:p>
            <a:r>
              <a:t>Email attack vectors and trust abuse. I highlight the social engineering layer: attackers exploit urgency, authority cues, and routine business processes.</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transition message is that web attacks succeed through chains. Our defense strategy must break those chains at multiple points rather than relying on one protective control.</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Why Browsers Are High-Risk by Design, the central teaching point is that user-side web risk is boundary risk. Inputs, scripts, sessions, browser extensions, and remote content all meet at this boundary. If one control fails, attack chains can move quickly across the system. I explain that this is why strong teams combine secure coding, platform hardening, and clear reporting workflows rather than relying on one tool.</a:t>
            </a:r>
          </a:p>
          <a:p>
            <a:endParaRPr/>
          </a:p>
          <a:p>
            <a:r>
              <a:t>Browsers fetch from many unseen origins. I explain why origin complexity matters: third-party dependencies can introduce risk even when first-party code is careful.</a:t>
            </a:r>
          </a:p>
          <a:p>
            <a:endParaRPr/>
          </a:p>
          <a:p>
            <a:r>
              <a:t>Rich scripts execute with significant local privilege. I emphasize that client-side execution context can hold valuable session state, making script integrity critical.</a:t>
            </a:r>
          </a:p>
          <a:p>
            <a:endParaRPr/>
          </a:p>
          <a:p>
            <a:r>
              <a:t>Users cannot easily inspect full traffic behavior. I point out that limited user visibility is exactly why secure defaults and monitoring are essential.</a:t>
            </a:r>
          </a:p>
          <a:p>
            <a:endParaRPr/>
          </a:p>
          <a:p>
            <a:r>
              <a:t>Add-ons and plug-ins expand attack surface. I discuss extension governance and least privilege because optional features can quietly expand exposure.</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The privacy angle matters here too: metadata collection and third-party tracking can create long-term harm even when there is no obvious intrusion event.</a:t>
            </a:r>
          </a:p>
          <a:p>
            <a:endParaRPr/>
          </a:p>
          <a:p>
            <a:r>
              <a:t>Closing this section, I remind students that security and privacy are linked outcomes. A system that protects credentials but over-collects behavior data can still create serious harm.</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now at the user-facing edge of the stack. On Man-in-the-Browser Attacks, I stress that browser security problems are not purely technical and not purely human; they are socio-technical. A user sees a single page, but the browser is executing scripts, handling tokens, making background requests, and interacting with many origins. Attackers exploit this complexity. Defenders succeed only when they treat trust as something that must be continuously verified.</a:t>
            </a:r>
          </a:p>
          <a:p>
            <a:endParaRPr/>
          </a:p>
          <a:p>
            <a:r>
              <a:t>Malicious code operates inside trusted browser context. I frame malware by behavior: entry, execution, persistence, spread, and objective. Focusing on mechanism helps students reason through unfamiliar variants without needing to memorize every label.</a:t>
            </a:r>
          </a:p>
          <a:p>
            <a:endParaRPr/>
          </a:p>
          <a:p>
            <a:r>
              <a:t>Can intercept credentials before encryption. I explain that transport security cannot protect data before encryption at the endpoint, which is why endpoint integrity matters.</a:t>
            </a:r>
          </a:p>
          <a:p>
            <a:endParaRPr/>
          </a:p>
          <a:p>
            <a:r>
              <a:t>Can alter transaction details and displayed confirmations. I highlight integrity risk: users may approve one transaction while the backend receives a modified instruction.</a:t>
            </a:r>
          </a:p>
          <a:p>
            <a:endParaRPr/>
          </a:p>
          <a:p>
            <a:r>
              <a:t>Traditional page-level trust signals may still appear normal. I explain that visual reassurance alone is weak evidence, so high-risk actions need independent verification steps.</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end this slide by reinforcing layered defense. User awareness helps, but durable improvement requires secure code, secure architecture, and reliable operational verification working together.</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Page-in-the-Middle and Download Substitution, is where I remind students that web attacks often succeed through ordinary workflows, not obvious red flags. Good security practice here means defending both code paths and decision paths. We need secure defaults in the application, and we need process controls that reduce the chance of unsafe user actions. Thinking in layers is the key idea that keeps Chapter 4 coherent.</a:t>
            </a:r>
          </a:p>
          <a:p>
            <a:endParaRPr/>
          </a:p>
          <a:p>
            <a:r>
              <a:t>Victim is redirected to attacker-controlled page. I connect this to DNS abuse, link manipulation, or compromised intermediaries that shift users off trusted paths.</a:t>
            </a:r>
          </a:p>
          <a:p>
            <a:endParaRPr/>
          </a:p>
          <a:p>
            <a:r>
              <a:t>Fake login or update pages capture credentials. I explain why imitation interfaces are effective and why verification habits must be procedural, not purely visual.</a:t>
            </a:r>
          </a:p>
          <a:p>
            <a:endParaRPr/>
          </a:p>
          <a:p>
            <a:r>
              <a:t>User-approved install can still deliver malicious payload. I emphasize that user consent is not meaningful when the source is deceptive, so distribution integrity controls are necessary.</a:t>
            </a:r>
          </a:p>
          <a:p>
            <a:endParaRPr/>
          </a:p>
          <a:p>
            <a:r>
              <a:t>Trusting UI appearance is insufficient. I restate the principle: verify identity and origin with technical controls, not appearance alone.</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transition message is that web attacks succeed through chains. Our defense strategy must break those chains at multiple points rather than relying on one protective control.</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Defacement, Fake Sites, and Fake Software, the central teaching point is that user-side web risk is boundary risk. Inputs, scripts, sessions, browser extensions, and remote content all meet at this boundary. If one control fails, attack chains can move quickly across the system. I explain that this is why strong teams combine secure coding, platform hardening, and clear reporting workflows rather than relying on one tool.</a:t>
            </a:r>
          </a:p>
          <a:p>
            <a:endParaRPr/>
          </a:p>
          <a:p>
            <a:r>
              <a:t>Website defacement can be obvious or subtle. I connect this to boundary verification in browser and web workflows, emphasizing layered defenses across code, architecture, and user process.</a:t>
            </a:r>
          </a:p>
          <a:p>
            <a:endParaRPr/>
          </a:p>
          <a:p>
            <a:r>
              <a:t>Fake domains and cloned assets enable convincing impersonation. I connect this to brand trust abuse and emphasize domain hygiene, certificate validation, and content integrity checks.</a:t>
            </a:r>
          </a:p>
          <a:p>
            <a:endParaRPr/>
          </a:p>
          <a:p>
            <a:r>
              <a:t>Compromised trusted sites amplify attacker success. I note that attackers prefer trusted distribution channels because trust inheritance increases success rates.</a:t>
            </a:r>
          </a:p>
          <a:p>
            <a:endParaRPr/>
          </a:p>
          <a:p>
            <a:r>
              <a:t>Integrity verification and signed distribution help. I explain that signatures and integrity verification raise attacker cost and support forensic confidence during response.</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The privacy angle matters here too: metadata collection and third-party tracking can create long-term harm even when there is no obvious intrusion event.</a:t>
            </a:r>
          </a:p>
          <a:p>
            <a:endParaRPr/>
          </a:p>
          <a:p>
            <a:r>
              <a:t>Closing this section, I remind students that security and privacy are linked outcomes. A system that protects credentials but over-collects behavior data can still create serious harm.</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now at the user-facing edge of the stack. On Web Bugs and Cross-Site Tracking, I stress that browser security problems are not purely technical and not purely human; they are socio-technical. A user sees a single page, but the browser is executing scripts, handling tokens, making background requests, and interacting with many origins. Attackers exploit this complexity. Defenders succeed only when they treat trust as something that must be continuously verified.</a:t>
            </a:r>
          </a:p>
          <a:p>
            <a:endParaRPr/>
          </a:p>
          <a:p>
            <a:r>
              <a:t>Tiny invisible resources can trigger tracking events. I connect this to boundary verification in browser and web workflows, emphasizing layered defenses across code, architecture, and user process.</a:t>
            </a:r>
          </a:p>
          <a:p>
            <a:endParaRPr/>
          </a:p>
          <a:p>
            <a:r>
              <a:t>Third-party trackers correlate behavior across sites. I emphasize aggregation risk: individually harmless events can become sensitive when linked over time.</a:t>
            </a:r>
          </a:p>
          <a:p>
            <a:endParaRPr/>
          </a:p>
          <a:p>
            <a:r>
              <a:t>Metadata leakage creates privacy risk beyond content theft. I connect this to privacy harm, discrimination risk, and trust erosion even when no direct account takeover occurs.</a:t>
            </a:r>
          </a:p>
          <a:p>
            <a:endParaRPr/>
          </a:p>
          <a:p>
            <a:r>
              <a:t>Security and privacy concerns overlap directly. I use this to reinforce integrated governance: controls should protect both system integrity and user autonomy.</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end this slide by reinforcing layered defense. User awareness helps, but durable improvement requires secure code, secure architecture, and reliable operational verification working together.</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Cross-Site Scripting (XSS), is where I remind students that web attacks often succeed through ordinary workflows, not obvious red flags. Good security practice here means defending both code paths and decision paths. We need secure defaults in the application, and we need process controls that reduce the chance of unsafe user actions. Thinking in layers is the key idea that keeps Chapter 4 coherent.</a:t>
            </a:r>
          </a:p>
          <a:p>
            <a:endParaRPr/>
          </a:p>
          <a:p>
            <a:r>
              <a:t>Untrusted input is executed as script. I connect this to boundary verification in browser and web workflows, emphasizing layered defenses across code, architecture, and user process.</a:t>
            </a:r>
          </a:p>
          <a:p>
            <a:endParaRPr/>
          </a:p>
          <a:p>
            <a:r>
              <a:t>Reflected and stored/persistent variants. I compare scope and persistence: reflected payloads are immediate and targeted, while stored payloads can impact many users repeatedly.</a:t>
            </a:r>
          </a:p>
          <a:p>
            <a:endParaRPr/>
          </a:p>
          <a:p>
            <a:r>
              <a:t>Can steal tokens, alter page behavior, and pivot attacks. I connect XSS to broader chain risk, including account abuse and secondary compromise inside trusted workflows.</a:t>
            </a:r>
          </a:p>
          <a:p>
            <a:endParaRPr/>
          </a:p>
          <a:p>
            <a:r>
              <a:t>Defenses: output encoding, input handling, CSP, framework defaults. I explain layered mitigation: context-aware encoding first, safe rendering defaults, then CSP as additional containment.</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transition message is that web attacks succeed through chains. Our defense strategy must break those chains at multiple points rather than relying on one protective control.</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SQL Injection, the central teaching point is that user-side web risk is boundary risk. Inputs, scripts, sessions, browser extensions, and remote content all meet at this boundary. If one control fails, attack chains can move quickly across the system. I explain that this is why strong teams combine secure coding, platform hardening, and clear reporting workflows rather than relying on one tool.</a:t>
            </a:r>
          </a:p>
          <a:p>
            <a:endParaRPr/>
          </a:p>
          <a:p>
            <a:r>
              <a:t>Attackers inject SQL through unsanitized input. I emphasize that attacker input must never be allowed to change query grammar.</a:t>
            </a:r>
          </a:p>
          <a:p>
            <a:endParaRPr/>
          </a:p>
          <a:p>
            <a:r>
              <a:t>Can expose or modify unauthorized records. I map this to CIA directly: confidentiality loss through unauthorized reads and integrity loss through unauthorized writes.</a:t>
            </a:r>
          </a:p>
          <a:p>
            <a:endParaRPr/>
          </a:p>
          <a:p>
            <a:r>
              <a:t>Often caused by string concatenation in query building. I use this as the anti-pattern example students should recognize immediately in code reviews.</a:t>
            </a:r>
          </a:p>
          <a:p>
            <a:endParaRPr/>
          </a:p>
          <a:p>
            <a:r>
              <a:t>Defenses: parameterized queries and least-privilege DB accounts. I explain why both are needed. Parameterization blocks grammar abuse; least privilege limits blast radius if other controls fail.</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The privacy angle matters here too: metadata collection and third-party tracking can create long-term harm even when there is no obvious intrusion event.</a:t>
            </a:r>
          </a:p>
          <a:p>
            <a:endParaRPr/>
          </a:p>
          <a:p>
            <a:r>
              <a:t>Closing this section, I remind students that security and privacy are linked outcomes. A system that protects credentials but over-collects behavior data can still create serious harm.</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now at the user-facing edge of the stack. On Path Traversal and Server-Side Include Abuse, I stress that browser security problems are not purely technical and not purely human; they are socio-technical. A user sees a single page, but the browser is executing scripts, handling tokens, making background requests, and interacting with many origins. Attackers exploit this complexity. Defenders succeed only when they treat trust as something that must be continuously verified.</a:t>
            </a:r>
          </a:p>
          <a:p>
            <a:endParaRPr/>
          </a:p>
          <a:p>
            <a:r>
              <a:t>Dot-dot-slash patterns can escape intended file directories. I stress canonicalization and strict path allowlists because simple string filtering is fragile.</a:t>
            </a:r>
          </a:p>
          <a:p>
            <a:endParaRPr/>
          </a:p>
          <a:p>
            <a:r>
              <a:t>Server-side include commands may execute unsafe actions. I describe this as filesystem boundary escape, where attacker-controlled paths reach resources outside intended scope.</a:t>
            </a:r>
          </a:p>
          <a:p>
            <a:endParaRPr/>
          </a:p>
          <a:p>
            <a:r>
              <a:t>Poor isolation magnifies impact of compromise. I connect this to architecture: weak separation turns one flaw into multi-system compromise.</a:t>
            </a:r>
          </a:p>
          <a:p>
            <a:endParaRPr/>
          </a:p>
          <a:p>
            <a:r>
              <a:t>Defenses: allowlists, jailed runtime, constrained execution context. I present this as containment engineering: reduce what code can reach even after a parsing or validation mistake.</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end this slide by reinforcing layered defense. User awareness helps, but durable improvement requires secure code, secure architecture, and reliable operational verification working together.</a:t>
            </a:r>
          </a:p>
          <a:p>
            <a:endParaRPr/>
          </a:p>
          <a:p>
            <a:r>
              <a:t>The privacy angle matters here too: metadata collection and third-party tracking can create long-term harm even when there is no obvious intrusion event.</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Website Breaches Are Also User Harm, is where I remind students that web attacks often succeed through ordinary workflows, not obvious red flags. Good security practice here means defending both code paths and decision paths. We need secure defaults in the application, and we need process controls that reduce the chance of unsafe user actions. Thinking in layers is the key idea that keeps Chapter 4 coherent.</a:t>
            </a:r>
          </a:p>
          <a:p>
            <a:endParaRPr/>
          </a:p>
          <a:p>
            <a:r>
              <a:t>Credential stores are high-value attacker targets. I explain why identity data is a high-value target and why storage protection plus response readiness are mandatory.</a:t>
            </a:r>
          </a:p>
          <a:p>
            <a:endParaRPr/>
          </a:p>
          <a:p>
            <a:r>
              <a:t>Password reuse multiplies downstream compromise. I discuss chain compromise across services and why user education plus MFA can reduce secondary harm.</a:t>
            </a:r>
          </a:p>
          <a:p>
            <a:endParaRPr/>
          </a:p>
          <a:p>
            <a:r>
              <a:t>Users suffer even when site owner was initially breached. I connect this to boundary verification in browser and web workflows, emphasizing layered defenses across code, architecture, and user process.</a:t>
            </a:r>
          </a:p>
          <a:p>
            <a:endParaRPr/>
          </a:p>
          <a:p>
            <a:r>
              <a:t>Defenses: strong unique passwords, MFA, breach response discipline. I explain that account hardening controls should be framed as impact-reduction tools, not perfect prevention.</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transition message is that web attacks succeed through chains. Our defense strategy must break those chains at multiple points rather than relying on one protective control.</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Email Attacks: Spam, Spoofing, Phishing, Spear Phishing, the central teaching point is that user-side web risk is boundary risk. Inputs, scripts, sessions, browser extensions, and remote content all meet at this boundary. If one control fails, attack chains can move quickly across the system. I explain that this is why strong teams combine secure coding, platform hardening, and clear reporting workflows rather than relying on one tool.</a:t>
            </a:r>
          </a:p>
          <a:p>
            <a:endParaRPr/>
          </a:p>
          <a:p>
            <a:r>
              <a:t>High volume and low cost make spam economically persistent. I explain attacker economics: low marginal cost means even low-success campaigns remain profitable.</a:t>
            </a:r>
          </a:p>
          <a:p>
            <a:endParaRPr/>
          </a:p>
          <a:p>
            <a:r>
              <a:t>Header fields are easy to spoof without strong validation. I connect this to SPF, DKIM, and DMARC as authenticity controls that raise spoofing difficulty.</a:t>
            </a:r>
          </a:p>
          <a:p>
            <a:endParaRPr/>
          </a:p>
          <a:p>
            <a:r>
              <a:t>Phishing solicits sensitive data or unsafe actions. I emphasize decision pressure tactics and the need for verified secondary channels for high-risk actions.</a:t>
            </a:r>
          </a:p>
          <a:p>
            <a:endParaRPr/>
          </a:p>
          <a:p>
            <a:r>
              <a:t>Spear phishing personalizes bait using social context. I explain that personalization increases credibility, so process controls are critical even for technically strong users.</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The privacy angle matters here too: metadata collection and third-party tracking can create long-term harm even when there is no obvious intrusion event.</a:t>
            </a:r>
          </a:p>
          <a:p>
            <a:endParaRPr/>
          </a:p>
          <a:p>
            <a:r>
              <a:t>Closing this section, I remind students that security and privacy are linked outcomes. A system that protects credentials but over-collects behavior data can still create serious harm.</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privacy angle matters here too: metadata collection and third-party tracking can create long-term harm even when there is no obvious intrusion event.</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 now at the user-facing edge of the stack. On Defensive Strategy for Chapter 4 Threats, I stress that browser security problems are not purely technical and not purely human; they are socio-technical. A user sees a single page, but the browser is executing scripts, handling tokens, making background requests, and interacting with many origins. Attackers exploit this complexity. Defenders succeed only when they treat trust as something that must be continuously verified.</a:t>
            </a:r>
          </a:p>
          <a:p>
            <a:endParaRPr/>
          </a:p>
          <a:p>
            <a:r>
              <a:t>Secure coding: validate, encode, parameterize, constrain. I frame this as the core development defense stack for web-facing applications.</a:t>
            </a:r>
          </a:p>
          <a:p>
            <a:endParaRPr/>
          </a:p>
          <a:p>
            <a:r>
              <a:t>Architecture: segmentation, least privilege, monitoring. I explain that architectural separation limits lateral movement when one component is compromised.</a:t>
            </a:r>
          </a:p>
          <a:p>
            <a:endParaRPr/>
          </a:p>
          <a:p>
            <a:r>
              <a:t>User controls: skepticism, verification, reporting. I position user behavior as one layer of defense that complements, but cannot replace, technical safeguards.</a:t>
            </a:r>
          </a:p>
          <a:p>
            <a:endParaRPr/>
          </a:p>
          <a:p>
            <a:r>
              <a:t>Cryptographic protections for email authenticity/confidentiality. I discuss authenticity and confidentiality goals and where these controls succeed or fail operationally.</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end this slide by reinforcing layered defense. User awareness helps, but durable improvement requires secure code, secure architecture, and reliable operational verification working together.</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also highlight that users operate under time pressure and incomplete visibility. Systems should be designed to make safe actions easy and unsafe actions difficult, which is both a usability and a security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Chapter 4 Checkpoint, is where I remind students that web attacks often succeed through ordinary workflows, not obvious red flags. Good security practice here means defending both code paths and decision paths. We need secure defaults in the application, and we need process controls that reduce the chance of unsafe user actions. Thinking in layers is the key idea that keeps Chapter 4 coherent.</a:t>
            </a:r>
          </a:p>
          <a:p>
            <a:endParaRPr/>
          </a:p>
          <a:p>
            <a:r>
              <a:t>Prompt 1: Compare MITB and page-in-the-middle. I frame this as origin and authenticity failure, where attacker-controlled pages imitate trusted workflows convincingly.</a:t>
            </a:r>
          </a:p>
          <a:p>
            <a:endParaRPr/>
          </a:p>
          <a:p>
            <a:r>
              <a:t>Prompt 2: Explain one injection attack and one defense. I expect mechanism-level explanation plus one concrete mitigation that is technically feasible.</a:t>
            </a:r>
          </a:p>
          <a:p>
            <a:endParaRPr/>
          </a:p>
          <a:p>
            <a:r>
              <a:t>Prompt 3: Why can phishing succeed even with technical controls? I emphasize layered failure: technical controls, process controls, and human decision pressure all play roles.</a:t>
            </a:r>
          </a:p>
          <a:p>
            <a:endParaRPr/>
          </a:p>
          <a:p>
            <a:r>
              <a:t>For Chapter 4, I push the class beyond simplistic advice like 'be careful online.' The stronger model is trust-boundary engineering across user behavior and system behavior. Secure web outcomes require strict handling of untrusted input, robust session management, strong identity verification, and operational controls for detection and response. I also connect security and privacy directly: excessive tracking or weak transparency can create harm even without a headline breach. That ethical framing prepares students to evaluate systems in a more realistic and responsible way.</a:t>
            </a:r>
          </a:p>
          <a:p>
            <a:endParaRPr/>
          </a:p>
          <a:p>
            <a:r>
              <a:t>I also highlight that users operate under time pressure and incomplete visibility. Systems should be designed to make safe actions easy and unsafe actions difficult, which is both a usability and a security requirement.</a:t>
            </a:r>
          </a:p>
          <a:p>
            <a:endParaRPr/>
          </a:p>
          <a:p>
            <a:r>
              <a:t>The transition message is that web attacks succeed through chains. Our defense strategy must break those chains at multiple points rather than relying on one protective control.</a:t>
            </a:r>
          </a:p>
          <a:p>
            <a:endParaRPr/>
          </a:p>
          <a:p>
            <a:r>
              <a:t>The privacy angle matters here too: metadata collection and third-party tracking can create long-term harm even when there is no obvious intrusion event.</a:t>
            </a:r>
          </a:p>
          <a:p>
            <a:endParaRPr/>
          </a:p>
          <a:p>
            <a:r>
              <a:t>I expand by explaining that web defense is fundamentally about reducing ambiguity at boundaries. Inputs must be interpreted safely, identities must be verified, and sessions must be protected from theft or misuse. This cannot be done by one control alone.</a:t>
            </a:r>
          </a:p>
          <a:p>
            <a:endParaRPr/>
          </a:p>
          <a:p>
            <a:r>
              <a:t>I also highlight that users operate under time pressure and incomplete visibility. Systems should be designed to make safe actions easy and unsafe actions difficult, which is both a usability and a security requirement.</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Chapter 5 Overview: Operating Systems, the message is that secure platforms are designed for predictable mediation, not optimistic assumptions. Attackers pursue privilege and stealth. Defenders need tamper-resistant enforcement points, least privilege, and verifiable integrity checks. I use this framing to connect OS theory directly to incident response reality.</a:t>
            </a:r>
          </a:p>
          <a:p>
            <a:endParaRPr/>
          </a:p>
          <a:p>
            <a:r>
              <a:t>OS enforces separation, access control, and resource governance. I explain this as platform governance of resources, identity, and policy enforcement across all applications.</a:t>
            </a:r>
          </a:p>
          <a:p>
            <a:endParaRPr/>
          </a:p>
          <a:p>
            <a:r>
              <a:t>OS security quality affects all upper-layer applications. I stress dependency hierarchy: weak platform controls weaken every application running above them.</a:t>
            </a:r>
          </a:p>
          <a:p>
            <a:endParaRPr/>
          </a:p>
          <a:p>
            <a:r>
              <a:t>Trusted design principles reduce systemic risk. I tie this to simplicity, analyzability, and complete mediation as long-term resilience factors.</a:t>
            </a:r>
          </a:p>
          <a:p>
            <a:endParaRPr/>
          </a:p>
          <a:p>
            <a:r>
              <a:t>Rootkits show what happens when OS trust is subverted. I use rootkits as a capstone example of privilege plus stealth defeating normal visibility and control assumptions.</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reinforce that attackers targeting OS layers are often pursuing both persistence and invisibility. Defensive planning must assume both goals, not only one.</a:t>
            </a:r>
          </a:p>
          <a:p>
            <a:endParaRPr/>
          </a:p>
          <a:p>
            <a:r>
              <a:t>Before moving forward, I restate the standard: trusted means evidence-backed confidence in controls, not optimistic assumptions.</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moves down to the platform layer. On OS as First Line of Defense and Prime Target, I explain that the operating system is both the first major defense layer and one of the highest-value attack targets. If OS mediation is strong, many attacks are contained. If OS mediation is weak or bypassed, upper-layer controls can collapse. Students should leave this section understanding why enforcement architecture matters as much as application logic.</a:t>
            </a:r>
          </a:p>
          <a:p>
            <a:endParaRPr/>
          </a:p>
          <a:p>
            <a:r>
              <a:t>Authentication, memory isolation, file controls, process control. I discuss this as a bundle of foundational controls that must remain reliable under attack conditions.</a:t>
            </a:r>
          </a:p>
          <a:p>
            <a:endParaRPr/>
          </a:p>
          <a:p>
            <a:r>
              <a:t>Boot sequence timing affects who controls system first. I explain why early boot trust decisions can determine whether later defenses are valid or already subverted.</a:t>
            </a:r>
          </a:p>
          <a:p>
            <a:endParaRPr/>
          </a:p>
          <a:p>
            <a:r>
              <a:t>Early compromise can neutralize later defenses. I connect this to secure boot and measured startup chains that preserve control integrity from the beginning.</a:t>
            </a:r>
          </a:p>
          <a:p>
            <a:endParaRPr/>
          </a:p>
          <a:p>
            <a:r>
              <a:t>Privilege escalation aims for administrator or root authority. I explain escalation as the bridge from local foothold to systemic control, which is why least privilege matters.</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close by emphasizing that platform security is about enforceability. If mediation can be bypassed, policy language on paper will not protect the system in practice.</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Security Features in Ordinary Operating Systems, I frame OS security as control integrity over time. Authentication, memory isolation, process control, and audit systems are only useful when they cannot be silently bypassed. That is why concepts like reference monitor properties and trusted computing base minimization are not abstract theory; they are practical requirements for defendable systems.</a:t>
            </a:r>
          </a:p>
          <a:p>
            <a:endParaRPr/>
          </a:p>
          <a:p>
            <a:r>
              <a:t>User authentication and credential handling. I explain that identity controls fail when secrets are weakly stored or poorly managed across lifecycle events.</a:t>
            </a:r>
          </a:p>
          <a:p>
            <a:endParaRPr/>
          </a:p>
          <a:p>
            <a:r>
              <a:t>Memory protection via paging/segmentation mechanisms. I connect this to containment: memory separation prevents one process from directly corrupting others.</a:t>
            </a:r>
          </a:p>
          <a:p>
            <a:endParaRPr/>
          </a:p>
          <a:p>
            <a:r>
              <a:t>File, device, and object access control. I emphasize policy consistency and auditability across object types to prevent privilege drift.</a:t>
            </a:r>
          </a:p>
          <a:p>
            <a:endParaRPr/>
          </a:p>
          <a:p>
            <a:r>
              <a:t>Auditing and accountability records. I explain that logs are only useful when integrity, retention, and alerting quality support decision-making.</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Another important point is minimization. Smaller trusted components and narrower privileges make systems easier to analyze and harder to subvert silently.</a:t>
            </a:r>
          </a:p>
          <a:p>
            <a:endParaRPr/>
          </a:p>
          <a:p>
            <a:r>
              <a:t>As we transition, the key idea is containment. Strong OS boundaries limit blast radius and preserve response options even when applications fail.</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Memory Protection and Isolation, the message is that secure platforms are designed for predictable mediation, not optimistic assumptions. Attackers pursue privilege and stealth. Defenders need tamper-resistant enforcement points, least privilege, and verifiable integrity checks. I use this framing to connect OS theory directly to incident response reality.</a:t>
            </a:r>
          </a:p>
          <a:p>
            <a:endParaRPr/>
          </a:p>
          <a:p>
            <a:r>
              <a:t>Base/bounds concepts and protected address spaces. I explain these mechanisms as the historical and conceptual basis for process isolation.</a:t>
            </a:r>
          </a:p>
          <a:p>
            <a:endParaRPr/>
          </a:p>
          <a:p>
            <a:r>
              <a:t>Execute vs read/write permissions for memory regions. I connect permission separation to exploit prevention by reducing arbitrary code execution opportunities.</a:t>
            </a:r>
          </a:p>
          <a:p>
            <a:endParaRPr/>
          </a:p>
          <a:p>
            <a:r>
              <a:t>Isolation limits one process from corrupting another. I highlight blast-radius reduction and service reliability as direct benefits.</a:t>
            </a:r>
          </a:p>
          <a:p>
            <a:endParaRPr/>
          </a:p>
          <a:p>
            <a:r>
              <a:t>Design goal: containment of faults and attacks. I reinforce that containment quality is a major determinant of incident severity.</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reinforce that attackers targeting OS layers are often pursuing both persistence and invisibility. Defensive planning must assume both goals, not only one.</a:t>
            </a:r>
          </a:p>
          <a:p>
            <a:endParaRPr/>
          </a:p>
          <a:p>
            <a:r>
              <a:t>Before moving forward, I restate the standard: trusted means evidence-backed confidence in controls, not optimistic assumptions.</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moves down to the platform layer. On Virtualization and Hypervisors, I explain that the operating system is both the first major defense layer and one of the highest-value attack targets. If OS mediation is strong, many attacks are contained. If OS mediation is weak or bypassed, upper-layer controls can collapse. Students should leave this section understanding why enforcement architecture matters as much as application logic.</a:t>
            </a:r>
          </a:p>
          <a:p>
            <a:endParaRPr/>
          </a:p>
          <a:p>
            <a:r>
              <a:t>Virtualization presents controlled resource views per workload. I connect this to workload isolation and reduced cross-system interference.</a:t>
            </a:r>
          </a:p>
          <a:p>
            <a:endParaRPr/>
          </a:p>
          <a:p>
            <a:r>
              <a:t>Hypervisor mediates guest access to physical resources. I explain that hypervisor trustworthiness becomes critical because it sits below guests in the control hierarchy.</a:t>
            </a:r>
          </a:p>
          <a:p>
            <a:endParaRPr/>
          </a:p>
          <a:p>
            <a:r>
              <a:t>Supports isolation, legacy compatibility, and safer testing. I discuss practical value: risky software can be analyzed with lower production exposure when isolation is strong.</a:t>
            </a:r>
          </a:p>
          <a:p>
            <a:endParaRPr/>
          </a:p>
          <a:p>
            <a:r>
              <a:t>Security benefit depends on strong boundary enforcement. I emphasize that weak isolation nullifies most virtualization security claims.</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close by emphasizing that platform security is about enforceability. If mediation can be bypassed, policy language on paper will not protect the system in practice.</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Sandbox and Honeypot Concepts, I frame OS security as control integrity over time. Authentication, memory isolation, process control, and audit systems are only useful when they cannot be silently bypassed. That is why concepts like reference monitor properties and trusted computing base minimization are not abstract theory; they are practical requirements for defendable systems.</a:t>
            </a:r>
          </a:p>
          <a:p>
            <a:endParaRPr/>
          </a:p>
          <a:p>
            <a:r>
              <a:t>Sandbox: constrained execution space for untrusted code. I connect this to policy-limited runtime environments that cap damage from untrusted code.</a:t>
            </a:r>
          </a:p>
          <a:p>
            <a:endParaRPr/>
          </a:p>
          <a:p>
            <a:r>
              <a:t>Honeypot: monitored decoy environment to study attacker behavior. I explain how controlled decoys can generate high-value threat intelligence when isolated from production assets.</a:t>
            </a:r>
          </a:p>
          <a:p>
            <a:endParaRPr/>
          </a:p>
          <a:p>
            <a:r>
              <a:t>Both rely on strong isolation from production assets. I relate this to platform mediation and containment, highlighting how OS control integrity influences total system resilience.</a:t>
            </a:r>
          </a:p>
          <a:p>
            <a:endParaRPr/>
          </a:p>
          <a:p>
            <a:r>
              <a:t>Useful for education, detection, and threat intelligence. I show how these tools support both classroom learning and enterprise defensive operations.</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Another important point is minimization. Smaller trusted components and narrower privileges make systems easier to analyze and harder to subvert silently.</a:t>
            </a:r>
          </a:p>
          <a:p>
            <a:endParaRPr/>
          </a:p>
          <a:p>
            <a:r>
              <a:t>As we transition, the key idea is containment. Strong OS boundaries limit blast radius and preserve response options even when applications fail.</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Layered Design in Secure Operating Systems, the message is that secure platforms are designed for predictable mediation, not optimistic assumptions. Attackers pursue privilege and stealth. Defenders need tamper-resistant enforcement points, least privilege, and verifiable integrity checks. I use this framing to connect OS theory directly to incident response reality.</a:t>
            </a:r>
          </a:p>
          <a:p>
            <a:endParaRPr/>
          </a:p>
          <a:p>
            <a:r>
              <a:t>Critical functions placed in lower, more trusted layers. I connect this to assurance: lower-layer correctness affects everything above it.</a:t>
            </a:r>
          </a:p>
          <a:p>
            <a:endParaRPr/>
          </a:p>
          <a:p>
            <a:r>
              <a:t>Higher layers consume lower-layer services. I relate this to platform mediation and containment, highlighting how OS control integrity influences total system resilience.</a:t>
            </a:r>
          </a:p>
          <a:p>
            <a:endParaRPr/>
          </a:p>
          <a:p>
            <a:r>
              <a:t>Layering supports modularity, analysis, and damage containment. I reinforce that clear boundaries support both prevention and faster incident diagnosis.</a:t>
            </a:r>
          </a:p>
          <a:p>
            <a:endParaRPr/>
          </a:p>
          <a:p>
            <a:r>
              <a:t>Poor layering increases hidden coupling and vulnerability. I explain that hidden dependencies increase failure complexity and make security review harder.</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reinforce that attackers targeting OS layers are often pursuing both persistence and invisibility. Defensive planning must assume both goals, not only one.</a:t>
            </a:r>
          </a:p>
          <a:p>
            <a:endParaRPr/>
          </a:p>
          <a:p>
            <a:r>
              <a:t>Before moving forward, I restate the standard: trusted means evidence-backed confidence in controls, not optimistic assumptions.</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moves down to the platform layer. On Security Kernel and Reference Monitor, I explain that the operating system is both the first major defense layer and one of the highest-value attack targets. If OS mediation is strong, many attacks are contained. If OS mediation is weak or bypassed, upper-layer controls can collapse. Students should leave this section understanding why enforcement architecture matters as much as application logic.</a:t>
            </a:r>
          </a:p>
          <a:p>
            <a:endParaRPr/>
          </a:p>
          <a:p>
            <a:r>
              <a:t>Security kernel: locus of security enforcement. I define the kernel as the concentrated enforcement locus that should remain as small and reliable as practical.</a:t>
            </a:r>
          </a:p>
          <a:p>
            <a:endParaRPr/>
          </a:p>
          <a:p>
            <a:r>
              <a:t>Reference monitor properties: tamperproof, unbypassable, analyzable. I explain each property operationally: tamper resistance protects policy, unbypassability ensures coverage, and analyzability supports assurance evidence.</a:t>
            </a:r>
          </a:p>
          <a:p>
            <a:endParaRPr/>
          </a:p>
          <a:p>
            <a:r>
              <a:t>Every protected access should pass through mediation. I emphasize complete mediation and why exceptions quickly become attacker entry points.</a:t>
            </a:r>
          </a:p>
          <a:p>
            <a:endParaRPr/>
          </a:p>
          <a:p>
            <a:r>
              <a:t>Small, testable enforcement core improves assurance. I connect this to lower verification burden and stronger confidence under audit or incident review.</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close by emphasizing that platform security is about enforceability. If mediation can be bypassed, policy language on paper will not protect the system in practice.</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Correctness, Completeness, and Secure Design, I frame OS security as control integrity over time. Authentication, memory isolation, process control, and audit systems are only useful when they cannot be silently bypassed. That is why concepts like reference monitor properties and trusted computing base minimization are not abstract theory; they are practical requirements for defendable systems.</a:t>
            </a:r>
          </a:p>
          <a:p>
            <a:endParaRPr/>
          </a:p>
          <a:p>
            <a:r>
              <a:t>Correctness: controls behave as intended. I define correctness as implementing intended policy behavior accurately across normal and edge conditions.</a:t>
            </a:r>
          </a:p>
          <a:p>
            <a:endParaRPr/>
          </a:p>
          <a:p>
            <a:r>
              <a:t>Completeness: controls exist wherever needed. I explain that missing enforcement points can invalidate otherwise correct controls.</a:t>
            </a:r>
          </a:p>
          <a:p>
            <a:endParaRPr/>
          </a:p>
          <a:p>
            <a:r>
              <a:t>Saltzer and Schroeder principles remain relevant. I summarize these principles as enduring design heuristics for minimizing trust and maximizing verifiable control.</a:t>
            </a:r>
          </a:p>
          <a:p>
            <a:endParaRPr/>
          </a:p>
          <a:p>
            <a:r>
              <a:t>Security must be built in from design, not bolted on later. I stress lifecycle timing: retrofitting security late increases cost and leaves architectural weaknesses intact.</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Another important point is minimization. Smaller trusted components and narrower privileges make systems easier to analyze and harder to subvert silently.</a:t>
            </a:r>
          </a:p>
          <a:p>
            <a:endParaRPr/>
          </a:p>
          <a:p>
            <a:r>
              <a:t>As we transition, the key idea is containment. Strong OS boundaries limit blast radius and preserve response options even when applications fail.</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Trusted Systems and Evaluation, the message is that secure platforms are designed for predictable mediation, not optimistic assumptions. Attackers pursue privilege and stealth. Defenders need tamper-resistant enforcement points, least privilege, and verifiable integrity checks. I use this framing to connect OS theory directly to incident response reality.</a:t>
            </a:r>
          </a:p>
          <a:p>
            <a:endParaRPr/>
          </a:p>
          <a:p>
            <a:r>
              <a:t>"Trusted" means justified confidence, not blind belief. I relate this to platform mediation and containment, highlighting how OS control integrity influences total system resilience.</a:t>
            </a:r>
          </a:p>
          <a:p>
            <a:endParaRPr/>
          </a:p>
          <a:p>
            <a:r>
              <a:t>Trusted computing base (TCB) must be minimal and defensible. I explain why minimizing TCB size reduces the surface that must be correct for claims to hold.</a:t>
            </a:r>
          </a:p>
          <a:p>
            <a:endParaRPr/>
          </a:p>
          <a:p>
            <a:r>
              <a:t>Independent evaluation frameworks improve assurance. I discuss third-party assurance as a way to reduce bias and increase confidence for high-stakes systems.</a:t>
            </a:r>
          </a:p>
          <a:p>
            <a:endParaRPr/>
          </a:p>
          <a:p>
            <a:r>
              <a:t>Evidence-based trust supports high-stakes environments. I connect this to governance decisions in regulated or mission-critical environments.</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reinforce that attackers targeting OS layers are often pursuing both persistence and invisibility. Defensive planning must assume both goals, not only one.</a:t>
            </a:r>
          </a:p>
          <a:p>
            <a:endParaRPr/>
          </a:p>
          <a:p>
            <a:r>
              <a:t>Before moving forward, I restate the standard: trusted means evidence-backed confidence in controls, not optimistic assumptions.</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section moves down to the platform layer. On Rootkits: Core Idea, I explain that the operating system is both the first major defense layer and one of the highest-value attack targets. If OS mediation is strong, many attacks are contained. If OS mediation is weak or bypassed, upper-layer controls can collapse. Students should leave this section understanding why enforcement architecture matters as much as application logic.</a:t>
            </a:r>
          </a:p>
          <a:p>
            <a:endParaRPr dirty="0"/>
          </a:p>
          <a:p>
            <a:r>
              <a:rPr dirty="0"/>
              <a:t>Rootkits seek highest privilege and long-term persistence. I explain attacker incentives: privileged persistence maximizes control and minimizes detection risk.</a:t>
            </a:r>
          </a:p>
          <a:p>
            <a:endParaRPr dirty="0"/>
          </a:p>
          <a:p>
            <a:r>
              <a:rPr dirty="0"/>
              <a:t>Operate by modifying or intercepting OS behavior. I connect this to hook-based manipulation of trusted paths that users and tools depend on.</a:t>
            </a:r>
          </a:p>
          <a:p>
            <a:endParaRPr dirty="0"/>
          </a:p>
          <a:p>
            <a:r>
              <a:rPr dirty="0"/>
              <a:t>Goal: hide malicious activity from normal tools. I emphasize that stealth degrades situational awareness and delays response quality.</a:t>
            </a:r>
          </a:p>
          <a:p>
            <a:endParaRPr dirty="0"/>
          </a:p>
          <a:p>
            <a:r>
              <a:rPr dirty="0"/>
              <a:t>Can neutralize logging, scanning, and startup controls. I explain why defenders often need independent telemetry and integrity checks outside normal host visibility.</a:t>
            </a:r>
          </a:p>
          <a:p>
            <a:endParaRPr dirty="0"/>
          </a:p>
          <a:p>
            <a:r>
              <a:rPr dirty="0"/>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dirty="0"/>
          </a:p>
          <a:p>
            <a:r>
              <a:rPr dirty="0"/>
              <a:t>I add that platform controls should be designed for assurance and recovery, not only prevention. If compromise happens, defenders need trustworthy telemetry, clear containment paths, and rebuild strategies that restore confidence quickly.</a:t>
            </a:r>
          </a:p>
          <a:p>
            <a:endParaRPr dirty="0"/>
          </a:p>
          <a:p>
            <a:r>
              <a:rPr dirty="0"/>
              <a:t>I close by emphasizing that platform security is about enforceability. If mediation can be bypassed, policy language on paper will not protect the system in practice.</a:t>
            </a:r>
          </a:p>
          <a:p>
            <a:endParaRPr dirty="0"/>
          </a:p>
          <a:p>
            <a:r>
              <a:rPr dirty="0"/>
              <a:t>I add that platform controls should be designed for assurance and recovery, not only prevention. If compromise happens, defenders need trustworthy telemetry, clear containment paths, and rebuild strategies that restore confidence quickly.</a:t>
            </a:r>
          </a:p>
          <a:p>
            <a:endParaRPr dirty="0"/>
          </a:p>
          <a:p>
            <a:r>
              <a:rPr dirty="0"/>
              <a:t>I reinforce that attackers targeting OS layers are often pursuing both persistence and invisibility. Defensive planning must assume both goals, not only one.</a:t>
            </a:r>
          </a:p>
          <a:p>
            <a:endParaRPr dirty="0"/>
          </a:p>
          <a:p>
            <a:r>
              <a:rPr dirty="0"/>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Rootkit Stealth Techniques, I frame OS security as control integrity over time. Authentication, memory isolation, process control, and audit systems are only useful when they cannot be silently bypassed. That is why concepts like reference monitor properties and trusted computing base minimization are not abstract theory; they are practical requirements for defendable systems.</a:t>
            </a:r>
          </a:p>
          <a:p>
            <a:endParaRPr/>
          </a:p>
          <a:p>
            <a:r>
              <a:t>Hooking API/system-call paths to filter outputs. I explain that interception at trusted interfaces can falsify what diagnostic tools report.</a:t>
            </a:r>
          </a:p>
          <a:p>
            <a:endParaRPr/>
          </a:p>
          <a:p>
            <a:r>
              <a:t>Hiding files, processes, registry keys, or network activity. I map this to triage difficulty, since compromised systems can present a sanitized view to administrators.</a:t>
            </a:r>
          </a:p>
          <a:p>
            <a:endParaRPr/>
          </a:p>
          <a:p>
            <a:r>
              <a:t>Splicing malicious control flow into trusted routines. I highlight integrity compromise in core routines, which can persist invisibly for long periods.</a:t>
            </a:r>
          </a:p>
          <a:p>
            <a:endParaRPr/>
          </a:p>
          <a:p>
            <a:r>
              <a:t>Loading early in boot chain for control precedence. I connect this to startup trust and why secure boot chains are central in modern defense strategy.</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Another important point is minimization. Smaller trusted components and narrower privileges make systems easier to analyze and harder to subvert silently.</a:t>
            </a:r>
          </a:p>
          <a:p>
            <a:endParaRPr/>
          </a:p>
          <a:p>
            <a:r>
              <a:t>As we transition, the key idea is containment. Strong OS boundaries limit blast radius and preserve response options even when applications fail.</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this slide, Rootkit Examples from Chapter 5, the message is that secure platforms are designed for predictable mediation, not optimistic assumptions. Attackers pursue privilege and stealth. Defenders need tamper-resistant enforcement points, least privilege, and verifiable integrity checks. I use this framing to connect OS theory directly to incident response reality.</a:t>
            </a:r>
          </a:p>
          <a:p>
            <a:endParaRPr/>
          </a:p>
          <a:p>
            <a:r>
              <a:t>Phone rootkit demonstrations (microphone, GPS, battery abuse). I use this to show that platform abuse affects privacy and physical-world behavior, not only data files.</a:t>
            </a:r>
          </a:p>
          <a:p>
            <a:endParaRPr/>
          </a:p>
          <a:p>
            <a:r>
              <a:t>Sony XCP controversy: hidden DRM behavior and secondary risk. I discuss it as a lesson in hidden functionality creating unintended security and trust consequences.</a:t>
            </a:r>
          </a:p>
          <a:p>
            <a:endParaRPr/>
          </a:p>
          <a:p>
            <a:r>
              <a:t>TDSS family: evolving stealth and command-and-control techniques. I point out adversary adaptation: stealth and command channels evolve quickly under defensive pressure.</a:t>
            </a:r>
          </a:p>
          <a:p>
            <a:endParaRPr/>
          </a:p>
          <a:p>
            <a:r>
              <a:t>Lesson: complexity and opacity increase systemic fragility. I explain why opaque systems are harder to assure and easier for attackers to hide within.</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reinforce that attackers targeting OS layers are often pursuing both persistence and invisibility. Defensive planning must assume both goals, not only one.</a:t>
            </a:r>
          </a:p>
          <a:p>
            <a:endParaRPr/>
          </a:p>
          <a:p>
            <a:r>
              <a:t>Before moving forward, I restate the standard: trusted means evidence-backed confidence in controls, not optimistic assumptions.</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section moves down to the platform layer. On Rootkit Defense Playbook, I explain that the operating system is both the first major defense layer and one of the highest-value attack targets. If OS mediation is strong, many attacks are contained. If OS mediation is weak or bypassed, upper-layer controls can collapse. Students should leave this section understanding why enforcement architecture matters as much as application logic.</a:t>
            </a:r>
          </a:p>
          <a:p>
            <a:endParaRPr/>
          </a:p>
          <a:p>
            <a:r>
              <a:t>Secure boot and code-signing enforcement. I frame this as preserving trust from startup through execution with verifiable integrity controls.</a:t>
            </a:r>
          </a:p>
          <a:p>
            <a:endParaRPr/>
          </a:p>
          <a:p>
            <a:r>
              <a:t>Patch management and attack-surface reduction. I emphasize reducing unnecessary services and permissions so there are fewer paths to privilege.</a:t>
            </a:r>
          </a:p>
          <a:p>
            <a:endParaRPr/>
          </a:p>
          <a:p>
            <a:r>
              <a:t>Least privilege and hardened endpoint configuration. I connect hardening baselines to predictable security posture and easier anomaly detection.</a:t>
            </a:r>
          </a:p>
          <a:p>
            <a:endParaRPr/>
          </a:p>
          <a:p>
            <a:r>
              <a:t>Out-of-band integrity checks and incident recovery plans. I explain that independent validation is essential when local telemetry may be untrustworthy.</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close by emphasizing that platform security is about enforceability. If mediation can be bypassed, policy language on paper will not protect the system in practice.</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With Chapter 5 Checkpoint, I frame OS security as control integrity over time. Authentication, memory isolation, process control, and audit systems are only useful when they cannot be silently bypassed. That is why concepts like reference monitor properties and trusted computing base minimization are not abstract theory; they are practical requirements for defendable systems.</a:t>
            </a:r>
          </a:p>
          <a:p>
            <a:endParaRPr/>
          </a:p>
          <a:p>
            <a:r>
              <a:t>Prompt 1: Why is reference monitor quality central to OS security? I expect students to connect this to complete mediation and tamper resistance as core assurance properties.</a:t>
            </a:r>
          </a:p>
          <a:p>
            <a:endParaRPr/>
          </a:p>
          <a:p>
            <a:r>
              <a:t>Prompt 2: Give one rootkit stealth mechanism and one defense. I expect mechanism-level specificity and a defense that directly counters that mechanism.</a:t>
            </a:r>
          </a:p>
          <a:p>
            <a:endParaRPr/>
          </a:p>
          <a:p>
            <a:r>
              <a:t>Prompt 3: Explain why trusted means evidence-based. I reinforce that trustworthy claims must be supported by validation, testing, and independent review evidence.</a:t>
            </a:r>
          </a:p>
          <a:p>
            <a:endParaRPr/>
          </a:p>
          <a:p>
            <a:r>
              <a:t>The core theory in this OS segment is enforceable mediation. A control is meaningful only when the system reliably invokes it and resists bypass or tampering. That is why reference monitor properties, security kernel scope, and trusted computing base minimization matter. I connect these ideas to operations: if compromise reaches privileged platform paths, defenders may lose both control and visibility. Students should understand that containment architecture often determines whether an incident is recoverable or catastrophic.</a:t>
            </a:r>
          </a:p>
          <a:p>
            <a:endParaRPr/>
          </a:p>
          <a:p>
            <a:r>
              <a:t>Another important point is minimization. Smaller trusted components and narrower privileges make systems easier to analyze and harder to subvert silently.</a:t>
            </a:r>
          </a:p>
          <a:p>
            <a:endParaRPr/>
          </a:p>
          <a:p>
            <a:r>
              <a:t>As we transition, the key idea is containment. Strong OS boundaries limit blast radius and preserve response options even when applications fail.</a:t>
            </a:r>
          </a:p>
          <a:p>
            <a:endParaRPr/>
          </a:p>
          <a:p>
            <a:r>
              <a:t>I add that platform controls should be designed for assurance and recovery, not only prevention. If compromise happens, defenders need trustworthy telemetry, clear containment paths, and rebuild strategies that restore confidence quickly.</a:t>
            </a:r>
          </a:p>
          <a:p>
            <a:endParaRPr/>
          </a:p>
          <a:p>
            <a:r>
              <a:t>I reinforce that attackers targeting OS layers are often pursuing both persistence and invisibility. Defensive planning must assume both goals, not only one.</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a:p>
            <a:endParaRPr/>
          </a:p>
          <a:p>
            <a:r>
              <a:t>Another important point is minimization. Smaller trusted components and narrower privileges make systems easier to analyze and harder to subvert silently.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Applied Scenario Setup: Student Support Portal, is where we practice cross-chapter synthesis. Chapter 3 flaws, Chapter 4 exposure paths, and Chapter 5 containment limits all interact here. The practical skill is ranking controls by leverage: which action reduces risk fastest without creating new operational failure.</a:t>
            </a:r>
          </a:p>
          <a:p>
            <a:endParaRPr/>
          </a:p>
          <a:p>
            <a:r>
              <a:t>Fictional but realistic campus data system. I explain why realistic-but-safe scenarios are effective for teaching: they preserve complexity without exposing real sensitive data.</a:t>
            </a:r>
          </a:p>
          <a:p>
            <a:endParaRPr/>
          </a:p>
          <a:p>
            <a:r>
              <a:t>Stores profiles, appointment notes, and referral metadata. I map this to sensitive data categories and highlight how confidentiality failures can create asymmetric harm for affected students.</a:t>
            </a:r>
          </a:p>
          <a:p>
            <a:endParaRPr/>
          </a:p>
          <a:p>
            <a:r>
              <a:t>Directly maps to Chapters 3, 4, and early 5. I explicitly connect software flaws, web exposure paths, and platform controls so students practice cross-layer reasoning.</a:t>
            </a:r>
          </a:p>
          <a:p>
            <a:endParaRPr/>
          </a:p>
          <a:p>
            <a:r>
              <a:t>Goal: diagnose risk and prioritize practical controls. I emphasize prioritization under constraints: choose controls with the highest near-term impact and clear ownership.</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Finally, I emphasize learning loops: post-incident review should produce concrete engineering and governance changes, not generic statements.</a:t>
            </a:r>
          </a:p>
          <a:p>
            <a:endParaRPr/>
          </a:p>
          <a:p>
            <a:r>
              <a:t>Before the next slide, I summarize the core lesson: technical remediation and ethical response planning are both required for high-quality incident handling.</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applied scenario section, Incident Timeline (Hypothetical Academic Term), we shift from definitions to decision quality. The objective is to trace how small technical weaknesses, process gaps, and communication delays combine into meaningful user harm. I emphasize that incident analysis is not about blame theater; it is about reconstructing causality so controls can be prioritized with evidence.</a:t>
            </a:r>
          </a:p>
          <a:p>
            <a:endParaRPr/>
          </a:p>
          <a:p>
            <a:r>
              <a:t>Week 1: new feature release under deadline pressure. I remind students that CIA is not three vocabulary words; it is a diagnostic lens. Whenever we discuss an attack path, we should explicitly state which part of confidentiality, integrity, or availability is being violated and why that violation matters to users and operations.</a:t>
            </a:r>
          </a:p>
          <a:p>
            <a:endParaRPr/>
          </a:p>
          <a:p>
            <a:r>
              <a:t>Week 3: anomalous login and query activity appears. I discuss detection quality and the risk of under-reacting to early weak signals.</a:t>
            </a:r>
          </a:p>
          <a:p>
            <a:endParaRPr/>
          </a:p>
          <a:p>
            <a:r>
              <a:t>Week 4: unauthorized export behavior is detected. I map this directly to confidentiality impact and potential reporting obligations.</a:t>
            </a:r>
          </a:p>
          <a:p>
            <a:endParaRPr/>
          </a:p>
          <a:p>
            <a:r>
              <a:t>Week 5: containment, communication, and remediation actions begin. I explain that technical containment and user communication must run in parallel during high-quality response.</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I close this scenario step by focusing on leverage. We prioritize actions that reduce immediate harm, improve detection quality, and prevent recurrence in the next release cycle.</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Trust Boundaries and Data Flow, I coach students to read an incident as a timeline of choices, not just a list of events. What was known at each point, who had authority, what signals were ignored, and which control could have reduced impact earlier? This perspective prepares them for real-world security work where uncertainty and time pressure are always present.</a:t>
            </a:r>
          </a:p>
          <a:p>
            <a:endParaRPr/>
          </a:p>
          <a:p>
            <a:r>
              <a:t>Browser and mobile clients send requests to web application. I point out that multi-channel access increases complexity and requires consistent policy enforcement across interfaces.</a:t>
            </a:r>
          </a:p>
          <a:p>
            <a:endParaRPr/>
          </a:p>
          <a:p>
            <a:r>
              <a:t>Application calls auth service, database, and file storage. I explain this as a service dependency chain where weak links can amplify upstream flaws.</a:t>
            </a:r>
          </a:p>
          <a:p>
            <a:endParaRPr/>
          </a:p>
          <a:p>
            <a:r>
              <a:t>Admin portal and API endpoints share core backend resources. I stress privilege separation and route-specific controls to prevent administrative pathways from broadening exposure.</a:t>
            </a:r>
          </a:p>
          <a:p>
            <a:endParaRPr/>
          </a:p>
          <a:p>
            <a:r>
              <a:t>Each boundary requires validation, authorization, and auditing. I reinforce complete mediation and evidence-quality logging as non-negotiable requirements.</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also connect this scenario to institutional trust. Technical correctness matters, but communication quality during incidents strongly shapes user confidence and recovery outcomes.</a:t>
            </a:r>
          </a:p>
          <a:p>
            <a:endParaRPr/>
          </a:p>
          <a:p>
            <a:r>
              <a:t>The transition here is from event description to decision quality. We are evaluating whether controls, roles, and communication were strong enough at the right time.</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Vulnerability Profile: What Went Wrong, is where we practice cross-chapter synthesis. Chapter 3 flaws, Chapter 4 exposure paths, and Chapter 5 containment limits all interact here. The practical skill is ranking controls by leverage: which action reduces risk fastest without creating new operational failure.</a:t>
            </a:r>
          </a:p>
          <a:p>
            <a:endParaRPr/>
          </a:p>
          <a:p>
            <a:r>
              <a:t>Incomplete mediation on one API route. I describe this as inconsistent authorization scope, a common source of integrity and confidentiality failures.</a:t>
            </a:r>
          </a:p>
          <a:p>
            <a:endParaRPr/>
          </a:p>
          <a:p>
            <a:r>
              <a:t>Unsafe query construction in a legacy code path. I tie this to injection risk and highlight why legacy paths require targeted review.</a:t>
            </a:r>
          </a:p>
          <a:p>
            <a:endParaRPr/>
          </a:p>
          <a:p>
            <a:r>
              <a:t>Over-privileged service account increased blast radius. I connect this to blast radius and why least privilege is a containment control, not just a policy preference.</a:t>
            </a:r>
          </a:p>
          <a:p>
            <a:endParaRPr/>
          </a:p>
          <a:p>
            <a:r>
              <a:t>Logging existed but alerting thresholds were weak. I explain that telemetry without actionable tuning creates false confidence and delayed escalation.</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Finally, I emphasize learning loops: post-incident review should produce concrete engineering and governance changes, not generic statements.</a:t>
            </a:r>
          </a:p>
          <a:p>
            <a:endParaRPr/>
          </a:p>
          <a:p>
            <a:r>
              <a:t>Before the next slide, I summarize the core lesson: technical remediation and ethical response planning are both required for high-quality incident handling.</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applied scenario section, Attack Path and Impact Progression, we shift from definitions to decision quality. The objective is to trace how small technical weaknesses, process gaps, and communication delays combine into meaningful user harm. I emphasize that incident analysis is not about blame theater; it is about reconstructing causality so controls can be prioritized with evidence.</a:t>
            </a:r>
          </a:p>
          <a:p>
            <a:endParaRPr/>
          </a:p>
          <a:p>
            <a:r>
              <a:t>Initial foothold through unvalidated input path. I stress that initial access is often low sophistication when basic validation controls are weak.</a:t>
            </a:r>
          </a:p>
          <a:p>
            <a:endParaRPr/>
          </a:p>
          <a:p>
            <a:r>
              <a:t>Privilege abuse via broad backend permissions. I explain this as post-compromise acceleration driven by over-broad backend permissions.</a:t>
            </a:r>
          </a:p>
          <a:p>
            <a:endParaRPr/>
          </a:p>
          <a:p>
            <a:r>
              <a:t>Sensitive record enumeration and staged export attempts. I connect this to stealthy exfiltration staging and delayed detection challenges.</a:t>
            </a:r>
          </a:p>
          <a:p>
            <a:endParaRPr/>
          </a:p>
          <a:p>
            <a:r>
              <a:t>Primary impacts were confidentiality and integrity. I discuss why confidentiality and integrity damage can continue after initial containment if credentials and data remain exposed.</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I close this scenario step by focusing on leverage. We prioritize actions that reduce immediate harm, improve detection quality, and prevent recurrence in the next release cycle.</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Detection and Response Gaps, I coach students to read an incident as a timeline of choices, not just a list of events. What was known at each point, who had authority, what signals were ignored, and which control could have reduced impact earlier? This perspective prepares them for real-world security work where uncertainty and time pressure are always present.</a:t>
            </a:r>
          </a:p>
          <a:p>
            <a:endParaRPr/>
          </a:p>
          <a:p>
            <a:r>
              <a:t>Alert fatigue delayed escalation decisions. I explain triage overload and why alert quality and prioritization are as important as alert volume.</a:t>
            </a:r>
          </a:p>
          <a:p>
            <a:endParaRPr/>
          </a:p>
          <a:p>
            <a:r>
              <a:t>Asset and dependency inventory was incomplete. I connect inventory quality to faster containment and accurate patch/remediation planning.</a:t>
            </a:r>
          </a:p>
          <a:p>
            <a:endParaRPr/>
          </a:p>
          <a:p>
            <a:r>
              <a:t>Incident roles and handoffs were unclear. I emphasize role clarity to reduce delay, confusion, and duplicated effort during response.</a:t>
            </a:r>
          </a:p>
          <a:p>
            <a:endParaRPr/>
          </a:p>
          <a:p>
            <a:r>
              <a:t>Communication plan was reactive, not rehearsed. I stress rehearsal. Predefined communication playbooks improve trust and reduce secondary harm.</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also connect this scenario to institutional trust. Technical correctness matters, but communication quality during incidents strongly shapes user confidence and recovery outcomes.</a:t>
            </a:r>
          </a:p>
          <a:p>
            <a:endParaRPr/>
          </a:p>
          <a:p>
            <a:r>
              <a:t>The transition here is from event description to decision quality. We are evaluating whether controls, roles, and communication were strong enough at the right time.</a:t>
            </a:r>
          </a:p>
          <a:p>
            <a:endParaRPr/>
          </a:p>
          <a:p>
            <a:r>
              <a:t>I also connect this scenario to institutional trust. Technical correctness matters, but communication quality during incidents strongly shapes user confidence and recovery outcomes.</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Privacy and Ethics Analysis, is where we practice cross-chapter synthesis. Chapter 3 flaws, Chapter 4 exposure paths, and Chapter 5 containment limits all interact here. The practical skill is ranking controls by leverage: which action reduces risk fastest without creating new operational failure.</a:t>
            </a:r>
          </a:p>
          <a:p>
            <a:endParaRPr/>
          </a:p>
          <a:p>
            <a:r>
              <a:t>Sensitive student data creates asymmetric harm risk. I discuss why vulnerable populations can experience disproportionate long-term impact from data exposure.</a:t>
            </a:r>
          </a:p>
          <a:p>
            <a:endParaRPr/>
          </a:p>
          <a:p>
            <a:r>
              <a:t>Duty of care includes prevention and transparent response. I explain duty as prevention plus response quality, not just policy statements.</a:t>
            </a:r>
          </a:p>
          <a:p>
            <a:endParaRPr/>
          </a:p>
          <a:p>
            <a:r>
              <a:t>Notification quality affects user recovery and trust. I connect clear notices to user recovery actions such as credential resets, monitoring, and support access.</a:t>
            </a:r>
          </a:p>
          <a:p>
            <a:endParaRPr/>
          </a:p>
          <a:p>
            <a:r>
              <a:t>Ethical handling requires support, not only technical fixes. I reinforce that technical fixes without user support are incomplete security outcomes.</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Finally, I emphasize learning loops: post-incident review should produce concrete engineering and governance changes, not generic statements.</a:t>
            </a:r>
          </a:p>
          <a:p>
            <a:endParaRPr/>
          </a:p>
          <a:p>
            <a:r>
              <a:t>Before the next slide, I summarize the core lesson: technical remediation and ethical response planning are both required for high-quality incident handling.</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this applied scenario section, Control Prioritization: First 30 Days, we shift from definitions to decision quality. The objective is to trace how small technical weaknesses, process gaps, and communication delays combine into meaningful user harm. I emphasize that incident analysis is not about blame theater; it is about reconstructing causality so controls can be prioritized with evidence.</a:t>
            </a:r>
          </a:p>
          <a:p>
            <a:endParaRPr/>
          </a:p>
          <a:p>
            <a:r>
              <a:t>Week 1: fix mediation gaps and enforce parameterization. I remind students that CIA is not three vocabulary words; it is a diagnostic lens. Whenever we discuss an attack path, we should explicitly state which part of confidentiality, integrity, or availability is being violated and why that violation matters to users and operations.</a:t>
            </a:r>
          </a:p>
          <a:p>
            <a:endParaRPr/>
          </a:p>
          <a:p>
            <a:r>
              <a:t>Week 2: reduce service privileges and segment critical paths. I connect this to control placement and risk prioritization. Week 2 introduced control categories; now we evaluate whether those controls are actually placed at the right trust boundaries and owned by the right teams.</a:t>
            </a:r>
          </a:p>
          <a:p>
            <a:endParaRPr/>
          </a:p>
          <a:p>
            <a:r>
              <a:t>Week 3: tune detections and rehearse escalation workflow. I emphasize operational readiness by improving signal quality and escalation speed.</a:t>
            </a:r>
          </a:p>
          <a:p>
            <a:endParaRPr/>
          </a:p>
          <a:p>
            <a:r>
              <a:t>Week 4: complete policy updates and post-incident review. I connect post-incident review to durable governance improvements and auditable accountability.</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deepen the analysis by ranking which decisions had the highest leverage. Students should learn to ask: which control would have reduced the most harm if implemented one week earlier? That question builds prioritization skill.</a:t>
            </a:r>
          </a:p>
          <a:p>
            <a:endParaRPr/>
          </a:p>
          <a:p>
            <a:r>
              <a:t>I close this scenario step by focusing on leverage. We prioritize actions that reduce immediate harm, improve detection quality, and prevent recurrence in the next release cycle.</a:t>
            </a:r>
          </a:p>
          <a:p>
            <a:endParaRPr/>
          </a:p>
          <a:p>
            <a:r>
              <a:t>I also connect this scenario to institutional trust. Technical correctness matters, but communication quality during incidents strongly shapes user confidence and recovery outcomes.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Applied Scenario Debrief: Reusable Lessons, I coach students to read an incident as a timeline of choices, not just a list of events. What was known at each point, who had authority, what signals were ignored, and which control could have reduced impact earlier? This perspective prepares them for real-world security work where uncertainty and time pressure are always present.</a:t>
            </a:r>
          </a:p>
          <a:p>
            <a:endParaRPr/>
          </a:p>
          <a:p>
            <a:r>
              <a:t>Secure coding removes entry paths before deployment. I tie this to timeline decisions, ownership, and user impact so the analysis remains actionable and ethically grounded.</a:t>
            </a:r>
          </a:p>
          <a:p>
            <a:endParaRPr/>
          </a:p>
          <a:p>
            <a:r>
              <a:t>Operations and governance determine incident scale. I reinforce that process maturity often separates minor incidents from major crises.</a:t>
            </a:r>
          </a:p>
          <a:p>
            <a:endParaRPr/>
          </a:p>
          <a:p>
            <a:r>
              <a:t>Detection must be actionable, not just voluminous. I highlight that useful detection is specific enough to trigger confident decisions quickly.</a:t>
            </a:r>
          </a:p>
          <a:p>
            <a:endParaRPr/>
          </a:p>
          <a:p>
            <a:r>
              <a:t>Ethics and communication are part of security quality. I connect transparency and support quality to institutional trust and long-term recovery outcomes.</a:t>
            </a:r>
          </a:p>
          <a:p>
            <a:endParaRPr/>
          </a:p>
          <a:p>
            <a:r>
              <a:t>In scenario analysis, good security judgment means prioritizing controls by leverage and timing. I explain that early decisions about escalation, evidence quality, and communication can change incident trajectory as much as the initial technical flaw. We evaluate not only what failed technically, but also whether governance and coordination were strong enough to protect affected users. This is where ethics becomes concrete: duty of care includes prevention, truthful notification, and realistic support for recovery.</a:t>
            </a:r>
          </a:p>
          <a:p>
            <a:endParaRPr/>
          </a:p>
          <a:p>
            <a:r>
              <a:t>I also connect this scenario to institutional trust. Technical correctness matters, but communication quality during incidents strongly shapes user confidence and recovery outcomes.</a:t>
            </a:r>
          </a:p>
          <a:p>
            <a:endParaRPr/>
          </a:p>
          <a:p>
            <a:r>
              <a:t>The transition here is from event description to decision quality. We are evaluating whether controls, roles, and communication were strong enough at the right time.</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a:p>
            <a:endParaRPr/>
          </a:p>
          <a:p>
            <a:r>
              <a:t>Finally, I emphasize learning loops: post-incident review should produce concrete engineering and governance changes, not generic statements.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lab slide, Quick Lab: Overview, gives students a structure for rapid security analysis. They should move from evidence to claim, claim to impact, and impact to actionable mitigation. I reinforce that naming a vulnerability is only the first step; ownership and implementation detail are what make a mitigation credible.</a:t>
            </a:r>
          </a:p>
          <a:p>
            <a:endParaRPr/>
          </a:p>
          <a:p>
            <a:r>
              <a:t>Duration: 20-25 minutes. I explain pacing expectations so students allocate time to classification, impact mapping, and mitigation rationale.</a:t>
            </a:r>
          </a:p>
          <a:p>
            <a:endParaRPr/>
          </a:p>
          <a:p>
            <a:r>
              <a:t>Format: individual analysis (solo). I keep this individual so each student demonstrates independent reasoning and communication skill.</a:t>
            </a:r>
          </a:p>
          <a:p>
            <a:endParaRPr/>
          </a:p>
          <a:p>
            <a:r>
              <a:t>Goal: identify trust-boundary failures and propose defenses. I emphasize clear causality: what assumption failed, where, and which control would have prevented it.</a:t>
            </a:r>
          </a:p>
          <a:p>
            <a:endParaRPr/>
          </a:p>
          <a:p>
            <a:r>
              <a:t>Deliverable: one-page mitigation brief. I explain that concise professional writing is part of the assessment, not separate from technical quality.</a:t>
            </a:r>
          </a:p>
          <a:p>
            <a:endParaRPr/>
          </a:p>
          <a:p>
            <a:r>
              <a:t>The teaching theory for the lab is deliberate practice. Students are constrained to a short time window, so they must prioritize signal over noise and justify each conclusion. I emphasize that professional credibility comes from traceable reasoning: evidence, interpretation, impact, and mitigation ownership. That structure mirrors real incident and vulnerability triage workflows, making the lab directly transferable to workplace expectations.</a:t>
            </a:r>
          </a:p>
          <a:p>
            <a:endParaRPr/>
          </a:p>
          <a:p>
            <a:r>
              <a:t>The communication component is intentional. Security professionals must brief non-experts clearly, so concise structured explanation is part of the skillset.</a:t>
            </a:r>
          </a:p>
          <a:p>
            <a:endParaRPr/>
          </a:p>
          <a:p>
            <a:r>
              <a:t>Transitioning forward, I remind the class that clarity of reasoning is part of security competence, not an optional communication add-on.</a:t>
            </a:r>
          </a:p>
          <a:p>
            <a:endParaRPr/>
          </a:p>
          <a:p>
            <a:r>
              <a:t>During the lab, I watch for over-general answers and push for specifics: what exactly failed, where in the flow, and which control would prevent recurrence. Precision is the difference between academic discussion and practical security work.</a:t>
            </a:r>
          </a:p>
          <a:p>
            <a:endParaRPr/>
          </a:p>
          <a:p>
            <a:r>
              <a:t>I also reinforce feasibility. A technically perfect but unrealistic mitigation is weaker than a practical control that can be deployed and verified quickly.</a:t>
            </a:r>
          </a:p>
          <a:p>
            <a:endParaRPr/>
          </a:p>
          <a:p>
            <a:r>
              <a:t>During the lab, I watch for over-general answers and push for specifics: what exactly failed, where in the flow, and which control would prevent recurrence. Precision is the difference between academic discussion and practical security work.</a:t>
            </a:r>
          </a:p>
          <a:p>
            <a:endParaRPr/>
          </a:p>
          <a:p>
            <a:r>
              <a:t>I also reinforce feasibility. A technically perfect but unrealistic mitigation is weaker than a practical control that can be deployed and verified quickly.</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the quick lab section, Quick Lab: Materials and Safety, I set a professional tone: this is defensive analysis, not exploit performance. Students are expected to classify what failed, map CIA impact, and propose realistic mitigations with clear ownership. The point is to practice disciplined reasoning that could stand up in a team review.</a:t>
            </a:r>
          </a:p>
          <a:p>
            <a:endParaRPr/>
          </a:p>
          <a:p>
            <a:r>
              <a:t>Provided worksheet with sanitized request examples. I explain that sanitized data preserves instructional value while avoiding real-world exposure risk.</a:t>
            </a:r>
          </a:p>
          <a:p>
            <a:endParaRPr/>
          </a:p>
          <a:p>
            <a:r>
              <a:t>No live attack targets, no unauthorized testing. I restate safe-practice expectations and classroom policy compliance.</a:t>
            </a:r>
          </a:p>
          <a:p>
            <a:endParaRPr/>
          </a:p>
          <a:p>
            <a:r>
              <a:t>Defensive analysis only. I link this to professional ethics and legal boundaries in cybersecurity work.</a:t>
            </a:r>
          </a:p>
          <a:p>
            <a:endParaRPr/>
          </a:p>
          <a:p>
            <a:r>
              <a:t>Use textbook concepts and chapter vocabulary. I expect precise terminology because clear language supports clear mitigation decisions.</a:t>
            </a:r>
          </a:p>
          <a:p>
            <a:endParaRPr/>
          </a:p>
          <a:p>
            <a:r>
              <a:t>The teaching theory for the lab is deliberate practice. Students are constrained to a short time window, so they must prioritize signal over noise and justify each conclusion. I emphasize that professional credibility comes from traceable reasoning: evidence, interpretation, impact, and mitigation ownership. That structure mirrors real incident and vulnerability triage workflows, making the lab directly transferable to workplace expectations.</a:t>
            </a:r>
          </a:p>
          <a:p>
            <a:endParaRPr/>
          </a:p>
          <a:p>
            <a:r>
              <a:t>During the lab, I watch for over-general answers and push for specifics: what exactly failed, where in the flow, and which control would prevent recurrence. Precision is the difference between academic discussion and practical security work.</a:t>
            </a:r>
          </a:p>
          <a:p>
            <a:endParaRPr/>
          </a:p>
          <a:p>
            <a:r>
              <a:t>I close this lab slide by setting a clear standard: concise, evidence-based, and implementable recommendations beat long but vague answers every time.</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 Quick Lab Steps (Part A and Part B), I explain that short labs can still produce high-quality work when the evaluation criteria are explicit. Accuracy, feasibility, and communication all matter. A correct technical diagnosis that cannot be explained clearly is still weak in professional settings, so we assess both reasoning and clarity.</a:t>
            </a:r>
          </a:p>
          <a:p>
            <a:endParaRPr/>
          </a:p>
          <a:p>
            <a:r>
              <a:t>Part A: classify three samples (parameter tampering, SQLi pattern, path traversal). I describe this as filesystem boundary escape, where attacker-controlled paths reach resources outside intended scope.</a:t>
            </a:r>
          </a:p>
          <a:p>
            <a:endParaRPr/>
          </a:p>
          <a:p>
            <a:r>
              <a:t>Part B: map each sample to CIA impact and one concrete mitigation. I require students to connect each flaw to concrete business and user impact, then propose one realistic control.</a:t>
            </a:r>
          </a:p>
          <a:p>
            <a:endParaRPr/>
          </a:p>
          <a:p>
            <a:r>
              <a:t>Assign one owner per mitigation (developer, admin, or policy lead). I stress accountability. Controls without clear owners tend not to be implemented or maintained effectively.</a:t>
            </a:r>
          </a:p>
          <a:p>
            <a:endParaRPr/>
          </a:p>
          <a:p>
            <a:r>
              <a:t>Prepare 60-90 second individual oral summary. I use this to evaluate communication quality under time pressure, which mirrors real team reporting conditions.</a:t>
            </a:r>
          </a:p>
          <a:p>
            <a:endParaRPr/>
          </a:p>
          <a:p>
            <a:r>
              <a:t>The teaching theory for the lab is deliberate practice. Students are constrained to a short time window, so they must prioritize signal over noise and justify each conclusion. I emphasize that professional credibility comes from traceable reasoning: evidence, interpretation, impact, and mitigation ownership. That structure mirrors real incident and vulnerability triage workflows, making the lab directly transferable to workplace expectations.</a:t>
            </a:r>
          </a:p>
          <a:p>
            <a:endParaRPr/>
          </a:p>
          <a:p>
            <a:r>
              <a:t>I also reinforce feasibility. A technically perfect but unrealistic mitigation is weaker than a practical control that can be deployed and verified quickly.</a:t>
            </a:r>
          </a:p>
          <a:p>
            <a:endParaRPr/>
          </a:p>
          <a:p>
            <a:r>
              <a:t>As we move on, students should keep the rubric in mind and make each claim defensible with the provided material.</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a:p>
            <a:endParaRPr/>
          </a:p>
          <a:p>
            <a:r>
              <a:t>The communication component is intentional. Security professionals must brief non-experts clearly, so concise structured explanation is part of the skillset.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lab slide, Quick Lab Debrief and Rubric, gives students a structure for rapid security analysis. They should move from evidence to claim, claim to impact, and impact to actionable mitigation. I reinforce that naming a vulnerability is only the first step; ownership and implementation detail are what make a mitigation credible.</a:t>
            </a:r>
          </a:p>
          <a:p>
            <a:endParaRPr/>
          </a:p>
          <a:p>
            <a:r>
              <a:t>Accuracy of vulnerability classification. I score whether students identified the right mechanism and explained it correctly.</a:t>
            </a:r>
          </a:p>
          <a:p>
            <a:endParaRPr/>
          </a:p>
          <a:p>
            <a:r>
              <a:t>Quality and feasibility of mitigation. I evaluate whether the recommended control could be implemented in a realistic environment with clear ownership.</a:t>
            </a:r>
          </a:p>
          <a:p>
            <a:endParaRPr/>
          </a:p>
          <a:p>
            <a:r>
              <a:t>Correct CIA mapping. I expect explicit, accurate links between flaw behavior and affected security properties.</a:t>
            </a:r>
          </a:p>
          <a:p>
            <a:endParaRPr/>
          </a:p>
          <a:p>
            <a:r>
              <a:t>Clarity and professionalism of communication. I explain that clear writing and speaking are security skills because decisions depend on shared understanding.</a:t>
            </a:r>
          </a:p>
          <a:p>
            <a:endParaRPr/>
          </a:p>
          <a:p>
            <a:r>
              <a:t>The teaching theory for the lab is deliberate practice. Students are constrained to a short time window, so they must prioritize signal over noise and justify each conclusion. I emphasize that professional credibility comes from traceable reasoning: evidence, interpretation, impact, and mitigation ownership. That structure mirrors real incident and vulnerability triage workflows, making the lab directly transferable to workplace expectations.</a:t>
            </a:r>
          </a:p>
          <a:p>
            <a:endParaRPr/>
          </a:p>
          <a:p>
            <a:r>
              <a:t>The communication component is intentional. Security professionals must brief non-experts clearly, so concise structured explanation is part of the skillset.</a:t>
            </a:r>
          </a:p>
          <a:p>
            <a:endParaRPr/>
          </a:p>
          <a:p>
            <a:r>
              <a:t>Transitioning forward, I remind the class that clarity of reasoning is part of security competence, not an optional communication add-on.</a:t>
            </a:r>
          </a:p>
          <a:p>
            <a:endParaRPr/>
          </a:p>
          <a:p>
            <a:r>
              <a:t>I also reinforce feasibility. A technically perfect but unrealistic mitigation is weaker than a practical control that can be deployed and verified quickly.</a:t>
            </a:r>
          </a:p>
          <a:p>
            <a:endParaRPr/>
          </a:p>
          <a:p>
            <a:r>
              <a:t>During the lab, I watch for over-general answers and push for specifics: what exactly failed, where in the flow, and which control would prevent recurrence. Precision is the difference between academic discussion and practical security work.</a:t>
            </a:r>
          </a:p>
          <a:p>
            <a:endParaRPr/>
          </a:p>
          <a:p>
            <a:r>
              <a:t>I also reinforce feasibility. A technically perfect but unrealistic mitigation is weaker than a practical control that can be deployed and verified quickly.</a:t>
            </a:r>
          </a:p>
          <a:p>
            <a:endParaRPr/>
          </a:p>
          <a:p>
            <a:r>
              <a:t>During the lab, I watch for over-general answers and push for specifics: what exactly failed, where in the flow, and which control would prevent recurrence. Precision is the difference between academic discussion and practical security work.</a:t>
            </a:r>
          </a:p>
          <a:p>
            <a:endParaRPr/>
          </a:p>
          <a:p>
            <a:r>
              <a:t>I also reinforce feasibility. A technically perfect but unrealistic mitigation is weaker than a practical control that can be deployed and verified quickly.</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closing section, Career Snapshot: Demand and Compensation, I connect technical depth to career readiness. Students often think job preparation means certificates only. I explain that hiring teams evaluate whether a candidate can reason through incidents, justify tradeoffs, and communicate clearly. Artifacts that show those abilities are often more persuasive than terminology recall.</a:t>
            </a:r>
          </a:p>
          <a:p>
            <a:endParaRPr/>
          </a:p>
          <a:p>
            <a:r>
              <a:t>BLS Information Security Analysts: 29% growth (2024-2034). I explain this as sustained opportunity, especially for candidates who can demonstrate applied reasoning.</a:t>
            </a:r>
          </a:p>
          <a:p>
            <a:endParaRPr/>
          </a:p>
          <a:p>
            <a:r>
              <a:t>BLS median pay: $124,910 (May 2024). I remind students compensation reflects responsibility, impact, and the need for reliable judgment under pressure.</a:t>
            </a:r>
          </a:p>
          <a:p>
            <a:endParaRPr/>
          </a:p>
          <a:p>
            <a:r>
              <a:t>BLS projected openings: about 16,400 per year. I explain this as sustained opportunity, especially for candidates who can demonstrate applied reasoning.</a:t>
            </a:r>
          </a:p>
          <a:p>
            <a:endParaRPr/>
          </a:p>
          <a:p>
            <a:r>
              <a:t>CyberSeek U.S. cybersecurity job listings: 514,359 (May 2024-Apr 2025). I connect market volume to role diversity across defense, governance, engineering, and operations pathways.</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I expand this close by encouraging students to curate evidence deliberately. Each assignment can become a portfolio item when it clearly shows reasoning, technical accuracy, and ethical awareness.</a:t>
            </a:r>
          </a:p>
          <a:p>
            <a:endParaRPr/>
          </a:p>
          <a:p>
            <a:r>
              <a:t>I close this slide by linking classroom rigor to hiring outcomes. Strong evidence of reasoning, ethics, and communication is what makes a student stand out.</a:t>
            </a:r>
          </a:p>
          <a:p>
            <a:endParaRPr/>
          </a:p>
          <a:p>
            <a:r>
              <a:t>The best long-term strategy is consistent practice with clear artifacts. Small, credible outputs accumulated over a term become strong proof of readiness.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Career Framework: NICE Work Roles, I translate classroom outputs into employer-facing evidence. Threat models, mitigation memos, incident timelines, and concise reflections all demonstrate practical judgment. The goal is to help students see that what they produce in this class can become part of a real professional narrative.</a:t>
            </a:r>
          </a:p>
          <a:p>
            <a:endParaRPr/>
          </a:p>
          <a:p>
            <a:r>
              <a:t>NIST NICE Framework gives common language for cybersecurity work. I explain NICE as a shared language for tasks, knowledge, and skills that helps students map coursework to job expectations.</a:t>
            </a:r>
          </a:p>
          <a:p>
            <a:endParaRPr/>
          </a:p>
          <a:p>
            <a:r>
              <a:t>Built on Task, Knowledge, and Skill statements. I show how students can convert this week’s outputs into evidence aligned with those categories.</a:t>
            </a:r>
          </a:p>
          <a:p>
            <a:endParaRPr/>
          </a:p>
          <a:p>
            <a:r>
              <a:t>Useful for job descriptions, curriculum mapping, and skill gap analysis. I explain how frameworks support planning: identify gaps early and target practice intentionally.</a:t>
            </a:r>
          </a:p>
          <a:p>
            <a:endParaRPr/>
          </a:p>
          <a:p>
            <a:r>
              <a:t>Students can map class artifacts to specific role expectations. The practical move is to treat assignments as portfolio assets with clear role relevance.</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I also explain that growth in cybersecurity roles does not eliminate competition; candidates who can explain decisions and tradeoffs outperform those who only list tools or certifications.</a:t>
            </a:r>
          </a:p>
          <a:p>
            <a:endParaRPr/>
          </a:p>
          <a:p>
            <a:r>
              <a:t>As we wrap this section, I want students to convert today’s work into concrete artifacts they can show in interviews and portfolios.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Credential Pathway for Students, is part of the bridge from learning to workforce application. I emphasize that the market rewards people who combine technical fundamentals with ethical decision-making and reliable communication under pressure. Those are exactly the habits we have practiced across this module.</a:t>
            </a:r>
          </a:p>
          <a:p>
            <a:endParaRPr/>
          </a:p>
          <a:p>
            <a:r>
              <a:t>TEEX AWR173 Information Security Basics (13-hour foundational course). I describe this as structured foundational training that complements classroom conceptual depth.</a:t>
            </a:r>
          </a:p>
          <a:p>
            <a:endParaRPr/>
          </a:p>
          <a:p>
            <a:r>
              <a:t>ISC2 Certified in Cybersecurity (entry-level cert; exam outline effective Oct 1, 2025). I explain this as an entry-level certification path that validates baseline security knowledge and terminology fluency.</a:t>
            </a:r>
          </a:p>
          <a:p>
            <a:endParaRPr/>
          </a:p>
          <a:p>
            <a:r>
              <a:t>CompTIA Security+ SY0-701 (current baseline professional credential). I describe this as a broad baseline credential recognized across many early-career roles.</a:t>
            </a:r>
          </a:p>
          <a:p>
            <a:endParaRPr/>
          </a:p>
          <a:p>
            <a:r>
              <a:t>PortSwigger Web Security Academy labs for practical evidence. I emphasize hands-on labs as strong evidence of practical understanding in web security contexts.</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The best long-term strategy is consistent practice with clear artifacts. Small, credible outputs accumulated over a term become strong proof of readiness.</a:t>
            </a:r>
          </a:p>
          <a:p>
            <a:endParaRPr/>
          </a:p>
          <a:p>
            <a:r>
              <a:t>The final takeaway here is practical: map each learning objective to one visible piece of evidence and keep building that record over the term.</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closing section, Portfolio Artifacts Employers Understand, I connect technical depth to career readiness. Students often think job preparation means certificates only. I explain that hiring teams evaluate whether a candidate can reason through incidents, justify tradeoffs, and communicate clearly. Artifacts that show those abilities are often more persuasive than terminology recall.</a:t>
            </a:r>
          </a:p>
          <a:p>
            <a:endParaRPr/>
          </a:p>
          <a:p>
            <a:r>
              <a:t>Threat model and mitigation memo from the quick lab. I connect this artifact to risk reasoning and control design capabilities.</a:t>
            </a:r>
          </a:p>
          <a:p>
            <a:endParaRPr/>
          </a:p>
          <a:p>
            <a:r>
              <a:t>Scenario timeline and control-gap analysis. I describe this as evidence of incident reasoning and governance awareness.</a:t>
            </a:r>
          </a:p>
          <a:p>
            <a:endParaRPr/>
          </a:p>
          <a:p>
            <a:r>
              <a:t>Secure coding checklist tied to Chapter 3 flaws. I frame this as practical translation of Chapter 3 concepts into repeatable engineering process.</a:t>
            </a:r>
          </a:p>
          <a:p>
            <a:endParaRPr/>
          </a:p>
          <a:p>
            <a:r>
              <a:t>Incident-response reflection mapped to NICE tasks. I explain that reflective analysis demonstrates maturity in tradeoff thinking and communication.</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I expand this close by encouraging students to curate evidence deliberately. Each assignment can become a portfolio item when it clearly shows reasoning, technical accuracy, and ethical awareness.</a:t>
            </a:r>
          </a:p>
          <a:p>
            <a:endParaRPr/>
          </a:p>
          <a:p>
            <a:r>
              <a:t>I close this slide by linking classroom rigor to hiring outcomes. Strong evidence of reasoning, ethics, and communication is what makes a student stand out.</a:t>
            </a:r>
          </a:p>
          <a:p>
            <a:endParaRPr/>
          </a:p>
          <a:p>
            <a:r>
              <a:t>The best long-term strategy is consistent practice with clear artifacts. Small, credible outputs accumulated over a term become strong proof of readiness.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For In-Class Writing Reflection (10-12 Minutes), I translate classroom outputs into employer-facing evidence. Threat models, mitigation memos, incident timelines, and concise reflections all demonstrate practical judgment. The goal is to help students see that what they produce in this class can become part of a real professional narrative.</a:t>
            </a:r>
          </a:p>
          <a:p>
            <a:endParaRPr/>
          </a:p>
          <a:p>
            <a:r>
              <a:t>Choose one decision from the applied scenario and evaluate alternatives. I link this to workforce readiness by showing how students can convert this concept into concrete, reviewable portfolio evidence.</a:t>
            </a:r>
          </a:p>
          <a:p>
            <a:endParaRPr/>
          </a:p>
          <a:p>
            <a:r>
              <a:t>Required structure: claim, evidence, counterargument, conclusion. I explain that this structure produces clearer, more defensible analysis than opinion-only responses.</a:t>
            </a:r>
          </a:p>
          <a:p>
            <a:endParaRPr/>
          </a:p>
          <a:p>
            <a:r>
              <a:t>Connect to one technical control and one ethical principle. I require explicit integration because professional decisions always combine technical and ethical dimensions.</a:t>
            </a:r>
          </a:p>
          <a:p>
            <a:endParaRPr/>
          </a:p>
          <a:p>
            <a:r>
              <a:t>Target length: 250-300 words. I remind students that concise precision is a professional skill.</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I also explain that growth in cybersecurity roles does not eliminate competition; candidates who can explain decisions and tradeoffs outperform those who only list tools or certifications.</a:t>
            </a:r>
          </a:p>
          <a:p>
            <a:endParaRPr/>
          </a:p>
          <a:p>
            <a:r>
              <a:t>As we wrap this section, I want students to convert today’s work into concrete artifacts they can show in interviews and portfolios.</a:t>
            </a:r>
          </a:p>
          <a:p>
            <a:endParaRPr/>
          </a:p>
          <a:p>
            <a:r>
              <a:t>I expand this close by encouraging students to curate evidence deliberately. Each assignment can become a portfolio item when it clearly shows reasoning, technical accuracy, and ethical awareness.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Exit Ticket and Next Steps, is part of the bridge from learning to workforce application. I emphasize that the market rewards people who combine technical fundamentals with ethical decision-making and reliable communication under pressure. Those are exactly the habits we have practiced across this module.</a:t>
            </a:r>
          </a:p>
          <a:p>
            <a:endParaRPr/>
          </a:p>
          <a:p>
            <a:r>
              <a:t>Exit Ticket Q1: one concept you can explain confidently now. I use exit responses to assess confidence, identify gaps, and adjust next class pacing.</a:t>
            </a:r>
          </a:p>
          <a:p>
            <a:endParaRPr/>
          </a:p>
          <a:p>
            <a:r>
              <a:t>Exit Ticket Q2: one concept still unclear. I use exit responses to assess confidence, identify gaps, and adjust next class pacing.</a:t>
            </a:r>
          </a:p>
          <a:p>
            <a:endParaRPr/>
          </a:p>
          <a:p>
            <a:r>
              <a:t>Exit Ticket Q3: one career step you will take this month. I use exit responses to assess confidence, identify gaps, and adjust next class pacing.</a:t>
            </a:r>
          </a:p>
          <a:p>
            <a:endParaRPr/>
          </a:p>
          <a:p>
            <a:r>
              <a:t>Next class prep: review notes + chapter exercises for 3/4/5. I set this expectation so students consolidate learning immediately while concepts are still fresh.</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The best long-term strategy is consistent practice with clear artifacts. Small, credible outputs accumulated over a term become strong proof of readiness.</a:t>
            </a:r>
          </a:p>
          <a:p>
            <a:endParaRPr/>
          </a:p>
          <a:p>
            <a:r>
              <a:t>The final takeaway here is practical: map each learning objective to one visible piece of evidence and keep building that record over the term.</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a:p>
            <a:endParaRPr/>
          </a:p>
          <a:p>
            <a:r>
              <a:t>I also explain that growth in cybersecurity roles does not eliminate competition; candidates who can explain decisions and tradeoffs outperform those who only list tools or certifications.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the closing section, References (Textbook + Online Supplements), I connect technical depth to career readiness. Students often think job preparation means certificates only. I explain that hiring teams evaluate whether a candidate can reason through incidents, justify tradeoffs, and communicate clearly. Artifacts that show those abilities are often more persuasive than terminology recall.</a:t>
            </a:r>
          </a:p>
          <a:p>
            <a:endParaRPr/>
          </a:p>
          <a:p>
            <a:r>
              <a:t>Pfleeger, Pfleeger, &amp; Margulies. Security in Computing (5th ed.), Chapters 3-5. I explain why this source matters and how to use it: textbook chapters for conceptual grounding, standards for governance language, industry references for role alignment, and practical lab platforms for applied evidence.</a:t>
            </a:r>
          </a:p>
          <a:p>
            <a:endParaRPr/>
          </a:p>
          <a:p>
            <a:r>
              <a:t>BLS Occupational Outlook: Information Security Analysts. I link this to workforce readiness by showing how students can convert this concept into concrete, reviewable portfolio evidence.</a:t>
            </a:r>
          </a:p>
          <a:p>
            <a:endParaRPr/>
          </a:p>
          <a:p>
            <a:r>
              <a:t>NIST SP 800-181 Rev.1 (NICE Framework) and NICE Resource Center. I explain NICE as a shared language for tasks, knowledge, and skills that helps students map coursework to job expectations.</a:t>
            </a:r>
          </a:p>
          <a:p>
            <a:endParaRPr/>
          </a:p>
          <a:p>
            <a:r>
              <a:t>ISC2 Certified in Cybersecurity and exam outline pages. I explain this as an entry-level certification path that validates baseline security knowledge and terminology fluency.</a:t>
            </a:r>
          </a:p>
          <a:p>
            <a:endParaRPr/>
          </a:p>
          <a:p>
            <a:r>
              <a:t>CompTIA Security+ SY0-701 certification page. I describe this as a broad baseline credential recognized across many early-career roles.</a:t>
            </a:r>
          </a:p>
          <a:p>
            <a:endParaRPr/>
          </a:p>
          <a:p>
            <a:r>
              <a:t>OWASP Top 10:2021 (v1.1 release notice). I explain why this source matters and how to use it: textbook chapters for conceptual grounding, standards for governance language, industry references for role alignment, and practical lab platforms for applied evidence.</a:t>
            </a:r>
          </a:p>
          <a:p>
            <a:endParaRPr/>
          </a:p>
          <a:p>
            <a:r>
              <a:t>At the close of the lesson, I tie outcomes back to professional readiness. The strongest candidates show they can analyze risk, explain tradeoffs, and produce clear artifacts that others can evaluate. This module already generates those artifacts when students complete the lab brief, scenario analysis, and reflection writing with precision. I want students to leave with a concrete plan for turning classroom work into evidence of capability.</a:t>
            </a:r>
          </a:p>
          <a:p>
            <a:endParaRPr/>
          </a:p>
          <a:p>
            <a:r>
              <a:t>I expand this close by encouraging students to curate evidence deliberately. Each assignment can become a portfolio item when it clearly shows reasoning, technical accuracy, and ethical awareness.</a:t>
            </a:r>
          </a:p>
          <a:p>
            <a:endParaRPr/>
          </a:p>
          <a:p>
            <a:r>
              <a:t>I close this slide by linking classroom rigor to hiring outcomes. Strong evidence of reasoning, ethics, and communication is what makes a student stand out.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CST 2412 Module: Programs, Web, and Operating System Security</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Textbook focus: Chapter 3, Chapter 4, Chapter 5</a:t>
            </a:r>
          </a:p>
          <a:p>
            <a:pPr>
              <a:spcAft>
                <a:spcPts val="800"/>
              </a:spcAft>
              <a:defRPr sz="2200">
                <a:solidFill>
                  <a:srgbClr val="18222D"/>
                </a:solidFill>
                <a:latin typeface="Aptos"/>
              </a:defRPr>
            </a:pPr>
            <a:r>
              <a:t>Theme: Data security, privacy, and ethics in real systems</a:t>
            </a:r>
          </a:p>
          <a:p>
            <a:pPr>
              <a:spcAft>
                <a:spcPts val="800"/>
              </a:spcAft>
              <a:defRPr sz="2200">
                <a:solidFill>
                  <a:srgbClr val="18222D"/>
                </a:solidFill>
                <a:latin typeface="Aptos"/>
              </a:defRPr>
            </a:pPr>
            <a:r>
              <a:t>Includes: quick lab, applied scenario analysis, and career pathway mapping</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47A1"/>
                </a:solidFill>
                <a:latin typeface="Aptos"/>
              </a:defRPr>
            </a:pPr>
            <a:r>
              <a:t>Module Foundation</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1/67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How This Builds on Weeks 1 and 2</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Week 1: CIA triad, threats, vulnerabilities, legal/ethical framing</a:t>
            </a:r>
          </a:p>
          <a:p>
            <a:pPr>
              <a:spcAft>
                <a:spcPts val="800"/>
              </a:spcAft>
              <a:defRPr sz="2200">
                <a:solidFill>
                  <a:srgbClr val="18222D"/>
                </a:solidFill>
                <a:latin typeface="Aptos"/>
              </a:defRPr>
            </a:pPr>
            <a:r>
              <a:t>Week 2: risk management, security toolbox, secure programming bridge</a:t>
            </a:r>
          </a:p>
          <a:p>
            <a:pPr>
              <a:spcAft>
                <a:spcPts val="800"/>
              </a:spcAft>
              <a:defRPr sz="2200">
                <a:solidFill>
                  <a:srgbClr val="18222D"/>
                </a:solidFill>
                <a:latin typeface="Aptos"/>
              </a:defRPr>
            </a:pPr>
            <a:r>
              <a:t>This module: apply CIA + risk + controls to software, web, and OS layers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47A1"/>
                </a:solidFill>
                <a:latin typeface="Aptos"/>
              </a:defRPr>
            </a:pPr>
            <a:r>
              <a:t>Module Foundation</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2/67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Agenda</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Part 1: Chapter 3 - Programs and programming security</a:t>
            </a:r>
          </a:p>
          <a:p>
            <a:pPr>
              <a:spcAft>
                <a:spcPts val="800"/>
              </a:spcAft>
              <a:defRPr sz="2200">
                <a:solidFill>
                  <a:srgbClr val="18222D"/>
                </a:solidFill>
                <a:latin typeface="Aptos"/>
              </a:defRPr>
            </a:pPr>
            <a:r>
              <a:t>Part 2: Chapter 4 - Web and email attacks on users</a:t>
            </a:r>
          </a:p>
          <a:p>
            <a:pPr>
              <a:spcAft>
                <a:spcPts val="800"/>
              </a:spcAft>
              <a:defRPr sz="2200">
                <a:solidFill>
                  <a:srgbClr val="18222D"/>
                </a:solidFill>
                <a:latin typeface="Aptos"/>
              </a:defRPr>
            </a:pPr>
            <a:r>
              <a:t>Part 3: Chapter 5 - Operating system security and rootkits</a:t>
            </a:r>
          </a:p>
          <a:p>
            <a:pPr>
              <a:spcAft>
                <a:spcPts val="800"/>
              </a:spcAft>
              <a:defRPr sz="2200">
                <a:solidFill>
                  <a:srgbClr val="18222D"/>
                </a:solidFill>
                <a:latin typeface="Aptos"/>
              </a:defRPr>
            </a:pPr>
            <a:r>
              <a:t>Part 4: Applied scenario walkthrough</a:t>
            </a:r>
          </a:p>
          <a:p>
            <a:pPr>
              <a:spcAft>
                <a:spcPts val="800"/>
              </a:spcAft>
              <a:defRPr sz="2200">
                <a:solidFill>
                  <a:srgbClr val="18222D"/>
                </a:solidFill>
                <a:latin typeface="Aptos"/>
              </a:defRPr>
            </a:pPr>
            <a:r>
              <a:t>Part 5: Quick lab and career-connected wrap-up</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47A1"/>
                </a:solidFill>
                <a:latin typeface="Aptos"/>
              </a:defRPr>
            </a:pPr>
            <a:r>
              <a:t>Module Foundation</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3/67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Learning Objectives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Differentiate programming flaws from malicious code and explain CIA impacts</a:t>
            </a:r>
          </a:p>
          <a:p>
            <a:pPr>
              <a:spcAft>
                <a:spcPts val="800"/>
              </a:spcAft>
              <a:defRPr sz="2200">
                <a:solidFill>
                  <a:srgbClr val="18222D"/>
                </a:solidFill>
                <a:latin typeface="Aptos"/>
              </a:defRPr>
            </a:pPr>
            <a:r>
              <a:t>Analyze browser, web, and email attack paths and propose mitigations</a:t>
            </a:r>
          </a:p>
          <a:p>
            <a:pPr>
              <a:spcAft>
                <a:spcPts val="800"/>
              </a:spcAft>
              <a:defRPr sz="2200">
                <a:solidFill>
                  <a:srgbClr val="18222D"/>
                </a:solidFill>
                <a:latin typeface="Aptos"/>
              </a:defRPr>
            </a:pPr>
            <a:r>
              <a:t>Explain operating system security architecture, reference monitor, and rootkits</a:t>
            </a:r>
          </a:p>
          <a:p>
            <a:pPr>
              <a:spcAft>
                <a:spcPts val="800"/>
              </a:spcAft>
              <a:defRPr sz="2200">
                <a:solidFill>
                  <a:srgbClr val="18222D"/>
                </a:solidFill>
                <a:latin typeface="Aptos"/>
              </a:defRPr>
            </a:pPr>
            <a:r>
              <a:t>Apply risk, ethics, and governance analysis to a real breach</a:t>
            </a:r>
          </a:p>
          <a:p>
            <a:pPr>
              <a:spcAft>
                <a:spcPts val="800"/>
              </a:spcAft>
              <a:defRPr sz="2200">
                <a:solidFill>
                  <a:srgbClr val="18222D"/>
                </a:solidFill>
                <a:latin typeface="Aptos"/>
              </a:defRPr>
            </a:pPr>
            <a:r>
              <a:t>Connect course topics to entry-level cybersecurity roles and credentials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47A1"/>
                </a:solidFill>
                <a:latin typeface="Aptos"/>
              </a:defRPr>
            </a:pPr>
            <a:r>
              <a:t>Module Foundation</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4/67</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D47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Essential Questions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When does a normal software bug become a security vulnerability?</a:t>
            </a:r>
          </a:p>
          <a:p>
            <a:pPr>
              <a:spcAft>
                <a:spcPts val="800"/>
              </a:spcAft>
              <a:defRPr sz="2200">
                <a:solidFill>
                  <a:srgbClr val="18222D"/>
                </a:solidFill>
                <a:latin typeface="Aptos"/>
              </a:defRPr>
            </a:pPr>
            <a:r>
              <a:t>Why do user-side web attacks keep succeeding even with better tools?</a:t>
            </a:r>
          </a:p>
          <a:p>
            <a:pPr>
              <a:spcAft>
                <a:spcPts val="800"/>
              </a:spcAft>
              <a:defRPr sz="2200">
                <a:solidFill>
                  <a:srgbClr val="18222D"/>
                </a:solidFill>
                <a:latin typeface="Aptos"/>
              </a:defRPr>
            </a:pPr>
            <a:r>
              <a:t>What makes operating system compromise uniquely dangerous?</a:t>
            </a:r>
          </a:p>
          <a:p>
            <a:pPr>
              <a:spcAft>
                <a:spcPts val="800"/>
              </a:spcAft>
              <a:defRPr sz="2200">
                <a:solidFill>
                  <a:srgbClr val="18222D"/>
                </a:solidFill>
                <a:latin typeface="Aptos"/>
              </a:defRPr>
            </a:pPr>
            <a:r>
              <a:t>How do technical decisions become ethical decisions in practice?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47A1"/>
                </a:solidFill>
                <a:latin typeface="Aptos"/>
              </a:defRPr>
            </a:pPr>
            <a:r>
              <a:t>Module Foundation</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5/67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Chapter 3 Overview: Programs and Programming</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Unintentional flaws: overflow, mediation failures, race conditions</a:t>
            </a:r>
          </a:p>
          <a:p>
            <a:pPr>
              <a:spcAft>
                <a:spcPts val="800"/>
              </a:spcAft>
              <a:defRPr sz="2200">
                <a:solidFill>
                  <a:srgbClr val="18222D"/>
                </a:solidFill>
                <a:latin typeface="Aptos"/>
              </a:defRPr>
            </a:pPr>
            <a:r>
              <a:t>Malicious code: viruses, worms, Trojan horses</a:t>
            </a:r>
          </a:p>
          <a:p>
            <a:pPr>
              <a:spcAft>
                <a:spcPts val="800"/>
              </a:spcAft>
              <a:defRPr sz="2200">
                <a:solidFill>
                  <a:srgbClr val="18222D"/>
                </a:solidFill>
                <a:latin typeface="Aptos"/>
              </a:defRPr>
            </a:pPr>
            <a:r>
              <a:t>Countermeasures for users and developers</a:t>
            </a:r>
          </a:p>
          <a:p>
            <a:pPr>
              <a:spcAft>
                <a:spcPts val="800"/>
              </a:spcAft>
              <a:defRPr sz="2200">
                <a:solidFill>
                  <a:srgbClr val="18222D"/>
                </a:solidFill>
                <a:latin typeface="Aptos"/>
              </a:defRPr>
            </a:pPr>
            <a:r>
              <a:t>Bottom line: software quality is a security issue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7/67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Error, Fault, Failure: Why Terminology Matters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Error: human mistake during development</a:t>
            </a:r>
          </a:p>
          <a:p>
            <a:pPr>
              <a:spcAft>
                <a:spcPts val="800"/>
              </a:spcAft>
              <a:defRPr sz="2200">
                <a:solidFill>
                  <a:srgbClr val="18222D"/>
                </a:solidFill>
                <a:latin typeface="Aptos"/>
              </a:defRPr>
            </a:pPr>
            <a:r>
              <a:t>Fault: defect in code/design/documentation</a:t>
            </a:r>
          </a:p>
          <a:p>
            <a:pPr>
              <a:spcAft>
                <a:spcPts val="800"/>
              </a:spcAft>
              <a:defRPr sz="2200">
                <a:solidFill>
                  <a:srgbClr val="18222D"/>
                </a:solidFill>
                <a:latin typeface="Aptos"/>
              </a:defRPr>
            </a:pPr>
            <a:r>
              <a:t>Failure: observed deviation from intended behavior</a:t>
            </a:r>
          </a:p>
          <a:p>
            <a:pPr>
              <a:spcAft>
                <a:spcPts val="800"/>
              </a:spcAft>
              <a:defRPr sz="2200">
                <a:solidFill>
                  <a:srgbClr val="18222D"/>
                </a:solidFill>
                <a:latin typeface="Aptos"/>
              </a:defRPr>
            </a:pPr>
            <a:r>
              <a:t>Security teams often use the umbrella term "flaw"</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8/67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Programming Flaw Spotlight: Buffer Overflow</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Data exceeds allocated memory boundaries</a:t>
            </a:r>
          </a:p>
          <a:p>
            <a:pPr>
              <a:spcAft>
                <a:spcPts val="800"/>
              </a:spcAft>
              <a:defRPr sz="2200">
                <a:solidFill>
                  <a:srgbClr val="18222D"/>
                </a:solidFill>
                <a:latin typeface="Aptos"/>
              </a:defRPr>
            </a:pPr>
            <a:r>
              <a:t>Can cause crash, corruption, or control-flow hijack</a:t>
            </a:r>
          </a:p>
          <a:p>
            <a:pPr>
              <a:spcAft>
                <a:spcPts val="800"/>
              </a:spcAft>
              <a:defRPr sz="2200">
                <a:solidFill>
                  <a:srgbClr val="18222D"/>
                </a:solidFill>
                <a:latin typeface="Aptos"/>
              </a:defRPr>
            </a:pPr>
            <a:r>
              <a:t>Historically common in low-level memory-unsafe code</a:t>
            </a:r>
          </a:p>
          <a:p>
            <a:pPr>
              <a:spcAft>
                <a:spcPts val="800"/>
              </a:spcAft>
              <a:defRPr sz="2200">
                <a:solidFill>
                  <a:srgbClr val="18222D"/>
                </a:solidFill>
                <a:latin typeface="Aptos"/>
              </a:defRPr>
            </a:pPr>
            <a:r>
              <a:t>Defense: bounds checks, safer APIs, memory-safe language choices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9/67</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Programming Flaw Spotlight: Incomplete Mediation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Server trusts sensitive values controlled by client input</a:t>
            </a:r>
          </a:p>
          <a:p>
            <a:pPr>
              <a:spcAft>
                <a:spcPts val="800"/>
              </a:spcAft>
              <a:defRPr sz="2200">
                <a:solidFill>
                  <a:srgbClr val="18222D"/>
                </a:solidFill>
                <a:latin typeface="Aptos"/>
              </a:defRPr>
            </a:pPr>
            <a:r>
              <a:t>Example pattern: client-supplied price or total in URL parameters</a:t>
            </a:r>
          </a:p>
          <a:p>
            <a:pPr>
              <a:spcAft>
                <a:spcPts val="800"/>
              </a:spcAft>
              <a:defRPr sz="2200">
                <a:solidFill>
                  <a:srgbClr val="18222D"/>
                </a:solidFill>
                <a:latin typeface="Aptos"/>
              </a:defRPr>
            </a:pPr>
            <a:r>
              <a:t>Result: integrity failures, fraud, and undetected long-term loss</a:t>
            </a:r>
          </a:p>
          <a:p>
            <a:pPr>
              <a:spcAft>
                <a:spcPts val="800"/>
              </a:spcAft>
              <a:defRPr sz="2200">
                <a:solidFill>
                  <a:srgbClr val="18222D"/>
                </a:solidFill>
                <a:latin typeface="Aptos"/>
              </a:defRPr>
            </a:pPr>
            <a:r>
              <a:t>Defense: server-side recomputation and full policy checks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10/67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Programming Flaw Spotlight: TOCTTOU</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Time-of-check to time-of-use race condition</a:t>
            </a:r>
          </a:p>
          <a:p>
            <a:pPr>
              <a:spcAft>
                <a:spcPts val="800"/>
              </a:spcAft>
              <a:defRPr sz="2200">
                <a:solidFill>
                  <a:srgbClr val="18222D"/>
                </a:solidFill>
                <a:latin typeface="Aptos"/>
              </a:defRPr>
            </a:pPr>
            <a:r>
              <a:t>State changes after validation but before action</a:t>
            </a:r>
          </a:p>
          <a:p>
            <a:pPr>
              <a:spcAft>
                <a:spcPts val="800"/>
              </a:spcAft>
              <a:defRPr sz="2200">
                <a:solidFill>
                  <a:srgbClr val="18222D"/>
                </a:solidFill>
                <a:latin typeface="Aptos"/>
              </a:defRPr>
            </a:pPr>
            <a:r>
              <a:t>Produces access control failure despite apparent checks</a:t>
            </a:r>
          </a:p>
          <a:p>
            <a:pPr>
              <a:spcAft>
                <a:spcPts val="800"/>
              </a:spcAft>
              <a:defRPr sz="2200">
                <a:solidFill>
                  <a:srgbClr val="18222D"/>
                </a:solidFill>
                <a:latin typeface="Aptos"/>
              </a:defRPr>
            </a:pPr>
            <a:r>
              <a:t>Defense: atomic operations, ownership of validated data, locking</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11/67</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Other High-Frequency Flaws in Chapter 3</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Undocumented access points (backdoors or trapdoors)</a:t>
            </a:r>
          </a:p>
          <a:p>
            <a:pPr>
              <a:spcAft>
                <a:spcPts val="800"/>
              </a:spcAft>
              <a:defRPr sz="2200">
                <a:solidFill>
                  <a:srgbClr val="18222D"/>
                </a:solidFill>
                <a:latin typeface="Aptos"/>
              </a:defRPr>
            </a:pPr>
            <a:r>
              <a:t>Off-by-one indexing and boundary errors</a:t>
            </a:r>
          </a:p>
          <a:p>
            <a:pPr>
              <a:spcAft>
                <a:spcPts val="800"/>
              </a:spcAft>
              <a:defRPr sz="2200">
                <a:solidFill>
                  <a:srgbClr val="18222D"/>
                </a:solidFill>
                <a:latin typeface="Aptos"/>
              </a:defRPr>
            </a:pPr>
            <a:r>
              <a:t>Integer overflow or wraparound logic failures</a:t>
            </a:r>
          </a:p>
          <a:p>
            <a:pPr>
              <a:spcAft>
                <a:spcPts val="800"/>
              </a:spcAft>
              <a:defRPr sz="2200">
                <a:solidFill>
                  <a:srgbClr val="18222D"/>
                </a:solidFill>
                <a:latin typeface="Aptos"/>
              </a:defRPr>
            </a:pPr>
            <a:r>
              <a:t>Unterminated strings and parsing confusion</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12/67</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Malicious Code in Chapter 3</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Malware includes viruses, worms, Trojan horses, and variants</a:t>
            </a:r>
          </a:p>
          <a:p>
            <a:pPr>
              <a:spcAft>
                <a:spcPts val="800"/>
              </a:spcAft>
              <a:defRPr sz="2200">
                <a:solidFill>
                  <a:srgbClr val="18222D"/>
                </a:solidFill>
                <a:latin typeface="Aptos"/>
              </a:defRPr>
            </a:pPr>
            <a:r>
              <a:t>Focus on mechanism and impact, not only naming</a:t>
            </a:r>
          </a:p>
          <a:p>
            <a:pPr>
              <a:spcAft>
                <a:spcPts val="800"/>
              </a:spcAft>
              <a:defRPr sz="2200">
                <a:solidFill>
                  <a:srgbClr val="18222D"/>
                </a:solidFill>
                <a:latin typeface="Aptos"/>
              </a:defRPr>
            </a:pPr>
            <a:r>
              <a:t>Propagation, persistence, concealment, and payload matter most</a:t>
            </a:r>
          </a:p>
          <a:p>
            <a:pPr>
              <a:spcAft>
                <a:spcPts val="800"/>
              </a:spcAft>
              <a:defRPr sz="2200">
                <a:solidFill>
                  <a:srgbClr val="18222D"/>
                </a:solidFill>
                <a:latin typeface="Aptos"/>
              </a:defRPr>
            </a:pPr>
            <a:r>
              <a:t>Benign-looking software can still include malicious behavior</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13/67</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Virus vs Worm vs Trojan Horse</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Virus: infects other files/programs and replicates</a:t>
            </a:r>
          </a:p>
          <a:p>
            <a:pPr>
              <a:spcAft>
                <a:spcPts val="800"/>
              </a:spcAft>
              <a:defRPr sz="2200">
                <a:solidFill>
                  <a:srgbClr val="18222D"/>
                </a:solidFill>
                <a:latin typeface="Aptos"/>
              </a:defRPr>
            </a:pPr>
            <a:r>
              <a:t>Worm: self-propagates across networks</a:t>
            </a:r>
          </a:p>
          <a:p>
            <a:pPr>
              <a:spcAft>
                <a:spcPts val="800"/>
              </a:spcAft>
              <a:defRPr sz="2200">
                <a:solidFill>
                  <a:srgbClr val="18222D"/>
                </a:solidFill>
                <a:latin typeface="Aptos"/>
              </a:defRPr>
            </a:pPr>
            <a:r>
              <a:t>Trojan horse: hidden malicious function in benign-looking software</a:t>
            </a:r>
          </a:p>
          <a:p>
            <a:pPr>
              <a:spcAft>
                <a:spcPts val="800"/>
              </a:spcAft>
              <a:defRPr sz="2200">
                <a:solidFill>
                  <a:srgbClr val="18222D"/>
                </a:solidFill>
                <a:latin typeface="Aptos"/>
              </a:defRPr>
            </a:pPr>
            <a:r>
              <a:t>Real incidents often combine multiple behaviors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14/67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Malware Economics: Zero-Day and Toolkits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Many attacks use known, unpatched vulnerabilities</a:t>
            </a:r>
          </a:p>
          <a:p>
            <a:pPr>
              <a:spcAft>
                <a:spcPts val="800"/>
              </a:spcAft>
              <a:defRPr sz="2200">
                <a:solidFill>
                  <a:srgbClr val="18222D"/>
                </a:solidFill>
                <a:latin typeface="Aptos"/>
              </a:defRPr>
            </a:pPr>
            <a:r>
              <a:t>Zero-day: exploit before a fix is available or deployed</a:t>
            </a:r>
          </a:p>
          <a:p>
            <a:pPr>
              <a:spcAft>
                <a:spcPts val="800"/>
              </a:spcAft>
              <a:defRPr sz="2200">
                <a:solidFill>
                  <a:srgbClr val="18222D"/>
                </a:solidFill>
                <a:latin typeface="Aptos"/>
              </a:defRPr>
            </a:pPr>
            <a:r>
              <a:t>Toolkits lower attacker skill barriers (script-kiddie effect)</a:t>
            </a:r>
          </a:p>
          <a:p>
            <a:pPr>
              <a:spcAft>
                <a:spcPts val="800"/>
              </a:spcAft>
              <a:defRPr sz="2200">
                <a:solidFill>
                  <a:srgbClr val="18222D"/>
                </a:solidFill>
                <a:latin typeface="Aptos"/>
              </a:defRPr>
            </a:pPr>
            <a:r>
              <a:t>Defense challenge: defenders must cover many paths, attacker needs one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15/67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Countermeasures for Users (Chapter 3)</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Practice software hygiene and source skepticism</a:t>
            </a:r>
          </a:p>
          <a:p>
            <a:pPr>
              <a:spcAft>
                <a:spcPts val="800"/>
              </a:spcAft>
              <a:defRPr sz="2200">
                <a:solidFill>
                  <a:srgbClr val="18222D"/>
                </a:solidFill>
                <a:latin typeface="Aptos"/>
              </a:defRPr>
            </a:pPr>
            <a:r>
              <a:t>Patch promptly with change control awareness</a:t>
            </a:r>
          </a:p>
          <a:p>
            <a:pPr>
              <a:spcAft>
                <a:spcPts val="800"/>
              </a:spcAft>
              <a:defRPr sz="2200">
                <a:solidFill>
                  <a:srgbClr val="18222D"/>
                </a:solidFill>
                <a:latin typeface="Aptos"/>
              </a:defRPr>
            </a:pPr>
            <a:r>
              <a:t>Use backups and recoverable system images</a:t>
            </a:r>
          </a:p>
          <a:p>
            <a:pPr>
              <a:spcAft>
                <a:spcPts val="800"/>
              </a:spcAft>
              <a:defRPr sz="2200">
                <a:solidFill>
                  <a:srgbClr val="18222D"/>
                </a:solidFill>
                <a:latin typeface="Aptos"/>
              </a:defRPr>
            </a:pPr>
            <a:r>
              <a:t>Understand limits of antivirus and signature-based detection</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16/67</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Countermeasures for Developers (Chapter 3)</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Modularity and encapsulation reduce blast radius</a:t>
            </a:r>
          </a:p>
          <a:p>
            <a:pPr>
              <a:spcAft>
                <a:spcPts val="800"/>
              </a:spcAft>
              <a:defRPr sz="2200">
                <a:solidFill>
                  <a:srgbClr val="18222D"/>
                </a:solidFill>
                <a:latin typeface="Aptos"/>
              </a:defRPr>
            </a:pPr>
            <a:r>
              <a:t>Input validation at trust boundaries</a:t>
            </a:r>
          </a:p>
          <a:p>
            <a:pPr>
              <a:spcAft>
                <a:spcPts val="800"/>
              </a:spcAft>
              <a:defRPr sz="2200">
                <a:solidFill>
                  <a:srgbClr val="18222D"/>
                </a:solidFill>
                <a:latin typeface="Aptos"/>
              </a:defRPr>
            </a:pPr>
            <a:r>
              <a:t>Complete mediation for every sensitive action</a:t>
            </a:r>
          </a:p>
          <a:p>
            <a:pPr>
              <a:spcAft>
                <a:spcPts val="800"/>
              </a:spcAft>
              <a:defRPr sz="2200">
                <a:solidFill>
                  <a:srgbClr val="18222D"/>
                </a:solidFill>
                <a:latin typeface="Aptos"/>
              </a:defRPr>
            </a:pPr>
            <a:r>
              <a:t>Secure code review, testing, and threat-informed design</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17/67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0079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Countermeasures That Commonly Fail</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Security by obscurity (hidden backdoors, hidden assumptions)</a:t>
            </a:r>
          </a:p>
          <a:p>
            <a:pPr>
              <a:spcAft>
                <a:spcPts val="800"/>
              </a:spcAft>
              <a:defRPr sz="2200">
                <a:solidFill>
                  <a:srgbClr val="18222D"/>
                </a:solidFill>
                <a:latin typeface="Aptos"/>
              </a:defRPr>
            </a:pPr>
            <a:r>
              <a:t>Patch-and-pray without asset visibility</a:t>
            </a:r>
          </a:p>
          <a:p>
            <a:pPr>
              <a:spcAft>
                <a:spcPts val="800"/>
              </a:spcAft>
              <a:defRPr sz="2200">
                <a:solidFill>
                  <a:srgbClr val="18222D"/>
                </a:solidFill>
                <a:latin typeface="Aptos"/>
              </a:defRPr>
            </a:pPr>
            <a:r>
              <a:t>Checklist compliance without threat modeling</a:t>
            </a:r>
          </a:p>
          <a:p>
            <a:pPr>
              <a:spcAft>
                <a:spcPts val="800"/>
              </a:spcAft>
              <a:defRPr sz="2200">
                <a:solidFill>
                  <a:srgbClr val="18222D"/>
                </a:solidFill>
                <a:latin typeface="Aptos"/>
              </a:defRPr>
            </a:pPr>
            <a:r>
              <a:t>Over-reliance on one tool category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0796B"/>
                </a:solidFill>
                <a:latin typeface="Aptos"/>
              </a:defRPr>
            </a:pPr>
            <a:r>
              <a:t>Chapter 3: Programs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18/67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Chapter 4 Overview: The Web - User Side</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Browser attack surface</a:t>
            </a:r>
          </a:p>
          <a:p>
            <a:pPr>
              <a:spcAft>
                <a:spcPts val="800"/>
              </a:spcAft>
              <a:defRPr sz="2200">
                <a:solidFill>
                  <a:srgbClr val="18222D"/>
                </a:solidFill>
                <a:latin typeface="Aptos"/>
              </a:defRPr>
            </a:pPr>
            <a:r>
              <a:t>Web content attacks targeting users</a:t>
            </a:r>
          </a:p>
          <a:p>
            <a:pPr>
              <a:spcAft>
                <a:spcPts val="800"/>
              </a:spcAft>
              <a:defRPr sz="2200">
                <a:solidFill>
                  <a:srgbClr val="18222D"/>
                </a:solidFill>
                <a:latin typeface="Aptos"/>
              </a:defRPr>
            </a:pPr>
            <a:r>
              <a:t>Data extraction attacks through script/injection</a:t>
            </a:r>
          </a:p>
          <a:p>
            <a:pPr>
              <a:spcAft>
                <a:spcPts val="800"/>
              </a:spcAft>
              <a:defRPr sz="2200">
                <a:solidFill>
                  <a:srgbClr val="18222D"/>
                </a:solidFill>
                <a:latin typeface="Aptos"/>
              </a:defRPr>
            </a:pPr>
            <a:r>
              <a:t>Email attack vectors and trust abuse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20/67</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Why Browsers Are High-Risk by Design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Browsers fetch from many unseen origins</a:t>
            </a:r>
          </a:p>
          <a:p>
            <a:pPr>
              <a:spcAft>
                <a:spcPts val="800"/>
              </a:spcAft>
              <a:defRPr sz="2200">
                <a:solidFill>
                  <a:srgbClr val="18222D"/>
                </a:solidFill>
                <a:latin typeface="Aptos"/>
              </a:defRPr>
            </a:pPr>
            <a:r>
              <a:t>Rich scripts execute with significant local privilege</a:t>
            </a:r>
          </a:p>
          <a:p>
            <a:pPr>
              <a:spcAft>
                <a:spcPts val="800"/>
              </a:spcAft>
              <a:defRPr sz="2200">
                <a:solidFill>
                  <a:srgbClr val="18222D"/>
                </a:solidFill>
                <a:latin typeface="Aptos"/>
              </a:defRPr>
            </a:pPr>
            <a:r>
              <a:t>Users cannot easily inspect full traffic behavior</a:t>
            </a:r>
          </a:p>
          <a:p>
            <a:pPr>
              <a:spcAft>
                <a:spcPts val="800"/>
              </a:spcAft>
              <a:defRPr sz="2200">
                <a:solidFill>
                  <a:srgbClr val="18222D"/>
                </a:solidFill>
                <a:latin typeface="Aptos"/>
              </a:defRPr>
            </a:pPr>
            <a:r>
              <a:t>Add-ons and plug-ins expand attack surface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21/67</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Man-in-the-Browser Attacks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Malicious code operates inside trusted browser context</a:t>
            </a:r>
          </a:p>
          <a:p>
            <a:pPr>
              <a:spcAft>
                <a:spcPts val="800"/>
              </a:spcAft>
              <a:defRPr sz="2200">
                <a:solidFill>
                  <a:srgbClr val="18222D"/>
                </a:solidFill>
                <a:latin typeface="Aptos"/>
              </a:defRPr>
            </a:pPr>
            <a:r>
              <a:t>Can intercept credentials before encryption</a:t>
            </a:r>
          </a:p>
          <a:p>
            <a:pPr>
              <a:spcAft>
                <a:spcPts val="800"/>
              </a:spcAft>
              <a:defRPr sz="2200">
                <a:solidFill>
                  <a:srgbClr val="18222D"/>
                </a:solidFill>
                <a:latin typeface="Aptos"/>
              </a:defRPr>
            </a:pPr>
            <a:r>
              <a:t>Can alter transaction details and displayed confirmations</a:t>
            </a:r>
          </a:p>
          <a:p>
            <a:pPr>
              <a:spcAft>
                <a:spcPts val="800"/>
              </a:spcAft>
              <a:defRPr sz="2200">
                <a:solidFill>
                  <a:srgbClr val="18222D"/>
                </a:solidFill>
                <a:latin typeface="Aptos"/>
              </a:defRPr>
            </a:pPr>
            <a:r>
              <a:t>Traditional page-level trust signals may still appear normal</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22/67</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Page-in-the-Middle and Download Substitution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Victim is redirected to attacker-controlled page</a:t>
            </a:r>
          </a:p>
          <a:p>
            <a:pPr>
              <a:spcAft>
                <a:spcPts val="800"/>
              </a:spcAft>
              <a:defRPr sz="2200">
                <a:solidFill>
                  <a:srgbClr val="18222D"/>
                </a:solidFill>
                <a:latin typeface="Aptos"/>
              </a:defRPr>
            </a:pPr>
            <a:r>
              <a:t>Fake login or update pages capture credentials</a:t>
            </a:r>
          </a:p>
          <a:p>
            <a:pPr>
              <a:spcAft>
                <a:spcPts val="800"/>
              </a:spcAft>
              <a:defRPr sz="2200">
                <a:solidFill>
                  <a:srgbClr val="18222D"/>
                </a:solidFill>
                <a:latin typeface="Aptos"/>
              </a:defRPr>
            </a:pPr>
            <a:r>
              <a:t>User-approved install can still deliver malicious payload</a:t>
            </a:r>
          </a:p>
          <a:p>
            <a:pPr>
              <a:spcAft>
                <a:spcPts val="800"/>
              </a:spcAft>
              <a:defRPr sz="2200">
                <a:solidFill>
                  <a:srgbClr val="18222D"/>
                </a:solidFill>
                <a:latin typeface="Aptos"/>
              </a:defRPr>
            </a:pPr>
            <a:r>
              <a:t>Trusting UI appearance is insufficient</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23/67</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Defacement, Fake Sites, and Fake Software</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Website defacement can be obvious or subtle</a:t>
            </a:r>
          </a:p>
          <a:p>
            <a:pPr>
              <a:spcAft>
                <a:spcPts val="800"/>
              </a:spcAft>
              <a:defRPr sz="2200">
                <a:solidFill>
                  <a:srgbClr val="18222D"/>
                </a:solidFill>
                <a:latin typeface="Aptos"/>
              </a:defRPr>
            </a:pPr>
            <a:r>
              <a:t>Fake domains and cloned assets enable convincing impersonation</a:t>
            </a:r>
          </a:p>
          <a:p>
            <a:pPr>
              <a:spcAft>
                <a:spcPts val="800"/>
              </a:spcAft>
              <a:defRPr sz="2200">
                <a:solidFill>
                  <a:srgbClr val="18222D"/>
                </a:solidFill>
                <a:latin typeface="Aptos"/>
              </a:defRPr>
            </a:pPr>
            <a:r>
              <a:t>Compromised trusted sites amplify attacker success</a:t>
            </a:r>
          </a:p>
          <a:p>
            <a:pPr>
              <a:spcAft>
                <a:spcPts val="800"/>
              </a:spcAft>
              <a:defRPr sz="2200">
                <a:solidFill>
                  <a:srgbClr val="18222D"/>
                </a:solidFill>
                <a:latin typeface="Aptos"/>
              </a:defRPr>
            </a:pPr>
            <a:r>
              <a:t>Integrity verification and signed distribution help</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24/67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Web Bugs and Cross-Site Tracking</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Tiny invisible resources can trigger tracking events</a:t>
            </a:r>
          </a:p>
          <a:p>
            <a:pPr>
              <a:spcAft>
                <a:spcPts val="800"/>
              </a:spcAft>
              <a:defRPr sz="2200">
                <a:solidFill>
                  <a:srgbClr val="18222D"/>
                </a:solidFill>
                <a:latin typeface="Aptos"/>
              </a:defRPr>
            </a:pPr>
            <a:r>
              <a:t>Third-party trackers correlate behavior across sites</a:t>
            </a:r>
          </a:p>
          <a:p>
            <a:pPr>
              <a:spcAft>
                <a:spcPts val="800"/>
              </a:spcAft>
              <a:defRPr sz="2200">
                <a:solidFill>
                  <a:srgbClr val="18222D"/>
                </a:solidFill>
                <a:latin typeface="Aptos"/>
              </a:defRPr>
            </a:pPr>
            <a:r>
              <a:t>Metadata leakage creates privacy risk beyond content theft</a:t>
            </a:r>
          </a:p>
          <a:p>
            <a:pPr>
              <a:spcAft>
                <a:spcPts val="800"/>
              </a:spcAft>
              <a:defRPr sz="2200">
                <a:solidFill>
                  <a:srgbClr val="18222D"/>
                </a:solidFill>
                <a:latin typeface="Aptos"/>
              </a:defRPr>
            </a:pPr>
            <a:r>
              <a:t>Security and privacy concerns overlap directly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25/67</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Cross-Site Scripting (XSS)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Untrusted input is executed as script</a:t>
            </a:r>
          </a:p>
          <a:p>
            <a:pPr>
              <a:spcAft>
                <a:spcPts val="800"/>
              </a:spcAft>
              <a:defRPr sz="2200">
                <a:solidFill>
                  <a:srgbClr val="18222D"/>
                </a:solidFill>
                <a:latin typeface="Aptos"/>
              </a:defRPr>
            </a:pPr>
            <a:r>
              <a:t>Reflected and stored/persistent variants</a:t>
            </a:r>
          </a:p>
          <a:p>
            <a:pPr>
              <a:spcAft>
                <a:spcPts val="800"/>
              </a:spcAft>
              <a:defRPr sz="2200">
                <a:solidFill>
                  <a:srgbClr val="18222D"/>
                </a:solidFill>
                <a:latin typeface="Aptos"/>
              </a:defRPr>
            </a:pPr>
            <a:r>
              <a:t>Can steal tokens, alter page behavior, and pivot attacks</a:t>
            </a:r>
          </a:p>
          <a:p>
            <a:pPr>
              <a:spcAft>
                <a:spcPts val="800"/>
              </a:spcAft>
              <a:defRPr sz="2200">
                <a:solidFill>
                  <a:srgbClr val="18222D"/>
                </a:solidFill>
                <a:latin typeface="Aptos"/>
              </a:defRPr>
            </a:pPr>
            <a:r>
              <a:t>Defenses: output encoding, input handling, CSP, framework defaults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26/67</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SQL Injection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Attackers inject SQL through unsanitized input</a:t>
            </a:r>
          </a:p>
          <a:p>
            <a:pPr>
              <a:spcAft>
                <a:spcPts val="800"/>
              </a:spcAft>
              <a:defRPr sz="2200">
                <a:solidFill>
                  <a:srgbClr val="18222D"/>
                </a:solidFill>
                <a:latin typeface="Aptos"/>
              </a:defRPr>
            </a:pPr>
            <a:r>
              <a:t>Can expose or modify unauthorized records</a:t>
            </a:r>
          </a:p>
          <a:p>
            <a:pPr>
              <a:spcAft>
                <a:spcPts val="800"/>
              </a:spcAft>
              <a:defRPr sz="2200">
                <a:solidFill>
                  <a:srgbClr val="18222D"/>
                </a:solidFill>
                <a:latin typeface="Aptos"/>
              </a:defRPr>
            </a:pPr>
            <a:r>
              <a:t>Often caused by string concatenation in query building</a:t>
            </a:r>
          </a:p>
          <a:p>
            <a:pPr>
              <a:spcAft>
                <a:spcPts val="800"/>
              </a:spcAft>
              <a:defRPr sz="2200">
                <a:solidFill>
                  <a:srgbClr val="18222D"/>
                </a:solidFill>
                <a:latin typeface="Aptos"/>
              </a:defRPr>
            </a:pPr>
            <a:r>
              <a:t>Defenses: parameterized queries and least-privilege DB accounts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27/67</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Path Traversal and Server-Side Include Abuse</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Dot-dot-slash patterns can escape intended file directories</a:t>
            </a:r>
          </a:p>
          <a:p>
            <a:pPr>
              <a:spcAft>
                <a:spcPts val="800"/>
              </a:spcAft>
              <a:defRPr sz="2200">
                <a:solidFill>
                  <a:srgbClr val="18222D"/>
                </a:solidFill>
                <a:latin typeface="Aptos"/>
              </a:defRPr>
            </a:pPr>
            <a:r>
              <a:t>Server-side include commands may execute unsafe actions</a:t>
            </a:r>
          </a:p>
          <a:p>
            <a:pPr>
              <a:spcAft>
                <a:spcPts val="800"/>
              </a:spcAft>
              <a:defRPr sz="2200">
                <a:solidFill>
                  <a:srgbClr val="18222D"/>
                </a:solidFill>
                <a:latin typeface="Aptos"/>
              </a:defRPr>
            </a:pPr>
            <a:r>
              <a:t>Poor isolation magnifies impact of compromise</a:t>
            </a:r>
          </a:p>
          <a:p>
            <a:pPr>
              <a:spcAft>
                <a:spcPts val="800"/>
              </a:spcAft>
              <a:defRPr sz="2200">
                <a:solidFill>
                  <a:srgbClr val="18222D"/>
                </a:solidFill>
                <a:latin typeface="Aptos"/>
              </a:defRPr>
            </a:pPr>
            <a:r>
              <a:t>Defenses: allowlists, jailed runtime, constrained execution context</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28/67</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Website Breaches Are Also User Harm</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Credential stores are high-value attacker targets</a:t>
            </a:r>
          </a:p>
          <a:p>
            <a:pPr>
              <a:spcAft>
                <a:spcPts val="800"/>
              </a:spcAft>
              <a:defRPr sz="2200">
                <a:solidFill>
                  <a:srgbClr val="18222D"/>
                </a:solidFill>
                <a:latin typeface="Aptos"/>
              </a:defRPr>
            </a:pPr>
            <a:r>
              <a:t>Password reuse multiplies downstream compromise</a:t>
            </a:r>
          </a:p>
          <a:p>
            <a:pPr>
              <a:spcAft>
                <a:spcPts val="800"/>
              </a:spcAft>
              <a:defRPr sz="2200">
                <a:solidFill>
                  <a:srgbClr val="18222D"/>
                </a:solidFill>
                <a:latin typeface="Aptos"/>
              </a:defRPr>
            </a:pPr>
            <a:r>
              <a:t>Users suffer even when site owner was initially breached</a:t>
            </a:r>
          </a:p>
          <a:p>
            <a:pPr>
              <a:spcAft>
                <a:spcPts val="800"/>
              </a:spcAft>
              <a:defRPr sz="2200">
                <a:solidFill>
                  <a:srgbClr val="18222D"/>
                </a:solidFill>
                <a:latin typeface="Aptos"/>
              </a:defRPr>
            </a:pPr>
            <a:r>
              <a:t>Defenses: strong unique passwords, MFA, breach response discipline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29/67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Email Attacks: Spam, Spoofing, Phishing, Spear Phishing</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High volume and low cost make spam economically persistent</a:t>
            </a:r>
          </a:p>
          <a:p>
            <a:pPr>
              <a:spcAft>
                <a:spcPts val="800"/>
              </a:spcAft>
              <a:defRPr sz="2200">
                <a:solidFill>
                  <a:srgbClr val="18222D"/>
                </a:solidFill>
                <a:latin typeface="Aptos"/>
              </a:defRPr>
            </a:pPr>
            <a:r>
              <a:t>Header fields are easy to spoof without strong validation</a:t>
            </a:r>
          </a:p>
          <a:p>
            <a:pPr>
              <a:spcAft>
                <a:spcPts val="800"/>
              </a:spcAft>
              <a:defRPr sz="2200">
                <a:solidFill>
                  <a:srgbClr val="18222D"/>
                </a:solidFill>
                <a:latin typeface="Aptos"/>
              </a:defRPr>
            </a:pPr>
            <a:r>
              <a:t>Phishing solicits sensitive data or unsafe actions</a:t>
            </a:r>
          </a:p>
          <a:p>
            <a:pPr>
              <a:spcAft>
                <a:spcPts val="800"/>
              </a:spcAft>
              <a:defRPr sz="2200">
                <a:solidFill>
                  <a:srgbClr val="18222D"/>
                </a:solidFill>
                <a:latin typeface="Aptos"/>
              </a:defRPr>
            </a:pPr>
            <a:r>
              <a:t>Spear phishing personalizes bait using social context</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30/67</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Defensive Strategy for Chapter 4 Threats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Secure coding: validate, encode, parameterize, constrain</a:t>
            </a:r>
          </a:p>
          <a:p>
            <a:pPr>
              <a:spcAft>
                <a:spcPts val="800"/>
              </a:spcAft>
              <a:defRPr sz="2200">
                <a:solidFill>
                  <a:srgbClr val="18222D"/>
                </a:solidFill>
                <a:latin typeface="Aptos"/>
              </a:defRPr>
            </a:pPr>
            <a:r>
              <a:t>Architecture: segmentation, least privilege, monitoring</a:t>
            </a:r>
          </a:p>
          <a:p>
            <a:pPr>
              <a:spcAft>
                <a:spcPts val="800"/>
              </a:spcAft>
              <a:defRPr sz="2200">
                <a:solidFill>
                  <a:srgbClr val="18222D"/>
                </a:solidFill>
                <a:latin typeface="Aptos"/>
              </a:defRPr>
            </a:pPr>
            <a:r>
              <a:t>User controls: skepticism, verification, reporting</a:t>
            </a:r>
          </a:p>
          <a:p>
            <a:pPr>
              <a:spcAft>
                <a:spcPts val="800"/>
              </a:spcAft>
              <a:defRPr sz="2200">
                <a:solidFill>
                  <a:srgbClr val="18222D"/>
                </a:solidFill>
                <a:latin typeface="Aptos"/>
              </a:defRPr>
            </a:pPr>
            <a:r>
              <a:t>Cryptographic protections for email authenticity/confidentiality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31/67</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E651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Chapter 4 Checkpoint</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Prompt 1: Compare MITB and page-in-the-middle</a:t>
            </a:r>
          </a:p>
          <a:p>
            <a:pPr>
              <a:spcAft>
                <a:spcPts val="800"/>
              </a:spcAft>
              <a:defRPr sz="2200">
                <a:solidFill>
                  <a:srgbClr val="18222D"/>
                </a:solidFill>
                <a:latin typeface="Aptos"/>
              </a:defRPr>
            </a:pPr>
            <a:r>
              <a:t>Prompt 2: Explain one injection attack and one defense</a:t>
            </a:r>
          </a:p>
          <a:p>
            <a:pPr>
              <a:spcAft>
                <a:spcPts val="800"/>
              </a:spcAft>
              <a:defRPr sz="2200">
                <a:solidFill>
                  <a:srgbClr val="18222D"/>
                </a:solidFill>
                <a:latin typeface="Aptos"/>
              </a:defRPr>
            </a:pPr>
            <a:r>
              <a:t>Prompt 3: Why can phishing succeed even with technical controls?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E65100"/>
                </a:solidFill>
                <a:latin typeface="Aptos"/>
              </a:defRPr>
            </a:pPr>
            <a:r>
              <a:t>Chapter 4: Web User Side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32/67</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Chapter 5 Overview: Operating Systems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OS enforces separation, access control, and resource governance</a:t>
            </a:r>
          </a:p>
          <a:p>
            <a:pPr>
              <a:spcAft>
                <a:spcPts val="800"/>
              </a:spcAft>
              <a:defRPr sz="2200">
                <a:solidFill>
                  <a:srgbClr val="18222D"/>
                </a:solidFill>
                <a:latin typeface="Aptos"/>
              </a:defRPr>
            </a:pPr>
            <a:r>
              <a:t>OS security quality affects all upper-layer applications</a:t>
            </a:r>
          </a:p>
          <a:p>
            <a:pPr>
              <a:spcAft>
                <a:spcPts val="800"/>
              </a:spcAft>
              <a:defRPr sz="2200">
                <a:solidFill>
                  <a:srgbClr val="18222D"/>
                </a:solidFill>
                <a:latin typeface="Aptos"/>
              </a:defRPr>
            </a:pPr>
            <a:r>
              <a:t>Trusted design principles reduce systemic risk</a:t>
            </a:r>
          </a:p>
          <a:p>
            <a:pPr>
              <a:spcAft>
                <a:spcPts val="800"/>
              </a:spcAft>
              <a:defRPr sz="2200">
                <a:solidFill>
                  <a:srgbClr val="18222D"/>
                </a:solidFill>
                <a:latin typeface="Aptos"/>
              </a:defRPr>
            </a:pPr>
            <a:r>
              <a:t>Rootkits show what happens when OS trust is subverted</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33/67</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OS as First Line of Defense and Prime Target</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Authentication, memory isolation, file controls, process control</a:t>
            </a:r>
          </a:p>
          <a:p>
            <a:pPr>
              <a:spcAft>
                <a:spcPts val="800"/>
              </a:spcAft>
              <a:defRPr sz="2200">
                <a:solidFill>
                  <a:srgbClr val="18222D"/>
                </a:solidFill>
                <a:latin typeface="Aptos"/>
              </a:defRPr>
            </a:pPr>
            <a:r>
              <a:t>Boot sequence timing affects who controls system first</a:t>
            </a:r>
          </a:p>
          <a:p>
            <a:pPr>
              <a:spcAft>
                <a:spcPts val="800"/>
              </a:spcAft>
              <a:defRPr sz="2200">
                <a:solidFill>
                  <a:srgbClr val="18222D"/>
                </a:solidFill>
                <a:latin typeface="Aptos"/>
              </a:defRPr>
            </a:pPr>
            <a:r>
              <a:t>Early compromise can neutralize later defenses</a:t>
            </a:r>
          </a:p>
          <a:p>
            <a:pPr>
              <a:spcAft>
                <a:spcPts val="800"/>
              </a:spcAft>
              <a:defRPr sz="2200">
                <a:solidFill>
                  <a:srgbClr val="18222D"/>
                </a:solidFill>
                <a:latin typeface="Aptos"/>
              </a:defRPr>
            </a:pPr>
            <a:r>
              <a:t>Privilege escalation aims for administrator or root authority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34/67</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Security Features in Ordinary Operating Systems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User authentication and credential handling</a:t>
            </a:r>
          </a:p>
          <a:p>
            <a:pPr>
              <a:spcAft>
                <a:spcPts val="800"/>
              </a:spcAft>
              <a:defRPr sz="2200">
                <a:solidFill>
                  <a:srgbClr val="18222D"/>
                </a:solidFill>
                <a:latin typeface="Aptos"/>
              </a:defRPr>
            </a:pPr>
            <a:r>
              <a:t>Memory protection via paging/segmentation mechanisms</a:t>
            </a:r>
          </a:p>
          <a:p>
            <a:pPr>
              <a:spcAft>
                <a:spcPts val="800"/>
              </a:spcAft>
              <a:defRPr sz="2200">
                <a:solidFill>
                  <a:srgbClr val="18222D"/>
                </a:solidFill>
                <a:latin typeface="Aptos"/>
              </a:defRPr>
            </a:pPr>
            <a:r>
              <a:t>File, device, and object access control</a:t>
            </a:r>
          </a:p>
          <a:p>
            <a:pPr>
              <a:spcAft>
                <a:spcPts val="800"/>
              </a:spcAft>
              <a:defRPr sz="2200">
                <a:solidFill>
                  <a:srgbClr val="18222D"/>
                </a:solidFill>
                <a:latin typeface="Aptos"/>
              </a:defRPr>
            </a:pPr>
            <a:r>
              <a:t>Auditing and accountability records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35/67</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Memory Protection and Isolation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Base/bounds concepts and protected address spaces</a:t>
            </a:r>
          </a:p>
          <a:p>
            <a:pPr>
              <a:spcAft>
                <a:spcPts val="800"/>
              </a:spcAft>
              <a:defRPr sz="2200">
                <a:solidFill>
                  <a:srgbClr val="18222D"/>
                </a:solidFill>
                <a:latin typeface="Aptos"/>
              </a:defRPr>
            </a:pPr>
            <a:r>
              <a:t>Execute vs read/write permissions for memory regions</a:t>
            </a:r>
          </a:p>
          <a:p>
            <a:pPr>
              <a:spcAft>
                <a:spcPts val="800"/>
              </a:spcAft>
              <a:defRPr sz="2200">
                <a:solidFill>
                  <a:srgbClr val="18222D"/>
                </a:solidFill>
                <a:latin typeface="Aptos"/>
              </a:defRPr>
            </a:pPr>
            <a:r>
              <a:t>Isolation limits one process from corrupting another</a:t>
            </a:r>
          </a:p>
          <a:p>
            <a:pPr>
              <a:spcAft>
                <a:spcPts val="800"/>
              </a:spcAft>
              <a:defRPr sz="2200">
                <a:solidFill>
                  <a:srgbClr val="18222D"/>
                </a:solidFill>
                <a:latin typeface="Aptos"/>
              </a:defRPr>
            </a:pPr>
            <a:r>
              <a:t>Design goal: containment of faults and attacks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36/67</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Virtualization and Hypervisors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Virtualization presents controlled resource views per workload</a:t>
            </a:r>
          </a:p>
          <a:p>
            <a:pPr>
              <a:spcAft>
                <a:spcPts val="800"/>
              </a:spcAft>
              <a:defRPr sz="2200">
                <a:solidFill>
                  <a:srgbClr val="18222D"/>
                </a:solidFill>
                <a:latin typeface="Aptos"/>
              </a:defRPr>
            </a:pPr>
            <a:r>
              <a:t>Hypervisor mediates guest access to physical resources</a:t>
            </a:r>
          </a:p>
          <a:p>
            <a:pPr>
              <a:spcAft>
                <a:spcPts val="800"/>
              </a:spcAft>
              <a:defRPr sz="2200">
                <a:solidFill>
                  <a:srgbClr val="18222D"/>
                </a:solidFill>
                <a:latin typeface="Aptos"/>
              </a:defRPr>
            </a:pPr>
            <a:r>
              <a:t>Supports isolation, legacy compatibility, and safer testing</a:t>
            </a:r>
          </a:p>
          <a:p>
            <a:pPr>
              <a:spcAft>
                <a:spcPts val="800"/>
              </a:spcAft>
              <a:defRPr sz="2200">
                <a:solidFill>
                  <a:srgbClr val="18222D"/>
                </a:solidFill>
                <a:latin typeface="Aptos"/>
              </a:defRPr>
            </a:pPr>
            <a:r>
              <a:t>Security benefit depends on strong boundary enforcement</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37/67</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Sandbox and Honeypot Concepts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Sandbox: constrained execution space for untrusted code</a:t>
            </a:r>
          </a:p>
          <a:p>
            <a:pPr>
              <a:spcAft>
                <a:spcPts val="800"/>
              </a:spcAft>
              <a:defRPr sz="2200">
                <a:solidFill>
                  <a:srgbClr val="18222D"/>
                </a:solidFill>
                <a:latin typeface="Aptos"/>
              </a:defRPr>
            </a:pPr>
            <a:r>
              <a:t>Honeypot: monitored decoy environment to study attacker behavior</a:t>
            </a:r>
          </a:p>
          <a:p>
            <a:pPr>
              <a:spcAft>
                <a:spcPts val="800"/>
              </a:spcAft>
              <a:defRPr sz="2200">
                <a:solidFill>
                  <a:srgbClr val="18222D"/>
                </a:solidFill>
                <a:latin typeface="Aptos"/>
              </a:defRPr>
            </a:pPr>
            <a:r>
              <a:t>Both rely on strong isolation from production assets</a:t>
            </a:r>
          </a:p>
          <a:p>
            <a:pPr>
              <a:spcAft>
                <a:spcPts val="800"/>
              </a:spcAft>
              <a:defRPr sz="2200">
                <a:solidFill>
                  <a:srgbClr val="18222D"/>
                </a:solidFill>
                <a:latin typeface="Aptos"/>
              </a:defRPr>
            </a:pPr>
            <a:r>
              <a:t>Useful for education, detection, and threat intelligence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38/67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Layered Design in Secure Operating Systems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Critical functions placed in lower, more trusted layers</a:t>
            </a:r>
          </a:p>
          <a:p>
            <a:pPr>
              <a:spcAft>
                <a:spcPts val="800"/>
              </a:spcAft>
              <a:defRPr sz="2200">
                <a:solidFill>
                  <a:srgbClr val="18222D"/>
                </a:solidFill>
                <a:latin typeface="Aptos"/>
              </a:defRPr>
            </a:pPr>
            <a:r>
              <a:t>Higher layers consume lower-layer services</a:t>
            </a:r>
          </a:p>
          <a:p>
            <a:pPr>
              <a:spcAft>
                <a:spcPts val="800"/>
              </a:spcAft>
              <a:defRPr sz="2200">
                <a:solidFill>
                  <a:srgbClr val="18222D"/>
                </a:solidFill>
                <a:latin typeface="Aptos"/>
              </a:defRPr>
            </a:pPr>
            <a:r>
              <a:t>Layering supports modularity, analysis, and damage containment</a:t>
            </a:r>
          </a:p>
          <a:p>
            <a:pPr>
              <a:spcAft>
                <a:spcPts val="800"/>
              </a:spcAft>
              <a:defRPr sz="2200">
                <a:solidFill>
                  <a:srgbClr val="18222D"/>
                </a:solidFill>
                <a:latin typeface="Aptos"/>
              </a:defRPr>
            </a:pPr>
            <a:r>
              <a:t>Poor layering increases hidden coupling and vulnerability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39/67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Security Kernel and Reference Monitor</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Security kernel: locus of security enforcement</a:t>
            </a:r>
          </a:p>
          <a:p>
            <a:pPr>
              <a:spcAft>
                <a:spcPts val="800"/>
              </a:spcAft>
              <a:defRPr sz="2200">
                <a:solidFill>
                  <a:srgbClr val="18222D"/>
                </a:solidFill>
                <a:latin typeface="Aptos"/>
              </a:defRPr>
            </a:pPr>
            <a:r>
              <a:t>Reference monitor properties: tamperproof, unbypassable, analyzable</a:t>
            </a:r>
          </a:p>
          <a:p>
            <a:pPr>
              <a:spcAft>
                <a:spcPts val="800"/>
              </a:spcAft>
              <a:defRPr sz="2200">
                <a:solidFill>
                  <a:srgbClr val="18222D"/>
                </a:solidFill>
                <a:latin typeface="Aptos"/>
              </a:defRPr>
            </a:pPr>
            <a:r>
              <a:t>Every protected access should pass through mediation</a:t>
            </a:r>
          </a:p>
          <a:p>
            <a:pPr>
              <a:spcAft>
                <a:spcPts val="800"/>
              </a:spcAft>
              <a:defRPr sz="2200">
                <a:solidFill>
                  <a:srgbClr val="18222D"/>
                </a:solidFill>
                <a:latin typeface="Aptos"/>
              </a:defRPr>
            </a:pPr>
            <a:r>
              <a:t>Small, testable enforcement core improves assurance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40/67</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Correctness, Completeness, and Secure Design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Correctness: controls behave as intended</a:t>
            </a:r>
          </a:p>
          <a:p>
            <a:pPr>
              <a:spcAft>
                <a:spcPts val="800"/>
              </a:spcAft>
              <a:defRPr sz="2200">
                <a:solidFill>
                  <a:srgbClr val="18222D"/>
                </a:solidFill>
                <a:latin typeface="Aptos"/>
              </a:defRPr>
            </a:pPr>
            <a:r>
              <a:t>Completeness: controls exist wherever needed</a:t>
            </a:r>
          </a:p>
          <a:p>
            <a:pPr>
              <a:spcAft>
                <a:spcPts val="800"/>
              </a:spcAft>
              <a:defRPr sz="2200">
                <a:solidFill>
                  <a:srgbClr val="18222D"/>
                </a:solidFill>
                <a:latin typeface="Aptos"/>
              </a:defRPr>
            </a:pPr>
            <a:r>
              <a:t>Saltzer and Schroeder principles remain relevant</a:t>
            </a:r>
          </a:p>
          <a:p>
            <a:pPr>
              <a:spcAft>
                <a:spcPts val="800"/>
              </a:spcAft>
              <a:defRPr sz="2200">
                <a:solidFill>
                  <a:srgbClr val="18222D"/>
                </a:solidFill>
                <a:latin typeface="Aptos"/>
              </a:defRPr>
            </a:pPr>
            <a:r>
              <a:t>Security must be built in from design, not bolted on later</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41/67</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Trusted Systems and Evaluation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"Trusted" means justified confidence, not blind belief</a:t>
            </a:r>
          </a:p>
          <a:p>
            <a:pPr>
              <a:spcAft>
                <a:spcPts val="800"/>
              </a:spcAft>
              <a:defRPr sz="2200">
                <a:solidFill>
                  <a:srgbClr val="18222D"/>
                </a:solidFill>
                <a:latin typeface="Aptos"/>
              </a:defRPr>
            </a:pPr>
            <a:r>
              <a:t>Trusted computing base (TCB) must be minimal and defensible</a:t>
            </a:r>
          </a:p>
          <a:p>
            <a:pPr>
              <a:spcAft>
                <a:spcPts val="800"/>
              </a:spcAft>
              <a:defRPr sz="2200">
                <a:solidFill>
                  <a:srgbClr val="18222D"/>
                </a:solidFill>
                <a:latin typeface="Aptos"/>
              </a:defRPr>
            </a:pPr>
            <a:r>
              <a:t>Independent evaluation frameworks improve assurance</a:t>
            </a:r>
          </a:p>
          <a:p>
            <a:pPr>
              <a:spcAft>
                <a:spcPts val="800"/>
              </a:spcAft>
              <a:defRPr sz="2200">
                <a:solidFill>
                  <a:srgbClr val="18222D"/>
                </a:solidFill>
                <a:latin typeface="Aptos"/>
              </a:defRPr>
            </a:pPr>
            <a:r>
              <a:t>Evidence-based trust supports high-stakes environments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42/67</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Rootkits: Core Idea</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Rootkits seek highest privilege and long-term persistence</a:t>
            </a:r>
          </a:p>
          <a:p>
            <a:pPr>
              <a:spcAft>
                <a:spcPts val="800"/>
              </a:spcAft>
              <a:defRPr sz="2200">
                <a:solidFill>
                  <a:srgbClr val="18222D"/>
                </a:solidFill>
                <a:latin typeface="Aptos"/>
              </a:defRPr>
            </a:pPr>
            <a:r>
              <a:t>Operate by modifying or intercepting OS behavior</a:t>
            </a:r>
          </a:p>
          <a:p>
            <a:pPr>
              <a:spcAft>
                <a:spcPts val="800"/>
              </a:spcAft>
              <a:defRPr sz="2200">
                <a:solidFill>
                  <a:srgbClr val="18222D"/>
                </a:solidFill>
                <a:latin typeface="Aptos"/>
              </a:defRPr>
            </a:pPr>
            <a:r>
              <a:t>Goal: hide malicious activity from normal tools</a:t>
            </a:r>
          </a:p>
          <a:p>
            <a:pPr>
              <a:spcAft>
                <a:spcPts val="800"/>
              </a:spcAft>
              <a:defRPr sz="2200">
                <a:solidFill>
                  <a:srgbClr val="18222D"/>
                </a:solidFill>
                <a:latin typeface="Aptos"/>
              </a:defRPr>
            </a:pPr>
            <a:r>
              <a:t>Can neutralize logging, scanning, and startup controls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43/67</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Rootkit Stealth Techniques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Hooking API/system-call paths to filter outputs</a:t>
            </a:r>
          </a:p>
          <a:p>
            <a:pPr>
              <a:spcAft>
                <a:spcPts val="800"/>
              </a:spcAft>
              <a:defRPr sz="2200">
                <a:solidFill>
                  <a:srgbClr val="18222D"/>
                </a:solidFill>
                <a:latin typeface="Aptos"/>
              </a:defRPr>
            </a:pPr>
            <a:r>
              <a:t>Hiding files, processes, registry keys, or network activity</a:t>
            </a:r>
          </a:p>
          <a:p>
            <a:pPr>
              <a:spcAft>
                <a:spcPts val="800"/>
              </a:spcAft>
              <a:defRPr sz="2200">
                <a:solidFill>
                  <a:srgbClr val="18222D"/>
                </a:solidFill>
                <a:latin typeface="Aptos"/>
              </a:defRPr>
            </a:pPr>
            <a:r>
              <a:t>Splicing malicious control flow into trusted routines</a:t>
            </a:r>
          </a:p>
          <a:p>
            <a:pPr>
              <a:spcAft>
                <a:spcPts val="800"/>
              </a:spcAft>
              <a:defRPr sz="2200">
                <a:solidFill>
                  <a:srgbClr val="18222D"/>
                </a:solidFill>
                <a:latin typeface="Aptos"/>
              </a:defRPr>
            </a:pPr>
            <a:r>
              <a:t>Loading early in boot chain for control precedence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44/67</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Rootkit Examples from Chapter 5</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Phone rootkit demonstrations (microphone, GPS, battery abuse)</a:t>
            </a:r>
          </a:p>
          <a:p>
            <a:pPr>
              <a:spcAft>
                <a:spcPts val="800"/>
              </a:spcAft>
              <a:defRPr sz="2200">
                <a:solidFill>
                  <a:srgbClr val="18222D"/>
                </a:solidFill>
                <a:latin typeface="Aptos"/>
              </a:defRPr>
            </a:pPr>
            <a:r>
              <a:t>Sony XCP controversy: hidden DRM behavior and secondary risk</a:t>
            </a:r>
          </a:p>
          <a:p>
            <a:pPr>
              <a:spcAft>
                <a:spcPts val="800"/>
              </a:spcAft>
              <a:defRPr sz="2200">
                <a:solidFill>
                  <a:srgbClr val="18222D"/>
                </a:solidFill>
                <a:latin typeface="Aptos"/>
              </a:defRPr>
            </a:pPr>
            <a:r>
              <a:t>TDSS family: evolving stealth and command-and-control techniques</a:t>
            </a:r>
          </a:p>
          <a:p>
            <a:pPr>
              <a:spcAft>
                <a:spcPts val="800"/>
              </a:spcAft>
              <a:defRPr sz="2200">
                <a:solidFill>
                  <a:srgbClr val="18222D"/>
                </a:solidFill>
                <a:latin typeface="Aptos"/>
              </a:defRPr>
            </a:pPr>
            <a:r>
              <a:t>Lesson: complexity and opacity increase systemic fragility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45/67</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Rootkit Defense Playbook</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Secure boot and code-signing enforcement</a:t>
            </a:r>
          </a:p>
          <a:p>
            <a:pPr>
              <a:spcAft>
                <a:spcPts val="800"/>
              </a:spcAft>
              <a:defRPr sz="2200">
                <a:solidFill>
                  <a:srgbClr val="18222D"/>
                </a:solidFill>
                <a:latin typeface="Aptos"/>
              </a:defRPr>
            </a:pPr>
            <a:r>
              <a:t>Patch management and attack-surface reduction</a:t>
            </a:r>
          </a:p>
          <a:p>
            <a:pPr>
              <a:spcAft>
                <a:spcPts val="800"/>
              </a:spcAft>
              <a:defRPr sz="2200">
                <a:solidFill>
                  <a:srgbClr val="18222D"/>
                </a:solidFill>
                <a:latin typeface="Aptos"/>
              </a:defRPr>
            </a:pPr>
            <a:r>
              <a:t>Least privilege and hardened endpoint configuration</a:t>
            </a:r>
          </a:p>
          <a:p>
            <a:pPr>
              <a:spcAft>
                <a:spcPts val="800"/>
              </a:spcAft>
              <a:defRPr sz="2200">
                <a:solidFill>
                  <a:srgbClr val="18222D"/>
                </a:solidFill>
                <a:latin typeface="Aptos"/>
              </a:defRPr>
            </a:pPr>
            <a:r>
              <a:t>Out-of-band integrity checks and incident recovery plans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46/67</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Chapter 5 Checkpoint</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Prompt 1: Why is reference monitor quality central to OS security?</a:t>
            </a:r>
          </a:p>
          <a:p>
            <a:pPr>
              <a:spcAft>
                <a:spcPts val="800"/>
              </a:spcAft>
              <a:defRPr sz="2200">
                <a:solidFill>
                  <a:srgbClr val="18222D"/>
                </a:solidFill>
                <a:latin typeface="Aptos"/>
              </a:defRPr>
            </a:pPr>
            <a:r>
              <a:t>Prompt 2: Give one rootkit stealth mechanism and one defense</a:t>
            </a:r>
          </a:p>
          <a:p>
            <a:pPr>
              <a:spcAft>
                <a:spcPts val="800"/>
              </a:spcAft>
              <a:defRPr sz="2200">
                <a:solidFill>
                  <a:srgbClr val="18222D"/>
                </a:solidFill>
                <a:latin typeface="Aptos"/>
              </a:defRPr>
            </a:pPr>
            <a:r>
              <a:t>Prompt 3: Explain why trusted means evidence-based</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E7D32"/>
                </a:solidFill>
                <a:latin typeface="Aptos"/>
              </a:defRPr>
            </a:pPr>
            <a:r>
              <a:t>Chapter 5: Operating Systems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47/67</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Applied Scenario Setup: Student Support Portal</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Fictional but realistic campus data system</a:t>
            </a:r>
          </a:p>
          <a:p>
            <a:pPr>
              <a:spcAft>
                <a:spcPts val="800"/>
              </a:spcAft>
              <a:defRPr sz="2200">
                <a:solidFill>
                  <a:srgbClr val="18222D"/>
                </a:solidFill>
                <a:latin typeface="Aptos"/>
              </a:defRPr>
            </a:pPr>
            <a:r>
              <a:t>Stores profiles, appointment notes, and referral metadata</a:t>
            </a:r>
          </a:p>
          <a:p>
            <a:pPr>
              <a:spcAft>
                <a:spcPts val="800"/>
              </a:spcAft>
              <a:defRPr sz="2200">
                <a:solidFill>
                  <a:srgbClr val="18222D"/>
                </a:solidFill>
                <a:latin typeface="Aptos"/>
              </a:defRPr>
            </a:pPr>
            <a:r>
              <a:t>Directly maps to Chapters 3, 4, and early 5</a:t>
            </a:r>
          </a:p>
          <a:p>
            <a:pPr>
              <a:spcAft>
                <a:spcPts val="800"/>
              </a:spcAft>
              <a:defRPr sz="2200">
                <a:solidFill>
                  <a:srgbClr val="18222D"/>
                </a:solidFill>
                <a:latin typeface="Aptos"/>
              </a:defRPr>
            </a:pPr>
            <a:r>
              <a:t>Goal: diagnose risk and prioritize practical controls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48/67</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Incident Timeline (Hypothetical Academic Term)</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Week 1: new feature release under deadline pressure</a:t>
            </a:r>
          </a:p>
          <a:p>
            <a:pPr>
              <a:spcAft>
                <a:spcPts val="800"/>
              </a:spcAft>
              <a:defRPr sz="2200">
                <a:solidFill>
                  <a:srgbClr val="18222D"/>
                </a:solidFill>
                <a:latin typeface="Aptos"/>
              </a:defRPr>
            </a:pPr>
            <a:r>
              <a:t>Week 3: anomalous login and query activity appears</a:t>
            </a:r>
          </a:p>
          <a:p>
            <a:pPr>
              <a:spcAft>
                <a:spcPts val="800"/>
              </a:spcAft>
              <a:defRPr sz="2200">
                <a:solidFill>
                  <a:srgbClr val="18222D"/>
                </a:solidFill>
                <a:latin typeface="Aptos"/>
              </a:defRPr>
            </a:pPr>
            <a:r>
              <a:t>Week 4: unauthorized export behavior is detected</a:t>
            </a:r>
          </a:p>
          <a:p>
            <a:pPr>
              <a:spcAft>
                <a:spcPts val="800"/>
              </a:spcAft>
              <a:defRPr sz="2200">
                <a:solidFill>
                  <a:srgbClr val="18222D"/>
                </a:solidFill>
                <a:latin typeface="Aptos"/>
              </a:defRPr>
            </a:pPr>
            <a:r>
              <a:t>Week 5: containment, communication, and remediation actions begin</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49/67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Trust Boundaries and Data Flow</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Browser and mobile clients send requests to web application</a:t>
            </a:r>
          </a:p>
          <a:p>
            <a:pPr>
              <a:spcAft>
                <a:spcPts val="800"/>
              </a:spcAft>
              <a:defRPr sz="2200">
                <a:solidFill>
                  <a:srgbClr val="18222D"/>
                </a:solidFill>
                <a:latin typeface="Aptos"/>
              </a:defRPr>
            </a:pPr>
            <a:r>
              <a:t>Application calls auth service, database, and file storage</a:t>
            </a:r>
          </a:p>
          <a:p>
            <a:pPr>
              <a:spcAft>
                <a:spcPts val="800"/>
              </a:spcAft>
              <a:defRPr sz="2200">
                <a:solidFill>
                  <a:srgbClr val="18222D"/>
                </a:solidFill>
                <a:latin typeface="Aptos"/>
              </a:defRPr>
            </a:pPr>
            <a:r>
              <a:t>Admin portal and API endpoints share core backend resources</a:t>
            </a:r>
          </a:p>
          <a:p>
            <a:pPr>
              <a:spcAft>
                <a:spcPts val="800"/>
              </a:spcAft>
              <a:defRPr sz="2200">
                <a:solidFill>
                  <a:srgbClr val="18222D"/>
                </a:solidFill>
                <a:latin typeface="Aptos"/>
              </a:defRPr>
            </a:pPr>
            <a:r>
              <a:t>Each boundary requires validation, authorization, and auditing</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50/67</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Vulnerability Profile: What Went Wrong</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Incomplete mediation on one API route</a:t>
            </a:r>
          </a:p>
          <a:p>
            <a:pPr>
              <a:spcAft>
                <a:spcPts val="800"/>
              </a:spcAft>
              <a:defRPr sz="2200">
                <a:solidFill>
                  <a:srgbClr val="18222D"/>
                </a:solidFill>
                <a:latin typeface="Aptos"/>
              </a:defRPr>
            </a:pPr>
            <a:r>
              <a:t>Unsafe query construction in a legacy code path</a:t>
            </a:r>
          </a:p>
          <a:p>
            <a:pPr>
              <a:spcAft>
                <a:spcPts val="800"/>
              </a:spcAft>
              <a:defRPr sz="2200">
                <a:solidFill>
                  <a:srgbClr val="18222D"/>
                </a:solidFill>
                <a:latin typeface="Aptos"/>
              </a:defRPr>
            </a:pPr>
            <a:r>
              <a:t>Over-privileged service account increased blast radius</a:t>
            </a:r>
          </a:p>
          <a:p>
            <a:pPr>
              <a:spcAft>
                <a:spcPts val="800"/>
              </a:spcAft>
              <a:defRPr sz="2200">
                <a:solidFill>
                  <a:srgbClr val="18222D"/>
                </a:solidFill>
                <a:latin typeface="Aptos"/>
              </a:defRPr>
            </a:pPr>
            <a:r>
              <a:t>Logging existed but alerting thresholds were weak</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51/67</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Attack Path and Impact Progression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Initial foothold through unvalidated input path</a:t>
            </a:r>
          </a:p>
          <a:p>
            <a:pPr>
              <a:spcAft>
                <a:spcPts val="800"/>
              </a:spcAft>
              <a:defRPr sz="2200">
                <a:solidFill>
                  <a:srgbClr val="18222D"/>
                </a:solidFill>
                <a:latin typeface="Aptos"/>
              </a:defRPr>
            </a:pPr>
            <a:r>
              <a:t>Privilege abuse via broad backend permissions</a:t>
            </a:r>
          </a:p>
          <a:p>
            <a:pPr>
              <a:spcAft>
                <a:spcPts val="800"/>
              </a:spcAft>
              <a:defRPr sz="2200">
                <a:solidFill>
                  <a:srgbClr val="18222D"/>
                </a:solidFill>
                <a:latin typeface="Aptos"/>
              </a:defRPr>
            </a:pPr>
            <a:r>
              <a:t>Sensitive record enumeration and staged export attempts</a:t>
            </a:r>
          </a:p>
          <a:p>
            <a:pPr>
              <a:spcAft>
                <a:spcPts val="800"/>
              </a:spcAft>
              <a:defRPr sz="2200">
                <a:solidFill>
                  <a:srgbClr val="18222D"/>
                </a:solidFill>
                <a:latin typeface="Aptos"/>
              </a:defRPr>
            </a:pPr>
            <a:r>
              <a:t>Primary impacts were confidentiality and integrity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52/67</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Detection and Response Gaps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Alert fatigue delayed escalation decisions</a:t>
            </a:r>
          </a:p>
          <a:p>
            <a:pPr>
              <a:spcAft>
                <a:spcPts val="800"/>
              </a:spcAft>
              <a:defRPr sz="2200">
                <a:solidFill>
                  <a:srgbClr val="18222D"/>
                </a:solidFill>
                <a:latin typeface="Aptos"/>
              </a:defRPr>
            </a:pPr>
            <a:r>
              <a:t>Asset and dependency inventory was incomplete</a:t>
            </a:r>
          </a:p>
          <a:p>
            <a:pPr>
              <a:spcAft>
                <a:spcPts val="800"/>
              </a:spcAft>
              <a:defRPr sz="2200">
                <a:solidFill>
                  <a:srgbClr val="18222D"/>
                </a:solidFill>
                <a:latin typeface="Aptos"/>
              </a:defRPr>
            </a:pPr>
            <a:r>
              <a:t>Incident roles and handoffs were unclear</a:t>
            </a:r>
          </a:p>
          <a:p>
            <a:pPr>
              <a:spcAft>
                <a:spcPts val="800"/>
              </a:spcAft>
              <a:defRPr sz="2200">
                <a:solidFill>
                  <a:srgbClr val="18222D"/>
                </a:solidFill>
                <a:latin typeface="Aptos"/>
              </a:defRPr>
            </a:pPr>
            <a:r>
              <a:t>Communication plan was reactive, not rehearsed</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53/67</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Privacy and Ethics Analysis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Sensitive student data creates asymmetric harm risk</a:t>
            </a:r>
          </a:p>
          <a:p>
            <a:pPr>
              <a:spcAft>
                <a:spcPts val="800"/>
              </a:spcAft>
              <a:defRPr sz="2200">
                <a:solidFill>
                  <a:srgbClr val="18222D"/>
                </a:solidFill>
                <a:latin typeface="Aptos"/>
              </a:defRPr>
            </a:pPr>
            <a:r>
              <a:t>Duty of care includes prevention and transparent response</a:t>
            </a:r>
          </a:p>
          <a:p>
            <a:pPr>
              <a:spcAft>
                <a:spcPts val="800"/>
              </a:spcAft>
              <a:defRPr sz="2200">
                <a:solidFill>
                  <a:srgbClr val="18222D"/>
                </a:solidFill>
                <a:latin typeface="Aptos"/>
              </a:defRPr>
            </a:pPr>
            <a:r>
              <a:t>Notification quality affects user recovery and trust</a:t>
            </a:r>
          </a:p>
          <a:p>
            <a:pPr>
              <a:spcAft>
                <a:spcPts val="800"/>
              </a:spcAft>
              <a:defRPr sz="2200">
                <a:solidFill>
                  <a:srgbClr val="18222D"/>
                </a:solidFill>
                <a:latin typeface="Aptos"/>
              </a:defRPr>
            </a:pPr>
            <a:r>
              <a:t>Ethical handling requires support, not only technical fixes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54/67</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Control Prioritization: First 30 Days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Week 1: fix mediation gaps and enforce parameterization</a:t>
            </a:r>
          </a:p>
          <a:p>
            <a:pPr>
              <a:spcAft>
                <a:spcPts val="800"/>
              </a:spcAft>
              <a:defRPr sz="2200">
                <a:solidFill>
                  <a:srgbClr val="18222D"/>
                </a:solidFill>
                <a:latin typeface="Aptos"/>
              </a:defRPr>
            </a:pPr>
            <a:r>
              <a:t>Week 2: reduce service privileges and segment critical paths</a:t>
            </a:r>
          </a:p>
          <a:p>
            <a:pPr>
              <a:spcAft>
                <a:spcPts val="800"/>
              </a:spcAft>
              <a:defRPr sz="2200">
                <a:solidFill>
                  <a:srgbClr val="18222D"/>
                </a:solidFill>
                <a:latin typeface="Aptos"/>
              </a:defRPr>
            </a:pPr>
            <a:r>
              <a:t>Week 3: tune detections and rehearse escalation workflow</a:t>
            </a:r>
          </a:p>
          <a:p>
            <a:pPr>
              <a:spcAft>
                <a:spcPts val="800"/>
              </a:spcAft>
              <a:defRPr sz="2200">
                <a:solidFill>
                  <a:srgbClr val="18222D"/>
                </a:solidFill>
                <a:latin typeface="Aptos"/>
              </a:defRPr>
            </a:pPr>
            <a:r>
              <a:t>Week 4: complete policy updates and post-incident review</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55/67</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AD1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Applied Scenario Debrief: Reusable Lessons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Secure coding removes entry paths before deployment</a:t>
            </a:r>
          </a:p>
          <a:p>
            <a:pPr>
              <a:spcAft>
                <a:spcPts val="800"/>
              </a:spcAft>
              <a:defRPr sz="2200">
                <a:solidFill>
                  <a:srgbClr val="18222D"/>
                </a:solidFill>
                <a:latin typeface="Aptos"/>
              </a:defRPr>
            </a:pPr>
            <a:r>
              <a:t>Operations and governance determine incident scale</a:t>
            </a:r>
          </a:p>
          <a:p>
            <a:pPr>
              <a:spcAft>
                <a:spcPts val="800"/>
              </a:spcAft>
              <a:defRPr sz="2200">
                <a:solidFill>
                  <a:srgbClr val="18222D"/>
                </a:solidFill>
                <a:latin typeface="Aptos"/>
              </a:defRPr>
            </a:pPr>
            <a:r>
              <a:t>Detection must be actionable, not just voluminous</a:t>
            </a:r>
          </a:p>
          <a:p>
            <a:pPr>
              <a:spcAft>
                <a:spcPts val="800"/>
              </a:spcAft>
              <a:defRPr sz="2200">
                <a:solidFill>
                  <a:srgbClr val="18222D"/>
                </a:solidFill>
                <a:latin typeface="Aptos"/>
              </a:defRPr>
            </a:pPr>
            <a:r>
              <a:t>Ethics and communication are part of security quality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AD1457"/>
                </a:solidFill>
                <a:latin typeface="Aptos"/>
              </a:defRPr>
            </a:pPr>
            <a:r>
              <a:t>Applied Analysis</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56/67</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Quick Lab: Overview</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Duration: 20-25 minutes</a:t>
            </a:r>
          </a:p>
          <a:p>
            <a:pPr>
              <a:spcAft>
                <a:spcPts val="800"/>
              </a:spcAft>
              <a:defRPr sz="2200">
                <a:solidFill>
                  <a:srgbClr val="18222D"/>
                </a:solidFill>
                <a:latin typeface="Aptos"/>
              </a:defRPr>
            </a:pPr>
            <a:r>
              <a:t>Format: individual analysis (solo)</a:t>
            </a:r>
          </a:p>
          <a:p>
            <a:pPr>
              <a:spcAft>
                <a:spcPts val="800"/>
              </a:spcAft>
              <a:defRPr sz="2200">
                <a:solidFill>
                  <a:srgbClr val="18222D"/>
                </a:solidFill>
                <a:latin typeface="Aptos"/>
              </a:defRPr>
            </a:pPr>
            <a:r>
              <a:t>Goal: identify trust-boundary failures and propose defenses</a:t>
            </a:r>
          </a:p>
          <a:p>
            <a:pPr>
              <a:spcAft>
                <a:spcPts val="800"/>
              </a:spcAft>
              <a:defRPr sz="2200">
                <a:solidFill>
                  <a:srgbClr val="18222D"/>
                </a:solidFill>
                <a:latin typeface="Aptos"/>
              </a:defRPr>
            </a:pPr>
            <a:r>
              <a:t>Deliverable: one-page mitigation brief</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88E5"/>
                </a:solidFill>
                <a:latin typeface="Aptos"/>
              </a:defRPr>
            </a:pPr>
            <a:r>
              <a:t>In-Class Quick Lab</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57/67</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Quick Lab: Materials and Safety</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Provided worksheet with sanitized request examples</a:t>
            </a:r>
          </a:p>
          <a:p>
            <a:pPr>
              <a:spcAft>
                <a:spcPts val="800"/>
              </a:spcAft>
              <a:defRPr sz="2200">
                <a:solidFill>
                  <a:srgbClr val="18222D"/>
                </a:solidFill>
                <a:latin typeface="Aptos"/>
              </a:defRPr>
            </a:pPr>
            <a:r>
              <a:t>No live attack targets, no unauthorized testing</a:t>
            </a:r>
          </a:p>
          <a:p>
            <a:pPr>
              <a:spcAft>
                <a:spcPts val="800"/>
              </a:spcAft>
              <a:defRPr sz="2200">
                <a:solidFill>
                  <a:srgbClr val="18222D"/>
                </a:solidFill>
                <a:latin typeface="Aptos"/>
              </a:defRPr>
            </a:pPr>
            <a:r>
              <a:t>Defensive analysis only</a:t>
            </a:r>
          </a:p>
          <a:p>
            <a:pPr>
              <a:spcAft>
                <a:spcPts val="800"/>
              </a:spcAft>
              <a:defRPr sz="2200">
                <a:solidFill>
                  <a:srgbClr val="18222D"/>
                </a:solidFill>
                <a:latin typeface="Aptos"/>
              </a:defRPr>
            </a:pPr>
            <a:r>
              <a:t>Use textbook concepts and chapter vocabulary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88E5"/>
                </a:solidFill>
                <a:latin typeface="Aptos"/>
              </a:defRPr>
            </a:pPr>
            <a:r>
              <a:t>In-Class Quick Lab</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58/67</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Quick Lab Steps (Part A and Part B)</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Part A: classify three samples (parameter tampering, SQLi pattern, path traversal)</a:t>
            </a:r>
          </a:p>
          <a:p>
            <a:pPr>
              <a:spcAft>
                <a:spcPts val="800"/>
              </a:spcAft>
              <a:defRPr sz="2200">
                <a:solidFill>
                  <a:srgbClr val="18222D"/>
                </a:solidFill>
                <a:latin typeface="Aptos"/>
              </a:defRPr>
            </a:pPr>
            <a:r>
              <a:t>Part B: map each sample to CIA impact and one concrete mitigation</a:t>
            </a:r>
          </a:p>
          <a:p>
            <a:pPr>
              <a:spcAft>
                <a:spcPts val="800"/>
              </a:spcAft>
              <a:defRPr sz="2200">
                <a:solidFill>
                  <a:srgbClr val="18222D"/>
                </a:solidFill>
                <a:latin typeface="Aptos"/>
              </a:defRPr>
            </a:pPr>
            <a:r>
              <a:t>Assign one owner per mitigation (developer, admin, or policy lead)</a:t>
            </a:r>
          </a:p>
          <a:p>
            <a:pPr>
              <a:spcAft>
                <a:spcPts val="800"/>
              </a:spcAft>
              <a:defRPr sz="2200">
                <a:solidFill>
                  <a:srgbClr val="18222D"/>
                </a:solidFill>
                <a:latin typeface="Aptos"/>
              </a:defRPr>
            </a:pPr>
            <a:r>
              <a:t>Prepare 60-90 second individual oral summary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88E5"/>
                </a:solidFill>
                <a:latin typeface="Aptos"/>
              </a:defRPr>
            </a:pPr>
            <a:r>
              <a:t>In-Class Quick Lab</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59/67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1E88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Quick Lab Debrief and Rubric</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Accuracy of vulnerability classification</a:t>
            </a:r>
          </a:p>
          <a:p>
            <a:pPr>
              <a:spcAft>
                <a:spcPts val="800"/>
              </a:spcAft>
              <a:defRPr sz="2200">
                <a:solidFill>
                  <a:srgbClr val="18222D"/>
                </a:solidFill>
                <a:latin typeface="Aptos"/>
              </a:defRPr>
            </a:pPr>
            <a:r>
              <a:t>Quality and feasibility of mitigation</a:t>
            </a:r>
          </a:p>
          <a:p>
            <a:pPr>
              <a:spcAft>
                <a:spcPts val="800"/>
              </a:spcAft>
              <a:defRPr sz="2200">
                <a:solidFill>
                  <a:srgbClr val="18222D"/>
                </a:solidFill>
                <a:latin typeface="Aptos"/>
              </a:defRPr>
            </a:pPr>
            <a:r>
              <a:t>Correct CIA mapping</a:t>
            </a:r>
          </a:p>
          <a:p>
            <a:pPr>
              <a:spcAft>
                <a:spcPts val="800"/>
              </a:spcAft>
              <a:defRPr sz="2200">
                <a:solidFill>
                  <a:srgbClr val="18222D"/>
                </a:solidFill>
                <a:latin typeface="Aptos"/>
              </a:defRPr>
            </a:pPr>
            <a:r>
              <a:t>Clarity and professionalism of communication</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1E88E5"/>
                </a:solidFill>
                <a:latin typeface="Aptos"/>
              </a:defRPr>
            </a:pPr>
            <a:r>
              <a:t>In-Class Quick Lab</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60/67</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Career Snapshot: Demand and Compensation</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BLS Information Security Analysts: 29% growth (2024-2034)</a:t>
            </a:r>
          </a:p>
          <a:p>
            <a:pPr>
              <a:spcAft>
                <a:spcPts val="800"/>
              </a:spcAft>
              <a:defRPr sz="2200">
                <a:solidFill>
                  <a:srgbClr val="18222D"/>
                </a:solidFill>
                <a:latin typeface="Aptos"/>
              </a:defRPr>
            </a:pPr>
            <a:r>
              <a:t>BLS median pay: $124,910 (May 2024)</a:t>
            </a:r>
          </a:p>
          <a:p>
            <a:pPr>
              <a:spcAft>
                <a:spcPts val="800"/>
              </a:spcAft>
              <a:defRPr sz="2200">
                <a:solidFill>
                  <a:srgbClr val="18222D"/>
                </a:solidFill>
                <a:latin typeface="Aptos"/>
              </a:defRPr>
            </a:pPr>
            <a:r>
              <a:t>BLS projected openings: about 16,400 per year</a:t>
            </a:r>
          </a:p>
          <a:p>
            <a:pPr>
              <a:spcAft>
                <a:spcPts val="800"/>
              </a:spcAft>
              <a:defRPr sz="2200">
                <a:solidFill>
                  <a:srgbClr val="18222D"/>
                </a:solidFill>
                <a:latin typeface="Aptos"/>
              </a:defRPr>
            </a:pPr>
            <a:r>
              <a:t>CyberSeek U.S. cybersecurity job listings: 514,359 (May 2024-Apr 2025)</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61/67</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Career Framework: NICE Work Roles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NIST NICE Framework gives common language for cybersecurity work</a:t>
            </a:r>
          </a:p>
          <a:p>
            <a:pPr>
              <a:spcAft>
                <a:spcPts val="800"/>
              </a:spcAft>
              <a:defRPr sz="2200">
                <a:solidFill>
                  <a:srgbClr val="18222D"/>
                </a:solidFill>
                <a:latin typeface="Aptos"/>
              </a:defRPr>
            </a:pPr>
            <a:r>
              <a:t>Built on Task, Knowledge, and Skill statements</a:t>
            </a:r>
          </a:p>
          <a:p>
            <a:pPr>
              <a:spcAft>
                <a:spcPts val="800"/>
              </a:spcAft>
              <a:defRPr sz="2200">
                <a:solidFill>
                  <a:srgbClr val="18222D"/>
                </a:solidFill>
                <a:latin typeface="Aptos"/>
              </a:defRPr>
            </a:pPr>
            <a:r>
              <a:t>Useful for job descriptions, curriculum mapping, and skill gap analysis</a:t>
            </a:r>
          </a:p>
          <a:p>
            <a:pPr>
              <a:spcAft>
                <a:spcPts val="800"/>
              </a:spcAft>
              <a:defRPr sz="2200">
                <a:solidFill>
                  <a:srgbClr val="18222D"/>
                </a:solidFill>
                <a:latin typeface="Aptos"/>
              </a:defRPr>
            </a:pPr>
            <a:r>
              <a:t>Students can map class artifacts to specific role expectations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62/67</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Credential Pathway for Students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TEEX AWR173 Information Security Basics (13-hour foundational course)</a:t>
            </a:r>
          </a:p>
          <a:p>
            <a:pPr>
              <a:spcAft>
                <a:spcPts val="800"/>
              </a:spcAft>
              <a:defRPr sz="2200">
                <a:solidFill>
                  <a:srgbClr val="18222D"/>
                </a:solidFill>
                <a:latin typeface="Aptos"/>
              </a:defRPr>
            </a:pPr>
            <a:r>
              <a:t>ISC2 Certified in Cybersecurity (entry-level cert; exam outline effective Oct 1, 2025)</a:t>
            </a:r>
          </a:p>
          <a:p>
            <a:pPr>
              <a:spcAft>
                <a:spcPts val="800"/>
              </a:spcAft>
              <a:defRPr sz="2200">
                <a:solidFill>
                  <a:srgbClr val="18222D"/>
                </a:solidFill>
                <a:latin typeface="Aptos"/>
              </a:defRPr>
            </a:pPr>
            <a:r>
              <a:t>CompTIA Security+ SY0-701 (current baseline professional credential)</a:t>
            </a:r>
          </a:p>
          <a:p>
            <a:pPr>
              <a:spcAft>
                <a:spcPts val="800"/>
              </a:spcAft>
              <a:defRPr sz="2200">
                <a:solidFill>
                  <a:srgbClr val="18222D"/>
                </a:solidFill>
                <a:latin typeface="Aptos"/>
              </a:defRPr>
            </a:pPr>
            <a:r>
              <a:t>PortSwigger Web Security Academy labs for practical evidence</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63/67</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Portfolio Artifacts Employers Understand</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Threat model and mitigation memo from the quick lab</a:t>
            </a:r>
          </a:p>
          <a:p>
            <a:pPr>
              <a:spcAft>
                <a:spcPts val="800"/>
              </a:spcAft>
              <a:defRPr sz="2200">
                <a:solidFill>
                  <a:srgbClr val="18222D"/>
                </a:solidFill>
                <a:latin typeface="Aptos"/>
              </a:defRPr>
            </a:pPr>
            <a:r>
              <a:t>Scenario timeline and control-gap analysis</a:t>
            </a:r>
          </a:p>
          <a:p>
            <a:pPr>
              <a:spcAft>
                <a:spcPts val="800"/>
              </a:spcAft>
              <a:defRPr sz="2200">
                <a:solidFill>
                  <a:srgbClr val="18222D"/>
                </a:solidFill>
                <a:latin typeface="Aptos"/>
              </a:defRPr>
            </a:pPr>
            <a:r>
              <a:t>Secure coding checklist tied to Chapter 3 flaws</a:t>
            </a:r>
          </a:p>
          <a:p>
            <a:pPr>
              <a:spcAft>
                <a:spcPts val="800"/>
              </a:spcAft>
              <a:defRPr sz="2200">
                <a:solidFill>
                  <a:srgbClr val="18222D"/>
                </a:solidFill>
                <a:latin typeface="Aptos"/>
              </a:defRPr>
            </a:pPr>
            <a:r>
              <a:t>Incident-response reflection mapped to NICE tasks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64/67</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In-Class Writing Reflection (10-12 Minutes)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Choose one decision from the applied scenario and evaluate alternatives</a:t>
            </a:r>
          </a:p>
          <a:p>
            <a:pPr>
              <a:spcAft>
                <a:spcPts val="800"/>
              </a:spcAft>
              <a:defRPr sz="2200">
                <a:solidFill>
                  <a:srgbClr val="18222D"/>
                </a:solidFill>
                <a:latin typeface="Aptos"/>
              </a:defRPr>
            </a:pPr>
            <a:r>
              <a:t>Required structure: claim, evidence, counterargument, conclusion</a:t>
            </a:r>
          </a:p>
          <a:p>
            <a:pPr>
              <a:spcAft>
                <a:spcPts val="800"/>
              </a:spcAft>
              <a:defRPr sz="2200">
                <a:solidFill>
                  <a:srgbClr val="18222D"/>
                </a:solidFill>
                <a:latin typeface="Aptos"/>
              </a:defRPr>
            </a:pPr>
            <a:r>
              <a:t>Connect to one technical control and one ethical principle</a:t>
            </a:r>
          </a:p>
          <a:p>
            <a:pPr>
              <a:spcAft>
                <a:spcPts val="800"/>
              </a:spcAft>
              <a:defRPr sz="2200">
                <a:solidFill>
                  <a:srgbClr val="18222D"/>
                </a:solidFill>
                <a:latin typeface="Aptos"/>
              </a:defRPr>
            </a:pPr>
            <a:r>
              <a:t>Target length: 250-300 words</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65/67</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Exit Ticket and Next Steps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Exit Ticket Q1: one concept you can explain confidently now</a:t>
            </a:r>
          </a:p>
          <a:p>
            <a:pPr>
              <a:spcAft>
                <a:spcPts val="800"/>
              </a:spcAft>
              <a:defRPr sz="2200">
                <a:solidFill>
                  <a:srgbClr val="18222D"/>
                </a:solidFill>
                <a:latin typeface="Aptos"/>
              </a:defRPr>
            </a:pPr>
            <a:r>
              <a:t>Exit Ticket Q2: one concept still unclear</a:t>
            </a:r>
          </a:p>
          <a:p>
            <a:pPr>
              <a:spcAft>
                <a:spcPts val="800"/>
              </a:spcAft>
              <a:defRPr sz="2200">
                <a:solidFill>
                  <a:srgbClr val="18222D"/>
                </a:solidFill>
                <a:latin typeface="Aptos"/>
              </a:defRPr>
            </a:pPr>
            <a:r>
              <a:t>Exit Ticket Q3: one career step you will take this month</a:t>
            </a:r>
          </a:p>
          <a:p>
            <a:pPr>
              <a:spcAft>
                <a:spcPts val="800"/>
              </a:spcAft>
              <a:defRPr sz="2200">
                <a:solidFill>
                  <a:srgbClr val="18222D"/>
                </a:solidFill>
                <a:latin typeface="Aptos"/>
              </a:defRPr>
            </a:pPr>
            <a:r>
              <a:t>Next class prep: review notes + chapter exercises for 3/4/5</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66/67</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p:cNvSpPr/>
          <p:nvPr/>
        </p:nvSpPr>
        <p:spPr>
          <a:xfrm>
            <a:off x="9418320" y="5166360"/>
            <a:ext cx="2926080" cy="2011680"/>
          </a:xfrm>
          <a:prstGeom prst="ellipse">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0"/>
            <a:ext cx="12191695" cy="530352"/>
          </a:xfrm>
          <a:prstGeom prst="rect">
            <a:avLst/>
          </a:prstGeom>
          <a:solidFill>
            <a:srgbClr val="455A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68580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502920" y="731520"/>
            <a:ext cx="11155680" cy="960120"/>
          </a:xfrm>
        </p:spPr>
        <p:txBody>
          <a:bodyPr/>
          <a:lstStyle/>
          <a:p>
            <a:pPr>
              <a:defRPr sz="3400" b="1">
                <a:solidFill>
                  <a:srgbClr val="122234"/>
                </a:solidFill>
                <a:latin typeface="Aptos Display"/>
              </a:defRPr>
            </a:pPr>
            <a:r>
              <a:t>References (Textbook + Online Supplements)</a:t>
            </a:r>
          </a:p>
        </p:txBody>
      </p:sp>
      <p:sp>
        <p:nvSpPr>
          <p:cNvPr id="3" name="Content Placeholder 2"/>
          <p:cNvSpPr>
            <a:spLocks noGrp="1"/>
          </p:cNvSpPr>
          <p:nvPr>
            <p:ph idx="1"/>
          </p:nvPr>
        </p:nvSpPr>
        <p:spPr>
          <a:xfrm>
            <a:off x="822960" y="1554480"/>
            <a:ext cx="10881360" cy="4800600"/>
          </a:xfrm>
        </p:spPr>
        <p:txBody>
          <a:bodyPr/>
          <a:lstStyle/>
          <a:p>
            <a:pPr>
              <a:spcAft>
                <a:spcPts val="800"/>
              </a:spcAft>
              <a:defRPr sz="2200">
                <a:solidFill>
                  <a:srgbClr val="18222D"/>
                </a:solidFill>
                <a:latin typeface="Aptos"/>
              </a:defRPr>
            </a:pPr>
            <a:r>
              <a:t>Pfleeger, Pfleeger, &amp; Margulies. Security in Computing (5th ed.), Chapters 3-5</a:t>
            </a:r>
          </a:p>
          <a:p>
            <a:pPr>
              <a:spcAft>
                <a:spcPts val="800"/>
              </a:spcAft>
              <a:defRPr sz="2200">
                <a:solidFill>
                  <a:srgbClr val="18222D"/>
                </a:solidFill>
                <a:latin typeface="Aptos"/>
              </a:defRPr>
            </a:pPr>
            <a:r>
              <a:t>BLS Occupational Outlook: Information Security Analysts</a:t>
            </a:r>
          </a:p>
          <a:p>
            <a:pPr>
              <a:spcAft>
                <a:spcPts val="800"/>
              </a:spcAft>
              <a:defRPr sz="2200">
                <a:solidFill>
                  <a:srgbClr val="18222D"/>
                </a:solidFill>
                <a:latin typeface="Aptos"/>
              </a:defRPr>
            </a:pPr>
            <a:r>
              <a:t>NIST SP 800-181 Rev.1 (NICE Framework) and NICE Resource Center</a:t>
            </a:r>
          </a:p>
          <a:p>
            <a:pPr>
              <a:spcAft>
                <a:spcPts val="800"/>
              </a:spcAft>
              <a:defRPr sz="2200">
                <a:solidFill>
                  <a:srgbClr val="18222D"/>
                </a:solidFill>
                <a:latin typeface="Aptos"/>
              </a:defRPr>
            </a:pPr>
            <a:r>
              <a:t>ISC2 Certified in Cybersecurity and exam outline pages</a:t>
            </a:r>
          </a:p>
          <a:p>
            <a:pPr>
              <a:spcAft>
                <a:spcPts val="800"/>
              </a:spcAft>
              <a:defRPr sz="2200">
                <a:solidFill>
                  <a:srgbClr val="18222D"/>
                </a:solidFill>
                <a:latin typeface="Aptos"/>
              </a:defRPr>
            </a:pPr>
            <a:r>
              <a:t>CompTIA Security+ SY0-701 certification page</a:t>
            </a:r>
          </a:p>
          <a:p>
            <a:pPr>
              <a:spcAft>
                <a:spcPts val="800"/>
              </a:spcAft>
              <a:defRPr sz="2200">
                <a:solidFill>
                  <a:srgbClr val="18222D"/>
                </a:solidFill>
                <a:latin typeface="Aptos"/>
              </a:defRPr>
            </a:pPr>
            <a:r>
              <a:t>OWASP Top 10:2021 (v1.1 release notice)</a:t>
            </a:r>
          </a:p>
          <a:p>
            <a:pPr>
              <a:spcAft>
                <a:spcPts val="800"/>
              </a:spcAft>
              <a:defRPr sz="2200">
                <a:solidFill>
                  <a:srgbClr val="18222D"/>
                </a:solidFill>
                <a:latin typeface="Aptos"/>
              </a:defRPr>
            </a:pPr>
            <a:r>
              <a:t>NIST Cybersecurity Framework (CSF 2.0) reference pages</a:t>
            </a:r>
          </a:p>
          <a:p>
            <a:pPr>
              <a:spcAft>
                <a:spcPts val="800"/>
              </a:spcAft>
              <a:defRPr sz="2200">
                <a:solidFill>
                  <a:srgbClr val="18222D"/>
                </a:solidFill>
                <a:latin typeface="Aptos"/>
              </a:defRPr>
            </a:pPr>
            <a:r>
              <a:t>NIST Secure Software Development Framework (SSDF)</a:t>
            </a:r>
          </a:p>
          <a:p>
            <a:pPr>
              <a:spcAft>
                <a:spcPts val="800"/>
              </a:spcAft>
              <a:defRPr sz="2200">
                <a:solidFill>
                  <a:srgbClr val="18222D"/>
                </a:solidFill>
                <a:latin typeface="Aptos"/>
              </a:defRPr>
            </a:pPr>
            <a:r>
              <a:t>TEEX AWR173 and PortSwigger Web Security Academy</a:t>
            </a:r>
          </a:p>
        </p:txBody>
      </p:sp>
      <p:sp>
        <p:nvSpPr>
          <p:cNvPr id="7" name="Rounded Rectangle 6"/>
          <p:cNvSpPr/>
          <p:nvPr/>
        </p:nvSpPr>
        <p:spPr>
          <a:xfrm>
            <a:off x="320040" y="64008"/>
            <a:ext cx="2560320" cy="384048"/>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455A64"/>
                </a:solidFill>
                <a:latin typeface="Aptos"/>
              </a:defRPr>
            </a:pPr>
            <a:r>
              <a:t>Career + Assessment Close</a:t>
            </a:r>
          </a:p>
        </p:txBody>
      </p:sp>
      <p:sp>
        <p:nvSpPr>
          <p:cNvPr id="8" name="TextBox 7"/>
          <p:cNvSpPr txBox="1"/>
          <p:nvPr/>
        </p:nvSpPr>
        <p:spPr>
          <a:xfrm>
            <a:off x="365760" y="6400800"/>
            <a:ext cx="7315200" cy="320040"/>
          </a:xfrm>
          <a:prstGeom prst="rect">
            <a:avLst/>
          </a:prstGeom>
          <a:noFill/>
        </p:spPr>
        <p:txBody>
          <a:bodyPr wrap="none">
            <a:spAutoFit/>
          </a:bodyPr>
          <a:lstStyle/>
          <a:p>
            <a:pPr>
              <a:defRPr sz="1100">
                <a:solidFill>
                  <a:srgbClr val="5E5E5E"/>
                </a:solidFill>
                <a:latin typeface="Aptos"/>
              </a:defRPr>
            </a:pPr>
            <a:r>
              <a:t>CST 2412 | Data Security, Privacy, and Ethics</a:t>
            </a:r>
          </a:p>
        </p:txBody>
      </p:sp>
      <p:sp>
        <p:nvSpPr>
          <p:cNvPr id="9" name="TextBox 8"/>
          <p:cNvSpPr txBox="1"/>
          <p:nvPr/>
        </p:nvSpPr>
        <p:spPr>
          <a:xfrm>
            <a:off x="10104120" y="6400800"/>
            <a:ext cx="1828800" cy="320040"/>
          </a:xfrm>
          <a:prstGeom prst="rect">
            <a:avLst/>
          </a:prstGeom>
          <a:noFill/>
        </p:spPr>
        <p:txBody>
          <a:bodyPr wrap="none">
            <a:spAutoFit/>
          </a:bodyPr>
          <a:lstStyle/>
          <a:p>
            <a:pPr algn="r">
              <a:defRPr sz="1200" b="1">
                <a:solidFill>
                  <a:srgbClr val="545454"/>
                </a:solidFill>
                <a:latin typeface="Aptos"/>
              </a:defRPr>
            </a:pPr>
            <a:r>
              <a:t>67/67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122</TotalTime>
  <Words>30515</Words>
  <Application>Microsoft Macintosh PowerPoint</Application>
  <PresentationFormat>Widescreen</PresentationFormat>
  <Paragraphs>1864</Paragraphs>
  <Slides>65</Slides>
  <Notes>65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65</vt:i4>
      </vt:variant>
    </vt:vector>
  </HeadingPairs>
  <TitlesOfParts>
    <vt:vector size="68" baseType="lpstr">
      <vt:lpstr>Arial</vt:lpstr>
      <vt:lpstr>Calibri</vt:lpstr>
      <vt:lpstr>Office Theme</vt:lpstr>
      <vt:lpstr>CST 2412 Module: Programs, Web, and Operating System Security</vt:lpstr>
      <vt:lpstr>How This Builds on Weeks 1 and 2</vt:lpstr>
      <vt:lpstr>Agenda</vt:lpstr>
      <vt:lpstr>Learning Objectives</vt:lpstr>
      <vt:lpstr>Essential Questions</vt:lpstr>
      <vt:lpstr>Chapter 3 Overview: Programs and Programming</vt:lpstr>
      <vt:lpstr>Error, Fault, Failure: Why Terminology Matters</vt:lpstr>
      <vt:lpstr>Programming Flaw Spotlight: Buffer Overflow</vt:lpstr>
      <vt:lpstr>Programming Flaw Spotlight: Incomplete Mediation</vt:lpstr>
      <vt:lpstr>Programming Flaw Spotlight: TOCTTOU</vt:lpstr>
      <vt:lpstr>Other High-Frequency Flaws in Chapter 3</vt:lpstr>
      <vt:lpstr>Malicious Code in Chapter 3</vt:lpstr>
      <vt:lpstr>Virus vs Worm vs Trojan Horse</vt:lpstr>
      <vt:lpstr>Malware Economics: Zero-Day and Toolkits</vt:lpstr>
      <vt:lpstr>Countermeasures for Users (Chapter 3)</vt:lpstr>
      <vt:lpstr>Countermeasures for Developers (Chapter 3)</vt:lpstr>
      <vt:lpstr>Countermeasures That Commonly Fail</vt:lpstr>
      <vt:lpstr>Chapter 4 Overview: The Web - User Side</vt:lpstr>
      <vt:lpstr>Why Browsers Are High-Risk by Design</vt:lpstr>
      <vt:lpstr>Man-in-the-Browser Attacks</vt:lpstr>
      <vt:lpstr>Page-in-the-Middle and Download Substitution</vt:lpstr>
      <vt:lpstr>Defacement, Fake Sites, and Fake Software</vt:lpstr>
      <vt:lpstr>Web Bugs and Cross-Site Tracking</vt:lpstr>
      <vt:lpstr>Cross-Site Scripting (XSS)</vt:lpstr>
      <vt:lpstr>SQL Injection</vt:lpstr>
      <vt:lpstr>Path Traversal and Server-Side Include Abuse</vt:lpstr>
      <vt:lpstr>Website Breaches Are Also User Harm</vt:lpstr>
      <vt:lpstr>Email Attacks: Spam, Spoofing, Phishing, Spear Phishing</vt:lpstr>
      <vt:lpstr>Defensive Strategy for Chapter 4 Threats</vt:lpstr>
      <vt:lpstr>Chapter 4 Checkpoint</vt:lpstr>
      <vt:lpstr>Chapter 5 Overview: Operating Systems</vt:lpstr>
      <vt:lpstr>OS as First Line of Defense and Prime Target</vt:lpstr>
      <vt:lpstr>Security Features in Ordinary Operating Systems</vt:lpstr>
      <vt:lpstr>Memory Protection and Isolation</vt:lpstr>
      <vt:lpstr>Virtualization and Hypervisors</vt:lpstr>
      <vt:lpstr>Sandbox and Honeypot Concepts</vt:lpstr>
      <vt:lpstr>Layered Design in Secure Operating Systems</vt:lpstr>
      <vt:lpstr>Security Kernel and Reference Monitor</vt:lpstr>
      <vt:lpstr>Correctness, Completeness, and Secure Design</vt:lpstr>
      <vt:lpstr>Trusted Systems and Evaluation</vt:lpstr>
      <vt:lpstr>Rootkits: Core Idea</vt:lpstr>
      <vt:lpstr>Rootkit Stealth Techniques</vt:lpstr>
      <vt:lpstr>Rootkit Examples from Chapter 5</vt:lpstr>
      <vt:lpstr>Rootkit Defense Playbook</vt:lpstr>
      <vt:lpstr>Chapter 5 Checkpoint</vt:lpstr>
      <vt:lpstr>Applied Scenario Setup: Student Support Portal</vt:lpstr>
      <vt:lpstr>Incident Timeline (Hypothetical Academic Term)</vt:lpstr>
      <vt:lpstr>Trust Boundaries and Data Flow</vt:lpstr>
      <vt:lpstr>Vulnerability Profile: What Went Wrong</vt:lpstr>
      <vt:lpstr>Attack Path and Impact Progression</vt:lpstr>
      <vt:lpstr>Detection and Response Gaps</vt:lpstr>
      <vt:lpstr>Privacy and Ethics Analysis</vt:lpstr>
      <vt:lpstr>Control Prioritization: First 30 Days</vt:lpstr>
      <vt:lpstr>Applied Scenario Debrief: Reusable Lessons</vt:lpstr>
      <vt:lpstr>Quick Lab: Overview</vt:lpstr>
      <vt:lpstr>Quick Lab: Materials and Safety</vt:lpstr>
      <vt:lpstr>Quick Lab Steps (Part A and Part B)</vt:lpstr>
      <vt:lpstr>Quick Lab Debrief and Rubric</vt:lpstr>
      <vt:lpstr>Career Snapshot: Demand and Compensation</vt:lpstr>
      <vt:lpstr>Career Framework: NICE Work Roles</vt:lpstr>
      <vt:lpstr>Credential Pathway for Students</vt:lpstr>
      <vt:lpstr>Portfolio Artifacts Employers Understand</vt:lpstr>
      <vt:lpstr>In-Class Writing Reflection (10-12 Minutes)</vt:lpstr>
      <vt:lpstr>Exit Ticket and Next Steps</vt:lpstr>
      <vt:lpstr>References (Textbook + Online Supplements)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Atilio Barreda</cp:lastModifiedBy>
  <cp:revision>2</cp:revision>
  <dcterms:created xsi:type="dcterms:W3CDTF">2013-01-27T09:14:16Z</dcterms:created>
  <dcterms:modified xsi:type="dcterms:W3CDTF">2026-02-10T23:02:42Z</dcterms:modified>
  <cp:category/>
</cp:coreProperties>
</file>