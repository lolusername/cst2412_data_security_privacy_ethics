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we are starting the syllabus unit on data analytics for security, and I want to begin by stripping the topic down to something practical and real. Security analytics is not just an abstract concept, and it is not only about advanced machine learning or expensive dashboards. At its core, it is about using operational data to make better security decisions. That means reading logs carefully, spotting patterns, bringing in context, and deciding what to do first. This Day 1 lecture is intentionally foundational. I want students to leave knowing how to treat authentication data as evidence rather than noise. I also want them to understand that this is individual analyst work. Much of entry-level security starts exactly here: a person opening raw data, noticing something unusual, and writing a short note that helps the team respond.</a:t>
            </a:r>
          </a:p>
          <a:p/>
          <a:p>
            <a:r>
              <a:t>Mention:</a:t>
            </a:r>
          </a:p>
          <a:p>
            <a:r>
              <a:t>- Frame the whole day as practical analytics</a:t>
            </a:r>
          </a:p>
          <a:p>
            <a:r>
              <a:t>- Say explicitly that this can fill an hour because each step is a real analyst skill</a:t>
            </a:r>
          </a:p>
          <a:p>
            <a:r>
              <a:t>- Reinforce individual work and no group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Data analytics belongs in this course because modern security work almost always begins with partial information. Analysts rarely see an attacker standing clearly in front of them. Instead, they see fragments: login attempts, an IP address, a timestamp, a device type, maybe a password reset, maybe an MFA denial. The technical challenge is to decide whether those fragments add up to risk. The ethical challenge is to decide how much monitoring is justified, how long data should be kept, and who should be allowed to view it. So analytics is not only a technical capability. It is also a governance question. That is why it fits naturally in a course called Security, Privacy, and Ethics. Students need both sides: the ability to interpret signals, and the discipline to use that visibility responsibly.</a:t>
            </a:r>
          </a:p>
          <a:p/>
          <a:p>
            <a:r>
              <a:t>Mention:</a:t>
            </a:r>
          </a:p>
          <a:p>
            <a:r>
              <a:t>- Connect analytics to security decisions</a:t>
            </a:r>
          </a:p>
          <a:p>
            <a:r>
              <a:t>- Connect analytics to privacy and governance</a:t>
            </a:r>
          </a:p>
          <a:p>
            <a:r>
              <a:t>- Keep both capability and restraint in 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When I say security analytics, I mean the process of extracting useful security meaning from operational data. That can sound fancy, but the actual work is often straightforward. You look at data, you identify what repeats, you compare normal and unusual behavior, and you connect events to real users, systems, and consequences. I want to emphasize what security analytics is not. It is not only a machine learning discipline. It is not only a set of dashboards built by someone else. It is not only threat hunting done by senior experts. In many real jobs, especially early-career jobs, security analytics is the day-to-day discipline of careful reading, counting, grouping, and reasoning. If students understand that, they will have a more accurate picture of what the field actually looks like.</a:t>
            </a:r>
          </a:p>
          <a:p/>
          <a:p>
            <a:r>
              <a:t>Mention:</a:t>
            </a:r>
          </a:p>
          <a:p>
            <a:r>
              <a:t>- Keep analytics broad and grounded</a:t>
            </a:r>
          </a:p>
          <a:p>
            <a:r>
              <a:t>- Reject the idea that analytics means AI only</a:t>
            </a:r>
          </a:p>
          <a:p>
            <a:r>
              <a:t>- Tie the topic to entry-level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workflow slide is here because students often jump from raw data straight to conclusion. Good analysts do not do that. First, they observe. They open the data and learn what fields exist. Second, they filter, which means they narrow attention to the event types or sources that deserve focus. Third, they compare, usually through counts, sequence, or repetition. Fourth, they enrich by bringing in outside context such as privilege, department, or system sensitivity. Only then do they act. That final step matters because analytics is not complete when you merely notice something odd. Analytics becomes useful when you can justify a first action and explain why it makes sense. I want students to leave with this workflow in their heads because it gives them a repeatable structure they can use even in a very simple spreadsheet exercise.</a:t>
            </a:r>
          </a:p>
          <a:p/>
          <a:p>
            <a:r>
              <a:t>Mention:</a:t>
            </a:r>
          </a:p>
          <a:p>
            <a:r>
              <a:t>- Walk through the workflow slowly</a:t>
            </a:r>
          </a:p>
          <a:p>
            <a:r>
              <a:t>- Stress enrichment before action</a:t>
            </a:r>
          </a:p>
          <a:p>
            <a:r>
              <a:t>- Present the workflow as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useful analyst has to know where security data comes from. Identity systems show login behavior, MFA use, and password resets. Network systems show connections, DNS requests, VPN sessions, and unusual movement. Endpoints show process activity, malware detections, file changes, and device behavior. Cloud platforms show token use, admin actions, and storage access. None of these categories gives a full picture by itself. That is important because students may assume analytics is about finding one perfect log source. In practice, analysts usually work with partial visibility and try to combine signals. For Day 1, we are keeping the focus on identity data because it is practical, common, and easy to analyze with basic tools. But I still want students to see that authentication data sits inside a larger telemetry ecosystem.</a:t>
            </a:r>
          </a:p>
          <a:p/>
          <a:p>
            <a:r>
              <a:t>Mention:</a:t>
            </a:r>
          </a:p>
          <a:p>
            <a:r>
              <a:t>- Name the telemetry families</a:t>
            </a:r>
          </a:p>
          <a:p>
            <a:r>
              <a:t>- Explain partial visibility</a:t>
            </a:r>
          </a:p>
          <a:p>
            <a:r>
              <a:t>- Justify why Day 1 focuses on identity logs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often use the words event, alert, and incident as if they mean the same thing. They do not. An event is simply a recorded activity. One failed login is an event. An alert is a signal that says a pattern might matter. Many failed logins from one source, or a rare admin action, may become an alert because a rule or a human notices it. An incident is further along the chain. It means we have enough evidence to believe there is an actual security problem requiring response and tracking. This distinction is not just vocabulary practice. It affects how security teams work. If students confuse an event with an incident, they will overreact. If they treat alerts like harmless events, they will underreact. So I want them to get comfortable with the idea that analytics helps move us from raw activity toward justified response.</a:t>
            </a:r>
          </a:p>
          <a:p/>
          <a:p>
            <a:r>
              <a:t>Mention:</a:t>
            </a:r>
          </a:p>
          <a:p>
            <a:r>
              <a:t>- Clarify the three terms carefully</a:t>
            </a:r>
          </a:p>
          <a:p>
            <a:r>
              <a:t>- Use failed login as running example</a:t>
            </a:r>
          </a:p>
          <a:p>
            <a:r>
              <a:t>- Explain why vocabulary affects response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Authentication data is one of the best places to start because it is both common and meaningful. Almost every organization has some kind of login system. Account compromise is also one of the most common paths into a larger incident. That makes authentication logs a practical source for student labs and early-career work. Authentication data can show repeated failure patterns, unusual location changes, success after suspicious failures, MFA fatigue behavior, and many other signals. It is not perfect. Attackers can hide, and not every strange login is malicious. But the data is structured enough that students can do meaningful analysis without needing to write code or learn a complicated platform first. That makes it a strong teaching choice for the first day of the analytics unit.</a:t>
            </a:r>
          </a:p>
          <a:p/>
          <a:p>
            <a:r>
              <a:t>Mention:</a:t>
            </a:r>
          </a:p>
          <a:p>
            <a:r>
              <a:t>- Explain why auth logs are a practical starting point</a:t>
            </a:r>
          </a:p>
          <a:p>
            <a:r>
              <a:t>- Name common auth-related patterns</a:t>
            </a:r>
          </a:p>
          <a:p>
            <a:r>
              <a:t>- Keep the emphasis on structured, accessible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Many beginner mistakes come from reading logs too loosely. Analysts do not need to understand every field immediately, but they do need to anchor themselves in a small set of investigative fields. Time tells us when something happened, how often it happened, and in what order. Source tells us where it came from, whether the IP or device looks familiar, and whether geography is plausible. Target tells us who or what was affected: the account, system, role, or privilege level. Outcome tells us whether the attempt succeeded, failed, triggered a reset, or hit an MFA problem. That may sound basic, but this is where real security reasoning starts. If students learn to read those four categories carefully, they can begin to build a coherent story from raw event rows.</a:t>
            </a:r>
          </a:p>
          <a:p/>
          <a:p>
            <a:r>
              <a:t>Mention:</a:t>
            </a:r>
          </a:p>
          <a:p>
            <a:r>
              <a:t>- Anchor students in time, source, target, and outcome</a:t>
            </a:r>
          </a:p>
          <a:p>
            <a:r>
              <a:t>- Explain each category in practical terms</a:t>
            </a:r>
          </a:p>
          <a:p>
            <a:r>
              <a:t>- Reduce the feeling of log overload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lot of security analytics starts with very simple counting. That point matters because students often assume good analytics has to be mathematically complex. In reality, one of the first questions is often just: what repeats? You can count failures by IP, failures by user, successes after failures, or rare event types. You can compare whether one source touched many users, whether one user appeared from many sources, or whether a new device suddenly became active. These are not glamorous operations, but they are powerful because attackers usually create repetition somewhere. Counting is one of the easiest ways to turn raw logs into suspicious pattern candidates. It also gives students a concrete, practical habit they can use immediately in the lab and later in internships or junior analyst roles.</a:t>
            </a:r>
          </a:p>
          <a:p/>
          <a:p>
            <a:r>
              <a:t>Mention:</a:t>
            </a:r>
          </a:p>
          <a:p>
            <a:r>
              <a:t>- Normalize simple counting as real analytics</a:t>
            </a:r>
          </a:p>
          <a:p>
            <a:r>
              <a:t>- Show how repetition reveals patterns</a:t>
            </a:r>
          </a:p>
          <a:p>
            <a:r>
              <a:t>- Prepare students for spreadsheet-based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Counts alone are not enough. Order matters. A single failed login may mean very little. But twenty failed logins followed by one success tells a much more interesting story. A password reset followed by an unfamiliar login can be meaningful. A login success followed by MFA trouble can suggest an active adversary or at least a serious authentication issue. Sequence is how we turn static rows into a dynamic narrative. I want students to notice that logs are not just a list. They are a timeline. Once you line up the events in order, you can begin to ask what changed, what escalated, and what happened next. That is one of the biggest conceptual shifts I want from this lecture: seeing event data as a sequence of evidence rather than as disconnected records.</a:t>
            </a:r>
          </a:p>
          <a:p/>
          <a:p>
            <a:r>
              <a:t>Mention:</a:t>
            </a:r>
          </a:p>
          <a:p>
            <a:r>
              <a:t>- Emphasize time order</a:t>
            </a:r>
          </a:p>
          <a:p>
            <a:r>
              <a:t>- Use success-after-failures as a key example</a:t>
            </a:r>
          </a:p>
          <a:p>
            <a:r>
              <a:t>- Introduce the idea of logs as narrative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same field can tell very different stories depending on the pattern shape. One user failing once or twice and then succeeding from a familiar device usually looks like a normal mistake. Many attempts against one account can suggest brute force because the attacker is concentrating effort on a single target. One source touching many accounts with a small number of tries each looks more like a password spray. This is a key practical distinction because the response may differ. Brute force against one account can push us toward account-specific action. A spray can push us toward broader source blocking or defensive review across multiple users. Students do not need perfect certainty from the pattern alone, but they do need to learn that shape matters. Security analytics is often about recognizing these structural differences in behavior.</a:t>
            </a:r>
          </a:p>
          <a:p/>
          <a:p>
            <a:r>
              <a:t>Mention:</a:t>
            </a:r>
          </a:p>
          <a:p>
            <a:r>
              <a:t>- Contrast mistake, brute force, and spray</a:t>
            </a:r>
          </a:p>
          <a:p>
            <a:r>
              <a:t>- Explain why pattern shape affects response</a:t>
            </a:r>
          </a:p>
          <a:p>
            <a:r>
              <a:t>- Keep the interpretation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Analytics without baseline can become panic, and analytics without baseline can also become complacency. A morning login spike may be perfectly normal for a campus service. A rare admin login from an unfamiliar source may be abnormal even if the raw event count is low. Baseline means asking what is normal for this system, this user, this device, and this time of day. Students do not have to build a full statistical baseline today, but they do need the habit of comparison. Suspicion only makes sense relative to expectation. That is why analysts ask whether the activity is usual, whether the source is common, whether the timing makes sense, and whether similar patterns have occurred before without harm. Baseline is one of the reasons security analytics requires both data and context.</a:t>
            </a:r>
          </a:p>
          <a:p/>
          <a:p>
            <a:r>
              <a:t>Mention:</a:t>
            </a:r>
          </a:p>
          <a:p>
            <a:r>
              <a:t>- Define baseline in plain language</a:t>
            </a:r>
          </a:p>
          <a:p>
            <a:r>
              <a:t>- Warn against both overreaction and underreaction</a:t>
            </a:r>
          </a:p>
          <a:p>
            <a:r>
              <a:t>- Tie suspicion to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Enrichment is where the analysis becomes more realistic. A suspicious login pattern means one thing on a low-risk student account and something else on a finance administrator account. Department, role title, privilege, and sensitive-account status can all change urgency. Students sometimes think enrichment is just a technical merge operation, but it is more than that. It is the step where business meaning enters the analysis. Without enrichment, analytics can remain technically interesting but operationally weak. With enrichment, the same pattern becomes much easier to prioritize. That is exactly why today’s lab uses a second CSV. I want students to experience the moment when an initially suspicious pattern becomes clearly more urgent because the account context shows higher value, higher privilege, or higher data sensitivity.</a:t>
            </a:r>
          </a:p>
          <a:p/>
          <a:p>
            <a:r>
              <a:t>Mention:</a:t>
            </a:r>
          </a:p>
          <a:p>
            <a:r>
              <a:t>- Define enrichment as adding business meaning</a:t>
            </a:r>
          </a:p>
          <a:p>
            <a:r>
              <a:t>- Explain why context changes urgency</a:t>
            </a:r>
          </a:p>
          <a:p>
            <a:r>
              <a:t>- Connect directly to the second CSV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slide is deliberately practical. I want students to see that meaningful security analytics can begin in a spreadsheet or simple CSV viewer. First, sort by time so the activity is readable as a sequence. Second, filter to the event types you care about, such as failed logins. Third, count by source IP and count by user. Fourth, look for later successes or MFA-related events that make the pattern more urgent. Fifth, merge or compare against account context. Finally, choose a first action and justify it. None of those steps requires advanced code. That matters because students should not leave thinking they need a full enterprise platform before they can reason like analysts. The workflow itself is the real skill. Tools can change later.</a:t>
            </a:r>
          </a:p>
          <a:p/>
          <a:p>
            <a:r>
              <a:t>Mention:</a:t>
            </a:r>
          </a:p>
          <a:p>
            <a:r>
              <a:t>- Walk through a usable beginner workflow</a:t>
            </a:r>
          </a:p>
          <a:p>
            <a:r>
              <a:t>- Explain why simple tools are enough for learning</a:t>
            </a:r>
          </a:p>
          <a:p>
            <a:r>
              <a:t>- Stress that workflow matters more than 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we move into the worked example built into the Day 1 dataset. One external IP shows up repeatedly in failed login events, and it targets many different users. That pattern is what should catch the eye first. It is not behaving like one person forgetting a password on one account. It is distributing attempts across several accounts. That shape matters because it suggests a password spray rather than an isolated mistake or a narrow brute-force attempt. At this stage, the analyst should not yet claim full account compromise. That would be too strong. But the analyst should absolutely classify this as suspicious and worthy of further attention. This is the first place where students can see how counting, grouping, and pattern recognition begin to produce a defensible security conclusion.</a:t>
            </a:r>
          </a:p>
          <a:p/>
          <a:p>
            <a:r>
              <a:t>Mention:</a:t>
            </a:r>
          </a:p>
          <a:p>
            <a:r>
              <a:t>- Explain why one IP across many users stands out</a:t>
            </a:r>
          </a:p>
          <a:p>
            <a:r>
              <a:t>- Label it as likely spray, not confirmed compromise</a:t>
            </a:r>
          </a:p>
          <a:p>
            <a:r>
              <a:t>- Model careful wording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example becomes more important when a successful login appears after repeated failures. This is the kind of sequence that shifts an analyst from concern to urgency. A success after many failures can suggest the attacker eventually guessed, obtained, or reused valid credentials. In the Day 1 dataset, that success is not on a random low-value account. The account is both privileged and sensitive. That enrichment step is what changes the severity of the story. Students need to see this clearly: a suspicious pattern plus a risky sequence plus a high-value account is much stronger than any one of those pieces on its own. This is how analytics works in real settings. You rarely get one decisive row. You get several pieces that become meaningful when interpreted together.</a:t>
            </a:r>
          </a:p>
          <a:p/>
          <a:p>
            <a:r>
              <a:t>Mention:</a:t>
            </a:r>
          </a:p>
          <a:p>
            <a:r>
              <a:t>- Stress success after failure</a:t>
            </a:r>
          </a:p>
          <a:p>
            <a:r>
              <a:t>- Tie sequence to compromise concern</a:t>
            </a:r>
          </a:p>
          <a:p>
            <a:r>
              <a:t>- Show how context increases urgency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Notice that even at this point the analyst is not finished. The next question is what to do first. First action logic is about reducing immediate risk without pretending the entire problem is already understood. Maybe you temporarily block the source IP. Maybe you force a password reset on the affected account. Maybe you require MFA re-verification or open a deeper investigation. The best first step is usually the one that lowers immediate risk quickly while leaving room for follow-up analysis. I also want students to understand tradeoffs. Blocking an IP may be fast but incomplete. Forcing a reset may protect the account but inconvenience a real user. Good analysts choose proportionate action and can explain both the benefit and the downside. That habit matters just as much as pattern recognition.</a:t>
            </a:r>
          </a:p>
          <a:p/>
          <a:p>
            <a:r>
              <a:t>Mention:</a:t>
            </a:r>
          </a:p>
          <a:p>
            <a:r>
              <a:t>- Move from detection to action</a:t>
            </a:r>
          </a:p>
          <a:p>
            <a:r>
              <a:t>- Stress proportional response</a:t>
            </a:r>
          </a:p>
          <a:p>
            <a:r>
              <a:t>- Require tradeoff thinking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slide exists to prevent overconfidence. Analytics helps, but analysts still need to reason carefully. People mistype passwords. New devices appear. Travel changes location. Maintenance windows create odd behavior. If students treat every unusual row as confirmed malicious activity, they will generate unnecessary disruption. But I do not want false-positive awareness to turn into hesitation either. The right habit is proportional judgment. One odd row may justify monitoring. A stronger pattern may justify intervention. The combination of repetition, sequence, and context is usually what raises confidence. I want students to be able to say not only why something is suspicious, but also why they are not overstating the case. That is part of professional credibility in security work.</a:t>
            </a:r>
          </a:p>
          <a:p/>
          <a:p>
            <a:r>
              <a:t>Mention:</a:t>
            </a:r>
          </a:p>
          <a:p>
            <a:r>
              <a:t>- Balance caution and action</a:t>
            </a:r>
          </a:p>
          <a:p>
            <a:r>
              <a:t>- Use false positives to teach proportionality</a:t>
            </a:r>
          </a:p>
          <a:p>
            <a:r>
              <a:t>- Connect careful wording to analyst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Because this course is also about privacy and ethics, I want to keep one limit in view the whole time. Good security visibility is not the same as unlimited surveillance. Logs matter because they support detection, investigation, and accountability. Without records, many attacks would be difficult to reconstruct. But collection and retention still require justification. Organizations should know why they are keeping data, for how long, and who can access it. Security purpose should guide collection, not curiosity or convenience alone. Students need to learn that analytics can be both necessary and bounded. That combination is what separates responsible security practice from a more careless, surveillance-heavy approach to monitoring people and systems.</a:t>
            </a:r>
          </a:p>
          <a:p/>
          <a:p>
            <a:r>
              <a:t>Mention:</a:t>
            </a:r>
          </a:p>
          <a:p>
            <a:r>
              <a:t>- Tie visibility to governance</a:t>
            </a:r>
          </a:p>
          <a:p>
            <a:r>
              <a:t>- Mention retention and access control</a:t>
            </a:r>
          </a:p>
          <a:p>
            <a:r>
              <a:t>- Reject the idea that more data is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often ask what actual professional skill they are building when they do a CSV exercise like this. The answer is that they are practicing the work habits of entry-level security roles. SOC analysts, security operations interns, incident triage analysts, and junior detection analysts spend a lot of time sorting data, counting patterns, comparing context, and communicating next steps. That work may sound simple, but it is foundational. Security teams depend on people who can read evidence carefully and explain what should happen next without overclaiming. That is why this course keeps including career-connected writing. I want students to recognize that the lab and the memo are not separate activities. Together they model a realistic analyst workflow: analyze, decide, and communicate.</a:t>
            </a:r>
          </a:p>
          <a:p/>
          <a:p>
            <a:r>
              <a:t>Mention:</a:t>
            </a:r>
          </a:p>
          <a:p>
            <a:r>
              <a:t>- Make the career connection explicit</a:t>
            </a:r>
          </a:p>
          <a:p>
            <a:r>
              <a:t>- Value basic analyst habits</a:t>
            </a:r>
          </a:p>
          <a:p>
            <a:r>
              <a:t>- Link lab work to professional writing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is where students apply the lecture structure to actual data. They will use two CSV files, one with authentication events and one with account context. Their job is to count failed logins, identify the suspicious source, find the risky success, and recommend one first action. I want the lab to feel approachable in tooling and serious in reasoning. They can use any spreadsheet or CSV tool they prefer. The point is not programming. The point is disciplined interpretation. By the end of the lab, they should be able to point to a specific pattern, explain why it matters, and justify what they would do first. That is already real analytics work.</a:t>
            </a:r>
          </a:p>
          <a:p/>
          <a:p>
            <a:r>
              <a:t>Mention:</a:t>
            </a:r>
          </a:p>
          <a:p>
            <a:r>
              <a:t>- Reinforce that the lab is simple in tooling but real in reasoning</a:t>
            </a:r>
          </a:p>
          <a:p>
            <a:r>
              <a:t>- Point back to the workflow slide</a:t>
            </a:r>
          </a:p>
          <a:p>
            <a:r>
              <a:t>- Keep the emphasis on individual analysis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writing response is deliberately short and professional. I do not want a generic essay. I want a shift note. That means one suspicious pattern, one exact piece of evidence, one context-based reason for urgency, one recommended first action, and one privacy-aware sentence. The best notes are brief but useful. They give the next person enough information to act. This kind of writing is a real skill in security operations because a weak note creates confusion and delay, while a strong note helps a team respond efficiently. Students should hear clearly that the writing assignment is not extra decoration around the lab. It is part of the analyst workflow itself.</a:t>
            </a:r>
          </a:p>
          <a:p/>
          <a:p>
            <a:r>
              <a:t>Mention:</a:t>
            </a:r>
          </a:p>
          <a:p>
            <a:r>
              <a:t>- Position the writing as operational communication</a:t>
            </a:r>
          </a:p>
          <a:p>
            <a:r>
              <a:t>- Require specificity and usefulness</a:t>
            </a:r>
          </a:p>
          <a:p>
            <a:r>
              <a:t>- Tie memo writing to real SOC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point of Day 1 is not just to memorize definitions like event, alert, or baseline. The point is to build analyst habits. Students should leave able to separate one row from one pattern, one pattern from one risk, and one risk from one first action. They should also understand that analytics does not stand outside ethics. Monitoring requires limits, and action requires justification. That combination of practical reasoning and ethical discipline is exactly what I want from this course. Day 2 will build on this by moving from suspicious-pattern recognition to triage and escalation, but Day 1 is where the foundation is set. If students can read the CSVs, identify the risky sequence, and write a clear shift note, then the hour has done its job.</a:t>
            </a:r>
          </a:p>
          <a:p/>
          <a:p>
            <a:r>
              <a:t>Mention:</a:t>
            </a:r>
          </a:p>
          <a:p>
            <a:r>
              <a:t>- Summarize the purpose of the hour</a:t>
            </a:r>
          </a:p>
          <a:p>
            <a:r>
              <a:t>- Tie back to ethics and justification</a:t>
            </a:r>
          </a:p>
          <a:p>
            <a:r>
              <a:t>- Bridge into Day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42737"/>
          </a:solidFill>
          <a:ln>
            <a:solidFill>
              <a:srgbClr val="142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41248"/>
          </a:xfrm>
          <a:prstGeom prst="rect">
            <a:avLst/>
          </a:prstGeom>
          <a:noFill/>
        </p:spPr>
        <p:txBody>
          <a:bodyPr wrap="none">
            <a:spAutoFit/>
          </a:bodyPr>
          <a:lstStyle/>
          <a:p>
            <a:pPr>
              <a:defRPr sz="2700" b="1">
                <a:solidFill>
                  <a:srgbClr val="FFFFFF"/>
                </a:solidFill>
                <a:latin typeface="Aptos Display"/>
              </a:defRPr>
            </a:pPr>
            <a:r>
              <a:t>Week 11 Day 1: Security Analytics Foundations</a:t>
            </a:r>
          </a:p>
        </p:txBody>
      </p:sp>
      <p:sp>
        <p:nvSpPr>
          <p:cNvPr id="4" name="Rounded Rectangle 3"/>
          <p:cNvSpPr/>
          <p:nvPr/>
        </p:nvSpPr>
        <p:spPr>
          <a:xfrm>
            <a:off x="749808" y="1444752"/>
            <a:ext cx="10881360" cy="822960"/>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517904"/>
            <a:ext cx="10661904" cy="676656"/>
          </a:xfrm>
          <a:prstGeom prst="rect">
            <a:avLst/>
          </a:prstGeom>
          <a:noFill/>
        </p:spPr>
        <p:txBody>
          <a:bodyPr wrap="square">
            <a:noAutofit/>
          </a:bodyPr>
          <a:lstStyle/>
          <a:p>
            <a:pPr>
              <a:spcAft>
                <a:spcPts val="600"/>
              </a:spcAft>
              <a:defRPr sz="2100">
                <a:solidFill>
                  <a:srgbClr val="142737"/>
                </a:solidFill>
                <a:latin typeface="Aptos"/>
              </a:defRPr>
            </a:pPr>
            <a:r>
              <a:t>Today we treat logs, events, and authentication records as evidence that can support real analyst decisions.</a:t>
            </a:r>
          </a:p>
        </p:txBody>
      </p:sp>
      <p:sp>
        <p:nvSpPr>
          <p:cNvPr id="6" name="Rounded Rectangle 5"/>
          <p:cNvSpPr/>
          <p:nvPr/>
        </p:nvSpPr>
        <p:spPr>
          <a:xfrm>
            <a:off x="868680" y="2697480"/>
            <a:ext cx="333756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82549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this is</a:t>
            </a:r>
          </a:p>
        </p:txBody>
      </p:sp>
      <p:sp>
        <p:nvSpPr>
          <p:cNvPr id="8" name="TextBox 7"/>
          <p:cNvSpPr txBox="1"/>
          <p:nvPr/>
        </p:nvSpPr>
        <p:spPr>
          <a:xfrm>
            <a:off x="1069848" y="3264408"/>
            <a:ext cx="2935224" cy="1856232"/>
          </a:xfrm>
          <a:prstGeom prst="rect">
            <a:avLst/>
          </a:prstGeom>
          <a:noFill/>
        </p:spPr>
        <p:txBody>
          <a:bodyPr wrap="square">
            <a:noAutofit/>
          </a:bodyPr>
          <a:lstStyle/>
          <a:p>
            <a:pPr>
              <a:spcAft>
                <a:spcPts val="600"/>
              </a:spcAft>
              <a:defRPr sz="1800">
                <a:solidFill>
                  <a:srgbClr val="142737"/>
                </a:solidFill>
                <a:latin typeface="Aptos"/>
              </a:defRPr>
            </a:pPr>
            <a:r>
              <a:t>a practical security analytics lecture</a:t>
            </a:r>
          </a:p>
          <a:p>
            <a:pPr>
              <a:spcAft>
                <a:spcPts val="600"/>
              </a:spcAft>
              <a:defRPr sz="1800">
                <a:solidFill>
                  <a:srgbClr val="142737"/>
                </a:solidFill>
                <a:latin typeface="Aptos"/>
              </a:defRPr>
            </a:pPr>
            <a:r>
              <a:t>centered on authentication data</a:t>
            </a:r>
          </a:p>
        </p:txBody>
      </p:sp>
      <p:sp>
        <p:nvSpPr>
          <p:cNvPr id="9" name="Rounded Rectangle 8"/>
          <p:cNvSpPr/>
          <p:nvPr/>
        </p:nvSpPr>
        <p:spPr>
          <a:xfrm>
            <a:off x="4434840" y="2697480"/>
            <a:ext cx="333756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82549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you build</a:t>
            </a:r>
          </a:p>
        </p:txBody>
      </p:sp>
      <p:sp>
        <p:nvSpPr>
          <p:cNvPr id="11" name="TextBox 10"/>
          <p:cNvSpPr txBox="1"/>
          <p:nvPr/>
        </p:nvSpPr>
        <p:spPr>
          <a:xfrm>
            <a:off x="4636008" y="3264408"/>
            <a:ext cx="2935224" cy="1856232"/>
          </a:xfrm>
          <a:prstGeom prst="rect">
            <a:avLst/>
          </a:prstGeom>
          <a:noFill/>
        </p:spPr>
        <p:txBody>
          <a:bodyPr wrap="square">
            <a:noAutofit/>
          </a:bodyPr>
          <a:lstStyle/>
          <a:p>
            <a:pPr>
              <a:spcAft>
                <a:spcPts val="600"/>
              </a:spcAft>
              <a:defRPr sz="1800">
                <a:solidFill>
                  <a:srgbClr val="142737"/>
                </a:solidFill>
                <a:latin typeface="Aptos"/>
              </a:defRPr>
            </a:pPr>
            <a:r>
              <a:t>counting</a:t>
            </a:r>
          </a:p>
          <a:p>
            <a:pPr>
              <a:spcAft>
                <a:spcPts val="600"/>
              </a:spcAft>
              <a:defRPr sz="1800">
                <a:solidFill>
                  <a:srgbClr val="142737"/>
                </a:solidFill>
                <a:latin typeface="Aptos"/>
              </a:defRPr>
            </a:pPr>
            <a:r>
              <a:t>pattern recognition</a:t>
            </a:r>
          </a:p>
          <a:p>
            <a:pPr>
              <a:spcAft>
                <a:spcPts val="600"/>
              </a:spcAft>
              <a:defRPr sz="1800">
                <a:solidFill>
                  <a:srgbClr val="142737"/>
                </a:solidFill>
                <a:latin typeface="Aptos"/>
              </a:defRPr>
            </a:pPr>
            <a:r>
              <a:t>context use</a:t>
            </a:r>
          </a:p>
          <a:p>
            <a:pPr>
              <a:spcAft>
                <a:spcPts val="600"/>
              </a:spcAft>
              <a:defRPr sz="1800">
                <a:solidFill>
                  <a:srgbClr val="142737"/>
                </a:solidFill>
                <a:latin typeface="Aptos"/>
              </a:defRPr>
            </a:pPr>
            <a:r>
              <a:t>first-action logic</a:t>
            </a:r>
          </a:p>
        </p:txBody>
      </p:sp>
      <p:sp>
        <p:nvSpPr>
          <p:cNvPr id="12" name="Rounded Rectangle 11"/>
          <p:cNvSpPr/>
          <p:nvPr/>
        </p:nvSpPr>
        <p:spPr>
          <a:xfrm>
            <a:off x="8001000" y="2697480"/>
            <a:ext cx="3063240" cy="26060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82549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Work mode</a:t>
            </a:r>
          </a:p>
        </p:txBody>
      </p:sp>
      <p:sp>
        <p:nvSpPr>
          <p:cNvPr id="14" name="TextBox 13"/>
          <p:cNvSpPr txBox="1"/>
          <p:nvPr/>
        </p:nvSpPr>
        <p:spPr>
          <a:xfrm>
            <a:off x="8202168" y="3264408"/>
            <a:ext cx="2660904" cy="1856232"/>
          </a:xfrm>
          <a:prstGeom prst="rect">
            <a:avLst/>
          </a:prstGeom>
          <a:noFill/>
        </p:spPr>
        <p:txBody>
          <a:bodyPr wrap="square">
            <a:noAutofit/>
          </a:bodyPr>
          <a:lstStyle/>
          <a:p>
            <a:pPr>
              <a:spcAft>
                <a:spcPts val="600"/>
              </a:spcAft>
              <a:defRPr sz="1800">
                <a:solidFill>
                  <a:srgbClr val="142737"/>
                </a:solidFill>
                <a:latin typeface="Aptos"/>
              </a:defRPr>
            </a:pPr>
            <a:r>
              <a:t>All work today is individual. No group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Course Link</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Why data analytics belongs in a security, privacy, and ethics course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Security reason</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Most attacks appear first as small, scattered traces rather than obvious compromises.</a:t>
            </a:r>
          </a:p>
          <a:p>
            <a:pPr>
              <a:spcAft>
                <a:spcPts val="600"/>
              </a:spcAft>
              <a:defRPr sz="1700">
                <a:solidFill>
                  <a:srgbClr val="142737"/>
                </a:solidFill>
                <a:latin typeface="Aptos"/>
              </a:defRPr>
            </a:pPr>
            <a:r>
              <a:t>Analytics helps detect those traces before they become larger incidents.</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Privacy and ethics reason</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Monitoring can protect systems, but it also creates retention, access, and surveillance questions.</a:t>
            </a:r>
          </a:p>
          <a:p>
            <a:pPr>
              <a:spcAft>
                <a:spcPts val="600"/>
              </a:spcAft>
              <a:defRPr sz="1700">
                <a:solidFill>
                  <a:srgbClr val="142737"/>
                </a:solidFill>
                <a:latin typeface="Aptos"/>
              </a:defRPr>
            </a:pPr>
            <a:r>
              <a:t>The class has to cover both capability and restraint.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Definition</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Security analytics means extracting usable security meaning from operational data</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Includes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reading logs carefully</a:t>
            </a:r>
          </a:p>
          <a:p>
            <a:pPr>
              <a:spcAft>
                <a:spcPts val="600"/>
              </a:spcAft>
              <a:defRPr sz="1800">
                <a:solidFill>
                  <a:srgbClr val="142737"/>
                </a:solidFill>
                <a:latin typeface="Aptos"/>
              </a:defRPr>
            </a:pPr>
            <a:r>
              <a:t>counting repeated behavior</a:t>
            </a:r>
          </a:p>
          <a:p>
            <a:pPr>
              <a:spcAft>
                <a:spcPts val="600"/>
              </a:spcAft>
              <a:defRPr sz="1800">
                <a:solidFill>
                  <a:srgbClr val="142737"/>
                </a:solidFill>
                <a:latin typeface="Aptos"/>
              </a:defRPr>
            </a:pPr>
            <a:r>
              <a:t>spotting unusual sequences</a:t>
            </a:r>
          </a:p>
          <a:p>
            <a:pPr>
              <a:spcAft>
                <a:spcPts val="600"/>
              </a:spcAft>
              <a:defRPr sz="1800">
                <a:solidFill>
                  <a:srgbClr val="142737"/>
                </a:solidFill>
                <a:latin typeface="Aptos"/>
              </a:defRPr>
            </a:pPr>
            <a:r>
              <a:t>linking events to risk, users, and systems</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Not limited to</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machine learning</a:t>
            </a:r>
          </a:p>
          <a:p>
            <a:pPr>
              <a:spcAft>
                <a:spcPts val="600"/>
              </a:spcAft>
              <a:defRPr sz="1800">
                <a:solidFill>
                  <a:srgbClr val="142737"/>
                </a:solidFill>
                <a:latin typeface="Aptos"/>
              </a:defRPr>
            </a:pPr>
            <a:r>
              <a:t>SIEM dashboards</a:t>
            </a:r>
          </a:p>
          <a:p>
            <a:pPr>
              <a:spcAft>
                <a:spcPts val="600"/>
              </a:spcAft>
              <a:defRPr sz="1800">
                <a:solidFill>
                  <a:srgbClr val="142737"/>
                </a:solidFill>
                <a:latin typeface="Aptos"/>
              </a:defRPr>
            </a:pPr>
            <a:r>
              <a:t>advanced threat hunting only</a:t>
            </a:r>
          </a:p>
          <a:p>
            <a:pPr>
              <a:spcAft>
                <a:spcPts val="600"/>
              </a:spcAft>
              <a:defRPr sz="1800">
                <a:solidFill>
                  <a:srgbClr val="142737"/>
                </a:solidFill>
                <a:latin typeface="Aptos"/>
              </a:defRPr>
            </a:pPr>
            <a:r>
              <a:t>It also includes simple, careful analyst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Analyst Workflow</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 basic analytics workflow moves from raw data to a justified action</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1600200"/>
            <a:ext cx="20574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1. Observe</a:t>
            </a:r>
          </a:p>
        </p:txBody>
      </p:sp>
      <p:sp>
        <p:nvSpPr>
          <p:cNvPr id="7" name="TextBox 6"/>
          <p:cNvSpPr txBox="1"/>
          <p:nvPr/>
        </p:nvSpPr>
        <p:spPr>
          <a:xfrm>
            <a:off x="886968" y="2167128"/>
            <a:ext cx="1655064" cy="3776472"/>
          </a:xfrm>
          <a:prstGeom prst="rect">
            <a:avLst/>
          </a:prstGeom>
          <a:noFill/>
        </p:spPr>
        <p:txBody>
          <a:bodyPr wrap="square">
            <a:noAutofit/>
          </a:bodyPr>
          <a:lstStyle/>
          <a:p>
            <a:pPr>
              <a:spcAft>
                <a:spcPts val="600"/>
              </a:spcAft>
              <a:defRPr sz="1700">
                <a:solidFill>
                  <a:srgbClr val="142737"/>
                </a:solidFill>
                <a:latin typeface="Aptos"/>
              </a:defRPr>
            </a:pPr>
            <a:r>
              <a:t>open the data</a:t>
            </a:r>
          </a:p>
          <a:p>
            <a:pPr>
              <a:spcAft>
                <a:spcPts val="600"/>
              </a:spcAft>
              <a:defRPr sz="1700">
                <a:solidFill>
                  <a:srgbClr val="142737"/>
                </a:solidFill>
                <a:latin typeface="Aptos"/>
              </a:defRPr>
            </a:pPr>
            <a:r>
              <a:t>scan fields</a:t>
            </a:r>
          </a:p>
          <a:p>
            <a:pPr>
              <a:spcAft>
                <a:spcPts val="600"/>
              </a:spcAft>
              <a:defRPr sz="1700">
                <a:solidFill>
                  <a:srgbClr val="142737"/>
                </a:solidFill>
                <a:latin typeface="Aptos"/>
              </a:defRPr>
            </a:pPr>
            <a:r>
              <a:t>notice obvious spikes</a:t>
            </a:r>
          </a:p>
        </p:txBody>
      </p:sp>
      <p:sp>
        <p:nvSpPr>
          <p:cNvPr id="8" name="Rounded Rectangle 7"/>
          <p:cNvSpPr/>
          <p:nvPr/>
        </p:nvSpPr>
        <p:spPr>
          <a:xfrm>
            <a:off x="2880360" y="1600200"/>
            <a:ext cx="20574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1752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2. Filter</a:t>
            </a:r>
          </a:p>
        </p:txBody>
      </p:sp>
      <p:sp>
        <p:nvSpPr>
          <p:cNvPr id="10" name="TextBox 9"/>
          <p:cNvSpPr txBox="1"/>
          <p:nvPr/>
        </p:nvSpPr>
        <p:spPr>
          <a:xfrm>
            <a:off x="3081528" y="2167128"/>
            <a:ext cx="1655064" cy="3776472"/>
          </a:xfrm>
          <a:prstGeom prst="rect">
            <a:avLst/>
          </a:prstGeom>
          <a:noFill/>
        </p:spPr>
        <p:txBody>
          <a:bodyPr wrap="square">
            <a:noAutofit/>
          </a:bodyPr>
          <a:lstStyle/>
          <a:p>
            <a:pPr>
              <a:spcAft>
                <a:spcPts val="600"/>
              </a:spcAft>
              <a:defRPr sz="1700">
                <a:solidFill>
                  <a:srgbClr val="142737"/>
                </a:solidFill>
                <a:latin typeface="Aptos"/>
              </a:defRPr>
            </a:pPr>
            <a:r>
              <a:t>group by IP</a:t>
            </a:r>
          </a:p>
          <a:p>
            <a:pPr>
              <a:spcAft>
                <a:spcPts val="600"/>
              </a:spcAft>
              <a:defRPr sz="1700">
                <a:solidFill>
                  <a:srgbClr val="142737"/>
                </a:solidFill>
                <a:latin typeface="Aptos"/>
              </a:defRPr>
            </a:pPr>
            <a:r>
              <a:t>group by user</a:t>
            </a:r>
          </a:p>
          <a:p>
            <a:pPr>
              <a:spcAft>
                <a:spcPts val="600"/>
              </a:spcAft>
              <a:defRPr sz="1700">
                <a:solidFill>
                  <a:srgbClr val="142737"/>
                </a:solidFill>
                <a:latin typeface="Aptos"/>
              </a:defRPr>
            </a:pPr>
            <a:r>
              <a:t>focus on failures or rare events</a:t>
            </a:r>
          </a:p>
        </p:txBody>
      </p:sp>
      <p:sp>
        <p:nvSpPr>
          <p:cNvPr id="11" name="Rounded Rectangle 10"/>
          <p:cNvSpPr/>
          <p:nvPr/>
        </p:nvSpPr>
        <p:spPr>
          <a:xfrm>
            <a:off x="5074920" y="1600200"/>
            <a:ext cx="20574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120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3. Compare</a:t>
            </a:r>
          </a:p>
        </p:txBody>
      </p:sp>
      <p:sp>
        <p:nvSpPr>
          <p:cNvPr id="13" name="TextBox 12"/>
          <p:cNvSpPr txBox="1"/>
          <p:nvPr/>
        </p:nvSpPr>
        <p:spPr>
          <a:xfrm>
            <a:off x="5276088" y="2167128"/>
            <a:ext cx="1655064" cy="3776472"/>
          </a:xfrm>
          <a:prstGeom prst="rect">
            <a:avLst/>
          </a:prstGeom>
          <a:noFill/>
        </p:spPr>
        <p:txBody>
          <a:bodyPr wrap="square">
            <a:noAutofit/>
          </a:bodyPr>
          <a:lstStyle/>
          <a:p>
            <a:pPr>
              <a:spcAft>
                <a:spcPts val="600"/>
              </a:spcAft>
              <a:defRPr sz="1700">
                <a:solidFill>
                  <a:srgbClr val="142737"/>
                </a:solidFill>
                <a:latin typeface="Aptos"/>
              </a:defRPr>
            </a:pPr>
            <a:r>
              <a:t>count volume</a:t>
            </a:r>
          </a:p>
          <a:p>
            <a:pPr>
              <a:spcAft>
                <a:spcPts val="600"/>
              </a:spcAft>
              <a:defRPr sz="1700">
                <a:solidFill>
                  <a:srgbClr val="142737"/>
                </a:solidFill>
                <a:latin typeface="Aptos"/>
              </a:defRPr>
            </a:pPr>
            <a:r>
              <a:t>check sequence</a:t>
            </a:r>
          </a:p>
          <a:p>
            <a:pPr>
              <a:spcAft>
                <a:spcPts val="600"/>
              </a:spcAft>
              <a:defRPr sz="1700">
                <a:solidFill>
                  <a:srgbClr val="142737"/>
                </a:solidFill>
                <a:latin typeface="Aptos"/>
              </a:defRPr>
            </a:pPr>
            <a:r>
              <a:t>look for repetition</a:t>
            </a:r>
          </a:p>
        </p:txBody>
      </p:sp>
      <p:sp>
        <p:nvSpPr>
          <p:cNvPr id="14" name="Rounded Rectangle 13"/>
          <p:cNvSpPr/>
          <p:nvPr/>
        </p:nvSpPr>
        <p:spPr>
          <a:xfrm>
            <a:off x="7269480" y="1600200"/>
            <a:ext cx="20574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4. Enrich</a:t>
            </a:r>
          </a:p>
        </p:txBody>
      </p:sp>
      <p:sp>
        <p:nvSpPr>
          <p:cNvPr id="16" name="TextBox 15"/>
          <p:cNvSpPr txBox="1"/>
          <p:nvPr/>
        </p:nvSpPr>
        <p:spPr>
          <a:xfrm>
            <a:off x="7470648" y="2167128"/>
            <a:ext cx="1655064" cy="3776472"/>
          </a:xfrm>
          <a:prstGeom prst="rect">
            <a:avLst/>
          </a:prstGeom>
          <a:noFill/>
        </p:spPr>
        <p:txBody>
          <a:bodyPr wrap="square">
            <a:noAutofit/>
          </a:bodyPr>
          <a:lstStyle/>
          <a:p>
            <a:pPr>
              <a:spcAft>
                <a:spcPts val="600"/>
              </a:spcAft>
              <a:defRPr sz="1700">
                <a:solidFill>
                  <a:srgbClr val="142737"/>
                </a:solidFill>
                <a:latin typeface="Aptos"/>
              </a:defRPr>
            </a:pPr>
            <a:r>
              <a:t>add user role</a:t>
            </a:r>
          </a:p>
          <a:p>
            <a:pPr>
              <a:spcAft>
                <a:spcPts val="600"/>
              </a:spcAft>
              <a:defRPr sz="1700">
                <a:solidFill>
                  <a:srgbClr val="142737"/>
                </a:solidFill>
                <a:latin typeface="Aptos"/>
              </a:defRPr>
            </a:pPr>
            <a:r>
              <a:t>add privilege</a:t>
            </a:r>
          </a:p>
          <a:p>
            <a:pPr>
              <a:spcAft>
                <a:spcPts val="600"/>
              </a:spcAft>
              <a:defRPr sz="1700">
                <a:solidFill>
                  <a:srgbClr val="142737"/>
                </a:solidFill>
                <a:latin typeface="Aptos"/>
              </a:defRPr>
            </a:pPr>
            <a:r>
              <a:t>add sensitivity</a:t>
            </a:r>
          </a:p>
        </p:txBody>
      </p:sp>
      <p:sp>
        <p:nvSpPr>
          <p:cNvPr id="17" name="Rounded Rectangle 16"/>
          <p:cNvSpPr/>
          <p:nvPr/>
        </p:nvSpPr>
        <p:spPr>
          <a:xfrm>
            <a:off x="9464040" y="1600200"/>
            <a:ext cx="20574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5. Act</a:t>
            </a:r>
          </a:p>
        </p:txBody>
      </p:sp>
      <p:sp>
        <p:nvSpPr>
          <p:cNvPr id="19" name="TextBox 18"/>
          <p:cNvSpPr txBox="1"/>
          <p:nvPr/>
        </p:nvSpPr>
        <p:spPr>
          <a:xfrm>
            <a:off x="9665208" y="2167128"/>
            <a:ext cx="1655064" cy="3776472"/>
          </a:xfrm>
          <a:prstGeom prst="rect">
            <a:avLst/>
          </a:prstGeom>
          <a:noFill/>
        </p:spPr>
        <p:txBody>
          <a:bodyPr wrap="square">
            <a:noAutofit/>
          </a:bodyPr>
          <a:lstStyle/>
          <a:p>
            <a:pPr>
              <a:spcAft>
                <a:spcPts val="600"/>
              </a:spcAft>
              <a:defRPr sz="1600">
                <a:solidFill>
                  <a:srgbClr val="142737"/>
                </a:solidFill>
                <a:latin typeface="Aptos"/>
              </a:defRPr>
            </a:pPr>
            <a:r>
              <a:t>recommend a first step</a:t>
            </a:r>
          </a:p>
          <a:p>
            <a:pPr>
              <a:spcAft>
                <a:spcPts val="600"/>
              </a:spcAft>
              <a:defRPr sz="1600">
                <a:solidFill>
                  <a:srgbClr val="142737"/>
                </a:solidFill>
                <a:latin typeface="Aptos"/>
              </a:defRPr>
            </a:pPr>
            <a:r>
              <a:t>document why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Telemetry Sources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Security teams build visibility from several categories of data</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Identity</a:t>
            </a:r>
          </a:p>
        </p:txBody>
      </p:sp>
      <p:sp>
        <p:nvSpPr>
          <p:cNvPr id="7" name="TextBox 6"/>
          <p:cNvSpPr txBox="1"/>
          <p:nvPr/>
        </p:nvSpPr>
        <p:spPr>
          <a:xfrm>
            <a:off x="932688"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logins</a:t>
            </a:r>
          </a:p>
          <a:p>
            <a:pPr>
              <a:spcAft>
                <a:spcPts val="600"/>
              </a:spcAft>
              <a:defRPr sz="1800">
                <a:solidFill>
                  <a:srgbClr val="142737"/>
                </a:solidFill>
                <a:latin typeface="Aptos"/>
              </a:defRPr>
            </a:pPr>
            <a:r>
              <a:t>MFA results</a:t>
            </a:r>
          </a:p>
          <a:p>
            <a:pPr>
              <a:spcAft>
                <a:spcPts val="600"/>
              </a:spcAft>
              <a:defRPr sz="1800">
                <a:solidFill>
                  <a:srgbClr val="142737"/>
                </a:solidFill>
                <a:latin typeface="Aptos"/>
              </a:defRPr>
            </a:pPr>
            <a:r>
              <a:t>password resets</a:t>
            </a:r>
          </a:p>
          <a:p>
            <a:pPr>
              <a:spcAft>
                <a:spcPts val="600"/>
              </a:spcAft>
              <a:defRPr sz="1800">
                <a:solidFill>
                  <a:srgbClr val="142737"/>
                </a:solidFill>
                <a:latin typeface="Aptos"/>
              </a:defRPr>
            </a:pPr>
            <a:r>
              <a:t>role changes</a:t>
            </a:r>
          </a:p>
        </p:txBody>
      </p:sp>
      <p:sp>
        <p:nvSpPr>
          <p:cNvPr id="8" name="Rounded Rectangle 7"/>
          <p:cNvSpPr/>
          <p:nvPr/>
        </p:nvSpPr>
        <p:spPr>
          <a:xfrm>
            <a:off x="3639312"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76472"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Network</a:t>
            </a:r>
          </a:p>
        </p:txBody>
      </p:sp>
      <p:sp>
        <p:nvSpPr>
          <p:cNvPr id="10" name="TextBox 9"/>
          <p:cNvSpPr txBox="1"/>
          <p:nvPr/>
        </p:nvSpPr>
        <p:spPr>
          <a:xfrm>
            <a:off x="3840480"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connections</a:t>
            </a:r>
          </a:p>
          <a:p>
            <a:pPr>
              <a:spcAft>
                <a:spcPts val="600"/>
              </a:spcAft>
              <a:defRPr sz="1800">
                <a:solidFill>
                  <a:srgbClr val="142737"/>
                </a:solidFill>
                <a:latin typeface="Aptos"/>
              </a:defRPr>
            </a:pPr>
            <a:r>
              <a:t>VPN activity</a:t>
            </a:r>
          </a:p>
          <a:p>
            <a:pPr>
              <a:spcAft>
                <a:spcPts val="600"/>
              </a:spcAft>
              <a:defRPr sz="1800">
                <a:solidFill>
                  <a:srgbClr val="142737"/>
                </a:solidFill>
                <a:latin typeface="Aptos"/>
              </a:defRPr>
            </a:pPr>
            <a:r>
              <a:t>DNS queries</a:t>
            </a:r>
          </a:p>
          <a:p>
            <a:pPr>
              <a:spcAft>
                <a:spcPts val="600"/>
              </a:spcAft>
              <a:defRPr sz="1800">
                <a:solidFill>
                  <a:srgbClr val="142737"/>
                </a:solidFill>
                <a:latin typeface="Aptos"/>
              </a:defRPr>
            </a:pPr>
            <a:r>
              <a:t>traffic anomalies</a:t>
            </a:r>
          </a:p>
        </p:txBody>
      </p:sp>
      <p:sp>
        <p:nvSpPr>
          <p:cNvPr id="11" name="Rounded Rectangle 10"/>
          <p:cNvSpPr/>
          <p:nvPr/>
        </p:nvSpPr>
        <p:spPr>
          <a:xfrm>
            <a:off x="6547104"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4264"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Endpoint</a:t>
            </a:r>
          </a:p>
        </p:txBody>
      </p:sp>
      <p:sp>
        <p:nvSpPr>
          <p:cNvPr id="13" name="TextBox 12"/>
          <p:cNvSpPr txBox="1"/>
          <p:nvPr/>
        </p:nvSpPr>
        <p:spPr>
          <a:xfrm>
            <a:off x="6748272"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process events</a:t>
            </a:r>
          </a:p>
          <a:p>
            <a:pPr>
              <a:spcAft>
                <a:spcPts val="600"/>
              </a:spcAft>
              <a:defRPr sz="1800">
                <a:solidFill>
                  <a:srgbClr val="142737"/>
                </a:solidFill>
                <a:latin typeface="Aptos"/>
              </a:defRPr>
            </a:pPr>
            <a:r>
              <a:t>USB events</a:t>
            </a:r>
          </a:p>
          <a:p>
            <a:pPr>
              <a:spcAft>
                <a:spcPts val="600"/>
              </a:spcAft>
              <a:defRPr sz="1800">
                <a:solidFill>
                  <a:srgbClr val="142737"/>
                </a:solidFill>
                <a:latin typeface="Aptos"/>
              </a:defRPr>
            </a:pPr>
            <a:r>
              <a:t>malware alerts</a:t>
            </a:r>
          </a:p>
          <a:p>
            <a:pPr>
              <a:spcAft>
                <a:spcPts val="600"/>
              </a:spcAft>
              <a:defRPr sz="1800">
                <a:solidFill>
                  <a:srgbClr val="142737"/>
                </a:solidFill>
                <a:latin typeface="Aptos"/>
              </a:defRPr>
            </a:pPr>
            <a:r>
              <a:t>file changes</a:t>
            </a:r>
          </a:p>
        </p:txBody>
      </p:sp>
      <p:sp>
        <p:nvSpPr>
          <p:cNvPr id="14" name="Rounded Rectangle 13"/>
          <p:cNvSpPr/>
          <p:nvPr/>
        </p:nvSpPr>
        <p:spPr>
          <a:xfrm>
            <a:off x="9454896" y="1600200"/>
            <a:ext cx="192024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92056"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Cloud</a:t>
            </a:r>
          </a:p>
        </p:txBody>
      </p:sp>
      <p:sp>
        <p:nvSpPr>
          <p:cNvPr id="16" name="TextBox 15"/>
          <p:cNvSpPr txBox="1"/>
          <p:nvPr/>
        </p:nvSpPr>
        <p:spPr>
          <a:xfrm>
            <a:off x="9656064" y="2167128"/>
            <a:ext cx="1517904" cy="3776472"/>
          </a:xfrm>
          <a:prstGeom prst="rect">
            <a:avLst/>
          </a:prstGeom>
          <a:noFill/>
        </p:spPr>
        <p:txBody>
          <a:bodyPr wrap="square">
            <a:noAutofit/>
          </a:bodyPr>
          <a:lstStyle/>
          <a:p>
            <a:pPr>
              <a:spcAft>
                <a:spcPts val="600"/>
              </a:spcAft>
              <a:defRPr sz="1600">
                <a:solidFill>
                  <a:srgbClr val="142737"/>
                </a:solidFill>
                <a:latin typeface="Aptos"/>
              </a:defRPr>
            </a:pPr>
            <a:r>
              <a:t>token use</a:t>
            </a:r>
          </a:p>
          <a:p>
            <a:pPr>
              <a:spcAft>
                <a:spcPts val="600"/>
              </a:spcAft>
              <a:defRPr sz="1600">
                <a:solidFill>
                  <a:srgbClr val="142737"/>
                </a:solidFill>
                <a:latin typeface="Aptos"/>
              </a:defRPr>
            </a:pPr>
            <a:r>
              <a:t>admin actions</a:t>
            </a:r>
          </a:p>
          <a:p>
            <a:pPr>
              <a:spcAft>
                <a:spcPts val="600"/>
              </a:spcAft>
              <a:defRPr sz="1600">
                <a:solidFill>
                  <a:srgbClr val="142737"/>
                </a:solidFill>
                <a:latin typeface="Aptos"/>
              </a:defRPr>
            </a:pPr>
            <a:r>
              <a:t>storage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Core Terms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Events, alerts, and incidents describe different levels of certainty and response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3375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Event</a:t>
            </a:r>
          </a:p>
        </p:txBody>
      </p:sp>
      <p:sp>
        <p:nvSpPr>
          <p:cNvPr id="7" name="TextBox 6"/>
          <p:cNvSpPr txBox="1"/>
          <p:nvPr/>
        </p:nvSpPr>
        <p:spPr>
          <a:xfrm>
            <a:off x="1024128" y="2167128"/>
            <a:ext cx="2935224" cy="3776472"/>
          </a:xfrm>
          <a:prstGeom prst="rect">
            <a:avLst/>
          </a:prstGeom>
          <a:noFill/>
        </p:spPr>
        <p:txBody>
          <a:bodyPr wrap="square">
            <a:noAutofit/>
          </a:bodyPr>
          <a:lstStyle/>
          <a:p>
            <a:pPr>
              <a:spcAft>
                <a:spcPts val="600"/>
              </a:spcAft>
              <a:defRPr sz="1800">
                <a:solidFill>
                  <a:srgbClr val="142737"/>
                </a:solidFill>
                <a:latin typeface="Aptos"/>
              </a:defRPr>
            </a:pPr>
            <a:r>
              <a:t>A recorded activity.</a:t>
            </a:r>
          </a:p>
          <a:p>
            <a:pPr>
              <a:spcAft>
                <a:spcPts val="600"/>
              </a:spcAft>
              <a:defRPr sz="1800">
                <a:solidFill>
                  <a:srgbClr val="142737"/>
                </a:solidFill>
                <a:latin typeface="Aptos"/>
              </a:defRPr>
            </a:pPr>
            <a:r>
              <a:t>Example: one failed login or one password reset.</a:t>
            </a:r>
          </a:p>
        </p:txBody>
      </p:sp>
      <p:sp>
        <p:nvSpPr>
          <p:cNvPr id="8" name="Rounded Rectangle 7"/>
          <p:cNvSpPr/>
          <p:nvPr/>
        </p:nvSpPr>
        <p:spPr>
          <a:xfrm>
            <a:off x="4434840" y="1600200"/>
            <a:ext cx="33375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Alert</a:t>
            </a:r>
          </a:p>
        </p:txBody>
      </p:sp>
      <p:sp>
        <p:nvSpPr>
          <p:cNvPr id="10" name="TextBox 9"/>
          <p:cNvSpPr txBox="1"/>
          <p:nvPr/>
        </p:nvSpPr>
        <p:spPr>
          <a:xfrm>
            <a:off x="4636008" y="2167128"/>
            <a:ext cx="2935224" cy="3776472"/>
          </a:xfrm>
          <a:prstGeom prst="rect">
            <a:avLst/>
          </a:prstGeom>
          <a:noFill/>
        </p:spPr>
        <p:txBody>
          <a:bodyPr wrap="square">
            <a:noAutofit/>
          </a:bodyPr>
          <a:lstStyle/>
          <a:p>
            <a:pPr>
              <a:spcAft>
                <a:spcPts val="600"/>
              </a:spcAft>
              <a:defRPr sz="1800">
                <a:solidFill>
                  <a:srgbClr val="142737"/>
                </a:solidFill>
                <a:latin typeface="Aptos"/>
              </a:defRPr>
            </a:pPr>
            <a:r>
              <a:t>A pattern or rule-generated signal that something may matter.</a:t>
            </a:r>
          </a:p>
          <a:p>
            <a:pPr>
              <a:spcAft>
                <a:spcPts val="600"/>
              </a:spcAft>
              <a:defRPr sz="1800">
                <a:solidFill>
                  <a:srgbClr val="142737"/>
                </a:solidFill>
                <a:latin typeface="Aptos"/>
              </a:defRPr>
            </a:pPr>
            <a:r>
              <a:t>Example: many failures from one source.</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Incident</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800">
                <a:solidFill>
                  <a:srgbClr val="142737"/>
                </a:solidFill>
                <a:latin typeface="Aptos"/>
              </a:defRPr>
            </a:pPr>
            <a:r>
              <a:t>A confirmed or strongly suspected security problem that needs response and tracking.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Why Authentication Data</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Authentication logs are one of the most practical starting points for analytics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analysts use them</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Every organization has some form of login data.</a:t>
            </a:r>
          </a:p>
          <a:p>
            <a:pPr>
              <a:spcAft>
                <a:spcPts val="600"/>
              </a:spcAft>
              <a:defRPr sz="1700">
                <a:solidFill>
                  <a:srgbClr val="142737"/>
                </a:solidFill>
                <a:latin typeface="Aptos"/>
              </a:defRPr>
            </a:pPr>
            <a:r>
              <a:t>Account compromise often begins or becomes visible at the login layer.</a:t>
            </a:r>
          </a:p>
          <a:p>
            <a:pPr>
              <a:spcAft>
                <a:spcPts val="600"/>
              </a:spcAft>
              <a:defRPr sz="1700">
                <a:solidFill>
                  <a:srgbClr val="142737"/>
                </a:solidFill>
                <a:latin typeface="Aptos"/>
              </a:defRPr>
            </a:pPr>
            <a:r>
              <a:t>The data is structured enough to analyze with simple tools.</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they can show</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repeated failures</a:t>
            </a:r>
          </a:p>
          <a:p>
            <a:pPr>
              <a:spcAft>
                <a:spcPts val="600"/>
              </a:spcAft>
              <a:defRPr sz="1800">
                <a:solidFill>
                  <a:srgbClr val="142737"/>
                </a:solidFill>
                <a:latin typeface="Aptos"/>
              </a:defRPr>
            </a:pPr>
            <a:r>
              <a:t>geographic anomalies</a:t>
            </a:r>
          </a:p>
          <a:p>
            <a:pPr>
              <a:spcAft>
                <a:spcPts val="600"/>
              </a:spcAft>
              <a:defRPr sz="1800">
                <a:solidFill>
                  <a:srgbClr val="142737"/>
                </a:solidFill>
                <a:latin typeface="Aptos"/>
              </a:defRPr>
            </a:pPr>
            <a:r>
              <a:t>success after suspicious failures</a:t>
            </a:r>
          </a:p>
          <a:p>
            <a:pPr>
              <a:spcAft>
                <a:spcPts val="600"/>
              </a:spcAft>
              <a:defRPr sz="1800">
                <a:solidFill>
                  <a:srgbClr val="142737"/>
                </a:solidFill>
                <a:latin typeface="Aptos"/>
              </a:defRPr>
            </a:pPr>
            <a:r>
              <a:t>MFA fatigue patterns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Reading Fields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 small set of fields usually carries most of the investigative value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Time</a:t>
            </a:r>
          </a:p>
        </p:txBody>
      </p:sp>
      <p:sp>
        <p:nvSpPr>
          <p:cNvPr id="7" name="TextBox 6"/>
          <p:cNvSpPr txBox="1"/>
          <p:nvPr/>
        </p:nvSpPr>
        <p:spPr>
          <a:xfrm>
            <a:off x="932688"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When did it happen?</a:t>
            </a:r>
          </a:p>
          <a:p>
            <a:pPr>
              <a:spcAft>
                <a:spcPts val="600"/>
              </a:spcAft>
              <a:defRPr sz="1800">
                <a:solidFill>
                  <a:srgbClr val="142737"/>
                </a:solidFill>
                <a:latin typeface="Aptos"/>
              </a:defRPr>
            </a:pPr>
            <a:r>
              <a:t>How often?</a:t>
            </a:r>
          </a:p>
          <a:p>
            <a:pPr>
              <a:spcAft>
                <a:spcPts val="600"/>
              </a:spcAft>
              <a:defRPr sz="1800">
                <a:solidFill>
                  <a:srgbClr val="142737"/>
                </a:solidFill>
                <a:latin typeface="Aptos"/>
              </a:defRPr>
            </a:pPr>
            <a:r>
              <a:t>In what order?</a:t>
            </a:r>
          </a:p>
        </p:txBody>
      </p:sp>
      <p:sp>
        <p:nvSpPr>
          <p:cNvPr id="8" name="Rounded Rectangle 7"/>
          <p:cNvSpPr/>
          <p:nvPr/>
        </p:nvSpPr>
        <p:spPr>
          <a:xfrm>
            <a:off x="3639312"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76472"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Source</a:t>
            </a:r>
          </a:p>
        </p:txBody>
      </p:sp>
      <p:sp>
        <p:nvSpPr>
          <p:cNvPr id="10" name="TextBox 9"/>
          <p:cNvSpPr txBox="1"/>
          <p:nvPr/>
        </p:nvSpPr>
        <p:spPr>
          <a:xfrm>
            <a:off x="3840480"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Which IP?</a:t>
            </a:r>
          </a:p>
          <a:p>
            <a:pPr>
              <a:spcAft>
                <a:spcPts val="600"/>
              </a:spcAft>
              <a:defRPr sz="1800">
                <a:solidFill>
                  <a:srgbClr val="142737"/>
                </a:solidFill>
                <a:latin typeface="Aptos"/>
              </a:defRPr>
            </a:pPr>
            <a:r>
              <a:t>Which device?</a:t>
            </a:r>
          </a:p>
          <a:p>
            <a:pPr>
              <a:spcAft>
                <a:spcPts val="600"/>
              </a:spcAft>
              <a:defRPr sz="1800">
                <a:solidFill>
                  <a:srgbClr val="142737"/>
                </a:solidFill>
                <a:latin typeface="Aptos"/>
              </a:defRPr>
            </a:pPr>
            <a:r>
              <a:t>Which city or region?</a:t>
            </a:r>
          </a:p>
        </p:txBody>
      </p:sp>
      <p:sp>
        <p:nvSpPr>
          <p:cNvPr id="11" name="Rounded Rectangle 10"/>
          <p:cNvSpPr/>
          <p:nvPr/>
        </p:nvSpPr>
        <p:spPr>
          <a:xfrm>
            <a:off x="6547104"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4264"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Target</a:t>
            </a:r>
          </a:p>
        </p:txBody>
      </p:sp>
      <p:sp>
        <p:nvSpPr>
          <p:cNvPr id="13" name="TextBox 12"/>
          <p:cNvSpPr txBox="1"/>
          <p:nvPr/>
        </p:nvSpPr>
        <p:spPr>
          <a:xfrm>
            <a:off x="6748272" y="2167128"/>
            <a:ext cx="2249424" cy="3776472"/>
          </a:xfrm>
          <a:prstGeom prst="rect">
            <a:avLst/>
          </a:prstGeom>
          <a:noFill/>
        </p:spPr>
        <p:txBody>
          <a:bodyPr wrap="square">
            <a:noAutofit/>
          </a:bodyPr>
          <a:lstStyle/>
          <a:p>
            <a:pPr>
              <a:spcAft>
                <a:spcPts val="600"/>
              </a:spcAft>
              <a:defRPr sz="1800">
                <a:solidFill>
                  <a:srgbClr val="142737"/>
                </a:solidFill>
                <a:latin typeface="Aptos"/>
              </a:defRPr>
            </a:pPr>
            <a:r>
              <a:t>Which account?</a:t>
            </a:r>
          </a:p>
          <a:p>
            <a:pPr>
              <a:spcAft>
                <a:spcPts val="600"/>
              </a:spcAft>
              <a:defRPr sz="1800">
                <a:solidFill>
                  <a:srgbClr val="142737"/>
                </a:solidFill>
                <a:latin typeface="Aptos"/>
              </a:defRPr>
            </a:pPr>
            <a:r>
              <a:t>Which role?</a:t>
            </a:r>
          </a:p>
          <a:p>
            <a:pPr>
              <a:spcAft>
                <a:spcPts val="600"/>
              </a:spcAft>
              <a:defRPr sz="1800">
                <a:solidFill>
                  <a:srgbClr val="142737"/>
                </a:solidFill>
                <a:latin typeface="Aptos"/>
              </a:defRPr>
            </a:pPr>
            <a:r>
              <a:t>Which privilege level?</a:t>
            </a:r>
          </a:p>
        </p:txBody>
      </p:sp>
      <p:sp>
        <p:nvSpPr>
          <p:cNvPr id="14" name="Rounded Rectangle 13"/>
          <p:cNvSpPr/>
          <p:nvPr/>
        </p:nvSpPr>
        <p:spPr>
          <a:xfrm>
            <a:off x="9454896" y="1600200"/>
            <a:ext cx="192024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92056"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Outcome</a:t>
            </a:r>
          </a:p>
        </p:txBody>
      </p:sp>
      <p:sp>
        <p:nvSpPr>
          <p:cNvPr id="16" name="TextBox 15"/>
          <p:cNvSpPr txBox="1"/>
          <p:nvPr/>
        </p:nvSpPr>
        <p:spPr>
          <a:xfrm>
            <a:off x="9656064" y="2167128"/>
            <a:ext cx="1517904" cy="3776472"/>
          </a:xfrm>
          <a:prstGeom prst="rect">
            <a:avLst/>
          </a:prstGeom>
          <a:noFill/>
        </p:spPr>
        <p:txBody>
          <a:bodyPr wrap="square">
            <a:noAutofit/>
          </a:bodyPr>
          <a:lstStyle/>
          <a:p>
            <a:pPr>
              <a:spcAft>
                <a:spcPts val="600"/>
              </a:spcAft>
              <a:defRPr sz="1600">
                <a:solidFill>
                  <a:srgbClr val="142737"/>
                </a:solidFill>
                <a:latin typeface="Aptos"/>
              </a:defRPr>
            </a:pPr>
            <a:r>
              <a:t>success</a:t>
            </a:r>
          </a:p>
          <a:p>
            <a:pPr>
              <a:spcAft>
                <a:spcPts val="600"/>
              </a:spcAft>
              <a:defRPr sz="1600">
                <a:solidFill>
                  <a:srgbClr val="142737"/>
                </a:solidFill>
                <a:latin typeface="Aptos"/>
              </a:defRPr>
            </a:pPr>
            <a:r>
              <a:t>failed</a:t>
            </a:r>
          </a:p>
          <a:p>
            <a:pPr>
              <a:spcAft>
                <a:spcPts val="600"/>
              </a:spcAft>
              <a:defRPr sz="1600">
                <a:solidFill>
                  <a:srgbClr val="142737"/>
                </a:solidFill>
                <a:latin typeface="Aptos"/>
              </a:defRPr>
            </a:pPr>
            <a:r>
              <a:t>reset</a:t>
            </a:r>
          </a:p>
          <a:p>
            <a:pPr>
              <a:spcAft>
                <a:spcPts val="600"/>
              </a:spcAft>
              <a:defRPr sz="1600">
                <a:solidFill>
                  <a:srgbClr val="142737"/>
                </a:solidFill>
                <a:latin typeface="Aptos"/>
              </a:defRPr>
            </a:pPr>
            <a:r>
              <a:t>MFA denied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Counting and Grouping</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Basic analytics often starts with a very simple question: what repeats?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Useful counts</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failures by IP</a:t>
            </a:r>
          </a:p>
          <a:p>
            <a:pPr>
              <a:spcAft>
                <a:spcPts val="600"/>
              </a:spcAft>
              <a:defRPr sz="1800">
                <a:solidFill>
                  <a:srgbClr val="142737"/>
                </a:solidFill>
                <a:latin typeface="Aptos"/>
              </a:defRPr>
            </a:pPr>
            <a:r>
              <a:t>failures by user</a:t>
            </a:r>
          </a:p>
          <a:p>
            <a:pPr>
              <a:spcAft>
                <a:spcPts val="600"/>
              </a:spcAft>
              <a:defRPr sz="1800">
                <a:solidFill>
                  <a:srgbClr val="142737"/>
                </a:solidFill>
                <a:latin typeface="Aptos"/>
              </a:defRPr>
            </a:pPr>
            <a:r>
              <a:t>successes after failures</a:t>
            </a:r>
          </a:p>
          <a:p>
            <a:pPr>
              <a:spcAft>
                <a:spcPts val="600"/>
              </a:spcAft>
              <a:defRPr sz="1800">
                <a:solidFill>
                  <a:srgbClr val="142737"/>
                </a:solidFill>
                <a:latin typeface="Aptos"/>
              </a:defRPr>
            </a:pPr>
            <a:r>
              <a:t>rare event types</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Useful comparisons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one IP to many users</a:t>
            </a:r>
          </a:p>
          <a:p>
            <a:pPr>
              <a:spcAft>
                <a:spcPts val="600"/>
              </a:spcAft>
              <a:defRPr sz="1800">
                <a:solidFill>
                  <a:srgbClr val="142737"/>
                </a:solidFill>
                <a:latin typeface="Aptos"/>
              </a:defRPr>
            </a:pPr>
            <a:r>
              <a:t>one user from many IPs</a:t>
            </a:r>
          </a:p>
          <a:p>
            <a:pPr>
              <a:spcAft>
                <a:spcPts val="600"/>
              </a:spcAft>
              <a:defRPr sz="1800">
                <a:solidFill>
                  <a:srgbClr val="142737"/>
                </a:solidFill>
                <a:latin typeface="Aptos"/>
              </a:defRPr>
            </a:pPr>
            <a:r>
              <a:t>same device vs new device</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Lesson</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You do not need advanced tooling to start finding suspicious concentration and repetition.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Sequence</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Order matters because isolated events can look harmless until you place them in time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Examples of meaningful order</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many failures followed by one success</a:t>
            </a:r>
          </a:p>
          <a:p>
            <a:pPr>
              <a:spcAft>
                <a:spcPts val="600"/>
              </a:spcAft>
              <a:defRPr sz="1800">
                <a:solidFill>
                  <a:srgbClr val="142737"/>
                </a:solidFill>
                <a:latin typeface="Aptos"/>
              </a:defRPr>
            </a:pPr>
            <a:r>
              <a:t>password reset followed by unfamiliar login</a:t>
            </a:r>
          </a:p>
          <a:p>
            <a:pPr>
              <a:spcAft>
                <a:spcPts val="600"/>
              </a:spcAft>
              <a:defRPr sz="1800">
                <a:solidFill>
                  <a:srgbClr val="142737"/>
                </a:solidFill>
                <a:latin typeface="Aptos"/>
              </a:defRPr>
            </a:pPr>
            <a:r>
              <a:t>login success followed by MFA failure or push flood</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sequence matters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A single row may be weak evidence.</a:t>
            </a:r>
          </a:p>
          <a:p>
            <a:pPr>
              <a:spcAft>
                <a:spcPts val="600"/>
              </a:spcAft>
              <a:defRPr sz="1700">
                <a:solidFill>
                  <a:srgbClr val="142737"/>
                </a:solidFill>
                <a:latin typeface="Aptos"/>
              </a:defRPr>
            </a:pPr>
            <a:r>
              <a:t>A sequence can reveal compromise, persistence, or active attack behavior.</a:t>
            </a:r>
          </a:p>
          <a:p>
            <a:pPr>
              <a:spcAft>
                <a:spcPts val="600"/>
              </a:spcAft>
              <a:defRPr sz="1700">
                <a:solidFill>
                  <a:srgbClr val="142737"/>
                </a:solidFill>
                <a:latin typeface="Aptos"/>
              </a:defRPr>
            </a:pPr>
            <a:r>
              <a:t>Time turns raw events into a 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Pattern Types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The same field can support very different interpretations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35661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Normal mistake</a:t>
            </a:r>
          </a:p>
        </p:txBody>
      </p:sp>
      <p:sp>
        <p:nvSpPr>
          <p:cNvPr id="7" name="TextBox 6"/>
          <p:cNvSpPr txBox="1"/>
          <p:nvPr/>
        </p:nvSpPr>
        <p:spPr>
          <a:xfrm>
            <a:off x="932688" y="2167128"/>
            <a:ext cx="3163824" cy="3776472"/>
          </a:xfrm>
          <a:prstGeom prst="rect">
            <a:avLst/>
          </a:prstGeom>
          <a:noFill/>
        </p:spPr>
        <p:txBody>
          <a:bodyPr wrap="square">
            <a:noAutofit/>
          </a:bodyPr>
          <a:lstStyle/>
          <a:p>
            <a:pPr>
              <a:spcAft>
                <a:spcPts val="600"/>
              </a:spcAft>
              <a:defRPr sz="1700">
                <a:solidFill>
                  <a:srgbClr val="142737"/>
                </a:solidFill>
                <a:latin typeface="Aptos"/>
              </a:defRPr>
            </a:pPr>
            <a:r>
              <a:t>One user fails once or twice, then succeeds from a familiar device.</a:t>
            </a:r>
          </a:p>
          <a:p>
            <a:pPr>
              <a:spcAft>
                <a:spcPts val="600"/>
              </a:spcAft>
              <a:defRPr sz="1700">
                <a:solidFill>
                  <a:srgbClr val="142737"/>
                </a:solidFill>
                <a:latin typeface="Aptos"/>
              </a:defRPr>
            </a:pPr>
            <a:r>
              <a:t>Usually low urgency unless the account is sensitive.</a:t>
            </a:r>
          </a:p>
        </p:txBody>
      </p:sp>
      <p:sp>
        <p:nvSpPr>
          <p:cNvPr id="8" name="Rounded Rectangle 7"/>
          <p:cNvSpPr/>
          <p:nvPr/>
        </p:nvSpPr>
        <p:spPr>
          <a:xfrm>
            <a:off x="4526280" y="1600200"/>
            <a:ext cx="35661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Brute force</a:t>
            </a:r>
          </a:p>
        </p:txBody>
      </p:sp>
      <p:sp>
        <p:nvSpPr>
          <p:cNvPr id="10" name="TextBox 9"/>
          <p:cNvSpPr txBox="1"/>
          <p:nvPr/>
        </p:nvSpPr>
        <p:spPr>
          <a:xfrm>
            <a:off x="4727448" y="2167128"/>
            <a:ext cx="3163824" cy="3776472"/>
          </a:xfrm>
          <a:prstGeom prst="rect">
            <a:avLst/>
          </a:prstGeom>
          <a:noFill/>
        </p:spPr>
        <p:txBody>
          <a:bodyPr wrap="square">
            <a:noAutofit/>
          </a:bodyPr>
          <a:lstStyle/>
          <a:p>
            <a:pPr>
              <a:spcAft>
                <a:spcPts val="600"/>
              </a:spcAft>
              <a:defRPr sz="1700">
                <a:solidFill>
                  <a:srgbClr val="142737"/>
                </a:solidFill>
                <a:latin typeface="Aptos"/>
              </a:defRPr>
            </a:pPr>
            <a:r>
              <a:t>Many attempts against one account.</a:t>
            </a:r>
          </a:p>
          <a:p>
            <a:pPr>
              <a:spcAft>
                <a:spcPts val="600"/>
              </a:spcAft>
              <a:defRPr sz="1700">
                <a:solidFill>
                  <a:srgbClr val="142737"/>
                </a:solidFill>
                <a:latin typeface="Aptos"/>
              </a:defRPr>
            </a:pPr>
            <a:r>
              <a:t>The attacker keeps pushing one target repeatedly.</a:t>
            </a:r>
          </a:p>
        </p:txBody>
      </p:sp>
      <p:sp>
        <p:nvSpPr>
          <p:cNvPr id="11" name="Rounded Rectangle 10"/>
          <p:cNvSpPr/>
          <p:nvPr/>
        </p:nvSpPr>
        <p:spPr>
          <a:xfrm>
            <a:off x="8321040" y="1600200"/>
            <a:ext cx="283464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5820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Password spray</a:t>
            </a:r>
          </a:p>
        </p:txBody>
      </p:sp>
      <p:sp>
        <p:nvSpPr>
          <p:cNvPr id="13" name="TextBox 12"/>
          <p:cNvSpPr txBox="1"/>
          <p:nvPr/>
        </p:nvSpPr>
        <p:spPr>
          <a:xfrm>
            <a:off x="8522208" y="2167128"/>
            <a:ext cx="2432304" cy="3776472"/>
          </a:xfrm>
          <a:prstGeom prst="rect">
            <a:avLst/>
          </a:prstGeom>
          <a:noFill/>
        </p:spPr>
        <p:txBody>
          <a:bodyPr wrap="square">
            <a:noAutofit/>
          </a:bodyPr>
          <a:lstStyle/>
          <a:p>
            <a:pPr>
              <a:spcAft>
                <a:spcPts val="600"/>
              </a:spcAft>
              <a:defRPr sz="1700">
                <a:solidFill>
                  <a:srgbClr val="142737"/>
                </a:solidFill>
                <a:latin typeface="Aptos"/>
              </a:defRPr>
            </a:pPr>
            <a:r>
              <a:t>One source tries many accounts with a small number of guesses each.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Baseline</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Suspicion only makes sense when compared to normal behavior</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baseline matters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A morning login spike might be normal for a campus system.</a:t>
            </a:r>
          </a:p>
          <a:p>
            <a:pPr>
              <a:spcAft>
                <a:spcPts val="600"/>
              </a:spcAft>
              <a:defRPr sz="1700">
                <a:solidFill>
                  <a:srgbClr val="142737"/>
                </a:solidFill>
                <a:latin typeface="Aptos"/>
              </a:defRPr>
            </a:pPr>
            <a:r>
              <a:t>A rare admin login from an unfamiliar source may not be normal at all.</a:t>
            </a:r>
          </a:p>
          <a:p>
            <a:pPr>
              <a:spcAft>
                <a:spcPts val="600"/>
              </a:spcAft>
              <a:defRPr sz="1700">
                <a:solidFill>
                  <a:srgbClr val="142737"/>
                </a:solidFill>
                <a:latin typeface="Aptos"/>
              </a:defRPr>
            </a:pPr>
            <a:r>
              <a:t>Context prevents panic and also prevents underreaction.</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Baseline questions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Is this user normally active at this time?</a:t>
            </a:r>
          </a:p>
          <a:p>
            <a:pPr>
              <a:spcAft>
                <a:spcPts val="600"/>
              </a:spcAft>
              <a:defRPr sz="1700">
                <a:solidFill>
                  <a:srgbClr val="142737"/>
                </a:solidFill>
                <a:latin typeface="Aptos"/>
              </a:defRPr>
            </a:pPr>
            <a:r>
              <a:t>Is this source common or unusual?</a:t>
            </a:r>
          </a:p>
          <a:p>
            <a:pPr>
              <a:spcAft>
                <a:spcPts val="600"/>
              </a:spcAft>
              <a:defRPr sz="1700">
                <a:solidFill>
                  <a:srgbClr val="142737"/>
                </a:solidFill>
                <a:latin typeface="Aptos"/>
              </a:defRPr>
            </a:pPr>
            <a:r>
              <a:t>Is the device expected?</a:t>
            </a:r>
          </a:p>
          <a:p>
            <a:pPr>
              <a:spcAft>
                <a:spcPts val="600"/>
              </a:spcAft>
              <a:defRPr sz="1700">
                <a:solidFill>
                  <a:srgbClr val="142737"/>
                </a:solidFill>
                <a:latin typeface="Aptos"/>
              </a:defRPr>
            </a:pPr>
            <a:r>
              <a:t>Have we seen this pattern before without harm?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Enrichment</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 pattern becomes more meaningful when you add user and account context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Useful context</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department</a:t>
            </a:r>
          </a:p>
          <a:p>
            <a:pPr>
              <a:spcAft>
                <a:spcPts val="600"/>
              </a:spcAft>
              <a:defRPr sz="1800">
                <a:solidFill>
                  <a:srgbClr val="142737"/>
                </a:solidFill>
                <a:latin typeface="Aptos"/>
              </a:defRPr>
            </a:pPr>
            <a:r>
              <a:t>role title</a:t>
            </a:r>
          </a:p>
          <a:p>
            <a:pPr>
              <a:spcAft>
                <a:spcPts val="600"/>
              </a:spcAft>
              <a:defRPr sz="1800">
                <a:solidFill>
                  <a:srgbClr val="142737"/>
                </a:solidFill>
                <a:latin typeface="Aptos"/>
              </a:defRPr>
            </a:pPr>
            <a:r>
              <a:t>privileged status</a:t>
            </a:r>
          </a:p>
          <a:p>
            <a:pPr>
              <a:spcAft>
                <a:spcPts val="600"/>
              </a:spcAft>
              <a:defRPr sz="1800">
                <a:solidFill>
                  <a:srgbClr val="142737"/>
                </a:solidFill>
                <a:latin typeface="Aptos"/>
              </a:defRPr>
            </a:pPr>
            <a:r>
              <a:t>sensitive-account flag</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it changes urgency</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700">
                <a:solidFill>
                  <a:srgbClr val="142737"/>
                </a:solidFill>
                <a:latin typeface="Aptos"/>
              </a:defRPr>
            </a:pPr>
            <a:r>
              <a:t>A suspicious login on a finance admin account can matter more than a similar event on a low-risk student account.</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Practical lesson</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Security data rarely speaks clearly until you connect it to the business and user context around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Practical Workflow</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 beginner can do meaningful analytics in a spreadsheet or CSV viewer</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Step 1</a:t>
            </a:r>
          </a:p>
        </p:txBody>
      </p:sp>
      <p:sp>
        <p:nvSpPr>
          <p:cNvPr id="7" name="TextBox 6"/>
          <p:cNvSpPr txBox="1"/>
          <p:nvPr/>
        </p:nvSpPr>
        <p:spPr>
          <a:xfrm>
            <a:off x="932688" y="2167128"/>
            <a:ext cx="2249424" cy="3776472"/>
          </a:xfrm>
          <a:prstGeom prst="rect">
            <a:avLst/>
          </a:prstGeom>
          <a:noFill/>
        </p:spPr>
        <p:txBody>
          <a:bodyPr wrap="square">
            <a:noAutofit/>
          </a:bodyPr>
          <a:lstStyle/>
          <a:p>
            <a:pPr>
              <a:spcAft>
                <a:spcPts val="600"/>
              </a:spcAft>
              <a:defRPr sz="1700">
                <a:solidFill>
                  <a:srgbClr val="142737"/>
                </a:solidFill>
                <a:latin typeface="Aptos"/>
              </a:defRPr>
            </a:pPr>
            <a:r>
              <a:t>sort by timestamp</a:t>
            </a:r>
          </a:p>
          <a:p>
            <a:pPr>
              <a:spcAft>
                <a:spcPts val="600"/>
              </a:spcAft>
              <a:defRPr sz="1700">
                <a:solidFill>
                  <a:srgbClr val="142737"/>
                </a:solidFill>
                <a:latin typeface="Aptos"/>
              </a:defRPr>
            </a:pPr>
            <a:r>
              <a:t>scan event types</a:t>
            </a:r>
          </a:p>
          <a:p>
            <a:pPr>
              <a:spcAft>
                <a:spcPts val="600"/>
              </a:spcAft>
              <a:defRPr sz="1700">
                <a:solidFill>
                  <a:srgbClr val="142737"/>
                </a:solidFill>
                <a:latin typeface="Aptos"/>
              </a:defRPr>
            </a:pPr>
            <a:r>
              <a:t>identify likely focus fields</a:t>
            </a:r>
          </a:p>
        </p:txBody>
      </p:sp>
      <p:sp>
        <p:nvSpPr>
          <p:cNvPr id="8" name="Rounded Rectangle 7"/>
          <p:cNvSpPr/>
          <p:nvPr/>
        </p:nvSpPr>
        <p:spPr>
          <a:xfrm>
            <a:off x="3639312"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76472"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Step 2</a:t>
            </a:r>
          </a:p>
        </p:txBody>
      </p:sp>
      <p:sp>
        <p:nvSpPr>
          <p:cNvPr id="10" name="TextBox 9"/>
          <p:cNvSpPr txBox="1"/>
          <p:nvPr/>
        </p:nvSpPr>
        <p:spPr>
          <a:xfrm>
            <a:off x="3840480" y="2167128"/>
            <a:ext cx="2249424" cy="3776472"/>
          </a:xfrm>
          <a:prstGeom prst="rect">
            <a:avLst/>
          </a:prstGeom>
          <a:noFill/>
        </p:spPr>
        <p:txBody>
          <a:bodyPr wrap="square">
            <a:noAutofit/>
          </a:bodyPr>
          <a:lstStyle/>
          <a:p>
            <a:pPr>
              <a:spcAft>
                <a:spcPts val="600"/>
              </a:spcAft>
              <a:defRPr sz="1700">
                <a:solidFill>
                  <a:srgbClr val="142737"/>
                </a:solidFill>
                <a:latin typeface="Aptos"/>
              </a:defRPr>
            </a:pPr>
            <a:r>
              <a:t>filter to failures</a:t>
            </a:r>
          </a:p>
          <a:p>
            <a:pPr>
              <a:spcAft>
                <a:spcPts val="600"/>
              </a:spcAft>
              <a:defRPr sz="1700">
                <a:solidFill>
                  <a:srgbClr val="142737"/>
                </a:solidFill>
                <a:latin typeface="Aptos"/>
              </a:defRPr>
            </a:pPr>
            <a:r>
              <a:t>count by source IP</a:t>
            </a:r>
          </a:p>
          <a:p>
            <a:pPr>
              <a:spcAft>
                <a:spcPts val="600"/>
              </a:spcAft>
              <a:defRPr sz="1700">
                <a:solidFill>
                  <a:srgbClr val="142737"/>
                </a:solidFill>
                <a:latin typeface="Aptos"/>
              </a:defRPr>
            </a:pPr>
            <a:r>
              <a:t>count by user</a:t>
            </a:r>
          </a:p>
        </p:txBody>
      </p:sp>
      <p:sp>
        <p:nvSpPr>
          <p:cNvPr id="11" name="Rounded Rectangle 10"/>
          <p:cNvSpPr/>
          <p:nvPr/>
        </p:nvSpPr>
        <p:spPr>
          <a:xfrm>
            <a:off x="6547104"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4264"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Step 3</a:t>
            </a:r>
          </a:p>
        </p:txBody>
      </p:sp>
      <p:sp>
        <p:nvSpPr>
          <p:cNvPr id="13" name="TextBox 12"/>
          <p:cNvSpPr txBox="1"/>
          <p:nvPr/>
        </p:nvSpPr>
        <p:spPr>
          <a:xfrm>
            <a:off x="6748272" y="2167128"/>
            <a:ext cx="2249424" cy="3776472"/>
          </a:xfrm>
          <a:prstGeom prst="rect">
            <a:avLst/>
          </a:prstGeom>
          <a:noFill/>
        </p:spPr>
        <p:txBody>
          <a:bodyPr wrap="square">
            <a:noAutofit/>
          </a:bodyPr>
          <a:lstStyle/>
          <a:p>
            <a:pPr>
              <a:spcAft>
                <a:spcPts val="600"/>
              </a:spcAft>
              <a:defRPr sz="1700">
                <a:solidFill>
                  <a:srgbClr val="142737"/>
                </a:solidFill>
                <a:latin typeface="Aptos"/>
              </a:defRPr>
            </a:pPr>
            <a:r>
              <a:t>look for later successes</a:t>
            </a:r>
          </a:p>
          <a:p>
            <a:pPr>
              <a:spcAft>
                <a:spcPts val="600"/>
              </a:spcAft>
              <a:defRPr sz="1700">
                <a:solidFill>
                  <a:srgbClr val="142737"/>
                </a:solidFill>
                <a:latin typeface="Aptos"/>
              </a:defRPr>
            </a:pPr>
            <a:r>
              <a:t>check MFA events</a:t>
            </a:r>
          </a:p>
          <a:p>
            <a:pPr>
              <a:spcAft>
                <a:spcPts val="600"/>
              </a:spcAft>
              <a:defRPr sz="1700">
                <a:solidFill>
                  <a:srgbClr val="142737"/>
                </a:solidFill>
                <a:latin typeface="Aptos"/>
              </a:defRPr>
            </a:pPr>
            <a:r>
              <a:t>mark unusual sequences</a:t>
            </a:r>
          </a:p>
        </p:txBody>
      </p:sp>
      <p:sp>
        <p:nvSpPr>
          <p:cNvPr id="14" name="Rounded Rectangle 13"/>
          <p:cNvSpPr/>
          <p:nvPr/>
        </p:nvSpPr>
        <p:spPr>
          <a:xfrm>
            <a:off x="9454896" y="1600200"/>
            <a:ext cx="192024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92056"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Step 4</a:t>
            </a:r>
          </a:p>
        </p:txBody>
      </p:sp>
      <p:sp>
        <p:nvSpPr>
          <p:cNvPr id="16" name="TextBox 15"/>
          <p:cNvSpPr txBox="1"/>
          <p:nvPr/>
        </p:nvSpPr>
        <p:spPr>
          <a:xfrm>
            <a:off x="9656064" y="2167128"/>
            <a:ext cx="1517904" cy="3776472"/>
          </a:xfrm>
          <a:prstGeom prst="rect">
            <a:avLst/>
          </a:prstGeom>
          <a:noFill/>
        </p:spPr>
        <p:txBody>
          <a:bodyPr wrap="square">
            <a:noAutofit/>
          </a:bodyPr>
          <a:lstStyle/>
          <a:p>
            <a:pPr>
              <a:spcAft>
                <a:spcPts val="600"/>
              </a:spcAft>
              <a:defRPr sz="1600">
                <a:solidFill>
                  <a:srgbClr val="142737"/>
                </a:solidFill>
                <a:latin typeface="Aptos"/>
              </a:defRPr>
            </a:pPr>
            <a:r>
              <a:t>merge account context</a:t>
            </a:r>
          </a:p>
          <a:p>
            <a:pPr>
              <a:spcAft>
                <a:spcPts val="600"/>
              </a:spcAft>
              <a:defRPr sz="1600">
                <a:solidFill>
                  <a:srgbClr val="142737"/>
                </a:solidFill>
                <a:latin typeface="Aptos"/>
              </a:defRPr>
            </a:pPr>
            <a:r>
              <a:t>choose first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Worked Example 1</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The Day 1 dataset shows one source touching many accounts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appears</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one external IP</a:t>
            </a:r>
          </a:p>
          <a:p>
            <a:pPr>
              <a:spcAft>
                <a:spcPts val="600"/>
              </a:spcAft>
              <a:defRPr sz="1800">
                <a:solidFill>
                  <a:srgbClr val="142737"/>
                </a:solidFill>
                <a:latin typeface="Aptos"/>
              </a:defRPr>
            </a:pPr>
            <a:r>
              <a:t>many failed logins</a:t>
            </a:r>
          </a:p>
          <a:p>
            <a:pPr>
              <a:spcAft>
                <a:spcPts val="600"/>
              </a:spcAft>
              <a:defRPr sz="1800">
                <a:solidFill>
                  <a:srgbClr val="142737"/>
                </a:solidFill>
                <a:latin typeface="Aptos"/>
              </a:defRPr>
            </a:pPr>
            <a:r>
              <a:t>many different users</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it matters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700">
                <a:solidFill>
                  <a:srgbClr val="142737"/>
                </a:solidFill>
                <a:latin typeface="Aptos"/>
              </a:defRPr>
            </a:pPr>
            <a:r>
              <a:t>That shape looks less like one user mistake and more like a systematic attempt against multiple accounts.</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Best label</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This is closer to a password spray than a single-account brute-force pattern.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Worked Example 2</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The pattern becomes more urgent when a success appears after repeated failures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Escalating signal</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repeated failures</a:t>
            </a:r>
          </a:p>
          <a:p>
            <a:pPr>
              <a:spcAft>
                <a:spcPts val="600"/>
              </a:spcAft>
              <a:defRPr sz="1800">
                <a:solidFill>
                  <a:srgbClr val="142737"/>
                </a:solidFill>
                <a:latin typeface="Aptos"/>
              </a:defRPr>
            </a:pPr>
            <a:r>
              <a:t>then one success</a:t>
            </a:r>
          </a:p>
          <a:p>
            <a:pPr>
              <a:spcAft>
                <a:spcPts val="600"/>
              </a:spcAft>
              <a:defRPr sz="1800">
                <a:solidFill>
                  <a:srgbClr val="142737"/>
                </a:solidFill>
                <a:latin typeface="Aptos"/>
              </a:defRPr>
            </a:pPr>
            <a:r>
              <a:t>then additional MFA trouble</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analysts care</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700">
                <a:solidFill>
                  <a:srgbClr val="142737"/>
                </a:solidFill>
                <a:latin typeface="Aptos"/>
              </a:defRPr>
            </a:pPr>
            <a:r>
              <a:t>Success after failure can suggest the attacker eventually guessed, obtained, or reused valid credentials.</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Context makes it worse</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The target account in the dataset is privileged and sensitive.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First Action Logic</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The first step should reduce risk quickly without pretending to solve everything</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6517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Possible actions</a:t>
            </a:r>
          </a:p>
        </p:txBody>
      </p:sp>
      <p:sp>
        <p:nvSpPr>
          <p:cNvPr id="7" name="TextBox 6"/>
          <p:cNvSpPr txBox="1"/>
          <p:nvPr/>
        </p:nvSpPr>
        <p:spPr>
          <a:xfrm>
            <a:off x="932688" y="2167128"/>
            <a:ext cx="2249424" cy="3776472"/>
          </a:xfrm>
          <a:prstGeom prst="rect">
            <a:avLst/>
          </a:prstGeom>
          <a:noFill/>
        </p:spPr>
        <p:txBody>
          <a:bodyPr wrap="square">
            <a:noAutofit/>
          </a:bodyPr>
          <a:lstStyle/>
          <a:p>
            <a:pPr>
              <a:spcAft>
                <a:spcPts val="600"/>
              </a:spcAft>
              <a:defRPr sz="1700">
                <a:solidFill>
                  <a:srgbClr val="142737"/>
                </a:solidFill>
                <a:latin typeface="Aptos"/>
              </a:defRPr>
            </a:pPr>
            <a:r>
              <a:t>block source IP</a:t>
            </a:r>
          </a:p>
          <a:p>
            <a:pPr>
              <a:spcAft>
                <a:spcPts val="600"/>
              </a:spcAft>
              <a:defRPr sz="1700">
                <a:solidFill>
                  <a:srgbClr val="142737"/>
                </a:solidFill>
                <a:latin typeface="Aptos"/>
              </a:defRPr>
            </a:pPr>
            <a:r>
              <a:t>force password reset</a:t>
            </a:r>
          </a:p>
          <a:p>
            <a:pPr>
              <a:spcAft>
                <a:spcPts val="600"/>
              </a:spcAft>
              <a:defRPr sz="1700">
                <a:solidFill>
                  <a:srgbClr val="142737"/>
                </a:solidFill>
                <a:latin typeface="Aptos"/>
              </a:defRPr>
            </a:pPr>
            <a:r>
              <a:t>force MFA re-check</a:t>
            </a:r>
          </a:p>
          <a:p>
            <a:pPr>
              <a:spcAft>
                <a:spcPts val="600"/>
              </a:spcAft>
              <a:defRPr sz="1700">
                <a:solidFill>
                  <a:srgbClr val="142737"/>
                </a:solidFill>
                <a:latin typeface="Aptos"/>
              </a:defRPr>
            </a:pPr>
            <a:r>
              <a:t>open investigation</a:t>
            </a:r>
          </a:p>
        </p:txBody>
      </p:sp>
      <p:sp>
        <p:nvSpPr>
          <p:cNvPr id="8" name="Rounded Rectangle 7"/>
          <p:cNvSpPr/>
          <p:nvPr/>
        </p:nvSpPr>
        <p:spPr>
          <a:xfrm>
            <a:off x="3639312" y="1600200"/>
            <a:ext cx="3749039"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76472"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How to choose</a:t>
            </a:r>
          </a:p>
        </p:txBody>
      </p:sp>
      <p:sp>
        <p:nvSpPr>
          <p:cNvPr id="10" name="TextBox 9"/>
          <p:cNvSpPr txBox="1"/>
          <p:nvPr/>
        </p:nvSpPr>
        <p:spPr>
          <a:xfrm>
            <a:off x="3840480" y="2167128"/>
            <a:ext cx="3346703" cy="3776472"/>
          </a:xfrm>
          <a:prstGeom prst="rect">
            <a:avLst/>
          </a:prstGeom>
          <a:noFill/>
        </p:spPr>
        <p:txBody>
          <a:bodyPr wrap="square">
            <a:noAutofit/>
          </a:bodyPr>
          <a:lstStyle/>
          <a:p>
            <a:pPr>
              <a:spcAft>
                <a:spcPts val="600"/>
              </a:spcAft>
              <a:defRPr sz="1700">
                <a:solidFill>
                  <a:srgbClr val="142737"/>
                </a:solidFill>
                <a:latin typeface="Aptos"/>
              </a:defRPr>
            </a:pPr>
            <a:r>
              <a:t>Pick the action that most quickly lowers immediate risk while preserving room for deeper investigation.</a:t>
            </a:r>
          </a:p>
        </p:txBody>
      </p:sp>
      <p:sp>
        <p:nvSpPr>
          <p:cNvPr id="11" name="Rounded Rectangle 10"/>
          <p:cNvSpPr/>
          <p:nvPr/>
        </p:nvSpPr>
        <p:spPr>
          <a:xfrm>
            <a:off x="7635240" y="1600200"/>
            <a:ext cx="35661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Tradeoff</a:t>
            </a:r>
          </a:p>
        </p:txBody>
      </p:sp>
      <p:sp>
        <p:nvSpPr>
          <p:cNvPr id="13" name="TextBox 12"/>
          <p:cNvSpPr txBox="1"/>
          <p:nvPr/>
        </p:nvSpPr>
        <p:spPr>
          <a:xfrm>
            <a:off x="7836408" y="2167128"/>
            <a:ext cx="3163824" cy="3776472"/>
          </a:xfrm>
          <a:prstGeom prst="rect">
            <a:avLst/>
          </a:prstGeom>
          <a:noFill/>
        </p:spPr>
        <p:txBody>
          <a:bodyPr wrap="square">
            <a:noAutofit/>
          </a:bodyPr>
          <a:lstStyle/>
          <a:p>
            <a:pPr>
              <a:spcAft>
                <a:spcPts val="600"/>
              </a:spcAft>
              <a:defRPr sz="1700">
                <a:solidFill>
                  <a:srgbClr val="142737"/>
                </a:solidFill>
                <a:latin typeface="Aptos"/>
              </a:defRPr>
            </a:pPr>
            <a:r>
              <a:t>Every action has a cost: user friction, possible false positive impact, or incomplete containment.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Judgment</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Analytics helps, but analysts still need to reason carefully</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false positives happen</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people mistype passwords</a:t>
            </a:r>
          </a:p>
          <a:p>
            <a:pPr>
              <a:spcAft>
                <a:spcPts val="600"/>
              </a:spcAft>
              <a:defRPr sz="1800">
                <a:solidFill>
                  <a:srgbClr val="142737"/>
                </a:solidFill>
                <a:latin typeface="Aptos"/>
              </a:defRPr>
            </a:pPr>
            <a:r>
              <a:t>new devices appear</a:t>
            </a:r>
          </a:p>
          <a:p>
            <a:pPr>
              <a:spcAft>
                <a:spcPts val="600"/>
              </a:spcAft>
              <a:defRPr sz="1800">
                <a:solidFill>
                  <a:srgbClr val="142737"/>
                </a:solidFill>
                <a:latin typeface="Aptos"/>
              </a:defRPr>
            </a:pPr>
            <a:r>
              <a:t>travel changes location</a:t>
            </a:r>
          </a:p>
          <a:p>
            <a:pPr>
              <a:spcAft>
                <a:spcPts val="600"/>
              </a:spcAft>
              <a:defRPr sz="1800">
                <a:solidFill>
                  <a:srgbClr val="142737"/>
                </a:solidFill>
                <a:latin typeface="Aptos"/>
              </a:defRPr>
            </a:pPr>
            <a:r>
              <a:t>maintenance windows create unusual activity</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Better habit</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Do not overreact to one odd row.</a:t>
            </a:r>
          </a:p>
          <a:p>
            <a:pPr>
              <a:spcAft>
                <a:spcPts val="600"/>
              </a:spcAft>
              <a:defRPr sz="1700">
                <a:solidFill>
                  <a:srgbClr val="142737"/>
                </a:solidFill>
                <a:latin typeface="Aptos"/>
              </a:defRPr>
            </a:pPr>
            <a:r>
              <a:t>Do not ignore clear pattern evidence either.</a:t>
            </a:r>
          </a:p>
          <a:p>
            <a:pPr>
              <a:spcAft>
                <a:spcPts val="600"/>
              </a:spcAft>
              <a:defRPr sz="1700">
                <a:solidFill>
                  <a:srgbClr val="142737"/>
                </a:solidFill>
                <a:latin typeface="Aptos"/>
              </a:defRPr>
            </a:pPr>
            <a:r>
              <a:t>Use context to justify proportional 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Privacy and Ethics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Good security visibility should not become unlimited surveillance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logs matter</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They support detection, investigation, and accountability.</a:t>
            </a:r>
          </a:p>
          <a:p>
            <a:pPr>
              <a:spcAft>
                <a:spcPts val="600"/>
              </a:spcAft>
              <a:defRPr sz="1800">
                <a:solidFill>
                  <a:srgbClr val="142737"/>
                </a:solidFill>
                <a:latin typeface="Aptos"/>
              </a:defRPr>
            </a:pPr>
            <a:r>
              <a:t>Without logs, many attacks become hard to reconstruct.</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Why limits matter</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Retention needs a reason and timeline.</a:t>
            </a:r>
          </a:p>
          <a:p>
            <a:pPr>
              <a:spcAft>
                <a:spcPts val="600"/>
              </a:spcAft>
              <a:defRPr sz="1700">
                <a:solidFill>
                  <a:srgbClr val="142737"/>
                </a:solidFill>
                <a:latin typeface="Aptos"/>
              </a:defRPr>
            </a:pPr>
            <a:r>
              <a:t>Collection should match a security purpose.</a:t>
            </a:r>
          </a:p>
          <a:p>
            <a:pPr>
              <a:spcAft>
                <a:spcPts val="600"/>
              </a:spcAft>
              <a:defRPr sz="1700">
                <a:solidFill>
                  <a:srgbClr val="142737"/>
                </a:solidFill>
                <a:latin typeface="Aptos"/>
              </a:defRPr>
            </a:pPr>
            <a:r>
              <a:t>Access to logs should itself be restricted and reviewed.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Career Skills</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Today maps directly to entry-level security work</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Roles</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SOC analyst</a:t>
            </a:r>
          </a:p>
          <a:p>
            <a:pPr>
              <a:spcAft>
                <a:spcPts val="600"/>
              </a:spcAft>
              <a:defRPr sz="1800">
                <a:solidFill>
                  <a:srgbClr val="142737"/>
                </a:solidFill>
                <a:latin typeface="Aptos"/>
              </a:defRPr>
            </a:pPr>
            <a:r>
              <a:t>security operations intern</a:t>
            </a:r>
          </a:p>
          <a:p>
            <a:pPr>
              <a:spcAft>
                <a:spcPts val="600"/>
              </a:spcAft>
              <a:defRPr sz="1800">
                <a:solidFill>
                  <a:srgbClr val="142737"/>
                </a:solidFill>
                <a:latin typeface="Aptos"/>
              </a:defRPr>
            </a:pPr>
            <a:r>
              <a:t>incident triage analyst</a:t>
            </a:r>
          </a:p>
          <a:p>
            <a:pPr>
              <a:spcAft>
                <a:spcPts val="600"/>
              </a:spcAft>
              <a:defRPr sz="1800">
                <a:solidFill>
                  <a:srgbClr val="142737"/>
                </a:solidFill>
                <a:latin typeface="Aptos"/>
              </a:defRPr>
            </a:pPr>
            <a:r>
              <a:t>junior detection analyst</a:t>
            </a:r>
          </a:p>
        </p:txBody>
      </p:sp>
      <p:sp>
        <p:nvSpPr>
          <p:cNvPr id="8" name="Rounded Rectangle 7"/>
          <p:cNvSpPr/>
          <p:nvPr/>
        </p:nvSpPr>
        <p:spPr>
          <a:xfrm>
            <a:off x="4434840" y="1600200"/>
            <a:ext cx="34290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Practical skills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42737"/>
                </a:solidFill>
                <a:latin typeface="Aptos"/>
              </a:defRPr>
            </a:pPr>
            <a:r>
              <a:t>sorting data</a:t>
            </a:r>
          </a:p>
          <a:p>
            <a:pPr>
              <a:spcAft>
                <a:spcPts val="600"/>
              </a:spcAft>
              <a:defRPr sz="1800">
                <a:solidFill>
                  <a:srgbClr val="142737"/>
                </a:solidFill>
                <a:latin typeface="Aptos"/>
              </a:defRPr>
            </a:pPr>
            <a:r>
              <a:t>counting patterns</a:t>
            </a:r>
          </a:p>
          <a:p>
            <a:pPr>
              <a:spcAft>
                <a:spcPts val="600"/>
              </a:spcAft>
              <a:defRPr sz="1800">
                <a:solidFill>
                  <a:srgbClr val="142737"/>
                </a:solidFill>
                <a:latin typeface="Aptos"/>
              </a:defRPr>
            </a:pPr>
            <a:r>
              <a:t>using context</a:t>
            </a:r>
          </a:p>
          <a:p>
            <a:pPr>
              <a:spcAft>
                <a:spcPts val="600"/>
              </a:spcAft>
              <a:defRPr sz="1800">
                <a:solidFill>
                  <a:srgbClr val="142737"/>
                </a:solidFill>
                <a:latin typeface="Aptos"/>
              </a:defRPr>
            </a:pPr>
            <a:r>
              <a:t>writing clear next steps</a:t>
            </a:r>
          </a:p>
        </p:txBody>
      </p:sp>
      <p:sp>
        <p:nvSpPr>
          <p:cNvPr id="11" name="Rounded Rectangle 10"/>
          <p:cNvSpPr/>
          <p:nvPr/>
        </p:nvSpPr>
        <p:spPr>
          <a:xfrm>
            <a:off x="8046720" y="1600200"/>
            <a:ext cx="3108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Professional habit</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42737"/>
                </a:solidFill>
                <a:latin typeface="Aptos"/>
              </a:defRPr>
            </a:pPr>
            <a:r>
              <a:t>Be specific enough to act, but careful enough not to overclaim.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Lab</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Today you will investigate authentication events as an individual analyst</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Files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day1_auth_events.csv</a:t>
            </a:r>
          </a:p>
          <a:p>
            <a:pPr>
              <a:spcAft>
                <a:spcPts val="600"/>
              </a:spcAft>
              <a:defRPr sz="1800">
                <a:solidFill>
                  <a:srgbClr val="142737"/>
                </a:solidFill>
                <a:latin typeface="Aptos"/>
              </a:defRPr>
            </a:pPr>
            <a:r>
              <a:t>day1_user_context.csv</a:t>
            </a:r>
          </a:p>
          <a:p>
            <a:pPr>
              <a:spcAft>
                <a:spcPts val="600"/>
              </a:spcAft>
              <a:defRPr sz="1800">
                <a:solidFill>
                  <a:srgbClr val="142737"/>
                </a:solidFill>
                <a:latin typeface="Aptos"/>
              </a:defRPr>
            </a:pPr>
            <a:r>
              <a:t>Use any spreadsheet or CSV tool you prefer.</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Main tasks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800">
                <a:solidFill>
                  <a:srgbClr val="142737"/>
                </a:solidFill>
                <a:latin typeface="Aptos"/>
              </a:defRPr>
            </a:pPr>
            <a:r>
              <a:t>count failed logins</a:t>
            </a:r>
          </a:p>
          <a:p>
            <a:pPr>
              <a:spcAft>
                <a:spcPts val="600"/>
              </a:spcAft>
              <a:defRPr sz="1800">
                <a:solidFill>
                  <a:srgbClr val="142737"/>
                </a:solidFill>
                <a:latin typeface="Aptos"/>
              </a:defRPr>
            </a:pPr>
            <a:r>
              <a:t>identify the suspicious source</a:t>
            </a:r>
          </a:p>
          <a:p>
            <a:pPr>
              <a:spcAft>
                <a:spcPts val="600"/>
              </a:spcAft>
              <a:defRPr sz="1800">
                <a:solidFill>
                  <a:srgbClr val="142737"/>
                </a:solidFill>
                <a:latin typeface="Aptos"/>
              </a:defRPr>
            </a:pPr>
            <a:r>
              <a:t>find the risky success</a:t>
            </a:r>
          </a:p>
          <a:p>
            <a:pPr>
              <a:spcAft>
                <a:spcPts val="600"/>
              </a:spcAft>
              <a:defRPr sz="1800">
                <a:solidFill>
                  <a:srgbClr val="142737"/>
                </a:solidFill>
                <a:latin typeface="Aptos"/>
              </a:defRPr>
            </a:pPr>
            <a:r>
              <a:t>recommend one first action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Writing</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End class with a short analyst-style shift note</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What to include</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one suspicious pattern</a:t>
            </a:r>
          </a:p>
          <a:p>
            <a:pPr>
              <a:spcAft>
                <a:spcPts val="600"/>
              </a:spcAft>
              <a:defRPr sz="1700">
                <a:solidFill>
                  <a:srgbClr val="142737"/>
                </a:solidFill>
                <a:latin typeface="Aptos"/>
              </a:defRPr>
            </a:pPr>
            <a:r>
              <a:t>one exact piece of evidence</a:t>
            </a:r>
          </a:p>
          <a:p>
            <a:pPr>
              <a:spcAft>
                <a:spcPts val="600"/>
              </a:spcAft>
              <a:defRPr sz="1700">
                <a:solidFill>
                  <a:srgbClr val="142737"/>
                </a:solidFill>
                <a:latin typeface="Aptos"/>
              </a:defRPr>
            </a:pPr>
            <a:r>
              <a:t>one context reason</a:t>
            </a:r>
          </a:p>
          <a:p>
            <a:pPr>
              <a:spcAft>
                <a:spcPts val="600"/>
              </a:spcAft>
              <a:defRPr sz="1700">
                <a:solidFill>
                  <a:srgbClr val="142737"/>
                </a:solidFill>
                <a:latin typeface="Aptos"/>
              </a:defRPr>
            </a:pPr>
            <a:r>
              <a:t>one recommended first action</a:t>
            </a:r>
          </a:p>
          <a:p>
            <a:pPr>
              <a:spcAft>
                <a:spcPts val="600"/>
              </a:spcAft>
              <a:defRPr sz="1700">
                <a:solidFill>
                  <a:srgbClr val="142737"/>
                </a:solidFill>
                <a:latin typeface="Aptos"/>
              </a:defRPr>
            </a:pPr>
            <a:r>
              <a:t>one privacy-aware sentence</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Tone</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Write like someone handing a team lead enough information to act during a real shift: clear, brief, specific, and evidence-based.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9659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76576"/>
                </a:solidFill>
                <a:latin typeface="Aptos"/>
              </a:defRPr>
            </a:pPr>
            <a:r>
              <a:t>Close</a:t>
            </a:r>
          </a:p>
        </p:txBody>
      </p:sp>
      <p:sp>
        <p:nvSpPr>
          <p:cNvPr id="3" name="TextBox 2"/>
          <p:cNvSpPr txBox="1"/>
          <p:nvPr/>
        </p:nvSpPr>
        <p:spPr>
          <a:xfrm>
            <a:off x="548640" y="493776"/>
            <a:ext cx="10972800" cy="868680"/>
          </a:xfrm>
          <a:prstGeom prst="rect">
            <a:avLst/>
          </a:prstGeom>
          <a:noFill/>
        </p:spPr>
        <p:txBody>
          <a:bodyPr wrap="square">
            <a:spAutoFit/>
          </a:bodyPr>
          <a:lstStyle/>
          <a:p>
            <a:pPr>
              <a:defRPr sz="2200" b="1">
                <a:solidFill>
                  <a:srgbClr val="142737"/>
                </a:solidFill>
                <a:latin typeface="Aptos Display"/>
              </a:defRPr>
            </a:pPr>
            <a:r>
              <a:t>The point of Day 1 is to build analyst habits, not just definitions</a:t>
            </a:r>
          </a:p>
        </p:txBody>
      </p:sp>
      <p:cxnSp>
        <p:nvCxnSpPr>
          <p:cNvPr id="4" name="Connector 3"/>
          <p:cNvCxnSpPr/>
          <p:nvPr/>
        </p:nvCxnSpPr>
        <p:spPr>
          <a:xfrm>
            <a:off x="548640" y="1078992"/>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42316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After today</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You should be able to separate event from pattern, pattern from risk, and risk from first action.</a:t>
            </a:r>
          </a:p>
        </p:txBody>
      </p:sp>
      <p:sp>
        <p:nvSpPr>
          <p:cNvPr id="8" name="Rounded Rectangle 7"/>
          <p:cNvSpPr/>
          <p:nvPr/>
        </p:nvSpPr>
        <p:spPr>
          <a:xfrm>
            <a:off x="6172200" y="1600200"/>
            <a:ext cx="49834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42316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42737"/>
                </a:solidFill>
                <a:latin typeface="Aptos"/>
              </a:defRPr>
            </a:pPr>
            <a:r>
              <a:t>Carry forward to Day 2</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42737"/>
                </a:solidFill>
                <a:latin typeface="Aptos"/>
              </a:defRPr>
            </a:pPr>
            <a:r>
              <a:t>Tomorrow builds on this by asking not only what looks suspicious, but what deserves escalation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