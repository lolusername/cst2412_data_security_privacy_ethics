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Day 2 takes the next step after suspicious-pattern recognition. Day 1 asked what looks concerning in raw event data. Day 2 asks how to rank alerts, justify priority, and communicate escalation. The emphasis stays practical and individual because I want students practicing the kinds of judgments entry-level analysts make all the time.</a:t>
            </a:r>
          </a:p>
          <a:p/>
          <a:p>
            <a:r>
              <a:t>Mention:</a:t>
            </a:r>
          </a:p>
          <a:p>
            <a:r>
              <a:t>- Connect back to Day 1</a:t>
            </a:r>
          </a:p>
          <a:p>
            <a:r>
              <a:t>- Stress prioritization and escalation</a:t>
            </a:r>
          </a:p>
          <a:p>
            <a:r>
              <a:t>- Keep no-group-work framing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Triage is fundamentally about limited attention. A queue can always grow faster than a human analyst can investigate it. So students need to understand that prioritization is not an optional skill. It is one of the main ways security teams decide where to spend time, especially early in an incident.</a:t>
            </a:r>
          </a:p>
          <a:p/>
          <a:p>
            <a:r>
              <a:t>Mention:</a:t>
            </a:r>
          </a:p>
          <a:p>
            <a:r>
              <a:t>- Define triage as ordering work</a:t>
            </a:r>
          </a:p>
          <a:p>
            <a:r>
              <a:t>- Stress limited analyst time</a:t>
            </a:r>
          </a:p>
          <a:p>
            <a:r>
              <a:t>- Explain queue pressure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Severity, confidence, and impact sound similar, but they do different jobs. Severity is about technical seriousness. Confidence is about how believable the signal is. Impact is about potential harm if the alert is true. Students often merge those concepts, so I want them separated before the scoring lab.</a:t>
            </a:r>
          </a:p>
          <a:p/>
          <a:p>
            <a:r>
              <a:t>Mention:</a:t>
            </a:r>
          </a:p>
          <a:p>
            <a:r>
              <a:t>- Separate three priority dimensions</a:t>
            </a:r>
          </a:p>
          <a:p>
            <a:r>
              <a:t>- Use plain language definitions</a:t>
            </a:r>
          </a:p>
          <a:p>
            <a:r>
              <a:t>- Prepare students for scoring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is where analytics becomes business-aware. The exact same alert can deserve different urgency depending on the asset. A medium-confidence alert on a low-value classroom device is not the same as a medium-confidence alert on a student records system. Context is what turns raw alerting into defensible risk prioritization.</a:t>
            </a:r>
          </a:p>
          <a:p/>
          <a:p>
            <a:r>
              <a:t>Mention:</a:t>
            </a:r>
          </a:p>
          <a:p>
            <a:r>
              <a:t>- Make asset context central</a:t>
            </a:r>
          </a:p>
          <a:p>
            <a:r>
              <a:t>- Connect technical signal to organizational harm</a:t>
            </a:r>
          </a:p>
          <a:p>
            <a:r>
              <a:t>- Use student records as a familiar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lab uses a deliberately simple rubric because I want the reasoning to stay visible. Students will combine severity, confidence, criticality, internet exposure, and sensitive data into a total score. That is useful because it forces consistency. But I will also remind them that the score is only the first pass, not the final truth.</a:t>
            </a:r>
          </a:p>
          <a:p/>
          <a:p>
            <a:r>
              <a:t>Mention:</a:t>
            </a:r>
          </a:p>
          <a:p>
            <a:r>
              <a:t>- Explain why the rubric is simple</a:t>
            </a:r>
          </a:p>
          <a:p>
            <a:r>
              <a:t>- Stress consistency and visibility</a:t>
            </a:r>
          </a:p>
          <a:p>
            <a:r>
              <a:t>- Warn against treating the score as final truth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comparison shows why context matters so much. A high-severity, high-confidence alert on a finance database naturally rises to the top because both the technical signal and the business impact are strong. By contrast, a low-value lab device may generate an odd event that still does not deserve first attention. That is triage logic in action.</a:t>
            </a:r>
          </a:p>
          <a:p/>
          <a:p>
            <a:r>
              <a:t>Mention:</a:t>
            </a:r>
          </a:p>
          <a:p>
            <a:r>
              <a:t>- Walk through contrast between assets</a:t>
            </a:r>
          </a:p>
          <a:p>
            <a:r>
              <a:t>- Tie score to impact</a:t>
            </a:r>
          </a:p>
          <a:p>
            <a:r>
              <a:t>- Keep explanation simple and concrete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mature analyst uses a score without becoming trapped by it. Maybe an alert scores lower because confidence is uncertain, but the surrounding context still makes it worth attention. Or maybe an alert scores high during a planned maintenance window and should not be escalated first. Judgment is what keeps analytics from turning into blind automation.</a:t>
            </a:r>
          </a:p>
          <a:p/>
          <a:p>
            <a:r>
              <a:t>Mention:</a:t>
            </a:r>
          </a:p>
          <a:p>
            <a:r>
              <a:t>- Position judgment as essential</a:t>
            </a:r>
          </a:p>
          <a:p>
            <a:r>
              <a:t>- Give cases where the formula misleads</a:t>
            </a:r>
          </a:p>
          <a:p>
            <a:r>
              <a:t>- Reject blind automation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Escalation is not just saying this looks bad. It means packaging an alert so the next person can act. That requires the alert identifier, the reason it stands out, the affected asset, and a requested next step. I want students to see escalation as an operational handoff, not just a feeling of urgency.</a:t>
            </a:r>
          </a:p>
          <a:p/>
          <a:p>
            <a:r>
              <a:t>Mention:</a:t>
            </a:r>
          </a:p>
          <a:p>
            <a:r>
              <a:t>- Define escalation as handoff</a:t>
            </a:r>
          </a:p>
          <a:p>
            <a:r>
              <a:t>- Require action-oriented communication</a:t>
            </a:r>
          </a:p>
          <a:p>
            <a:r>
              <a:t>- Connect ranking to next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Security analytics is also about operational health. If a queue is overloaded, even strong analysts miss things. That is why teams care about metrics like time to acknowledge, false positive rate, and time to escalate. These measures help show whether the analytics system is helping people work better or just drowning them in noise.</a:t>
            </a:r>
          </a:p>
          <a:p/>
          <a:p>
            <a:r>
              <a:t>Mention:</a:t>
            </a:r>
          </a:p>
          <a:p>
            <a:r>
              <a:t>- Introduce operational metrics</a:t>
            </a:r>
          </a:p>
          <a:p>
            <a:r>
              <a:t>- Mention alert fatigue</a:t>
            </a:r>
          </a:p>
          <a:p>
            <a:r>
              <a:t>- Connect analytics to team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Because this course includes privacy and ethics, I want to keep monitoring bounded. Alerts and telemetry can help defend systems, but they also create a temptation to watch more and retain more than necessary. Good governance means defining purpose, access, and retention rather than treating all monitoring as automatically justified.</a:t>
            </a:r>
          </a:p>
          <a:p/>
          <a:p>
            <a:r>
              <a:t>Mention:</a:t>
            </a:r>
          </a:p>
          <a:p>
            <a:r>
              <a:t>- Tie triage to monitoring boundaries</a:t>
            </a:r>
          </a:p>
          <a:p>
            <a:r>
              <a:t>- Mention retention and purpose limits</a:t>
            </a:r>
          </a:p>
          <a:p>
            <a:r>
              <a:t>- Reject automatic justification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Students often underestimate the writing side of security work. A weak note leaves the next person guessing. A strong note gives evidence, context, urgency, and a next step. If someone cannot act on the note, then the analytics work is not finished. That is why today ends with a memo rather than only a ranked list.</a:t>
            </a:r>
          </a:p>
          <a:p/>
          <a:p>
            <a:r>
              <a:t>Mention:</a:t>
            </a:r>
          </a:p>
          <a:p>
            <a:r>
              <a:t>- Stress communication as part of the job</a:t>
            </a:r>
          </a:p>
          <a:p>
            <a:r>
              <a:t>- Contrast weak and strong notes</a:t>
            </a:r>
          </a:p>
          <a:p>
            <a:r>
              <a:t>- Prepare students for the memo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Day 2 maps directly to roles that students may actually encounter early in their careers. Tier 1 analysts, security interns, and triage analysts spend a lot of time deciding what deserves escalation and how to justify it. The goal is to make that work feel concrete and professional rather than abstract.</a:t>
            </a:r>
          </a:p>
          <a:p/>
          <a:p>
            <a:r>
              <a:t>Mention:</a:t>
            </a:r>
          </a:p>
          <a:p>
            <a:r>
              <a:t>- Keep the career connection explicit</a:t>
            </a:r>
          </a:p>
          <a:p>
            <a:r>
              <a:t>- Name realistic early roles</a:t>
            </a:r>
          </a:p>
          <a:p>
            <a:r>
              <a:t>- Value prioritization and writing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lab gives students a small queue, some asset context, and a scoring rule. They will rank alerts, then deliberately go beyond the score and explain what the score misses. That second step matters because I do not want them to think triage is just arithmetic.</a:t>
            </a:r>
          </a:p>
          <a:p/>
          <a:p>
            <a:r>
              <a:t>Mention:</a:t>
            </a:r>
          </a:p>
          <a:p>
            <a:r>
              <a:t>- Explain lab sequence</a:t>
            </a:r>
          </a:p>
          <a:p>
            <a:r>
              <a:t>- Stress judgment beyond the formula</a:t>
            </a:r>
          </a:p>
          <a:p>
            <a:r>
              <a:t>- Reinforce individual analysis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writing response is a short escalation memo. I want one alert ID, one reason based on severity and confidence, one reason based on asset context, one next step, and one privacy-aware sentence. That structure matches the kind of concise professional writing a supervisor could actually use.</a:t>
            </a:r>
          </a:p>
          <a:p/>
          <a:p>
            <a:r>
              <a:t>Mention:</a:t>
            </a:r>
          </a:p>
          <a:p>
            <a:r>
              <a:t>- Position memo as practical artifact</a:t>
            </a:r>
          </a:p>
          <a:p>
            <a:r>
              <a:t>- Require both evidence and context</a:t>
            </a:r>
          </a:p>
          <a:p>
            <a:r>
              <a:t>- End on responsible monitoring language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42737"/>
          </a:solidFill>
          <a:ln>
            <a:solidFill>
              <a:srgbClr val="142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10972800" cy="841248"/>
          </a:xfrm>
          <a:prstGeom prst="rect">
            <a:avLst/>
          </a:prstGeom>
          <a:noFill/>
        </p:spPr>
        <p:txBody>
          <a:bodyPr wrap="none">
            <a:spAutoFit/>
          </a:bodyPr>
          <a:lstStyle/>
          <a:p>
            <a:pPr>
              <a:defRPr sz="2700" b="1">
                <a:solidFill>
                  <a:srgbClr val="FFFFFF"/>
                </a:solidFill>
                <a:latin typeface="Aptos Display"/>
              </a:defRPr>
            </a:pPr>
            <a:r>
              <a:t>Week 11 Day 2: Alert Triage and Escalation</a:t>
            </a:r>
          </a:p>
        </p:txBody>
      </p:sp>
      <p:sp>
        <p:nvSpPr>
          <p:cNvPr id="4" name="Rounded Rectangle 3"/>
          <p:cNvSpPr/>
          <p:nvPr/>
        </p:nvSpPr>
        <p:spPr>
          <a:xfrm>
            <a:off x="749808" y="1444752"/>
            <a:ext cx="10881360" cy="822960"/>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517904"/>
            <a:ext cx="10661904" cy="676656"/>
          </a:xfrm>
          <a:prstGeom prst="rect">
            <a:avLst/>
          </a:prstGeom>
          <a:noFill/>
        </p:spPr>
        <p:txBody>
          <a:bodyPr wrap="square">
            <a:noAutofit/>
          </a:bodyPr>
          <a:lstStyle/>
          <a:p>
            <a:pPr>
              <a:spcAft>
                <a:spcPts val="600"/>
              </a:spcAft>
              <a:defRPr sz="2100">
                <a:solidFill>
                  <a:srgbClr val="142737"/>
                </a:solidFill>
                <a:latin typeface="Aptos"/>
              </a:defRPr>
            </a:pPr>
            <a:r>
              <a:t>Today we move from finding suspicious patterns to ranking alerts, justifying priority, and communicating escalation.</a:t>
            </a:r>
          </a:p>
        </p:txBody>
      </p:sp>
      <p:sp>
        <p:nvSpPr>
          <p:cNvPr id="6" name="Rounded Rectangle 5"/>
          <p:cNvSpPr/>
          <p:nvPr/>
        </p:nvSpPr>
        <p:spPr>
          <a:xfrm>
            <a:off x="868680" y="2697480"/>
            <a:ext cx="3337560" cy="260604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82549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Builds on Day 1</a:t>
            </a:r>
          </a:p>
        </p:txBody>
      </p:sp>
      <p:sp>
        <p:nvSpPr>
          <p:cNvPr id="8" name="TextBox 7"/>
          <p:cNvSpPr txBox="1"/>
          <p:nvPr/>
        </p:nvSpPr>
        <p:spPr>
          <a:xfrm>
            <a:off x="1069848" y="3264408"/>
            <a:ext cx="2935224" cy="1856232"/>
          </a:xfrm>
          <a:prstGeom prst="rect">
            <a:avLst/>
          </a:prstGeom>
          <a:noFill/>
        </p:spPr>
        <p:txBody>
          <a:bodyPr wrap="square">
            <a:noAutofit/>
          </a:bodyPr>
          <a:lstStyle/>
          <a:p>
            <a:pPr>
              <a:spcAft>
                <a:spcPts val="600"/>
              </a:spcAft>
              <a:defRPr sz="1800">
                <a:solidFill>
                  <a:srgbClr val="142737"/>
                </a:solidFill>
                <a:latin typeface="Aptos"/>
              </a:defRPr>
            </a:pPr>
            <a:r>
              <a:t>Day 1 asked what looks suspicious.</a:t>
            </a:r>
          </a:p>
          <a:p>
            <a:pPr>
              <a:spcAft>
                <a:spcPts val="600"/>
              </a:spcAft>
              <a:defRPr sz="1800">
                <a:solidFill>
                  <a:srgbClr val="142737"/>
                </a:solidFill>
                <a:latin typeface="Aptos"/>
              </a:defRPr>
            </a:pPr>
            <a:r>
              <a:t>Day 2 asks what matters first.</a:t>
            </a:r>
          </a:p>
        </p:txBody>
      </p:sp>
      <p:sp>
        <p:nvSpPr>
          <p:cNvPr id="9" name="Rounded Rectangle 8"/>
          <p:cNvSpPr/>
          <p:nvPr/>
        </p:nvSpPr>
        <p:spPr>
          <a:xfrm>
            <a:off x="4434840" y="2697480"/>
            <a:ext cx="3337560" cy="260604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82549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Core skill</a:t>
            </a:r>
          </a:p>
        </p:txBody>
      </p:sp>
      <p:sp>
        <p:nvSpPr>
          <p:cNvPr id="11" name="TextBox 10"/>
          <p:cNvSpPr txBox="1"/>
          <p:nvPr/>
        </p:nvSpPr>
        <p:spPr>
          <a:xfrm>
            <a:off x="4636008" y="3264408"/>
            <a:ext cx="2935224" cy="1856232"/>
          </a:xfrm>
          <a:prstGeom prst="rect">
            <a:avLst/>
          </a:prstGeom>
          <a:noFill/>
        </p:spPr>
        <p:txBody>
          <a:bodyPr wrap="square">
            <a:noAutofit/>
          </a:bodyPr>
          <a:lstStyle/>
          <a:p>
            <a:pPr>
              <a:spcAft>
                <a:spcPts val="600"/>
              </a:spcAft>
              <a:defRPr sz="1900">
                <a:solidFill>
                  <a:srgbClr val="142737"/>
                </a:solidFill>
                <a:latin typeface="Aptos"/>
              </a:defRPr>
            </a:pPr>
            <a:r>
              <a:t>prioritizing limited analyst attention</a:t>
            </a:r>
          </a:p>
        </p:txBody>
      </p:sp>
      <p:sp>
        <p:nvSpPr>
          <p:cNvPr id="12" name="Rounded Rectangle 11"/>
          <p:cNvSpPr/>
          <p:nvPr/>
        </p:nvSpPr>
        <p:spPr>
          <a:xfrm>
            <a:off x="8001000" y="2697480"/>
            <a:ext cx="3063240" cy="260604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82549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Work mode</a:t>
            </a:r>
          </a:p>
        </p:txBody>
      </p:sp>
      <p:sp>
        <p:nvSpPr>
          <p:cNvPr id="14" name="TextBox 13"/>
          <p:cNvSpPr txBox="1"/>
          <p:nvPr/>
        </p:nvSpPr>
        <p:spPr>
          <a:xfrm>
            <a:off x="8202168" y="3264408"/>
            <a:ext cx="2660904" cy="1856232"/>
          </a:xfrm>
          <a:prstGeom prst="rect">
            <a:avLst/>
          </a:prstGeom>
          <a:noFill/>
        </p:spPr>
        <p:txBody>
          <a:bodyPr wrap="square">
            <a:noAutofit/>
          </a:bodyPr>
          <a:lstStyle/>
          <a:p>
            <a:pPr>
              <a:spcAft>
                <a:spcPts val="600"/>
              </a:spcAft>
              <a:defRPr sz="1800">
                <a:solidFill>
                  <a:srgbClr val="142737"/>
                </a:solidFill>
                <a:latin typeface="Aptos"/>
              </a:defRPr>
            </a:pPr>
            <a:r>
              <a:t>All work today is individual. No group 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Triage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Triage means deciding what deserves attention first</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triage exists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Analysts rarely have time to fully investigate every alert immediately.</a:t>
            </a:r>
          </a:p>
          <a:p>
            <a:pPr>
              <a:spcAft>
                <a:spcPts val="600"/>
              </a:spcAft>
              <a:defRPr sz="1700">
                <a:solidFill>
                  <a:srgbClr val="142737"/>
                </a:solidFill>
                <a:latin typeface="Aptos"/>
              </a:defRPr>
            </a:pPr>
            <a:r>
              <a:t>Queues grow, signals vary in quality, and context changes urgency.</a:t>
            </a:r>
          </a:p>
          <a:p>
            <a:pPr>
              <a:spcAft>
                <a:spcPts val="600"/>
              </a:spcAft>
              <a:defRPr sz="1700">
                <a:solidFill>
                  <a:srgbClr val="142737"/>
                </a:solidFill>
                <a:latin typeface="Aptos"/>
              </a:defRPr>
            </a:pPr>
            <a:r>
              <a:t>Triage is the discipline of ordering work under pressure.</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Bad triage problems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critical alerts wait too long</a:t>
            </a:r>
          </a:p>
          <a:p>
            <a:pPr>
              <a:spcAft>
                <a:spcPts val="600"/>
              </a:spcAft>
              <a:defRPr sz="1700">
                <a:solidFill>
                  <a:srgbClr val="142737"/>
                </a:solidFill>
                <a:latin typeface="Aptos"/>
              </a:defRPr>
            </a:pPr>
            <a:r>
              <a:t>analysts chase noisy alerts</a:t>
            </a:r>
          </a:p>
          <a:p>
            <a:pPr>
              <a:spcAft>
                <a:spcPts val="600"/>
              </a:spcAft>
              <a:defRPr sz="1700">
                <a:solidFill>
                  <a:srgbClr val="142737"/>
                </a:solidFill>
                <a:latin typeface="Aptos"/>
              </a:defRPr>
            </a:pPr>
            <a:r>
              <a:t>high-value systems get treated like low-value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Priority Factors</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Severity, confidence, and impact are related but not identical</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3375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Severity</a:t>
            </a:r>
          </a:p>
        </p:txBody>
      </p:sp>
      <p:sp>
        <p:nvSpPr>
          <p:cNvPr id="7" name="TextBox 6"/>
          <p:cNvSpPr txBox="1"/>
          <p:nvPr/>
        </p:nvSpPr>
        <p:spPr>
          <a:xfrm>
            <a:off x="1024128" y="2167128"/>
            <a:ext cx="2935224" cy="3776472"/>
          </a:xfrm>
          <a:prstGeom prst="rect">
            <a:avLst/>
          </a:prstGeom>
          <a:noFill/>
        </p:spPr>
        <p:txBody>
          <a:bodyPr wrap="square">
            <a:noAutofit/>
          </a:bodyPr>
          <a:lstStyle/>
          <a:p>
            <a:pPr>
              <a:spcAft>
                <a:spcPts val="600"/>
              </a:spcAft>
              <a:defRPr sz="1800">
                <a:solidFill>
                  <a:srgbClr val="142737"/>
                </a:solidFill>
                <a:latin typeface="Aptos"/>
              </a:defRPr>
            </a:pPr>
            <a:r>
              <a:t>How technically serious does the alert appear?</a:t>
            </a:r>
          </a:p>
        </p:txBody>
      </p:sp>
      <p:sp>
        <p:nvSpPr>
          <p:cNvPr id="8" name="Rounded Rectangle 7"/>
          <p:cNvSpPr/>
          <p:nvPr/>
        </p:nvSpPr>
        <p:spPr>
          <a:xfrm>
            <a:off x="4434840" y="1600200"/>
            <a:ext cx="33375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Confidence</a:t>
            </a:r>
          </a:p>
        </p:txBody>
      </p:sp>
      <p:sp>
        <p:nvSpPr>
          <p:cNvPr id="10" name="TextBox 9"/>
          <p:cNvSpPr txBox="1"/>
          <p:nvPr/>
        </p:nvSpPr>
        <p:spPr>
          <a:xfrm>
            <a:off x="4636008" y="2167128"/>
            <a:ext cx="2935224" cy="3776472"/>
          </a:xfrm>
          <a:prstGeom prst="rect">
            <a:avLst/>
          </a:prstGeom>
          <a:noFill/>
        </p:spPr>
        <p:txBody>
          <a:bodyPr wrap="square">
            <a:noAutofit/>
          </a:bodyPr>
          <a:lstStyle/>
          <a:p>
            <a:pPr>
              <a:spcAft>
                <a:spcPts val="600"/>
              </a:spcAft>
              <a:defRPr sz="1800">
                <a:solidFill>
                  <a:srgbClr val="142737"/>
                </a:solidFill>
                <a:latin typeface="Aptos"/>
              </a:defRPr>
            </a:pPr>
            <a:r>
              <a:t>How likely is it that the alert is meaningful or real?</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Impact</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800">
                <a:solidFill>
                  <a:srgbClr val="142737"/>
                </a:solidFill>
                <a:latin typeface="Aptos"/>
              </a:defRPr>
            </a:pPr>
            <a:r>
              <a:t>If true, how much business or security harm could follow?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Asset Context</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The same alert matters differently on different systems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Questions to ask</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Is the asset high criticality?</a:t>
            </a:r>
          </a:p>
          <a:p>
            <a:pPr>
              <a:spcAft>
                <a:spcPts val="600"/>
              </a:spcAft>
              <a:defRPr sz="1800">
                <a:solidFill>
                  <a:srgbClr val="142737"/>
                </a:solidFill>
                <a:latin typeface="Aptos"/>
              </a:defRPr>
            </a:pPr>
            <a:r>
              <a:t>Is it internet exposed?</a:t>
            </a:r>
          </a:p>
          <a:p>
            <a:pPr>
              <a:spcAft>
                <a:spcPts val="600"/>
              </a:spcAft>
              <a:defRPr sz="1800">
                <a:solidFill>
                  <a:srgbClr val="142737"/>
                </a:solidFill>
                <a:latin typeface="Aptos"/>
              </a:defRPr>
            </a:pPr>
            <a:r>
              <a:t>Does it hold sensitive data?</a:t>
            </a:r>
          </a:p>
        </p:txBody>
      </p:sp>
      <p:sp>
        <p:nvSpPr>
          <p:cNvPr id="8" name="Rounded Rectangle 7"/>
          <p:cNvSpPr/>
          <p:nvPr/>
        </p:nvSpPr>
        <p:spPr>
          <a:xfrm>
            <a:off x="443484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Example</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700">
                <a:solidFill>
                  <a:srgbClr val="142737"/>
                </a:solidFill>
                <a:latin typeface="Aptos"/>
              </a:defRPr>
            </a:pPr>
            <a:r>
              <a:t>A medium alert on a student information system may matter more than the same alert on a low-value lab device.</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Lesson</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800">
                <a:solidFill>
                  <a:srgbClr val="142737"/>
                </a:solidFill>
                <a:latin typeface="Aptos"/>
              </a:defRPr>
            </a:pPr>
            <a:r>
              <a:t>Context turns raw alerts into business-relevant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Scoring</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A simple rubric can organize work, but it should not replace judgment</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Today's lab rubric</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severity: high 3, medium 2, low 1</a:t>
            </a:r>
          </a:p>
          <a:p>
            <a:pPr>
              <a:spcAft>
                <a:spcPts val="600"/>
              </a:spcAft>
              <a:defRPr sz="1700">
                <a:solidFill>
                  <a:srgbClr val="142737"/>
                </a:solidFill>
                <a:latin typeface="Aptos"/>
              </a:defRPr>
            </a:pPr>
            <a:r>
              <a:t>confidence: high 3, medium 2, low 1</a:t>
            </a:r>
          </a:p>
          <a:p>
            <a:pPr>
              <a:spcAft>
                <a:spcPts val="600"/>
              </a:spcAft>
              <a:defRPr sz="1700">
                <a:solidFill>
                  <a:srgbClr val="142737"/>
                </a:solidFill>
                <a:latin typeface="Aptos"/>
              </a:defRPr>
            </a:pPr>
            <a:r>
              <a:t>criticality: high 3, medium 2, low 1</a:t>
            </a:r>
          </a:p>
          <a:p>
            <a:pPr>
              <a:spcAft>
                <a:spcPts val="600"/>
              </a:spcAft>
              <a:defRPr sz="1700">
                <a:solidFill>
                  <a:srgbClr val="142737"/>
                </a:solidFill>
                <a:latin typeface="Aptos"/>
              </a:defRPr>
            </a:pPr>
            <a:r>
              <a:t>plus 1 for internet exposure</a:t>
            </a:r>
          </a:p>
          <a:p>
            <a:pPr>
              <a:spcAft>
                <a:spcPts val="600"/>
              </a:spcAft>
              <a:defRPr sz="1700">
                <a:solidFill>
                  <a:srgbClr val="142737"/>
                </a:solidFill>
                <a:latin typeface="Aptos"/>
              </a:defRPr>
            </a:pPr>
            <a:r>
              <a:t>plus 1 for sensitive data</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use it</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It forces students to compare alerts consistently.</a:t>
            </a:r>
          </a:p>
          <a:p>
            <a:pPr>
              <a:spcAft>
                <a:spcPts val="600"/>
              </a:spcAft>
              <a:defRPr sz="1700">
                <a:solidFill>
                  <a:srgbClr val="142737"/>
                </a:solidFill>
                <a:latin typeface="Aptos"/>
              </a:defRPr>
            </a:pPr>
            <a:r>
              <a:t>It makes reasoning visible instead of vague.</a:t>
            </a:r>
          </a:p>
          <a:p>
            <a:pPr>
              <a:spcAft>
                <a:spcPts val="600"/>
              </a:spcAft>
              <a:defRPr sz="1700">
                <a:solidFill>
                  <a:srgbClr val="142737"/>
                </a:solidFill>
                <a:latin typeface="Aptos"/>
              </a:defRPr>
            </a:pPr>
            <a:r>
              <a:t>It also shows where a formula helps and where it falls short.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Worked Example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Compare a high-severity finance alert to a lower-value device alert</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3832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Alert A</a:t>
            </a:r>
          </a:p>
        </p:txBody>
      </p:sp>
      <p:sp>
        <p:nvSpPr>
          <p:cNvPr id="7" name="TextBox 6"/>
          <p:cNvSpPr txBox="1"/>
          <p:nvPr/>
        </p:nvSpPr>
        <p:spPr>
          <a:xfrm>
            <a:off x="1024128" y="2167128"/>
            <a:ext cx="2980944" cy="3776472"/>
          </a:xfrm>
          <a:prstGeom prst="rect">
            <a:avLst/>
          </a:prstGeom>
          <a:noFill/>
        </p:spPr>
        <p:txBody>
          <a:bodyPr wrap="square">
            <a:noAutofit/>
          </a:bodyPr>
          <a:lstStyle/>
          <a:p>
            <a:pPr>
              <a:spcAft>
                <a:spcPts val="600"/>
              </a:spcAft>
              <a:defRPr sz="1800">
                <a:solidFill>
                  <a:srgbClr val="142737"/>
                </a:solidFill>
                <a:latin typeface="Aptos"/>
              </a:defRPr>
            </a:pPr>
            <a:r>
              <a:t>high severity</a:t>
            </a:r>
          </a:p>
          <a:p>
            <a:pPr>
              <a:spcAft>
                <a:spcPts val="600"/>
              </a:spcAft>
              <a:defRPr sz="1800">
                <a:solidFill>
                  <a:srgbClr val="142737"/>
                </a:solidFill>
                <a:latin typeface="Aptos"/>
              </a:defRPr>
            </a:pPr>
            <a:r>
              <a:t>high confidence</a:t>
            </a:r>
          </a:p>
          <a:p>
            <a:pPr>
              <a:spcAft>
                <a:spcPts val="600"/>
              </a:spcAft>
              <a:defRPr sz="1800">
                <a:solidFill>
                  <a:srgbClr val="142737"/>
                </a:solidFill>
                <a:latin typeface="Aptos"/>
              </a:defRPr>
            </a:pPr>
            <a:r>
              <a:t>finance database</a:t>
            </a:r>
          </a:p>
          <a:p>
            <a:pPr>
              <a:spcAft>
                <a:spcPts val="600"/>
              </a:spcAft>
              <a:defRPr sz="1800">
                <a:solidFill>
                  <a:srgbClr val="142737"/>
                </a:solidFill>
                <a:latin typeface="Aptos"/>
              </a:defRPr>
            </a:pPr>
            <a:r>
              <a:t>sensitive data</a:t>
            </a:r>
          </a:p>
        </p:txBody>
      </p:sp>
      <p:sp>
        <p:nvSpPr>
          <p:cNvPr id="8" name="Rounded Rectangle 7"/>
          <p:cNvSpPr/>
          <p:nvPr/>
        </p:nvSpPr>
        <p:spPr>
          <a:xfrm>
            <a:off x="4434840" y="1600200"/>
            <a:ext cx="33832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Alert B</a:t>
            </a:r>
          </a:p>
        </p:txBody>
      </p:sp>
      <p:sp>
        <p:nvSpPr>
          <p:cNvPr id="10" name="TextBox 9"/>
          <p:cNvSpPr txBox="1"/>
          <p:nvPr/>
        </p:nvSpPr>
        <p:spPr>
          <a:xfrm>
            <a:off x="4636008" y="2167128"/>
            <a:ext cx="2980944" cy="3776472"/>
          </a:xfrm>
          <a:prstGeom prst="rect">
            <a:avLst/>
          </a:prstGeom>
          <a:noFill/>
        </p:spPr>
        <p:txBody>
          <a:bodyPr wrap="square">
            <a:noAutofit/>
          </a:bodyPr>
          <a:lstStyle/>
          <a:p>
            <a:pPr>
              <a:spcAft>
                <a:spcPts val="600"/>
              </a:spcAft>
              <a:defRPr sz="1800">
                <a:solidFill>
                  <a:srgbClr val="142737"/>
                </a:solidFill>
                <a:latin typeface="Aptos"/>
              </a:defRPr>
            </a:pPr>
            <a:r>
              <a:t>low severity</a:t>
            </a:r>
          </a:p>
          <a:p>
            <a:pPr>
              <a:spcAft>
                <a:spcPts val="600"/>
              </a:spcAft>
              <a:defRPr sz="1800">
                <a:solidFill>
                  <a:srgbClr val="142737"/>
                </a:solidFill>
                <a:latin typeface="Aptos"/>
              </a:defRPr>
            </a:pPr>
            <a:r>
              <a:t>medium confidence</a:t>
            </a:r>
          </a:p>
          <a:p>
            <a:pPr>
              <a:spcAft>
                <a:spcPts val="600"/>
              </a:spcAft>
              <a:defRPr sz="1800">
                <a:solidFill>
                  <a:srgbClr val="142737"/>
                </a:solidFill>
                <a:latin typeface="Aptos"/>
              </a:defRPr>
            </a:pPr>
            <a:r>
              <a:t>low-value lab device</a:t>
            </a:r>
          </a:p>
          <a:p>
            <a:pPr>
              <a:spcAft>
                <a:spcPts val="600"/>
              </a:spcAft>
              <a:defRPr sz="1800">
                <a:solidFill>
                  <a:srgbClr val="142737"/>
                </a:solidFill>
                <a:latin typeface="Aptos"/>
              </a:defRPr>
            </a:pPr>
            <a:r>
              <a:t>no sensitive data</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the order differs</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42737"/>
                </a:solidFill>
                <a:latin typeface="Aptos"/>
              </a:defRPr>
            </a:pPr>
            <a:r>
              <a:t>The asset and data context make one alert much more urgent even before a full investigation.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Judgment</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A score helps organize, but analysts still need to think</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scores can mislead</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low-confidence alerts can still point to important compromise</a:t>
            </a:r>
          </a:p>
          <a:p>
            <a:pPr>
              <a:spcAft>
                <a:spcPts val="600"/>
              </a:spcAft>
              <a:defRPr sz="1700">
                <a:solidFill>
                  <a:srgbClr val="142737"/>
                </a:solidFill>
                <a:latin typeface="Aptos"/>
              </a:defRPr>
            </a:pPr>
            <a:r>
              <a:t>maintenance windows can make scary alerts less urgent</a:t>
            </a:r>
          </a:p>
          <a:p>
            <a:pPr>
              <a:spcAft>
                <a:spcPts val="600"/>
              </a:spcAft>
              <a:defRPr sz="1700">
                <a:solidFill>
                  <a:srgbClr val="142737"/>
                </a:solidFill>
                <a:latin typeface="Aptos"/>
              </a:defRPr>
            </a:pPr>
            <a:r>
              <a:t>missing context can distort a neat score</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Better habit</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Use the score first, then ask what the score may be missing.</a:t>
            </a:r>
          </a:p>
          <a:p>
            <a:pPr>
              <a:spcAft>
                <a:spcPts val="600"/>
              </a:spcAft>
              <a:defRPr sz="1700">
                <a:solidFill>
                  <a:srgbClr val="142737"/>
                </a:solidFill>
                <a:latin typeface="Aptos"/>
              </a:defRPr>
            </a:pPr>
            <a:r>
              <a:t>A good analyst explains both the number and the reasoning behind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Escalation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Escalation means moving an alert to the next level with a reason</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What to include</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alert id</a:t>
            </a:r>
          </a:p>
          <a:p>
            <a:pPr>
              <a:spcAft>
                <a:spcPts val="600"/>
              </a:spcAft>
              <a:defRPr sz="1800">
                <a:solidFill>
                  <a:srgbClr val="142737"/>
                </a:solidFill>
                <a:latin typeface="Aptos"/>
              </a:defRPr>
            </a:pPr>
            <a:r>
              <a:t>why it stands out</a:t>
            </a:r>
          </a:p>
          <a:p>
            <a:pPr>
              <a:spcAft>
                <a:spcPts val="600"/>
              </a:spcAft>
              <a:defRPr sz="1800">
                <a:solidFill>
                  <a:srgbClr val="142737"/>
                </a:solidFill>
                <a:latin typeface="Aptos"/>
              </a:defRPr>
            </a:pPr>
            <a:r>
              <a:t>asset affected</a:t>
            </a:r>
          </a:p>
          <a:p>
            <a:pPr>
              <a:spcAft>
                <a:spcPts val="600"/>
              </a:spcAft>
              <a:defRPr sz="1800">
                <a:solidFill>
                  <a:srgbClr val="142737"/>
                </a:solidFill>
                <a:latin typeface="Aptos"/>
              </a:defRPr>
            </a:pPr>
            <a:r>
              <a:t>requested next step</a:t>
            </a:r>
          </a:p>
        </p:txBody>
      </p:sp>
      <p:sp>
        <p:nvSpPr>
          <p:cNvPr id="8" name="Rounded Rectangle 7"/>
          <p:cNvSpPr/>
          <p:nvPr/>
        </p:nvSpPr>
        <p:spPr>
          <a:xfrm>
            <a:off x="443484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Good first steps</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account lock or reset</a:t>
            </a:r>
          </a:p>
          <a:p>
            <a:pPr>
              <a:spcAft>
                <a:spcPts val="600"/>
              </a:spcAft>
              <a:defRPr sz="1800">
                <a:solidFill>
                  <a:srgbClr val="142737"/>
                </a:solidFill>
                <a:latin typeface="Aptos"/>
              </a:defRPr>
            </a:pPr>
            <a:r>
              <a:t>contain device</a:t>
            </a:r>
          </a:p>
          <a:p>
            <a:pPr>
              <a:spcAft>
                <a:spcPts val="600"/>
              </a:spcAft>
              <a:defRPr sz="1800">
                <a:solidFill>
                  <a:srgbClr val="142737"/>
                </a:solidFill>
                <a:latin typeface="Aptos"/>
              </a:defRPr>
            </a:pPr>
            <a:r>
              <a:t>review logs in more depth</a:t>
            </a:r>
          </a:p>
          <a:p>
            <a:pPr>
              <a:spcAft>
                <a:spcPts val="600"/>
              </a:spcAft>
              <a:defRPr sz="1800">
                <a:solidFill>
                  <a:srgbClr val="142737"/>
                </a:solidFill>
                <a:latin typeface="Aptos"/>
              </a:defRPr>
            </a:pPr>
            <a:r>
              <a:t>notify system owner</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Goal</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800">
                <a:solidFill>
                  <a:srgbClr val="142737"/>
                </a:solidFill>
                <a:latin typeface="Aptos"/>
              </a:defRPr>
            </a:pPr>
            <a:r>
              <a:t>Move from ranking to a clear action path.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Operational View</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Security analytics is also about queue health and analyst time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Useful metrics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alerts by type</a:t>
            </a:r>
          </a:p>
          <a:p>
            <a:pPr>
              <a:spcAft>
                <a:spcPts val="600"/>
              </a:spcAft>
              <a:defRPr sz="1800">
                <a:solidFill>
                  <a:srgbClr val="142737"/>
                </a:solidFill>
                <a:latin typeface="Aptos"/>
              </a:defRPr>
            </a:pPr>
            <a:r>
              <a:t>false positive rate</a:t>
            </a:r>
          </a:p>
          <a:p>
            <a:pPr>
              <a:spcAft>
                <a:spcPts val="600"/>
              </a:spcAft>
              <a:defRPr sz="1800">
                <a:solidFill>
                  <a:srgbClr val="142737"/>
                </a:solidFill>
                <a:latin typeface="Aptos"/>
              </a:defRPr>
            </a:pPr>
            <a:r>
              <a:t>time to acknowledge</a:t>
            </a:r>
          </a:p>
          <a:p>
            <a:pPr>
              <a:spcAft>
                <a:spcPts val="600"/>
              </a:spcAft>
              <a:defRPr sz="1800">
                <a:solidFill>
                  <a:srgbClr val="142737"/>
                </a:solidFill>
                <a:latin typeface="Aptos"/>
              </a:defRPr>
            </a:pPr>
            <a:r>
              <a:t>time to escalate or close</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this matters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Queues can overwhelm teams.</a:t>
            </a:r>
          </a:p>
          <a:p>
            <a:pPr>
              <a:spcAft>
                <a:spcPts val="600"/>
              </a:spcAft>
              <a:defRPr sz="1700">
                <a:solidFill>
                  <a:srgbClr val="142737"/>
                </a:solidFill>
                <a:latin typeface="Aptos"/>
              </a:defRPr>
            </a:pPr>
            <a:r>
              <a:t>Alert fatigue reduces effectiveness.</a:t>
            </a:r>
          </a:p>
          <a:p>
            <a:pPr>
              <a:spcAft>
                <a:spcPts val="600"/>
              </a:spcAft>
              <a:defRPr sz="1700">
                <a:solidFill>
                  <a:srgbClr val="142737"/>
                </a:solidFill>
                <a:latin typeface="Aptos"/>
              </a:defRPr>
            </a:pPr>
            <a:r>
              <a:t>Analytics should improve decision quality, not just increase monitoring volume.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Monitoring Boundaries</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Good security monitoring still needs limits and governance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monitoring exists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to detect abuse</a:t>
            </a:r>
          </a:p>
          <a:p>
            <a:pPr>
              <a:spcAft>
                <a:spcPts val="600"/>
              </a:spcAft>
              <a:defRPr sz="1800">
                <a:solidFill>
                  <a:srgbClr val="142737"/>
                </a:solidFill>
                <a:latin typeface="Aptos"/>
              </a:defRPr>
            </a:pPr>
            <a:r>
              <a:t>to investigate compromise</a:t>
            </a:r>
          </a:p>
          <a:p>
            <a:pPr>
              <a:spcAft>
                <a:spcPts val="600"/>
              </a:spcAft>
              <a:defRPr sz="1800">
                <a:solidFill>
                  <a:srgbClr val="142737"/>
                </a:solidFill>
                <a:latin typeface="Aptos"/>
              </a:defRPr>
            </a:pPr>
            <a:r>
              <a:t>to protect sensitive systems and data</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restraint matters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not every collection practice is justified</a:t>
            </a:r>
          </a:p>
          <a:p>
            <a:pPr>
              <a:spcAft>
                <a:spcPts val="600"/>
              </a:spcAft>
              <a:defRPr sz="1700">
                <a:solidFill>
                  <a:srgbClr val="142737"/>
                </a:solidFill>
                <a:latin typeface="Aptos"/>
              </a:defRPr>
            </a:pPr>
            <a:r>
              <a:t>retention should have a reason and limit</a:t>
            </a:r>
          </a:p>
          <a:p>
            <a:pPr>
              <a:spcAft>
                <a:spcPts val="600"/>
              </a:spcAft>
              <a:defRPr sz="1700">
                <a:solidFill>
                  <a:srgbClr val="142737"/>
                </a:solidFill>
                <a:latin typeface="Aptos"/>
              </a:defRPr>
            </a:pPr>
            <a:r>
              <a:t>people should not become permanently over-profiled in the name of security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Communication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The analyst note is part of the security work, not an extra step</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Weak note</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vague</a:t>
            </a:r>
          </a:p>
          <a:p>
            <a:pPr>
              <a:spcAft>
                <a:spcPts val="600"/>
              </a:spcAft>
              <a:defRPr sz="1800">
                <a:solidFill>
                  <a:srgbClr val="142737"/>
                </a:solidFill>
                <a:latin typeface="Aptos"/>
              </a:defRPr>
            </a:pPr>
            <a:r>
              <a:t>no asset context</a:t>
            </a:r>
          </a:p>
          <a:p>
            <a:pPr>
              <a:spcAft>
                <a:spcPts val="600"/>
              </a:spcAft>
              <a:defRPr sz="1800">
                <a:solidFill>
                  <a:srgbClr val="142737"/>
                </a:solidFill>
                <a:latin typeface="Aptos"/>
              </a:defRPr>
            </a:pPr>
            <a:r>
              <a:t>no next step</a:t>
            </a:r>
          </a:p>
          <a:p>
            <a:pPr>
              <a:spcAft>
                <a:spcPts val="600"/>
              </a:spcAft>
              <a:defRPr sz="1800">
                <a:solidFill>
                  <a:srgbClr val="142737"/>
                </a:solidFill>
                <a:latin typeface="Aptos"/>
              </a:defRPr>
            </a:pPr>
            <a:r>
              <a:t>no reason for priority</a:t>
            </a:r>
          </a:p>
        </p:txBody>
      </p:sp>
      <p:sp>
        <p:nvSpPr>
          <p:cNvPr id="8" name="Rounded Rectangle 7"/>
          <p:cNvSpPr/>
          <p:nvPr/>
        </p:nvSpPr>
        <p:spPr>
          <a:xfrm>
            <a:off x="443484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Strong note</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specific evidence</a:t>
            </a:r>
          </a:p>
          <a:p>
            <a:pPr>
              <a:spcAft>
                <a:spcPts val="600"/>
              </a:spcAft>
              <a:defRPr sz="1800">
                <a:solidFill>
                  <a:srgbClr val="142737"/>
                </a:solidFill>
                <a:latin typeface="Aptos"/>
              </a:defRPr>
            </a:pPr>
            <a:r>
              <a:t>clear urgency</a:t>
            </a:r>
          </a:p>
          <a:p>
            <a:pPr>
              <a:spcAft>
                <a:spcPts val="600"/>
              </a:spcAft>
              <a:defRPr sz="1800">
                <a:solidFill>
                  <a:srgbClr val="142737"/>
                </a:solidFill>
                <a:latin typeface="Aptos"/>
              </a:defRPr>
            </a:pPr>
            <a:r>
              <a:t>requested action</a:t>
            </a:r>
          </a:p>
          <a:p>
            <a:pPr>
              <a:spcAft>
                <a:spcPts val="600"/>
              </a:spcAft>
              <a:defRPr sz="1800">
                <a:solidFill>
                  <a:srgbClr val="142737"/>
                </a:solidFill>
                <a:latin typeface="Aptos"/>
              </a:defRPr>
            </a:pPr>
            <a:r>
              <a:t>professional tone</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Takeaway</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42737"/>
                </a:solidFill>
                <a:latin typeface="Aptos"/>
              </a:defRPr>
            </a:pPr>
            <a:r>
              <a:t>If someone else cannot act on your note, the analytics work is incomplete.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Career Skills</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Day 2 maps to real triage and escalation work</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Roles</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Tier 1 SOC analyst</a:t>
            </a:r>
          </a:p>
          <a:p>
            <a:pPr>
              <a:spcAft>
                <a:spcPts val="600"/>
              </a:spcAft>
              <a:defRPr sz="1800">
                <a:solidFill>
                  <a:srgbClr val="142737"/>
                </a:solidFill>
                <a:latin typeface="Aptos"/>
              </a:defRPr>
            </a:pPr>
            <a:r>
              <a:t>security analyst intern</a:t>
            </a:r>
          </a:p>
          <a:p>
            <a:pPr>
              <a:spcAft>
                <a:spcPts val="600"/>
              </a:spcAft>
              <a:defRPr sz="1800">
                <a:solidFill>
                  <a:srgbClr val="142737"/>
                </a:solidFill>
                <a:latin typeface="Aptos"/>
              </a:defRPr>
            </a:pPr>
            <a:r>
              <a:t>alert triage analyst</a:t>
            </a:r>
          </a:p>
          <a:p>
            <a:pPr>
              <a:spcAft>
                <a:spcPts val="600"/>
              </a:spcAft>
              <a:defRPr sz="1800">
                <a:solidFill>
                  <a:srgbClr val="142737"/>
                </a:solidFill>
                <a:latin typeface="Aptos"/>
              </a:defRPr>
            </a:pPr>
            <a:r>
              <a:t>junior threat analyst</a:t>
            </a:r>
          </a:p>
        </p:txBody>
      </p:sp>
      <p:sp>
        <p:nvSpPr>
          <p:cNvPr id="8" name="Rounded Rectangle 7"/>
          <p:cNvSpPr/>
          <p:nvPr/>
        </p:nvSpPr>
        <p:spPr>
          <a:xfrm>
            <a:off x="443484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Skills</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prioritization</a:t>
            </a:r>
          </a:p>
          <a:p>
            <a:pPr>
              <a:spcAft>
                <a:spcPts val="600"/>
              </a:spcAft>
              <a:defRPr sz="1800">
                <a:solidFill>
                  <a:srgbClr val="142737"/>
                </a:solidFill>
                <a:latin typeface="Aptos"/>
              </a:defRPr>
            </a:pPr>
            <a:r>
              <a:t>asset-context reasoning</a:t>
            </a:r>
          </a:p>
          <a:p>
            <a:pPr>
              <a:spcAft>
                <a:spcPts val="600"/>
              </a:spcAft>
              <a:defRPr sz="1800">
                <a:solidFill>
                  <a:srgbClr val="142737"/>
                </a:solidFill>
                <a:latin typeface="Aptos"/>
              </a:defRPr>
            </a:pPr>
            <a:r>
              <a:t>escalation writing</a:t>
            </a:r>
          </a:p>
          <a:p>
            <a:pPr>
              <a:spcAft>
                <a:spcPts val="600"/>
              </a:spcAft>
              <a:defRPr sz="1800">
                <a:solidFill>
                  <a:srgbClr val="142737"/>
                </a:solidFill>
                <a:latin typeface="Aptos"/>
              </a:defRPr>
            </a:pPr>
            <a:r>
              <a:t>judgment beyond formulas</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Professional standard</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42737"/>
                </a:solidFill>
                <a:latin typeface="Aptos"/>
              </a:defRPr>
            </a:pPr>
            <a:r>
              <a:t>Explain why this alert, why now, and what 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Lab</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Today you will triage a small morning alert queue as an individual analyst</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Files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day2_alert_queue.csv</a:t>
            </a:r>
          </a:p>
          <a:p>
            <a:pPr>
              <a:spcAft>
                <a:spcPts val="600"/>
              </a:spcAft>
              <a:defRPr sz="1800">
                <a:solidFill>
                  <a:srgbClr val="142737"/>
                </a:solidFill>
                <a:latin typeface="Aptos"/>
              </a:defRPr>
            </a:pPr>
            <a:r>
              <a:t>day2_asset_context.csv</a:t>
            </a:r>
          </a:p>
          <a:p>
            <a:pPr>
              <a:spcAft>
                <a:spcPts val="600"/>
              </a:spcAft>
              <a:defRPr sz="1800">
                <a:solidFill>
                  <a:srgbClr val="142737"/>
                </a:solidFill>
                <a:latin typeface="Aptos"/>
              </a:defRPr>
            </a:pPr>
            <a:r>
              <a:t>Use any spreadsheet or CSV tool you prefer.</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3172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Main tasks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score each alert</a:t>
            </a:r>
          </a:p>
          <a:p>
            <a:pPr>
              <a:spcAft>
                <a:spcPts val="600"/>
              </a:spcAft>
              <a:defRPr sz="1800">
                <a:solidFill>
                  <a:srgbClr val="142737"/>
                </a:solidFill>
                <a:latin typeface="Aptos"/>
              </a:defRPr>
            </a:pPr>
            <a:r>
              <a:t>rank the top three</a:t>
            </a:r>
          </a:p>
          <a:p>
            <a:pPr>
              <a:spcAft>
                <a:spcPts val="600"/>
              </a:spcAft>
              <a:defRPr sz="1800">
                <a:solidFill>
                  <a:srgbClr val="142737"/>
                </a:solidFill>
                <a:latin typeface="Aptos"/>
              </a:defRPr>
            </a:pPr>
            <a:r>
              <a:t>notice what the score misses</a:t>
            </a:r>
          </a:p>
          <a:p>
            <a:pPr>
              <a:spcAft>
                <a:spcPts val="600"/>
              </a:spcAft>
              <a:defRPr sz="1800">
                <a:solidFill>
                  <a:srgbClr val="142737"/>
                </a:solidFill>
                <a:latin typeface="Aptos"/>
              </a:defRPr>
            </a:pPr>
            <a:r>
              <a:t>choose one escalation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Writing</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42737"/>
                </a:solidFill>
                <a:latin typeface="Aptos Display"/>
              </a:defRPr>
            </a:pPr>
            <a:r>
              <a:t>End class with a short escalation memo</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3172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What to include</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alert id</a:t>
            </a:r>
          </a:p>
          <a:p>
            <a:pPr>
              <a:spcAft>
                <a:spcPts val="600"/>
              </a:spcAft>
              <a:defRPr sz="1800">
                <a:solidFill>
                  <a:srgbClr val="142737"/>
                </a:solidFill>
                <a:latin typeface="Aptos"/>
              </a:defRPr>
            </a:pPr>
            <a:r>
              <a:t>severity and confidence</a:t>
            </a:r>
          </a:p>
          <a:p>
            <a:pPr>
              <a:spcAft>
                <a:spcPts val="600"/>
              </a:spcAft>
              <a:defRPr sz="1800">
                <a:solidFill>
                  <a:srgbClr val="142737"/>
                </a:solidFill>
                <a:latin typeface="Aptos"/>
              </a:defRPr>
            </a:pPr>
            <a:r>
              <a:t>asset context</a:t>
            </a:r>
          </a:p>
          <a:p>
            <a:pPr>
              <a:spcAft>
                <a:spcPts val="600"/>
              </a:spcAft>
              <a:defRPr sz="1800">
                <a:solidFill>
                  <a:srgbClr val="142737"/>
                </a:solidFill>
                <a:latin typeface="Aptos"/>
              </a:defRPr>
            </a:pPr>
            <a:r>
              <a:t>next step</a:t>
            </a:r>
          </a:p>
          <a:p>
            <a:pPr>
              <a:spcAft>
                <a:spcPts val="600"/>
              </a:spcAft>
              <a:defRPr sz="1800">
                <a:solidFill>
                  <a:srgbClr val="142737"/>
                </a:solidFill>
                <a:latin typeface="Aptos"/>
              </a:defRPr>
            </a:pPr>
            <a:r>
              <a:t>privacy-aware sentence</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3172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Goal</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Write like someone giving a supervisor enough information to act immediately.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