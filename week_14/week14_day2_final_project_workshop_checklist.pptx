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fcd78dcb044724" /><Relationship Type="http://schemas.openxmlformats.org/officeDocument/2006/relationships/extended-properties" Target="/docProps/app.xml" Id="R1f42bc31124a4708" /><Relationship Type="http://schemas.openxmlformats.org/officeDocument/2006/relationships/officeDocument" Target="/ppt/presentation.xml" Id="Re56df141d3e34e1d" /></Relationships>
</file>

<file path=ppt/presentation.xml><?xml version="1.0" encoding="utf-8"?>
<p:presentation xmlns:p="http://schemas.openxmlformats.org/presentationml/2006/main">
  <p:sldMasterIdLst>
    <p:sldMasterId xmlns:r="http://schemas.openxmlformats.org/officeDocument/2006/relationships" id="2147483648" r:id="R47477ab852a045a9"/>
  </p:sldMasterIdLst>
  <p:notesMasterIdLst>
    <p:notesMasterId xmlns:r="http://schemas.openxmlformats.org/officeDocument/2006/relationships" r:id="R3a571d2336764e9e"/>
  </p:notesMasterIdLst>
  <p:sldIdLst>
    <p:sldId xmlns:r="http://schemas.openxmlformats.org/officeDocument/2006/relationships" id="256" r:id="R3df08bb5386c442e"/>
    <p:sldId xmlns:r="http://schemas.openxmlformats.org/officeDocument/2006/relationships" id="257" r:id="R2301236a956949d6"/>
    <p:sldId xmlns:r="http://schemas.openxmlformats.org/officeDocument/2006/relationships" id="258" r:id="Rb1fef0e82fd1435b"/>
    <p:sldId xmlns:r="http://schemas.openxmlformats.org/officeDocument/2006/relationships" id="259" r:id="Rc77d76328bb0475f"/>
    <p:sldId xmlns:r="http://schemas.openxmlformats.org/officeDocument/2006/relationships" id="260" r:id="R42cef989ec5b4d72"/>
    <p:sldId xmlns:r="http://schemas.openxmlformats.org/officeDocument/2006/relationships" id="261" r:id="Re070f0da8f8e452e"/>
    <p:sldId xmlns:r="http://schemas.openxmlformats.org/officeDocument/2006/relationships" id="262" r:id="Re68fba71f7e343a0"/>
    <p:sldId xmlns:r="http://schemas.openxmlformats.org/officeDocument/2006/relationships" id="263" r:id="R769bc5f662e24ee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47477ab852a045a9" /><Relationship Type="http://schemas.openxmlformats.org/officeDocument/2006/relationships/theme" Target="/ppt/theme/theme1.xml" Id="Rc66d870408ad4697" /><Relationship Type="http://schemas.openxmlformats.org/officeDocument/2006/relationships/notesMaster" Target="/ppt/notesMasters/notesMaster1.xml" Id="R3a571d2336764e9e" /><Relationship Type="http://schemas.openxmlformats.org/officeDocument/2006/relationships/presProps" Target="/ppt/presProps.xml" Id="R04afba29c5784189" /><Relationship Type="http://schemas.openxmlformats.org/officeDocument/2006/relationships/viewProps" Target="/ppt/viewProps.xml" Id="R85da9d5a664a4cfe" /><Relationship Type="http://schemas.openxmlformats.org/officeDocument/2006/relationships/tableStyles" Target="/ppt/tableStyles.xml" Id="R3d615aa17cc7479a" /><Relationship Type="http://schemas.openxmlformats.org/officeDocument/2006/relationships/slide" Target="/ppt/slides/slide1.xml" Id="R3df08bb5386c442e" /><Relationship Type="http://schemas.openxmlformats.org/officeDocument/2006/relationships/slide" Target="/ppt/slides/slide2.xml" Id="R2301236a956949d6" /><Relationship Type="http://schemas.openxmlformats.org/officeDocument/2006/relationships/slide" Target="/ppt/slides/slide3.xml" Id="Rb1fef0e82fd1435b" /><Relationship Type="http://schemas.openxmlformats.org/officeDocument/2006/relationships/slide" Target="/ppt/slides/slide4.xml" Id="Rc77d76328bb0475f" /><Relationship Type="http://schemas.openxmlformats.org/officeDocument/2006/relationships/slide" Target="/ppt/slides/slide5.xml" Id="R42cef989ec5b4d72" /><Relationship Type="http://schemas.openxmlformats.org/officeDocument/2006/relationships/slide" Target="/ppt/slides/slide6.xml" Id="Re070f0da8f8e452e" /><Relationship Type="http://schemas.openxmlformats.org/officeDocument/2006/relationships/slide" Target="/ppt/slides/slide7.xml" Id="Re68fba71f7e343a0" /><Relationship Type="http://schemas.openxmlformats.org/officeDocument/2006/relationships/slide" Target="/ppt/slides/slide8.xml" Id="R769bc5f662e24e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a329de753a454a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e4fb29144d47ce" /><Relationship Type="http://schemas.openxmlformats.org/officeDocument/2006/relationships/notesMaster" Target="/ppt/notesMasters/notesMaster1.xml" Id="R214518c94dd448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4ad7a82b2e4836" /><Relationship Type="http://schemas.openxmlformats.org/officeDocument/2006/relationships/notesMaster" Target="/ppt/notesMasters/notesMaster1.xml" Id="R4cfea90b46744e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388ca8a0754c7e" /><Relationship Type="http://schemas.openxmlformats.org/officeDocument/2006/relationships/notesMaster" Target="/ppt/notesMasters/notesMaster1.xml" Id="R9e8069c54d4c41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823b4711944336" /><Relationship Type="http://schemas.openxmlformats.org/officeDocument/2006/relationships/notesMaster" Target="/ppt/notesMasters/notesMaster1.xml" Id="Ra330375bd8c74f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c90e48965849d4" /><Relationship Type="http://schemas.openxmlformats.org/officeDocument/2006/relationships/notesMaster" Target="/ppt/notesMasters/notesMaster1.xml" Id="Rf2924fc1f9d84e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7559a241ec447c" /><Relationship Type="http://schemas.openxmlformats.org/officeDocument/2006/relationships/notesMaster" Target="/ppt/notesMasters/notesMaster1.xml" Id="R7ba161f6b80c49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359bd5b9a14fc9" /><Relationship Type="http://schemas.openxmlformats.org/officeDocument/2006/relationships/notesMaster" Target="/ppt/notesMasters/notesMaster1.xml" Id="R41581f54ec8f40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4d28713e3d4fc6" /><Relationship Type="http://schemas.openxmlformats.org/officeDocument/2006/relationships/notesMaster" Target="/ppt/notesMasters/notesMaster1.xml" Id="Rbcf5796a2f7949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Today is a final project work session. The lesson at the start is short because the priority is time to work. You are not giving a presentation. You are building the final project you will submit by May 26. Use the checklist to decide what to work on first. By the end of class, you should submit a checkpoint showing what you finished, what remains, and what you will submit.</a:t>
            </a:r>
          </a:p>
          <a:p xmlns:a="http://schemas.openxmlformats.org/drawingml/2006/main">
            <a:r>
              <a:t/>
            </a:r>
          </a:p>
          <a:p xmlns:a="http://schemas.openxmlformats.org/drawingml/2006/main">
            <a:r>
              <a:t>THINGS TO MENTION:</a:t>
            </a:r>
          </a:p>
          <a:p xmlns:a="http://schemas.openxmlformats.org/drawingml/2006/main">
            <a:r>
              <a:t>- Keep intro short.</a:t>
            </a:r>
          </a:p>
          <a:p xmlns:a="http://schemas.openxmlformats.org/drawingml/2006/main">
            <a:r>
              <a:t>- Most of class is work time.</a:t>
            </a:r>
          </a:p>
          <a:p xmlns:a="http://schemas.openxmlformats.org/drawingml/2006/main">
            <a:r>
              <a:t>- Due date: May 26,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Start by choosing two goals for today. Do not try to do everything at once. If your question is unclear, fix the question first. If your evidence is missing, find or review evidence. If your evidence is ready, write findings. If your findings are drafted, write the recommendation or limitation. The checklist is there to help you choose the next useful step.</a:t>
            </a:r>
          </a:p>
          <a:p xmlns:a="http://schemas.openxmlformats.org/drawingml/2006/main">
            <a:r>
              <a:t/>
            </a:r>
          </a:p>
          <a:p xmlns:a="http://schemas.openxmlformats.org/drawingml/2006/main">
            <a:r>
              <a:t>THINGS TO MENTION:</a:t>
            </a:r>
          </a:p>
          <a:p xmlns:a="http://schemas.openxmlformats.org/drawingml/2006/main">
            <a:r>
              <a:t>- Students should pick two goals, not ten.</a:t>
            </a:r>
          </a:p>
          <a:p xmlns:a="http://schemas.openxmlformats.org/drawingml/2006/main">
            <a:r>
              <a:t>- Help them prioritize.</a:t>
            </a:r>
          </a:p>
          <a:p xmlns:a="http://schemas.openxmlformats.org/drawingml/2006/main">
            <a:r>
              <a:t>- Goal choice starts the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complete final project answers a small set of questions. What question are you answering? What evidence are you using? What did you find? What should someone do? What privacy or ethics concern matters? What limit should readers understand? If any of these questions are blank, that is where you should work today.</a:t>
            </a:r>
          </a:p>
          <a:p xmlns:a="http://schemas.openxmlformats.org/drawingml/2006/main">
            <a:r>
              <a:t/>
            </a:r>
          </a:p>
          <a:p xmlns:a="http://schemas.openxmlformats.org/drawingml/2006/main">
            <a:r>
              <a:t>THINGS TO MENTION:</a:t>
            </a:r>
          </a:p>
          <a:p xmlns:a="http://schemas.openxmlformats.org/drawingml/2006/main">
            <a:r>
              <a:t>- Use as completion checklist.</a:t>
            </a:r>
          </a:p>
          <a:p xmlns:a="http://schemas.openxmlformats.org/drawingml/2006/main">
            <a:r>
              <a:t>- Works for both project paths.</a:t>
            </a:r>
          </a:p>
          <a:p xmlns:a="http://schemas.openxmlformats.org/drawingml/2006/main">
            <a:r>
              <a:t>- Blank answers reveal work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If you are coding, focus on readable analysis. Your notebook or script should run in order. Your comments should explain what the pandas steps do, especially if someone is new to Python. Your output should include a table or chart that supports your findings. Your report should explain those findings in plain language. The goal is not advanced code. The goal is clear analysis.</a:t>
            </a:r>
          </a:p>
          <a:p xmlns:a="http://schemas.openxmlformats.org/drawingml/2006/main">
            <a:r>
              <a:t/>
            </a:r>
          </a:p>
          <a:p xmlns:a="http://schemas.openxmlformats.org/drawingml/2006/main">
            <a:r>
              <a:t>THINGS TO MENTION:</a:t>
            </a:r>
          </a:p>
          <a:p xmlns:a="http://schemas.openxmlformats.org/drawingml/2006/main">
            <a:r>
              <a:t>- Code should be beginner-readable.</a:t>
            </a:r>
          </a:p>
          <a:p xmlns:a="http://schemas.openxmlformats.org/drawingml/2006/main">
            <a:r>
              <a:t>- Do not require advanced techniques.</a:t>
            </a:r>
          </a:p>
          <a:p xmlns:a="http://schemas.openxmlformats.org/drawingml/2006/main">
            <a:r>
              <a:t>- Report explains code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If you are writing the MLA essay, focus on argument and format. You need one focused claim, not a general overview. You need at least three credible sources. You need both a security issue and a privacy or ethics issue. You need in-text citations and a Works Cited page. You also need a recommendation and limitation. If one of those pieces is missing, work on that today.</a:t>
            </a:r>
          </a:p>
          <a:p xmlns:a="http://schemas.openxmlformats.org/drawingml/2006/main">
            <a:r>
              <a:t/>
            </a:r>
          </a:p>
          <a:p xmlns:a="http://schemas.openxmlformats.org/drawingml/2006/main">
            <a:r>
              <a:t>THINGS TO MENTION:</a:t>
            </a:r>
          </a:p>
          <a:p xmlns:a="http://schemas.openxmlformats.org/drawingml/2006/main">
            <a:r>
              <a:t>- MLA required.</a:t>
            </a:r>
          </a:p>
          <a:p xmlns:a="http://schemas.openxmlformats.org/drawingml/2006/main">
            <a:r>
              <a:t>- Avoid source-summary-only essays.</a:t>
            </a:r>
          </a:p>
          <a:p xmlns:a="http://schemas.openxmlformats.org/drawingml/2006/main">
            <a:r>
              <a:t>- Recommendation and limitation still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These are the common problems to avoid. A topic that is too broad becomes hard to finish. Evidence that is listed but not explained does not become analysis. A recommendation like improve security is too vague. Privacy or ethics should not be one sentence added at the end. A limitation paragraph should be included because it shows that you understand what your project can and cannot prove.</a:t>
            </a:r>
          </a:p>
          <a:p xmlns:a="http://schemas.openxmlformats.org/drawingml/2006/main">
            <a:r>
              <a:t/>
            </a:r>
          </a:p>
          <a:p xmlns:a="http://schemas.openxmlformats.org/drawingml/2006/main">
            <a:r>
              <a:t>THINGS TO MENTION:</a:t>
            </a:r>
          </a:p>
          <a:p xmlns:a="http://schemas.openxmlformats.org/drawingml/2006/main">
            <a:r>
              <a:t>- Use this as a revision warning.</a:t>
            </a:r>
          </a:p>
          <a:p xmlns:a="http://schemas.openxmlformats.org/drawingml/2006/main">
            <a:r>
              <a:t>- Help students diagnose their drafts.</a:t>
            </a:r>
          </a:p>
          <a:p xmlns:a="http://schemas.openxmlformats.org/drawingml/2006/main">
            <a:r>
              <a:t>- Limitations are required for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Most of class is work time. Use the lab checklist. If you need help, ask for help narrowing the project rather than expanding it. Your minimum goal is to write one useful paragraph today. That paragraph might be a finding, recommendation, limitation, privacy concern, or background paragraph. Save your work somewhere you can find it. Submit the checkpoint before leaving.</a:t>
            </a:r>
          </a:p>
          <a:p xmlns:a="http://schemas.openxmlformats.org/drawingml/2006/main">
            <a:r>
              <a:t/>
            </a:r>
          </a:p>
          <a:p xmlns:a="http://schemas.openxmlformats.org/drawingml/2006/main">
            <a:r>
              <a:t>THINGS TO MENTION:</a:t>
            </a:r>
          </a:p>
          <a:p xmlns:a="http://schemas.openxmlformats.org/drawingml/2006/main">
            <a:r>
              <a:t>- Keep students working.</a:t>
            </a:r>
          </a:p>
          <a:p xmlns:a="http://schemas.openxmlformats.org/drawingml/2006/main">
            <a:r>
              <a:t>- One useful paragraph is the minimum.</a:t>
            </a:r>
          </a:p>
          <a:p xmlns:a="http://schemas.openxmlformats.org/drawingml/2006/main">
            <a:r>
              <a:t>- Checkpoint is due end of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exit ticket asks you to name what you finished and what remains. This is meant to make the final week less vague. You should leave knowing the exact file or files you plan to submit. If you still have a question, write it down. The final project is due May 26, so the goal now is finishing a clear, focused project rather than changing topics.</a:t>
            </a:r>
          </a:p>
          <a:p xmlns:a="http://schemas.openxmlformats.org/drawingml/2006/main">
            <a:r>
              <a:t/>
            </a:r>
          </a:p>
          <a:p xmlns:a="http://schemas.openxmlformats.org/drawingml/2006/main">
            <a:r>
              <a:t>THINGS TO MENTION:</a:t>
            </a:r>
          </a:p>
          <a:p xmlns:a="http://schemas.openxmlformats.org/drawingml/2006/main">
            <a:r>
              <a:t>- End with clarity.</a:t>
            </a:r>
          </a:p>
          <a:p xmlns:a="http://schemas.openxmlformats.org/drawingml/2006/main">
            <a:r>
              <a:t>- No topic switching unless absolutely necessary.</a:t>
            </a:r>
          </a:p>
          <a:p xmlns:a="http://schemas.openxmlformats.org/drawingml/2006/main">
            <a:r>
              <a:t>- Due date reminder.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7f8e9da0ea442f"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8ed1a343d3ea4c4d" /><Relationship Type="http://schemas.openxmlformats.org/officeDocument/2006/relationships/slideLayout" Target="/ppt/slideLayouts/slideLayout2.xml" Id="R368b85af919d42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8b85af919d42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d3e921e266904037" /><Relationship Type="http://schemas.openxmlformats.org/officeDocument/2006/relationships/notesSlide" Target="/ppt/notesSlides/notesSlide1.xml" Id="R5e4d50c3eec646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2753dacdbb74e16" /><Relationship Type="http://schemas.openxmlformats.org/officeDocument/2006/relationships/notesSlide" Target="/ppt/notesSlides/notesSlide2.xml" Id="Rce436dbf29e549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12a24055fae44f1" /><Relationship Type="http://schemas.openxmlformats.org/officeDocument/2006/relationships/notesSlide" Target="/ppt/notesSlides/notesSlide3.xml" Id="R2cee23c608c545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b827fe7dead4941" /><Relationship Type="http://schemas.openxmlformats.org/officeDocument/2006/relationships/notesSlide" Target="/ppt/notesSlides/notesSlide4.xml" Id="Re73ef358b65d41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8f928b99cbc4007" /><Relationship Type="http://schemas.openxmlformats.org/officeDocument/2006/relationships/notesSlide" Target="/ppt/notesSlides/notesSlide5.xml" Id="Rebc7e2d3612a4f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9f531660f2d4476" /><Relationship Type="http://schemas.openxmlformats.org/officeDocument/2006/relationships/notesSlide" Target="/ppt/notesSlides/notesSlide6.xml" Id="R3efc2f37c5c742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2ca188709fa4e55" /><Relationship Type="http://schemas.openxmlformats.org/officeDocument/2006/relationships/notesSlide" Target="/ppt/notesSlides/notesSlide7.xml" Id="R198f2ae71b8841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6d281fe00cc44ca" /><Relationship Type="http://schemas.openxmlformats.org/officeDocument/2006/relationships/notesSlide" Target="/ppt/notesSlides/notesSlide8.xml" Id="Rb5925f3c96bd437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BA4EBA-6252-4AD0-92C5-9A9E3BBC26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F27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407429C-EF45-455C-8205-CCC1BA161858}"/>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FCA3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BDF857C-4D48-4DFA-AB70-11C8A640BA3B}"/>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FCA3A"/>
                </a:solidFill>
                <a:latin typeface="Aptos"/>
                <a:ea typeface="Aptos"/>
                <a:cs typeface="Aptos"/>
              </a:defRPr>
            </a:pPr>
            <a:r>
              <a:rPr sz="1200" b="1">
                <a:solidFill>
                  <a:srgbClr val="FFCA3A"/>
                </a:solidFill>
                <a:latin typeface="Aptos"/>
                <a:ea typeface="Aptos"/>
                <a:cs typeface="Aptos"/>
              </a:rPr>
              <a:t>Week 14 Day 2</a:t>
            </a:r>
          </a:p>
        </p:txBody>
      </p:sp>
      <p:sp>
        <p:nvSpPr>
          <p:cNvPr id="4" name="">
            <a:extLst xmlns:a="http://schemas.openxmlformats.org/drawingml/2006/main">
              <a:ext uri="{FF2B5EF4-FFF2-40B4-BE49-F238E27FC236}">
                <a16:creationId xmlns:a16="http://schemas.microsoft.com/office/drawing/2014/main" id="{2E78E1E0-84B1-42EB-9FFD-FB6FD8D6FA56}"/>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6DDD5"/>
                </a:solidFill>
                <a:latin typeface="Aptos"/>
                <a:ea typeface="Aptos"/>
                <a:cs typeface="Aptos"/>
              </a:defRPr>
            </a:pPr>
            <a:r>
              <a:rPr sz="1200" b="0">
                <a:solidFill>
                  <a:srgbClr val="D6DDD5"/>
                </a:solidFill>
                <a:latin typeface="Aptos"/>
                <a:ea typeface="Aptos"/>
                <a:cs typeface="Aptos"/>
              </a:rPr>
              <a:t>1/8</a:t>
            </a:r>
          </a:p>
        </p:txBody>
      </p:sp>
      <p:sp>
        <p:nvSpPr>
          <p:cNvPr id="5" name="">
            <a:extLst xmlns:a="http://schemas.openxmlformats.org/drawingml/2006/main">
              <a:ext uri="{FF2B5EF4-FFF2-40B4-BE49-F238E27FC236}">
                <a16:creationId xmlns:a16="http://schemas.microsoft.com/office/drawing/2014/main" id="{29654080-6256-40A1-81EB-6CB022932CB2}"/>
              </a:ext>
            </a:extLst>
          </p:cNvPr>
          <p:cNvSpPr>
            <a:spLocks xmlns:a="http://schemas.openxmlformats.org/drawingml/2006/main" noGrp="1"/>
          </p:cNvSpPr>
          <p:nvPr/>
        </p:nvSpPr>
        <p:spPr>
          <a:xfrm xmlns:a="http://schemas.openxmlformats.org/drawingml/2006/main">
            <a:off x="819150" y="1047750"/>
            <a:ext cx="6477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8AC926"/>
                </a:solidFill>
                <a:latin typeface="Aptos"/>
                <a:ea typeface="Aptos"/>
                <a:cs typeface="Aptos"/>
              </a:defRPr>
            </a:pPr>
            <a:r>
              <a:rPr sz="1500" b="1">
                <a:solidFill>
                  <a:srgbClr val="8AC926"/>
                </a:solidFill>
                <a:latin typeface="Aptos"/>
                <a:ea typeface="Aptos"/>
                <a:cs typeface="Aptos"/>
              </a:rPr>
              <a:t>Final Project Work Session</a:t>
            </a:r>
          </a:p>
        </p:txBody>
      </p:sp>
      <p:sp>
        <p:nvSpPr>
          <p:cNvPr id="6" name="">
            <a:extLst xmlns:a="http://schemas.openxmlformats.org/drawingml/2006/main">
              <a:ext uri="{FF2B5EF4-FFF2-40B4-BE49-F238E27FC236}">
                <a16:creationId xmlns:a16="http://schemas.microsoft.com/office/drawing/2014/main" id="{96E52AEE-E673-4130-9BBA-7808DBE29FF2}"/>
              </a:ext>
            </a:extLst>
          </p:cNvPr>
          <p:cNvSpPr>
            <a:spLocks xmlns:a="http://schemas.openxmlformats.org/drawingml/2006/main" noGrp="1"/>
          </p:cNvSpPr>
          <p:nvPr/>
        </p:nvSpPr>
        <p:spPr>
          <a:xfrm xmlns:a="http://schemas.openxmlformats.org/drawingml/2006/main">
            <a:off x="819150" y="1571625"/>
            <a:ext cx="7334250" cy="169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600" b="1">
                <a:solidFill>
                  <a:srgbClr val="FFFAF0"/>
                </a:solidFill>
                <a:latin typeface="Aptos Display"/>
                <a:ea typeface="Aptos Display"/>
                <a:cs typeface="Aptos Display"/>
              </a:defRPr>
            </a:pPr>
            <a:r>
              <a:rPr sz="3600" b="1">
                <a:solidFill>
                  <a:srgbClr val="FFFAF0"/>
                </a:solidFill>
                <a:latin typeface="Aptos Display"/>
                <a:ea typeface="Aptos Display"/>
                <a:cs typeface="Aptos Display"/>
              </a:rPr>
              <a:t>Finish the Project You Can Actually Submit</a:t>
            </a:r>
          </a:p>
        </p:txBody>
      </p:sp>
      <p:sp>
        <p:nvSpPr>
          <p:cNvPr id="7" name="">
            <a:extLst xmlns:a="http://schemas.openxmlformats.org/drawingml/2006/main">
              <a:ext uri="{FF2B5EF4-FFF2-40B4-BE49-F238E27FC236}">
                <a16:creationId xmlns:a16="http://schemas.microsoft.com/office/drawing/2014/main" id="{4E92C410-9EFF-4739-AF4C-F2813FB3FFE2}"/>
              </a:ext>
            </a:extLst>
          </p:cNvPr>
          <p:cNvSpPr>
            <a:spLocks xmlns:a="http://schemas.openxmlformats.org/drawingml/2006/main" noGrp="1"/>
          </p:cNvSpPr>
          <p:nvPr/>
        </p:nvSpPr>
        <p:spPr>
          <a:xfrm xmlns:a="http://schemas.openxmlformats.org/drawingml/2006/main">
            <a:off x="876300" y="3476625"/>
            <a:ext cx="657225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D6DDD5"/>
                </a:solidFill>
                <a:latin typeface="Aptos"/>
                <a:ea typeface="Aptos"/>
                <a:cs typeface="Aptos"/>
              </a:defRPr>
            </a:pPr>
            <a:r>
              <a:rPr sz="2100" b="0">
                <a:solidFill>
                  <a:srgbClr val="D6DDD5"/>
                </a:solidFill>
                <a:latin typeface="Aptos"/>
                <a:ea typeface="Aptos"/>
                <a:cs typeface="Aptos"/>
              </a:rPr>
              <a:t>Today is mostly individual work time. Use the checklist, draft one paragraph, and leave knowing exactly what remains.</a:t>
            </a:r>
          </a:p>
        </p:txBody>
      </p:sp>
      <p:sp>
        <p:nvSpPr>
          <p:cNvPr id="8" name="">
            <a:extLst xmlns:a="http://schemas.openxmlformats.org/drawingml/2006/main">
              <a:ext uri="{FF2B5EF4-FFF2-40B4-BE49-F238E27FC236}">
                <a16:creationId xmlns:a16="http://schemas.microsoft.com/office/drawing/2014/main" id="{8C33EAE0-C4D4-4557-B62D-F27BDC18FD8A}"/>
              </a:ext>
            </a:extLst>
          </p:cNvPr>
          <p:cNvSpPr>
            <a:spLocks xmlns:a="http://schemas.openxmlformats.org/drawingml/2006/main" noGrp="1"/>
          </p:cNvSpPr>
          <p:nvPr/>
        </p:nvSpPr>
        <p:spPr>
          <a:xfrm xmlns:a="http://schemas.openxmlformats.org/drawingml/2006/main">
            <a:off x="8667750" y="1428750"/>
            <a:ext cx="2190750" cy="2190750"/>
          </a:xfrm>
          <a:prstGeom xmlns:a="http://schemas.openxmlformats.org/drawingml/2006/main" prst="roundRect">
            <a:avLst>
              <a:gd name="adj" fmla="val 3478"/>
            </a:avLst>
          </a:prstGeom>
          <a:solidFill xmlns:a="http://schemas.openxmlformats.org/drawingml/2006/main">
            <a:srgbClr val="3D4D49"/>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CF26729-7F7F-4DBE-8A73-D2B0C22266FD}"/>
              </a:ext>
            </a:extLst>
          </p:cNvPr>
          <p:cNvSpPr>
            <a:spLocks xmlns:a="http://schemas.openxmlformats.org/drawingml/2006/main" noGrp="1"/>
          </p:cNvSpPr>
          <p:nvPr/>
        </p:nvSpPr>
        <p:spPr>
          <a:xfrm xmlns:a="http://schemas.openxmlformats.org/drawingml/2006/main">
            <a:off x="8858250" y="2047875"/>
            <a:ext cx="180975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2400" b="1">
                <a:solidFill>
                  <a:srgbClr val="FFCA3A"/>
                </a:solidFill>
                <a:latin typeface="Aptos"/>
                <a:ea typeface="Aptos"/>
                <a:cs typeface="Aptos"/>
              </a:defRPr>
            </a:pPr>
            <a:r>
              <a:rPr sz="2400" b="1">
                <a:solidFill>
                  <a:srgbClr val="FFCA3A"/>
                </a:solidFill>
                <a:latin typeface="Aptos"/>
                <a:ea typeface="Aptos"/>
                <a:cs typeface="Aptos"/>
              </a:rPr>
              <a:t>WORK</a:t>
            </a:r>
          </a:p>
          <a:p xmlns:a="http://schemas.openxmlformats.org/drawingml/2006/main">
            <a:pPr algn="ctr">
              <a:defRPr sz="2400" b="1">
                <a:solidFill>
                  <a:srgbClr val="FFCA3A"/>
                </a:solidFill>
                <a:latin typeface="Aptos"/>
                <a:ea typeface="Aptos"/>
                <a:cs typeface="Aptos"/>
              </a:defRPr>
            </a:pPr>
            <a:r>
              <a:rPr sz="2400" b="1">
                <a:solidFill>
                  <a:srgbClr val="FFCA3A"/>
                </a:solidFill>
                <a:latin typeface="Aptos"/>
                <a:ea typeface="Aptos"/>
                <a:cs typeface="Aptos"/>
              </a:rPr>
              <a:t>TIME</a:t>
            </a:r>
          </a:p>
        </p:txBody>
      </p:sp>
      <p:sp>
        <p:nvSpPr>
          <p:cNvPr id="10" name="">
            <a:extLst xmlns:a="http://schemas.openxmlformats.org/drawingml/2006/main">
              <a:ext uri="{FF2B5EF4-FFF2-40B4-BE49-F238E27FC236}">
                <a16:creationId xmlns:a16="http://schemas.microsoft.com/office/drawing/2014/main" id="{96E74D5E-19AC-4696-ABB2-E86AF13B547F}"/>
              </a:ext>
            </a:extLst>
          </p:cNvPr>
          <p:cNvSpPr>
            <a:spLocks xmlns:a="http://schemas.openxmlformats.org/drawingml/2006/main" noGrp="1"/>
          </p:cNvSpPr>
          <p:nvPr/>
        </p:nvSpPr>
        <p:spPr>
          <a:xfrm xmlns:a="http://schemas.openxmlformats.org/drawingml/2006/main">
            <a:off x="876300" y="5572125"/>
            <a:ext cx="3429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FFCA3A"/>
                </a:solidFill>
                <a:latin typeface="Aptos"/>
                <a:ea typeface="Aptos"/>
                <a:cs typeface="Aptos"/>
              </a:defRPr>
            </a:pPr>
            <a:r>
              <a:rPr sz="1650" b="1">
                <a:solidFill>
                  <a:srgbClr val="FFCA3A"/>
                </a:solidFill>
                <a:latin typeface="Aptos"/>
                <a:ea typeface="Aptos"/>
                <a:cs typeface="Aptos"/>
              </a:rPr>
              <a:t>Due May 26, 2026</a:t>
            </a:r>
          </a:p>
        </p:txBody>
      </p:sp>
    </p:spTree>
    <p:extLst>
      <p:ext uri="{BB962C8B-B14F-4D97-AF65-F5344CB8AC3E}">
        <p14:creationId xmlns:p14="http://schemas.microsoft.com/office/powerpoint/2010/main" val="34361200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709ACD-2957-4CD1-BE49-72F4681C8C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F27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1BFEB7B-85EF-497D-8B34-1154BD756030}"/>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FCA3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2844DE0-7C4D-43BB-AE59-FB087946C683}"/>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FCA3A"/>
                </a:solidFill>
                <a:latin typeface="Aptos"/>
                <a:ea typeface="Aptos"/>
                <a:cs typeface="Aptos"/>
              </a:defRPr>
            </a:pPr>
            <a:r>
              <a:rPr sz="1200" b="1">
                <a:solidFill>
                  <a:srgbClr val="FFCA3A"/>
                </a:solidFill>
                <a:latin typeface="Aptos"/>
                <a:ea typeface="Aptos"/>
                <a:cs typeface="Aptos"/>
              </a:rPr>
              <a:t>Week 14 Day 2</a:t>
            </a:r>
          </a:p>
        </p:txBody>
      </p:sp>
      <p:sp>
        <p:nvSpPr>
          <p:cNvPr id="4" name="">
            <a:extLst xmlns:a="http://schemas.openxmlformats.org/drawingml/2006/main">
              <a:ext uri="{FF2B5EF4-FFF2-40B4-BE49-F238E27FC236}">
                <a16:creationId xmlns:a16="http://schemas.microsoft.com/office/drawing/2014/main" id="{6CF6EF42-FF84-41ED-BBF4-0053A7B50483}"/>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6DDD5"/>
                </a:solidFill>
                <a:latin typeface="Aptos"/>
                <a:ea typeface="Aptos"/>
                <a:cs typeface="Aptos"/>
              </a:defRPr>
            </a:pPr>
            <a:r>
              <a:rPr sz="1200" b="0">
                <a:solidFill>
                  <a:srgbClr val="D6DDD5"/>
                </a:solidFill>
                <a:latin typeface="Aptos"/>
                <a:ea typeface="Aptos"/>
                <a:cs typeface="Aptos"/>
              </a:rPr>
              <a:t>2/8</a:t>
            </a:r>
          </a:p>
        </p:txBody>
      </p:sp>
      <p:sp>
        <p:nvSpPr>
          <p:cNvPr id="5" name="">
            <a:extLst xmlns:a="http://schemas.openxmlformats.org/drawingml/2006/main">
              <a:ext uri="{FF2B5EF4-FFF2-40B4-BE49-F238E27FC236}">
                <a16:creationId xmlns:a16="http://schemas.microsoft.com/office/drawing/2014/main" id="{3150208E-6C70-4D52-ABDA-9EF008AC6CF0}"/>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8AC926"/>
                </a:solidFill>
                <a:latin typeface="Aptos"/>
                <a:ea typeface="Aptos"/>
                <a:cs typeface="Aptos"/>
              </a:defRPr>
            </a:pPr>
            <a:r>
              <a:rPr sz="1350" b="1">
                <a:solidFill>
                  <a:srgbClr val="8AC926"/>
                </a:solidFill>
                <a:latin typeface="Aptos"/>
                <a:ea typeface="Aptos"/>
                <a:cs typeface="Aptos"/>
              </a:rPr>
              <a:t>Choose your target</a:t>
            </a:r>
          </a:p>
        </p:txBody>
      </p:sp>
      <p:sp>
        <p:nvSpPr>
          <p:cNvPr id="6" name="">
            <a:extLst xmlns:a="http://schemas.openxmlformats.org/drawingml/2006/main">
              <a:ext uri="{FF2B5EF4-FFF2-40B4-BE49-F238E27FC236}">
                <a16:creationId xmlns:a16="http://schemas.microsoft.com/office/drawing/2014/main" id="{00DB2596-DD40-4AD2-820B-6915F16ACF27}"/>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FFAF0"/>
                </a:solidFill>
                <a:latin typeface="Aptos Display"/>
                <a:ea typeface="Aptos Display"/>
                <a:cs typeface="Aptos Display"/>
              </a:defRPr>
            </a:pPr>
            <a:r>
              <a:rPr sz="3300" b="1">
                <a:solidFill>
                  <a:srgbClr val="FFFAF0"/>
                </a:solidFill>
                <a:latin typeface="Aptos Display"/>
                <a:ea typeface="Aptos Display"/>
                <a:cs typeface="Aptos Display"/>
              </a:rPr>
              <a:t>Pick two goals for today</a:t>
            </a:r>
          </a:p>
        </p:txBody>
      </p:sp>
      <p:sp>
        <p:nvSpPr>
          <p:cNvPr id="7" name="">
            <a:extLst xmlns:a="http://schemas.openxmlformats.org/drawingml/2006/main">
              <a:ext uri="{FF2B5EF4-FFF2-40B4-BE49-F238E27FC236}">
                <a16:creationId xmlns:a16="http://schemas.microsoft.com/office/drawing/2014/main" id="{F51BE6C7-9176-4343-B9E8-97523206B5C9}"/>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2D3836"/>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4A57461-C2A1-4510-A336-6252D17FEFF6}"/>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Clarify question or evidence</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Improve notebook, chart, or summary table</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Draft findings or recommendation</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Write privacy, ethics, or limitation paragraph</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Format MLA citations or Works Cited</a:t>
            </a:r>
          </a:p>
        </p:txBody>
      </p:sp>
    </p:spTree>
    <p:extLst>
      <p:ext uri="{BB962C8B-B14F-4D97-AF65-F5344CB8AC3E}">
        <p14:creationId xmlns:p14="http://schemas.microsoft.com/office/powerpoint/2010/main" val="2518616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F9D871-DDF7-486B-B8B7-EE2AF00B6E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F27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7FA6461-5F7F-4B6C-A706-75CC0BACCB22}"/>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FCA3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81F4CD1-C50D-498A-8346-07F0BB396091}"/>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FCA3A"/>
                </a:solidFill>
                <a:latin typeface="Aptos"/>
                <a:ea typeface="Aptos"/>
                <a:cs typeface="Aptos"/>
              </a:defRPr>
            </a:pPr>
            <a:r>
              <a:rPr sz="1200" b="1">
                <a:solidFill>
                  <a:srgbClr val="FFCA3A"/>
                </a:solidFill>
                <a:latin typeface="Aptos"/>
                <a:ea typeface="Aptos"/>
                <a:cs typeface="Aptos"/>
              </a:rPr>
              <a:t>Week 14 Day 2</a:t>
            </a:r>
          </a:p>
        </p:txBody>
      </p:sp>
      <p:sp>
        <p:nvSpPr>
          <p:cNvPr id="4" name="">
            <a:extLst xmlns:a="http://schemas.openxmlformats.org/drawingml/2006/main">
              <a:ext uri="{FF2B5EF4-FFF2-40B4-BE49-F238E27FC236}">
                <a16:creationId xmlns:a16="http://schemas.microsoft.com/office/drawing/2014/main" id="{868DF16C-3D31-4FEF-8763-9DEEB818843C}"/>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6DDD5"/>
                </a:solidFill>
                <a:latin typeface="Aptos"/>
                <a:ea typeface="Aptos"/>
                <a:cs typeface="Aptos"/>
              </a:defRPr>
            </a:pPr>
            <a:r>
              <a:rPr sz="1200" b="0">
                <a:solidFill>
                  <a:srgbClr val="D6DDD5"/>
                </a:solidFill>
                <a:latin typeface="Aptos"/>
                <a:ea typeface="Aptos"/>
                <a:cs typeface="Aptos"/>
              </a:rPr>
              <a:t>3/8</a:t>
            </a:r>
          </a:p>
        </p:txBody>
      </p:sp>
      <p:sp>
        <p:nvSpPr>
          <p:cNvPr id="5" name="">
            <a:extLst xmlns:a="http://schemas.openxmlformats.org/drawingml/2006/main">
              <a:ext uri="{FF2B5EF4-FFF2-40B4-BE49-F238E27FC236}">
                <a16:creationId xmlns:a16="http://schemas.microsoft.com/office/drawing/2014/main" id="{EB607558-6E1C-4024-A07C-7D783C6430CB}"/>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8AC926"/>
                </a:solidFill>
                <a:latin typeface="Aptos"/>
                <a:ea typeface="Aptos"/>
                <a:cs typeface="Aptos"/>
              </a:defRPr>
            </a:pPr>
            <a:r>
              <a:rPr sz="1350" b="1">
                <a:solidFill>
                  <a:srgbClr val="8AC926"/>
                </a:solidFill>
                <a:latin typeface="Aptos"/>
                <a:ea typeface="Aptos"/>
                <a:cs typeface="Aptos"/>
              </a:rPr>
              <a:t>Complete project</a:t>
            </a:r>
          </a:p>
        </p:txBody>
      </p:sp>
      <p:sp>
        <p:nvSpPr>
          <p:cNvPr id="6" name="">
            <a:extLst xmlns:a="http://schemas.openxmlformats.org/drawingml/2006/main">
              <a:ext uri="{FF2B5EF4-FFF2-40B4-BE49-F238E27FC236}">
                <a16:creationId xmlns:a16="http://schemas.microsoft.com/office/drawing/2014/main" id="{D21034A5-1CBF-46E8-BD3A-047A8A5B07D0}"/>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FFAF0"/>
                </a:solidFill>
                <a:latin typeface="Aptos Display"/>
                <a:ea typeface="Aptos Display"/>
                <a:cs typeface="Aptos Display"/>
              </a:defRPr>
            </a:pPr>
            <a:r>
              <a:rPr sz="3300" b="1">
                <a:solidFill>
                  <a:srgbClr val="FFFAF0"/>
                </a:solidFill>
                <a:latin typeface="Aptos Display"/>
                <a:ea typeface="Aptos Display"/>
                <a:cs typeface="Aptos Display"/>
              </a:rPr>
              <a:t>A complete final project answers these questions</a:t>
            </a:r>
          </a:p>
        </p:txBody>
      </p:sp>
      <p:sp>
        <p:nvSpPr>
          <p:cNvPr id="7" name="">
            <a:extLst xmlns:a="http://schemas.openxmlformats.org/drawingml/2006/main">
              <a:ext uri="{FF2B5EF4-FFF2-40B4-BE49-F238E27FC236}">
                <a16:creationId xmlns:a16="http://schemas.microsoft.com/office/drawing/2014/main" id="{8717715E-041E-4C88-B296-EEADE9B84578}"/>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2D3836"/>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E042A4B-4127-4A56-9591-15AA9FADA1D5}"/>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What question are you answering?</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What evidence are you using?</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What did you find?</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What should someone do?</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What privacy or ethics concern matters?</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What limit should readers understand?</a:t>
            </a:r>
          </a:p>
        </p:txBody>
      </p:sp>
    </p:spTree>
    <p:extLst>
      <p:ext uri="{BB962C8B-B14F-4D97-AF65-F5344CB8AC3E}">
        <p14:creationId xmlns:p14="http://schemas.microsoft.com/office/powerpoint/2010/main" val="16348715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3569F23-056B-44A2-A895-C090F24B13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F27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5D2D644-D15E-40F9-878D-79765A4BF56C}"/>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FCA3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C40B256-2662-4178-AE8B-B0847A72C5CC}"/>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FCA3A"/>
                </a:solidFill>
                <a:latin typeface="Aptos"/>
                <a:ea typeface="Aptos"/>
                <a:cs typeface="Aptos"/>
              </a:defRPr>
            </a:pPr>
            <a:r>
              <a:rPr sz="1200" b="1">
                <a:solidFill>
                  <a:srgbClr val="FFCA3A"/>
                </a:solidFill>
                <a:latin typeface="Aptos"/>
                <a:ea typeface="Aptos"/>
                <a:cs typeface="Aptos"/>
              </a:rPr>
              <a:t>Week 14 Day 2</a:t>
            </a:r>
          </a:p>
        </p:txBody>
      </p:sp>
      <p:sp>
        <p:nvSpPr>
          <p:cNvPr id="4" name="">
            <a:extLst xmlns:a="http://schemas.openxmlformats.org/drawingml/2006/main">
              <a:ext uri="{FF2B5EF4-FFF2-40B4-BE49-F238E27FC236}">
                <a16:creationId xmlns:a16="http://schemas.microsoft.com/office/drawing/2014/main" id="{43A505D0-59B5-4A7E-A1CB-1B1D2C6267CE}"/>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6DDD5"/>
                </a:solidFill>
                <a:latin typeface="Aptos"/>
                <a:ea typeface="Aptos"/>
                <a:cs typeface="Aptos"/>
              </a:defRPr>
            </a:pPr>
            <a:r>
              <a:rPr sz="1200" b="0">
                <a:solidFill>
                  <a:srgbClr val="D6DDD5"/>
                </a:solidFill>
                <a:latin typeface="Aptos"/>
                <a:ea typeface="Aptos"/>
                <a:cs typeface="Aptos"/>
              </a:rPr>
              <a:t>4/8</a:t>
            </a:r>
          </a:p>
        </p:txBody>
      </p:sp>
      <p:sp>
        <p:nvSpPr>
          <p:cNvPr id="5" name="">
            <a:extLst xmlns:a="http://schemas.openxmlformats.org/drawingml/2006/main">
              <a:ext uri="{FF2B5EF4-FFF2-40B4-BE49-F238E27FC236}">
                <a16:creationId xmlns:a16="http://schemas.microsoft.com/office/drawing/2014/main" id="{00247745-EE34-4710-B7DE-8FF3360B3A7B}"/>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8AC926"/>
                </a:solidFill>
                <a:latin typeface="Aptos"/>
                <a:ea typeface="Aptos"/>
                <a:cs typeface="Aptos"/>
              </a:defRPr>
            </a:pPr>
            <a:r>
              <a:rPr sz="1350" b="1">
                <a:solidFill>
                  <a:srgbClr val="8AC926"/>
                </a:solidFill>
                <a:latin typeface="Aptos"/>
                <a:ea typeface="Aptos"/>
                <a:cs typeface="Aptos"/>
              </a:rPr>
              <a:t>Coding path checklist</a:t>
            </a:r>
          </a:p>
        </p:txBody>
      </p:sp>
      <p:sp>
        <p:nvSpPr>
          <p:cNvPr id="6" name="">
            <a:extLst xmlns:a="http://schemas.openxmlformats.org/drawingml/2006/main">
              <a:ext uri="{FF2B5EF4-FFF2-40B4-BE49-F238E27FC236}">
                <a16:creationId xmlns:a16="http://schemas.microsoft.com/office/drawing/2014/main" id="{6AC8710A-E508-4E5E-8FC0-57417AC9B28F}"/>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FFAF0"/>
                </a:solidFill>
                <a:latin typeface="Aptos Display"/>
                <a:ea typeface="Aptos Display"/>
                <a:cs typeface="Aptos Display"/>
              </a:defRPr>
            </a:pPr>
            <a:r>
              <a:rPr sz="3300" b="1">
                <a:solidFill>
                  <a:srgbClr val="FFFAF0"/>
                </a:solidFill>
                <a:latin typeface="Aptos Display"/>
                <a:ea typeface="Aptos Display"/>
                <a:cs typeface="Aptos Display"/>
              </a:rPr>
              <a:t>If you are coding, focus on readable analysis</a:t>
            </a:r>
          </a:p>
        </p:txBody>
      </p:sp>
      <p:sp>
        <p:nvSpPr>
          <p:cNvPr id="7" name="">
            <a:extLst xmlns:a="http://schemas.openxmlformats.org/drawingml/2006/main">
              <a:ext uri="{FF2B5EF4-FFF2-40B4-BE49-F238E27FC236}">
                <a16:creationId xmlns:a16="http://schemas.microsoft.com/office/drawing/2014/main" id="{F9AAF80A-62FC-4919-93A3-333209D48A7D}"/>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2D3836"/>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0822DF5-6A4C-4D36-B1B9-93A7F9F69EE2}"/>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Notebook or script runs in order</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Code comments explain the pandas steps</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Output includes a table or chart</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Report explains findings in plain language</a:t>
            </a:r>
          </a:p>
        </p:txBody>
      </p:sp>
    </p:spTree>
    <p:extLst>
      <p:ext uri="{BB962C8B-B14F-4D97-AF65-F5344CB8AC3E}">
        <p14:creationId xmlns:p14="http://schemas.microsoft.com/office/powerpoint/2010/main" val="174577921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DB87A3-0887-459D-80F8-40A8F92FC7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F27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FB237CF-9675-4B11-90AA-DFA1FDCE0CD1}"/>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FCA3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9810ACB-3C9E-40ED-B35F-5D056623EE7D}"/>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FCA3A"/>
                </a:solidFill>
                <a:latin typeface="Aptos"/>
                <a:ea typeface="Aptos"/>
                <a:cs typeface="Aptos"/>
              </a:defRPr>
            </a:pPr>
            <a:r>
              <a:rPr sz="1200" b="1">
                <a:solidFill>
                  <a:srgbClr val="FFCA3A"/>
                </a:solidFill>
                <a:latin typeface="Aptos"/>
                <a:ea typeface="Aptos"/>
                <a:cs typeface="Aptos"/>
              </a:rPr>
              <a:t>Week 14 Day 2</a:t>
            </a:r>
          </a:p>
        </p:txBody>
      </p:sp>
      <p:sp>
        <p:nvSpPr>
          <p:cNvPr id="4" name="">
            <a:extLst xmlns:a="http://schemas.openxmlformats.org/drawingml/2006/main">
              <a:ext uri="{FF2B5EF4-FFF2-40B4-BE49-F238E27FC236}">
                <a16:creationId xmlns:a16="http://schemas.microsoft.com/office/drawing/2014/main" id="{712F7E64-D754-4D3B-A27E-BF5EA3A37446}"/>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6DDD5"/>
                </a:solidFill>
                <a:latin typeface="Aptos"/>
                <a:ea typeface="Aptos"/>
                <a:cs typeface="Aptos"/>
              </a:defRPr>
            </a:pPr>
            <a:r>
              <a:rPr sz="1200" b="0">
                <a:solidFill>
                  <a:srgbClr val="D6DDD5"/>
                </a:solidFill>
                <a:latin typeface="Aptos"/>
                <a:ea typeface="Aptos"/>
                <a:cs typeface="Aptos"/>
              </a:rPr>
              <a:t>5/8</a:t>
            </a:r>
          </a:p>
        </p:txBody>
      </p:sp>
      <p:sp>
        <p:nvSpPr>
          <p:cNvPr id="5" name="">
            <a:extLst xmlns:a="http://schemas.openxmlformats.org/drawingml/2006/main">
              <a:ext uri="{FF2B5EF4-FFF2-40B4-BE49-F238E27FC236}">
                <a16:creationId xmlns:a16="http://schemas.microsoft.com/office/drawing/2014/main" id="{FA3E406B-1686-40DC-8ED4-5AFE022A1025}"/>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8AC926"/>
                </a:solidFill>
                <a:latin typeface="Aptos"/>
                <a:ea typeface="Aptos"/>
                <a:cs typeface="Aptos"/>
              </a:defRPr>
            </a:pPr>
            <a:r>
              <a:rPr sz="1350" b="1">
                <a:solidFill>
                  <a:srgbClr val="8AC926"/>
                </a:solidFill>
                <a:latin typeface="Aptos"/>
                <a:ea typeface="Aptos"/>
                <a:cs typeface="Aptos"/>
              </a:rPr>
              <a:t>Essay path checklist</a:t>
            </a:r>
          </a:p>
        </p:txBody>
      </p:sp>
      <p:sp>
        <p:nvSpPr>
          <p:cNvPr id="6" name="">
            <a:extLst xmlns:a="http://schemas.openxmlformats.org/drawingml/2006/main">
              <a:ext uri="{FF2B5EF4-FFF2-40B4-BE49-F238E27FC236}">
                <a16:creationId xmlns:a16="http://schemas.microsoft.com/office/drawing/2014/main" id="{AFF3670B-2E38-42D0-B2B7-A5F9CE2346A5}"/>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FFAF0"/>
                </a:solidFill>
                <a:latin typeface="Aptos Display"/>
                <a:ea typeface="Aptos Display"/>
                <a:cs typeface="Aptos Display"/>
              </a:defRPr>
            </a:pPr>
            <a:r>
              <a:rPr sz="3300" b="1">
                <a:solidFill>
                  <a:srgbClr val="FFFAF0"/>
                </a:solidFill>
                <a:latin typeface="Aptos Display"/>
                <a:ea typeface="Aptos Display"/>
                <a:cs typeface="Aptos Display"/>
              </a:rPr>
              <a:t>If you are writing, focus on argument and MLA</a:t>
            </a:r>
          </a:p>
        </p:txBody>
      </p:sp>
      <p:sp>
        <p:nvSpPr>
          <p:cNvPr id="7" name="">
            <a:extLst xmlns:a="http://schemas.openxmlformats.org/drawingml/2006/main">
              <a:ext uri="{FF2B5EF4-FFF2-40B4-BE49-F238E27FC236}">
                <a16:creationId xmlns:a16="http://schemas.microsoft.com/office/drawing/2014/main" id="{EFB2C460-88D4-4EE8-B243-F35A9E4E498E}"/>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2D3836"/>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AC8220D-9B72-41BC-9831-24588A82FBFB}"/>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One focused claim</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At least three credible sources</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Security plus privacy or ethics</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In-text citations and Works Cited</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Recommendation and limitation</a:t>
            </a:r>
          </a:p>
        </p:txBody>
      </p:sp>
    </p:spTree>
    <p:extLst>
      <p:ext uri="{BB962C8B-B14F-4D97-AF65-F5344CB8AC3E}">
        <p14:creationId xmlns:p14="http://schemas.microsoft.com/office/powerpoint/2010/main" val="169148130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A46315-9ACD-4C73-8AE5-60A5D29ADE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F27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7FA7957-1F92-48A1-B8B4-F4931CC02B87}"/>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FCA3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C83264F-3ADF-46A0-A01F-0B475B43FB44}"/>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FCA3A"/>
                </a:solidFill>
                <a:latin typeface="Aptos"/>
                <a:ea typeface="Aptos"/>
                <a:cs typeface="Aptos"/>
              </a:defRPr>
            </a:pPr>
            <a:r>
              <a:rPr sz="1200" b="1">
                <a:solidFill>
                  <a:srgbClr val="FFCA3A"/>
                </a:solidFill>
                <a:latin typeface="Aptos"/>
                <a:ea typeface="Aptos"/>
                <a:cs typeface="Aptos"/>
              </a:rPr>
              <a:t>Week 14 Day 2</a:t>
            </a:r>
          </a:p>
        </p:txBody>
      </p:sp>
      <p:sp>
        <p:nvSpPr>
          <p:cNvPr id="4" name="">
            <a:extLst xmlns:a="http://schemas.openxmlformats.org/drawingml/2006/main">
              <a:ext uri="{FF2B5EF4-FFF2-40B4-BE49-F238E27FC236}">
                <a16:creationId xmlns:a16="http://schemas.microsoft.com/office/drawing/2014/main" id="{92C61568-26AF-4C78-BCD0-BD850CC7D1E6}"/>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6DDD5"/>
                </a:solidFill>
                <a:latin typeface="Aptos"/>
                <a:ea typeface="Aptos"/>
                <a:cs typeface="Aptos"/>
              </a:defRPr>
            </a:pPr>
            <a:r>
              <a:rPr sz="1200" b="0">
                <a:solidFill>
                  <a:srgbClr val="D6DDD5"/>
                </a:solidFill>
                <a:latin typeface="Aptos"/>
                <a:ea typeface="Aptos"/>
                <a:cs typeface="Aptos"/>
              </a:rPr>
              <a:t>6/8</a:t>
            </a:r>
          </a:p>
        </p:txBody>
      </p:sp>
      <p:sp>
        <p:nvSpPr>
          <p:cNvPr id="5" name="">
            <a:extLst xmlns:a="http://schemas.openxmlformats.org/drawingml/2006/main">
              <a:ext uri="{FF2B5EF4-FFF2-40B4-BE49-F238E27FC236}">
                <a16:creationId xmlns:a16="http://schemas.microsoft.com/office/drawing/2014/main" id="{18D3E8A8-ED84-4F5E-A73C-E71B1003E663}"/>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8AC926"/>
                </a:solidFill>
                <a:latin typeface="Aptos"/>
                <a:ea typeface="Aptos"/>
                <a:cs typeface="Aptos"/>
              </a:defRPr>
            </a:pPr>
            <a:r>
              <a:rPr sz="1350" b="1">
                <a:solidFill>
                  <a:srgbClr val="8AC926"/>
                </a:solidFill>
                <a:latin typeface="Aptos"/>
                <a:ea typeface="Aptos"/>
                <a:cs typeface="Aptos"/>
              </a:rPr>
              <a:t>Common mistakes</a:t>
            </a:r>
          </a:p>
        </p:txBody>
      </p:sp>
      <p:sp>
        <p:nvSpPr>
          <p:cNvPr id="6" name="">
            <a:extLst xmlns:a="http://schemas.openxmlformats.org/drawingml/2006/main">
              <a:ext uri="{FF2B5EF4-FFF2-40B4-BE49-F238E27FC236}">
                <a16:creationId xmlns:a16="http://schemas.microsoft.com/office/drawing/2014/main" id="{9C3389E1-80DD-48EA-AEDA-786974B6EE29}"/>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FFAF0"/>
                </a:solidFill>
                <a:latin typeface="Aptos Display"/>
                <a:ea typeface="Aptos Display"/>
                <a:cs typeface="Aptos Display"/>
              </a:defRPr>
            </a:pPr>
            <a:r>
              <a:rPr sz="3300" b="1">
                <a:solidFill>
                  <a:srgbClr val="FFFAF0"/>
                </a:solidFill>
                <a:latin typeface="Aptos Display"/>
                <a:ea typeface="Aptos Display"/>
                <a:cs typeface="Aptos Display"/>
              </a:rPr>
              <a:t>Avoid these final-project problems</a:t>
            </a:r>
          </a:p>
        </p:txBody>
      </p:sp>
      <p:sp>
        <p:nvSpPr>
          <p:cNvPr id="7" name="">
            <a:extLst xmlns:a="http://schemas.openxmlformats.org/drawingml/2006/main">
              <a:ext uri="{FF2B5EF4-FFF2-40B4-BE49-F238E27FC236}">
                <a16:creationId xmlns:a16="http://schemas.microsoft.com/office/drawing/2014/main" id="{5AA5FCCA-C89E-4178-8D4D-A71AB629C177}"/>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2D3836"/>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2E7C73F-2899-4859-8D12-9D61E08B2C55}"/>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Topic is too broad</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Evidence is listed but not explained</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Recommendation is vague</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Privacy or ethics is added as one sentence at the end</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No limitation paragraph</a:t>
            </a:r>
          </a:p>
        </p:txBody>
      </p:sp>
    </p:spTree>
    <p:extLst>
      <p:ext uri="{BB962C8B-B14F-4D97-AF65-F5344CB8AC3E}">
        <p14:creationId xmlns:p14="http://schemas.microsoft.com/office/powerpoint/2010/main" val="70838766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24521FE-188A-41EB-8FF0-D5D545761D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F27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D2B5C2C-786A-46CE-AD5C-2C560C982854}"/>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FCA3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4255A85-45C6-4670-8D78-C0E1D7928339}"/>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FCA3A"/>
                </a:solidFill>
                <a:latin typeface="Aptos"/>
                <a:ea typeface="Aptos"/>
                <a:cs typeface="Aptos"/>
              </a:defRPr>
            </a:pPr>
            <a:r>
              <a:rPr sz="1200" b="1">
                <a:solidFill>
                  <a:srgbClr val="FFCA3A"/>
                </a:solidFill>
                <a:latin typeface="Aptos"/>
                <a:ea typeface="Aptos"/>
                <a:cs typeface="Aptos"/>
              </a:rPr>
              <a:t>Week 14 Day 2</a:t>
            </a:r>
          </a:p>
        </p:txBody>
      </p:sp>
      <p:sp>
        <p:nvSpPr>
          <p:cNvPr id="4" name="">
            <a:extLst xmlns:a="http://schemas.openxmlformats.org/drawingml/2006/main">
              <a:ext uri="{FF2B5EF4-FFF2-40B4-BE49-F238E27FC236}">
                <a16:creationId xmlns:a16="http://schemas.microsoft.com/office/drawing/2014/main" id="{D46239E3-37BB-4977-88E3-9649FD6286E2}"/>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6DDD5"/>
                </a:solidFill>
                <a:latin typeface="Aptos"/>
                <a:ea typeface="Aptos"/>
                <a:cs typeface="Aptos"/>
              </a:defRPr>
            </a:pPr>
            <a:r>
              <a:rPr sz="1200" b="0">
                <a:solidFill>
                  <a:srgbClr val="D6DDD5"/>
                </a:solidFill>
                <a:latin typeface="Aptos"/>
                <a:ea typeface="Aptos"/>
                <a:cs typeface="Aptos"/>
              </a:rPr>
              <a:t>7/8</a:t>
            </a:r>
          </a:p>
        </p:txBody>
      </p:sp>
      <p:sp>
        <p:nvSpPr>
          <p:cNvPr id="5" name="">
            <a:extLst xmlns:a="http://schemas.openxmlformats.org/drawingml/2006/main">
              <a:ext uri="{FF2B5EF4-FFF2-40B4-BE49-F238E27FC236}">
                <a16:creationId xmlns:a16="http://schemas.microsoft.com/office/drawing/2014/main" id="{4FC05A3D-F6A0-4FEB-AF00-F1785BCFBFA3}"/>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8AC926"/>
                </a:solidFill>
                <a:latin typeface="Aptos"/>
                <a:ea typeface="Aptos"/>
                <a:cs typeface="Aptos"/>
              </a:defRPr>
            </a:pPr>
            <a:r>
              <a:rPr sz="1350" b="1">
                <a:solidFill>
                  <a:srgbClr val="8AC926"/>
                </a:solidFill>
                <a:latin typeface="Aptos"/>
                <a:ea typeface="Aptos"/>
                <a:cs typeface="Aptos"/>
              </a:rPr>
              <a:t>Work block</a:t>
            </a:r>
          </a:p>
        </p:txBody>
      </p:sp>
      <p:sp>
        <p:nvSpPr>
          <p:cNvPr id="6" name="">
            <a:extLst xmlns:a="http://schemas.openxmlformats.org/drawingml/2006/main">
              <a:ext uri="{FF2B5EF4-FFF2-40B4-BE49-F238E27FC236}">
                <a16:creationId xmlns:a16="http://schemas.microsoft.com/office/drawing/2014/main" id="{43F889B0-EF7E-4F88-9018-8D7881E77563}"/>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FFAF0"/>
                </a:solidFill>
                <a:latin typeface="Aptos Display"/>
                <a:ea typeface="Aptos Display"/>
                <a:cs typeface="Aptos Display"/>
              </a:defRPr>
            </a:pPr>
            <a:r>
              <a:rPr sz="3300" b="1">
                <a:solidFill>
                  <a:srgbClr val="FFFAF0"/>
                </a:solidFill>
                <a:latin typeface="Aptos Display"/>
                <a:ea typeface="Aptos Display"/>
                <a:cs typeface="Aptos Display"/>
              </a:rPr>
              <a:t>Most of class: work individually</a:t>
            </a:r>
          </a:p>
        </p:txBody>
      </p:sp>
      <p:sp>
        <p:nvSpPr>
          <p:cNvPr id="7" name="">
            <a:extLst xmlns:a="http://schemas.openxmlformats.org/drawingml/2006/main">
              <a:ext uri="{FF2B5EF4-FFF2-40B4-BE49-F238E27FC236}">
                <a16:creationId xmlns:a16="http://schemas.microsoft.com/office/drawing/2014/main" id="{BECA79C8-8E51-471A-82E9-B3AC45D44E29}"/>
              </a:ext>
            </a:extLst>
          </p:cNvPr>
          <p:cNvSpPr>
            <a:spLocks xmlns:a="http://schemas.openxmlformats.org/drawingml/2006/main" noGrp="1"/>
          </p:cNvSpPr>
          <p:nvPr/>
        </p:nvSpPr>
        <p:spPr>
          <a:xfrm xmlns:a="http://schemas.openxmlformats.org/drawingml/2006/main">
            <a:off x="800100" y="2238375"/>
            <a:ext cx="4953000" cy="2095500"/>
          </a:xfrm>
          <a:prstGeom xmlns:a="http://schemas.openxmlformats.org/drawingml/2006/main" prst="rect">
            <a:avLst/>
          </a:prstGeom>
          <a:solidFill xmlns:a="http://schemas.openxmlformats.org/drawingml/2006/main">
            <a:srgbClr val="2D3836"/>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550" b="1">
                <a:solidFill>
                  <a:srgbClr val="FFFAF0"/>
                </a:solidFill>
                <a:latin typeface="Aptos"/>
                <a:ea typeface="Aptos"/>
                <a:cs typeface="Aptos"/>
              </a:defRPr>
            </a:pPr>
            <a:r>
              <a:rPr sz="2550" b="1">
                <a:solidFill>
                  <a:srgbClr val="FFFAF0"/>
                </a:solidFill>
                <a:latin typeface="Aptos"/>
                <a:ea typeface="Aptos"/>
                <a:cs typeface="Aptos"/>
              </a:rPr>
              <a:t>Use the lab checklist.</a:t>
            </a:r>
          </a:p>
        </p:txBody>
      </p:sp>
      <p:sp>
        <p:nvSpPr>
          <p:cNvPr id="8" name="">
            <a:extLst xmlns:a="http://schemas.openxmlformats.org/drawingml/2006/main">
              <a:ext uri="{FF2B5EF4-FFF2-40B4-BE49-F238E27FC236}">
                <a16:creationId xmlns:a16="http://schemas.microsoft.com/office/drawing/2014/main" id="{371EA483-B5C9-4407-B32D-1CC98160A309}"/>
              </a:ext>
            </a:extLst>
          </p:cNvPr>
          <p:cNvSpPr>
            <a:spLocks xmlns:a="http://schemas.openxmlformats.org/drawingml/2006/main" noGrp="1"/>
          </p:cNvSpPr>
          <p:nvPr/>
        </p:nvSpPr>
        <p:spPr>
          <a:xfrm xmlns:a="http://schemas.openxmlformats.org/drawingml/2006/main">
            <a:off x="6286500" y="2381250"/>
            <a:ext cx="4953000" cy="2952750"/>
          </a:xfrm>
          <a:prstGeom xmlns:a="http://schemas.openxmlformats.org/drawingml/2006/main" prst="roundRect">
            <a:avLst>
              <a:gd name="adj" fmla="val 2581"/>
            </a:avLst>
          </a:prstGeom>
          <a:solidFill xmlns:a="http://schemas.openxmlformats.org/drawingml/2006/main">
            <a:srgbClr val="2D3836"/>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7AC1CCC-555B-4796-B1F1-7F8224486BD6}"/>
              </a:ext>
            </a:extLst>
          </p:cNvPr>
          <p:cNvSpPr>
            <a:spLocks xmlns:a="http://schemas.openxmlformats.org/drawingml/2006/main" noGrp="1"/>
          </p:cNvSpPr>
          <p:nvPr/>
        </p:nvSpPr>
        <p:spPr>
          <a:xfrm xmlns:a="http://schemas.openxmlformats.org/drawingml/2006/main">
            <a:off x="6553200" y="2628900"/>
            <a:ext cx="4419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Ask for help narrowing the project</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Write one useful paragraph today</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Save your work somewhere you can find it</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Submit the checkpoint before leaving</a:t>
            </a:r>
          </a:p>
        </p:txBody>
      </p:sp>
    </p:spTree>
    <p:extLst>
      <p:ext uri="{BB962C8B-B14F-4D97-AF65-F5344CB8AC3E}">
        <p14:creationId xmlns:p14="http://schemas.microsoft.com/office/powerpoint/2010/main" val="93121125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25CB65-EE27-4BF9-A5AF-D795CAD6921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F27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B4F1BAE-BA90-4B35-A7C8-51EB71E90DF6}"/>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FCA3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C6267BA-ADE5-4EDD-B304-FA14E1B7E934}"/>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FCA3A"/>
                </a:solidFill>
                <a:latin typeface="Aptos"/>
                <a:ea typeface="Aptos"/>
                <a:cs typeface="Aptos"/>
              </a:defRPr>
            </a:pPr>
            <a:r>
              <a:rPr sz="1200" b="1">
                <a:solidFill>
                  <a:srgbClr val="FFCA3A"/>
                </a:solidFill>
                <a:latin typeface="Aptos"/>
                <a:ea typeface="Aptos"/>
                <a:cs typeface="Aptos"/>
              </a:rPr>
              <a:t>Week 14 Day 2</a:t>
            </a:r>
          </a:p>
        </p:txBody>
      </p:sp>
      <p:sp>
        <p:nvSpPr>
          <p:cNvPr id="4" name="">
            <a:extLst xmlns:a="http://schemas.openxmlformats.org/drawingml/2006/main">
              <a:ext uri="{FF2B5EF4-FFF2-40B4-BE49-F238E27FC236}">
                <a16:creationId xmlns:a16="http://schemas.microsoft.com/office/drawing/2014/main" id="{9EFC2AAE-F3E5-451C-B9F8-18B094D9D722}"/>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D6DDD5"/>
                </a:solidFill>
                <a:latin typeface="Aptos"/>
                <a:ea typeface="Aptos"/>
                <a:cs typeface="Aptos"/>
              </a:defRPr>
            </a:pPr>
            <a:r>
              <a:rPr sz="1200" b="0">
                <a:solidFill>
                  <a:srgbClr val="D6DDD5"/>
                </a:solidFill>
                <a:latin typeface="Aptos"/>
                <a:ea typeface="Aptos"/>
                <a:cs typeface="Aptos"/>
              </a:rPr>
              <a:t>8/8</a:t>
            </a:r>
          </a:p>
        </p:txBody>
      </p:sp>
      <p:sp>
        <p:nvSpPr>
          <p:cNvPr id="5" name="">
            <a:extLst xmlns:a="http://schemas.openxmlformats.org/drawingml/2006/main">
              <a:ext uri="{FF2B5EF4-FFF2-40B4-BE49-F238E27FC236}">
                <a16:creationId xmlns:a16="http://schemas.microsoft.com/office/drawing/2014/main" id="{E41089F4-7AD6-4384-A1D9-409225AE0AB4}"/>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8AC926"/>
                </a:solidFill>
                <a:latin typeface="Aptos"/>
                <a:ea typeface="Aptos"/>
                <a:cs typeface="Aptos"/>
              </a:defRPr>
            </a:pPr>
            <a:r>
              <a:rPr sz="1350" b="1">
                <a:solidFill>
                  <a:srgbClr val="8AC926"/>
                </a:solidFill>
                <a:latin typeface="Aptos"/>
                <a:ea typeface="Aptos"/>
                <a:cs typeface="Aptos"/>
              </a:rPr>
              <a:t>Exit ticket</a:t>
            </a:r>
          </a:p>
        </p:txBody>
      </p:sp>
      <p:sp>
        <p:nvSpPr>
          <p:cNvPr id="6" name="">
            <a:extLst xmlns:a="http://schemas.openxmlformats.org/drawingml/2006/main">
              <a:ext uri="{FF2B5EF4-FFF2-40B4-BE49-F238E27FC236}">
                <a16:creationId xmlns:a16="http://schemas.microsoft.com/office/drawing/2014/main" id="{85F63F80-0D62-4208-8F55-794512683738}"/>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FFAF0"/>
                </a:solidFill>
                <a:latin typeface="Aptos Display"/>
                <a:ea typeface="Aptos Display"/>
                <a:cs typeface="Aptos Display"/>
              </a:defRPr>
            </a:pPr>
            <a:r>
              <a:rPr sz="3300" b="1">
                <a:solidFill>
                  <a:srgbClr val="FFFAF0"/>
                </a:solidFill>
                <a:latin typeface="Aptos Display"/>
                <a:ea typeface="Aptos Display"/>
                <a:cs typeface="Aptos Display"/>
              </a:rPr>
              <a:t>Before you leave: name what remains</a:t>
            </a:r>
          </a:p>
        </p:txBody>
      </p:sp>
      <p:sp>
        <p:nvSpPr>
          <p:cNvPr id="7" name="">
            <a:extLst xmlns:a="http://schemas.openxmlformats.org/drawingml/2006/main">
              <a:ext uri="{FF2B5EF4-FFF2-40B4-BE49-F238E27FC236}">
                <a16:creationId xmlns:a16="http://schemas.microsoft.com/office/drawing/2014/main" id="{CC6C97D9-B219-418F-9455-1DEF00148BC6}"/>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2D3836"/>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5EBC063-D8AD-4CA2-B37E-E961FE5FE7FB}"/>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What did you finish today?</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What is the most important remaining task?</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What exactly will you submit?</a:t>
            </a:r>
          </a:p>
          <a:p xmlns:a="http://schemas.openxmlformats.org/drawingml/2006/main">
            <a:pPr algn="l">
              <a:defRPr sz="2100" b="0">
                <a:solidFill>
                  <a:srgbClr val="FFFAF0"/>
                </a:solidFill>
                <a:latin typeface="Aptos"/>
                <a:ea typeface="Aptos"/>
                <a:cs typeface="Aptos"/>
              </a:defRPr>
            </a:pPr>
            <a:r>
              <a:rPr sz="2100" b="0">
                <a:solidFill>
                  <a:srgbClr val="FFFAF0"/>
                </a:solidFill>
                <a:latin typeface="Aptos"/>
                <a:ea typeface="Aptos"/>
                <a:cs typeface="Aptos"/>
              </a:rPr>
              <a:t>- What question do you still have?</a:t>
            </a:r>
          </a:p>
        </p:txBody>
      </p:sp>
    </p:spTree>
    <p:extLst>
      <p:ext uri="{BB962C8B-B14F-4D97-AF65-F5344CB8AC3E}">
        <p14:creationId xmlns:p14="http://schemas.microsoft.com/office/powerpoint/2010/main" val="19051094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2026-05-04T02:06:54.2020000Z</dcterms:created>
  <dcterms:modified xsi:type="dcterms:W3CDTF">2026-05-04T02:06:54.2020000Z</dcterms:modified>
</coreProperties>
</file>