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11446efcfb46f9" /><Relationship Type="http://schemas.openxmlformats.org/officeDocument/2006/relationships/extended-properties" Target="/docProps/app.xml" Id="R861fc17fa48449fa" /><Relationship Type="http://schemas.openxmlformats.org/officeDocument/2006/relationships/officeDocument" Target="/ppt/presentation.xml" Id="Rfe5ee6b2fa7447b2" /></Relationships>
</file>

<file path=ppt/presentation.xml><?xml version="1.0" encoding="utf-8"?>
<p:presentation xmlns:p="http://schemas.openxmlformats.org/presentationml/2006/main">
  <p:sldMasterIdLst>
    <p:sldMasterId xmlns:r="http://schemas.openxmlformats.org/officeDocument/2006/relationships" id="2147483648" r:id="Rda7cb2b250584a06"/>
  </p:sldMasterIdLst>
  <p:notesMasterIdLst>
    <p:notesMasterId xmlns:r="http://schemas.openxmlformats.org/officeDocument/2006/relationships" r:id="Rbb8bdf9b0d41400d"/>
  </p:notesMasterIdLst>
  <p:sldIdLst>
    <p:sldId xmlns:r="http://schemas.openxmlformats.org/officeDocument/2006/relationships" id="256" r:id="Raaffeeb3e2164ef5"/>
    <p:sldId xmlns:r="http://schemas.openxmlformats.org/officeDocument/2006/relationships" id="257" r:id="R9ffb0c5e3b0d4c3c"/>
    <p:sldId xmlns:r="http://schemas.openxmlformats.org/officeDocument/2006/relationships" id="258" r:id="R7eb3c302c20848ec"/>
    <p:sldId xmlns:r="http://schemas.openxmlformats.org/officeDocument/2006/relationships" id="259" r:id="Rb00d2e015f2544e2"/>
    <p:sldId xmlns:r="http://schemas.openxmlformats.org/officeDocument/2006/relationships" id="260" r:id="R9770c9beeda74fc4"/>
    <p:sldId xmlns:r="http://schemas.openxmlformats.org/officeDocument/2006/relationships" id="261" r:id="R7a4221727e424781"/>
    <p:sldId xmlns:r="http://schemas.openxmlformats.org/officeDocument/2006/relationships" id="262" r:id="R9eac7980ea0340bf"/>
    <p:sldId xmlns:r="http://schemas.openxmlformats.org/officeDocument/2006/relationships" id="263" r:id="R56130c1a2abe45cb"/>
    <p:sldId xmlns:r="http://schemas.openxmlformats.org/officeDocument/2006/relationships" id="264" r:id="R3a170fba812141a0"/>
    <p:sldId xmlns:r="http://schemas.openxmlformats.org/officeDocument/2006/relationships" id="265" r:id="R1c2924a51a4544e2"/>
    <p:sldId xmlns:r="http://schemas.openxmlformats.org/officeDocument/2006/relationships" id="266" r:id="R36021dbc597a49af"/>
    <p:sldId xmlns:r="http://schemas.openxmlformats.org/officeDocument/2006/relationships" id="267" r:id="Rc71f8722b4b942f4"/>
    <p:sldId xmlns:r="http://schemas.openxmlformats.org/officeDocument/2006/relationships" id="268" r:id="R4b66f87ffbda4512"/>
    <p:sldId xmlns:r="http://schemas.openxmlformats.org/officeDocument/2006/relationships" id="269" r:id="Rf0d1e11d8d474820"/>
    <p:sldId xmlns:r="http://schemas.openxmlformats.org/officeDocument/2006/relationships" id="270" r:id="R77637fc79ad84d80"/>
    <p:sldId xmlns:r="http://schemas.openxmlformats.org/officeDocument/2006/relationships" id="271" r:id="R276c97dcc0544c64"/>
    <p:sldId xmlns:r="http://schemas.openxmlformats.org/officeDocument/2006/relationships" id="272" r:id="Rbc826dcf245d49be"/>
    <p:sldId xmlns:r="http://schemas.openxmlformats.org/officeDocument/2006/relationships" id="273" r:id="Reb3711f118e1460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a7cb2b250584a06" /><Relationship Type="http://schemas.openxmlformats.org/officeDocument/2006/relationships/theme" Target="/ppt/theme/theme1.xml" Id="R75d03da94dea4a16" /><Relationship Type="http://schemas.openxmlformats.org/officeDocument/2006/relationships/notesMaster" Target="/ppt/notesMasters/notesMaster1.xml" Id="Rbb8bdf9b0d41400d" /><Relationship Type="http://schemas.openxmlformats.org/officeDocument/2006/relationships/presProps" Target="/ppt/presProps.xml" Id="Re487fc4789ee4030" /><Relationship Type="http://schemas.openxmlformats.org/officeDocument/2006/relationships/viewProps" Target="/ppt/viewProps.xml" Id="Rfac51d21f388421b" /><Relationship Type="http://schemas.openxmlformats.org/officeDocument/2006/relationships/tableStyles" Target="/ppt/tableStyles.xml" Id="R485136be1db84eb2" /><Relationship Type="http://schemas.openxmlformats.org/officeDocument/2006/relationships/slide" Target="/ppt/slides/slide1.xml" Id="Raaffeeb3e2164ef5" /><Relationship Type="http://schemas.openxmlformats.org/officeDocument/2006/relationships/slide" Target="/ppt/slides/slide2.xml" Id="R9ffb0c5e3b0d4c3c" /><Relationship Type="http://schemas.openxmlformats.org/officeDocument/2006/relationships/slide" Target="/ppt/slides/slide3.xml" Id="R7eb3c302c20848ec" /><Relationship Type="http://schemas.openxmlformats.org/officeDocument/2006/relationships/slide" Target="/ppt/slides/slide4.xml" Id="Rb00d2e015f2544e2" /><Relationship Type="http://schemas.openxmlformats.org/officeDocument/2006/relationships/slide" Target="/ppt/slides/slide5.xml" Id="R9770c9beeda74fc4" /><Relationship Type="http://schemas.openxmlformats.org/officeDocument/2006/relationships/slide" Target="/ppt/slides/slide6.xml" Id="R7a4221727e424781" /><Relationship Type="http://schemas.openxmlformats.org/officeDocument/2006/relationships/slide" Target="/ppt/slides/slide7.xml" Id="R9eac7980ea0340bf" /><Relationship Type="http://schemas.openxmlformats.org/officeDocument/2006/relationships/slide" Target="/ppt/slides/slide8.xml" Id="R56130c1a2abe45cb" /><Relationship Type="http://schemas.openxmlformats.org/officeDocument/2006/relationships/slide" Target="/ppt/slides/slide9.xml" Id="R3a170fba812141a0" /><Relationship Type="http://schemas.openxmlformats.org/officeDocument/2006/relationships/slide" Target="/ppt/slides/slide10.xml" Id="R1c2924a51a4544e2" /><Relationship Type="http://schemas.openxmlformats.org/officeDocument/2006/relationships/slide" Target="/ppt/slides/slide11.xml" Id="R36021dbc597a49af" /><Relationship Type="http://schemas.openxmlformats.org/officeDocument/2006/relationships/slide" Target="/ppt/slides/slide12.xml" Id="Rc71f8722b4b942f4" /><Relationship Type="http://schemas.openxmlformats.org/officeDocument/2006/relationships/slide" Target="/ppt/slides/slide13.xml" Id="R4b66f87ffbda4512" /><Relationship Type="http://schemas.openxmlformats.org/officeDocument/2006/relationships/slide" Target="/ppt/slides/slide14.xml" Id="Rf0d1e11d8d474820" /><Relationship Type="http://schemas.openxmlformats.org/officeDocument/2006/relationships/slide" Target="/ppt/slides/slide15.xml" Id="R77637fc79ad84d80" /><Relationship Type="http://schemas.openxmlformats.org/officeDocument/2006/relationships/slide" Target="/ppt/slides/slide16.xml" Id="R276c97dcc0544c64" /><Relationship Type="http://schemas.openxmlformats.org/officeDocument/2006/relationships/slide" Target="/ppt/slides/slide17.xml" Id="Rbc826dcf245d49be" /><Relationship Type="http://schemas.openxmlformats.org/officeDocument/2006/relationships/slide" Target="/ppt/slides/slide18.xml" Id="Reb3711f118e146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f952828dc7546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9fcc5b0bb847de" /><Relationship Type="http://schemas.openxmlformats.org/officeDocument/2006/relationships/notesMaster" Target="/ppt/notesMasters/notesMaster1.xml" Id="R8cbc4661ad7642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804ff22c4d4e11" /><Relationship Type="http://schemas.openxmlformats.org/officeDocument/2006/relationships/notesMaster" Target="/ppt/notesMasters/notesMaster1.xml" Id="R933b8e5c1f5b4a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653d69ed73401c" /><Relationship Type="http://schemas.openxmlformats.org/officeDocument/2006/relationships/notesMaster" Target="/ppt/notesMasters/notesMaster1.xml" Id="R70ad25dec32b4e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21ecddf85e4181" /><Relationship Type="http://schemas.openxmlformats.org/officeDocument/2006/relationships/notesMaster" Target="/ppt/notesMasters/notesMaster1.xml" Id="R67529a4ccda143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830e72f9804915" /><Relationship Type="http://schemas.openxmlformats.org/officeDocument/2006/relationships/notesMaster" Target="/ppt/notesMasters/notesMaster1.xml" Id="Rcd75e401bc0a4a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f779fe64444603" /><Relationship Type="http://schemas.openxmlformats.org/officeDocument/2006/relationships/notesMaster" Target="/ppt/notesMasters/notesMaster1.xml" Id="Ra778c7bf704141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bc905c61bd463a" /><Relationship Type="http://schemas.openxmlformats.org/officeDocument/2006/relationships/notesMaster" Target="/ppt/notesMasters/notesMaster1.xml" Id="Rc0476010ef4549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b0b6a5da7441df" /><Relationship Type="http://schemas.openxmlformats.org/officeDocument/2006/relationships/notesMaster" Target="/ppt/notesMasters/notesMaster1.xml" Id="Ra5f6e936270c4d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058db146b44cda" /><Relationship Type="http://schemas.openxmlformats.org/officeDocument/2006/relationships/notesMaster" Target="/ppt/notesMasters/notesMaster1.xml" Id="Re84dd12db5924c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79cd84bb5d4298" /><Relationship Type="http://schemas.openxmlformats.org/officeDocument/2006/relationships/notesMaster" Target="/ppt/notesMasters/notesMaster1.xml" Id="Raf68804ef50142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1a52249ccd4a19" /><Relationship Type="http://schemas.openxmlformats.org/officeDocument/2006/relationships/notesMaster" Target="/ppt/notesMasters/notesMaster1.xml" Id="R5ac028d1391048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452044d1dc451c" /><Relationship Type="http://schemas.openxmlformats.org/officeDocument/2006/relationships/notesMaster" Target="/ppt/notesMasters/notesMaster1.xml" Id="R9e390484014b4a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2b797d580d4264" /><Relationship Type="http://schemas.openxmlformats.org/officeDocument/2006/relationships/notesMaster" Target="/ppt/notesMasters/notesMaster1.xml" Id="Rcb198ac119b342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03935fc2c749a3" /><Relationship Type="http://schemas.openxmlformats.org/officeDocument/2006/relationships/notesMaster" Target="/ppt/notesMasters/notesMaster1.xml" Id="R03eb96d4a5d147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a1a731612a43aa" /><Relationship Type="http://schemas.openxmlformats.org/officeDocument/2006/relationships/notesMaster" Target="/ppt/notesMasters/notesMaster1.xml" Id="R5601a315584348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95ad52bc5941e4" /><Relationship Type="http://schemas.openxmlformats.org/officeDocument/2006/relationships/notesMaster" Target="/ppt/notesMasters/notesMaster1.xml" Id="Rcc653680330a4f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bb30801fc74f52" /><Relationship Type="http://schemas.openxmlformats.org/officeDocument/2006/relationships/notesMaster" Target="/ppt/notesMasters/notesMaster1.xml" Id="Rb2806aead1c947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4f4bd0499040b3" /><Relationship Type="http://schemas.openxmlformats.org/officeDocument/2006/relationships/notesMaster" Target="/ppt/notesMasters/notesMaster1.xml" Id="R7fc3ddafdcd34d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Today is not a final-project work session. Today is a privacy incident detective class. We are going to use a fictional case to practice the kind of thinking security and privacy professionals need after something goes wrong. The goal is not to memorize a law or pretend we are lawyers. The goal is to slow down, separate facts from assumptions, classify the data, decide what should happen first, and communicate clearly. This connects to the course themes of data security, privacy, ethics, cloud storage, access control, and governance. At the end, you will still have a short chance to connect the case to your final project, but the main class activity is the incident case.</a:t>
            </a:r>
          </a:p>
          <a:p xmlns:a="http://schemas.openxmlformats.org/drawingml/2006/main">
            <a:r>
              <a:t/>
            </a:r>
          </a:p>
          <a:p xmlns:a="http://schemas.openxmlformats.org/drawingml/2006/main">
            <a:r>
              <a:t>THINGS TO MENTION:</a:t>
            </a:r>
          </a:p>
          <a:p xmlns:a="http://schemas.openxmlformats.org/drawingml/2006/main">
            <a:r>
              <a:t>- Make clear this is a new topic, not final-project-only.</a:t>
            </a:r>
          </a:p>
          <a:p xmlns:a="http://schemas.openxmlformats.org/drawingml/2006/main">
            <a:r>
              <a:t>- Fictional case, individual work.</a:t>
            </a:r>
          </a:p>
          <a:p xmlns:a="http://schemas.openxmlformats.org/drawingml/2006/main">
            <a:r>
              <a:t>- Final project is still due May 26,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When an incident happens, people often want an immediate dramatic answer. Was it hacked? Were passwords stolen? Is everyone in danger? A good response starts more carefully. You are not trying to write the scariest story. You are trying to build the clearest case file. What do we know from evidence? What is still unknown? What data was involved? Who might be harmed? What should happen next? That is the detective mindset for today.</a:t>
            </a:r>
          </a:p>
          <a:p xmlns:a="http://schemas.openxmlformats.org/drawingml/2006/main">
            <a:r>
              <a:t/>
            </a:r>
          </a:p>
          <a:p xmlns:a="http://schemas.openxmlformats.org/drawingml/2006/main">
            <a:r>
              <a:t>THINGS TO MENTION:</a:t>
            </a:r>
          </a:p>
          <a:p xmlns:a="http://schemas.openxmlformats.org/drawingml/2006/main">
            <a:r>
              <a:t>- Use the phrase evidence first.</a:t>
            </a:r>
          </a:p>
          <a:p xmlns:a="http://schemas.openxmlformats.org/drawingml/2006/main">
            <a:r>
              <a:t>- Students should avoid guessing beyond the case file.</a:t>
            </a:r>
          </a:p>
          <a:p xmlns:a="http://schemas.openxmlformats.org/drawingml/2006/main">
            <a:r>
              <a:t>- This makes the class feel like a puzzle.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An event is simply something that happened. An account logged in. A file was shared. A database changed. A download occurred. An incident is an event that needs a security or privacy decision. Maybe confidentiality was affected because information became public. Maybe integrity was affected because data changed. Maybe privacy was affected because personal information was exposed. Response is the organized set of actions people take after that: contain the problem, preserve evidence, understand scope, communicate, and prevent the same thing from happening again.</a:t>
            </a:r>
          </a:p>
          <a:p xmlns:a="http://schemas.openxmlformats.org/drawingml/2006/main">
            <a:r>
              <a:t/>
            </a:r>
          </a:p>
          <a:p xmlns:a="http://schemas.openxmlformats.org/drawingml/2006/main">
            <a:r>
              <a:t>THINGS TO MENTION:</a:t>
            </a:r>
          </a:p>
          <a:p xmlns:a="http://schemas.openxmlformats.org/drawingml/2006/main">
            <a:r>
              <a:t>- Differentiate event and incident.</a:t>
            </a:r>
          </a:p>
          <a:p xmlns:a="http://schemas.openxmlformats.org/drawingml/2006/main">
            <a:r>
              <a:t>- Connect to confidentiality, integrity, availability, privacy.</a:t>
            </a:r>
          </a:p>
          <a:p xmlns:a="http://schemas.openxmlformats.org/drawingml/2006/main">
            <a:r>
              <a:t>- Response is organized work, not panic.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This case is useful because it pulls together many course topics. Access control asks who could open the file. Cloud security asks how a storage setting exposed data. Databases ask what fields were exported and whether they should have been included. Privacy and ethics ask who could be affected, even if the data is not a password or credit card. Governance asks what process should have prevented the problem in the first place. That is why this is a good Week 14 wrap-up topic.</a:t>
            </a:r>
          </a:p>
          <a:p xmlns:a="http://schemas.openxmlformats.org/drawingml/2006/main">
            <a:r>
              <a:t/>
            </a:r>
          </a:p>
          <a:p xmlns:a="http://schemas.openxmlformats.org/drawingml/2006/main">
            <a:r>
              <a:t>THINGS TO MENTION:</a:t>
            </a:r>
          </a:p>
          <a:p xmlns:a="http://schemas.openxmlformats.org/drawingml/2006/main">
            <a:r>
              <a:t>- Name several syllabus topics explicitly.</a:t>
            </a:r>
          </a:p>
          <a:p xmlns:a="http://schemas.openxmlformats.org/drawingml/2006/main">
            <a:r>
              <a:t>- Show this is not random filler.</a:t>
            </a:r>
          </a:p>
          <a:p xmlns:a="http://schemas.openxmlformats.org/drawingml/2006/main">
            <a:r>
              <a:t>- This is a practical wrap-up before the final due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Here is the fictional case. CampusQuest Rewards is a student app that gives points for attending campus events. A small team exported a CSV from the app database to test a dashboard. The CSV was placed in cloud storage, and the sharing setting was changed from private to public link. A student found the file online and emailed the help desk. The link was disabled the next morning. Your job is to decide what the evidence shows and what a responsible response looks like.</a:t>
            </a:r>
          </a:p>
          <a:p xmlns:a="http://schemas.openxmlformats.org/drawingml/2006/main">
            <a:r>
              <a:t/>
            </a:r>
          </a:p>
          <a:p xmlns:a="http://schemas.openxmlformats.org/drawingml/2006/main">
            <a:r>
              <a:t>THINGS TO MENTION:</a:t>
            </a:r>
          </a:p>
          <a:p xmlns:a="http://schemas.openxmlformats.org/drawingml/2006/main">
            <a:r>
              <a:t>- Stress fictional.</a:t>
            </a:r>
          </a:p>
          <a:p xmlns:a="http://schemas.openxmlformats.org/drawingml/2006/main">
            <a:r>
              <a:t>- Students should use only the evidence in the lab.</a:t>
            </a:r>
          </a:p>
          <a:p xmlns:a="http://schemas.openxmlformats.org/drawingml/2006/main">
            <a:r>
              <a:t>- This is about cloud sharing, not advanced hacking.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CSV contains several fields. Some may seem ordinary, like event points or major. Some are more identifying, like student name, school email, last login date, or the last four digits of an ID. The most concerning field in the case is the free-text help request note, because free-text fields often contain details no one planned to expose. A short note can reveal disability needs, personal circumstances, or other sensitive context. Part of privacy work is noticing that risk is not only about obvious fields like passwords.</a:t>
            </a:r>
          </a:p>
          <a:p xmlns:a="http://schemas.openxmlformats.org/drawingml/2006/main">
            <a:r>
              <a:t/>
            </a:r>
          </a:p>
          <a:p xmlns:a="http://schemas.openxmlformats.org/drawingml/2006/main">
            <a:r>
              <a:t>THINGS TO MENTION:</a:t>
            </a:r>
          </a:p>
          <a:p xmlns:a="http://schemas.openxmlformats.org/drawingml/2006/main">
            <a:r>
              <a:t>- Free-text notes are the important privacy lesson.</a:t>
            </a:r>
          </a:p>
          <a:p xmlns:a="http://schemas.openxmlformats.org/drawingml/2006/main">
            <a:r>
              <a:t>- Partial identifiers can still matter.</a:t>
            </a:r>
          </a:p>
          <a:p xmlns:a="http://schemas.openxmlformats.org/drawingml/2006/main">
            <a:r>
              <a:t>- Risk is contextual.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first detective rule is to separate confirmed facts from assumptions. The case gives us confirmed facts: the CSV existed, the public link was created, the link was later disabled, and downloads were logged. It also gives us unknowns: we do not know exactly who downloaded it or what they did with it. And it gives us a rumor: passwords were leaked. The evidence does not support that rumor because the CSV does not include a password field and there is no evidence that the login database was accessed. A responsible incident write-up should be clear about that difference.</a:t>
            </a:r>
          </a:p>
          <a:p xmlns:a="http://schemas.openxmlformats.org/drawingml/2006/main">
            <a:r>
              <a:t/>
            </a:r>
          </a:p>
          <a:p xmlns:a="http://schemas.openxmlformats.org/drawingml/2006/main">
            <a:r>
              <a:t>THINGS TO MENTION:</a:t>
            </a:r>
          </a:p>
          <a:p xmlns:a="http://schemas.openxmlformats.org/drawingml/2006/main">
            <a:r>
              <a:t>- This is the anti-panic slide.</a:t>
            </a:r>
          </a:p>
          <a:p xmlns:a="http://schemas.openxmlformats.org/drawingml/2006/main">
            <a:r>
              <a:t>- Do not minimize; do not exaggerate.</a:t>
            </a:r>
          </a:p>
          <a:p xmlns:a="http://schemas.openxmlformats.org/drawingml/2006/main">
            <a:r>
              <a:t>- Confirmed facts and unknowns can both appear in a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second rule is to build a timeline. Time matters because it tells us the exposure window. A file public for five minutes is different from a file public for five days. A file downloaded twice is different from a file downloaded a thousand times. A timeline also helps us evaluate response speed. When did the organization learn about the problem? When did they disable the link? What did they do next? Students should use the timeline in the lab to avoid writing a vague story.</a:t>
            </a:r>
          </a:p>
          <a:p xmlns:a="http://schemas.openxmlformats.org/drawingml/2006/main">
            <a:r>
              <a:t/>
            </a:r>
          </a:p>
          <a:p xmlns:a="http://schemas.openxmlformats.org/drawingml/2006/main">
            <a:r>
              <a:t>THINGS TO MENTION:</a:t>
            </a:r>
          </a:p>
          <a:p xmlns:a="http://schemas.openxmlformats.org/drawingml/2006/main">
            <a:r>
              <a:t>- Exposure window is a key term.</a:t>
            </a:r>
          </a:p>
          <a:p xmlns:a="http://schemas.openxmlformats.org/drawingml/2006/main">
            <a:r>
              <a:t>- Timeline supports severity decisions.</a:t>
            </a:r>
          </a:p>
          <a:p xmlns:a="http://schemas.openxmlformats.org/drawingml/2006/main">
            <a:r>
              <a:t>- Use dates from the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Triage means deciding what deserves attention first. In the lab, students will use a simple score. They will rate data sensitivity, exposure level, confidence in evidence, possible harm, and urgency. This is not a legal determination. It is a classroom way to practice structured thinking. A structured score helps students avoid two bad habits: treating every incident as equally catastrophic, or dismissing an incident because it did not include passwords.</a:t>
            </a:r>
          </a:p>
          <a:p xmlns:a="http://schemas.openxmlformats.org/drawingml/2006/main">
            <a:r>
              <a:t/>
            </a:r>
          </a:p>
          <a:p xmlns:a="http://schemas.openxmlformats.org/drawingml/2006/main">
            <a:r>
              <a:t>THINGS TO MENTION:</a:t>
            </a:r>
          </a:p>
          <a:p xmlns:a="http://schemas.openxmlformats.org/drawingml/2006/main">
            <a:r>
              <a:t>- Triage is prioritization.</a:t>
            </a:r>
          </a:p>
          <a:p xmlns:a="http://schemas.openxmlformats.org/drawingml/2006/main">
            <a:r>
              <a:t>- The score is a teaching tool, not law.</a:t>
            </a:r>
          </a:p>
          <a:p xmlns:a="http://schemas.openxmlformats.org/drawingml/2006/main">
            <a:r>
              <a:t>- Avoid extremes.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first response should do two things at once: contain harm and preserve evidence. Disabling the public link contains the immediate exposure. Preserving logs helps the organization understand scope. Identifying exactly what fields were exposed prevents guessing. Confirming whether rumors are supported keeps communication accurate. Escalating to the privacy or legal contact matters because notification requirements can vary. For this class, we are not giving legal advice; we are practicing the security and privacy reasoning that should happen before a message goes out.</a:t>
            </a:r>
          </a:p>
          <a:p xmlns:a="http://schemas.openxmlformats.org/drawingml/2006/main">
            <a:r>
              <a:t/>
            </a:r>
          </a:p>
          <a:p xmlns:a="http://schemas.openxmlformats.org/drawingml/2006/main">
            <a:r>
              <a:t>THINGS TO MENTION:</a:t>
            </a:r>
          </a:p>
          <a:p xmlns:a="http://schemas.openxmlformats.org/drawingml/2006/main">
            <a:r>
              <a:t>- Containment plus evidence preservation.</a:t>
            </a:r>
          </a:p>
          <a:p xmlns:a="http://schemas.openxmlformats.org/drawingml/2006/main">
            <a:r>
              <a:t>- Do not delete logs.</a:t>
            </a:r>
          </a:p>
          <a:p xmlns:a="http://schemas.openxmlformats.org/drawingml/2006/main">
            <a:r>
              <a:t>- Notification law varies; keep it conceptual.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Some actions feel decisive but make response worse. Deleting logs destroys evidence. Saying nothing happened before checking scope loses trust. Saying everything was hacked exaggerates beyond the evidence. Resetting passwords might be unnecessary if passwords were not involved, though it might be considered in a different case. Blaming one intern is also weak analysis because incidents usually reveal process problems: permissions, training, test data practices, vendor workflows, and review steps.</a:t>
            </a:r>
          </a:p>
          <a:p xmlns:a="http://schemas.openxmlformats.org/drawingml/2006/main">
            <a:r>
              <a:t/>
            </a:r>
          </a:p>
          <a:p xmlns:a="http://schemas.openxmlformats.org/drawingml/2006/main">
            <a:r>
              <a:t>THINGS TO MENTION:</a:t>
            </a:r>
          </a:p>
          <a:p xmlns:a="http://schemas.openxmlformats.org/drawingml/2006/main">
            <a:r>
              <a:t>- Make this slide practical and memorable.</a:t>
            </a:r>
          </a:p>
          <a:p xmlns:a="http://schemas.openxmlformats.org/drawingml/2006/main">
            <a:r>
              <a:t>- Good incident response avoids both denial and exaggeration.</a:t>
            </a:r>
          </a:p>
          <a:p xmlns:a="http://schemas.openxmlformats.org/drawingml/2006/main">
            <a:r>
              <a:t>- Process failure over individual blame.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privacy lens asks who could be affected and how. The people in the CSV are not just rows. Names and emails identify students. Login dates can reveal activity patterns. Help notes can reveal sensitive needs. Major and points might seem harmless, but they could still contribute to profiling or embarrassment depending on context. Ethical communication should not only ask how the institution looks. It should ask what affected people need to know and what they can reasonably do next.</a:t>
            </a:r>
          </a:p>
          <a:p xmlns:a="http://schemas.openxmlformats.org/drawingml/2006/main">
            <a:r>
              <a:t/>
            </a:r>
          </a:p>
          <a:p xmlns:a="http://schemas.openxmlformats.org/drawingml/2006/main">
            <a:r>
              <a:t>THINGS TO MENTION:</a:t>
            </a:r>
          </a:p>
          <a:p xmlns:a="http://schemas.openxmlformats.org/drawingml/2006/main">
            <a:r>
              <a:t>- Tie to Chun and Benjamin if useful: categories and power.</a:t>
            </a:r>
          </a:p>
          <a:p xmlns:a="http://schemas.openxmlformats.org/drawingml/2006/main">
            <a:r>
              <a:t>- Privacy harm can be indirect.</a:t>
            </a:r>
          </a:p>
          <a:p xmlns:a="http://schemas.openxmlformats.org/drawingml/2006/main">
            <a:r>
              <a:t>- Respectful communication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good incident update is clear, calm, and specific. It should say what happened in plain language. It should say what data was involved. It should say what was already done, what is still being checked, and what affected people can do. It should avoid unsupported claims. It should also avoid hiding the issue in vague language. In the lab, students will write a short update to affected students. That writing practice is important because security work often fails when communication is confusing.</a:t>
            </a:r>
          </a:p>
          <a:p xmlns:a="http://schemas.openxmlformats.org/drawingml/2006/main">
            <a:r>
              <a:t/>
            </a:r>
          </a:p>
          <a:p xmlns:a="http://schemas.openxmlformats.org/drawingml/2006/main">
            <a:r>
              <a:t>THINGS TO MENTION:</a:t>
            </a:r>
          </a:p>
          <a:p xmlns:a="http://schemas.openxmlformats.org/drawingml/2006/main">
            <a:r>
              <a:t>- Students write a 120-180 word update.</a:t>
            </a:r>
          </a:p>
          <a:p xmlns:a="http://schemas.openxmlformats.org/drawingml/2006/main">
            <a:r>
              <a:t>- No corporate fog.</a:t>
            </a:r>
          </a:p>
          <a:p xmlns:a="http://schemas.openxmlformats.org/drawingml/2006/main">
            <a:r>
              <a:t>- Calm does not mean vague.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best prevention is often boring and procedural. Private-by-default cloud storage. Access review before sharing files. Fake or minimized test data. Removing free-text notes from exports. Retention rules for temporary files. Alerts when a file becomes public. These controls are not flashy, but they are realistic. A strong security culture is built from ordinary habits that prevent predictable mistakes.</a:t>
            </a:r>
          </a:p>
          <a:p xmlns:a="http://schemas.openxmlformats.org/drawingml/2006/main">
            <a:r>
              <a:t/>
            </a:r>
          </a:p>
          <a:p xmlns:a="http://schemas.openxmlformats.org/drawingml/2006/main">
            <a:r>
              <a:t>THINGS TO MENTION:</a:t>
            </a:r>
          </a:p>
          <a:p xmlns:a="http://schemas.openxmlformats.org/drawingml/2006/main">
            <a:r>
              <a:t>- Make boring controls feel important.</a:t>
            </a:r>
          </a:p>
          <a:p xmlns:a="http://schemas.openxmlformats.org/drawingml/2006/main">
            <a:r>
              <a:t>- This connects to governance.</a:t>
            </a:r>
          </a:p>
          <a:p xmlns:a="http://schemas.openxmlformats.org/drawingml/2006/main">
            <a:r>
              <a:t>- Students choose three controls in the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Real professional guidance is more detailed than our classroom case, but the basic pattern is the same. NIST incident response guidance connects incident response to preparation, detection, response, and recovery. The NIST Privacy Framework treats privacy as risk management, not just a checkbox. The FTC breach response guide emphasizes securing operations and notifying appropriate parties. Today we are practicing the beginner version: facts, data, scope, harm, containment, communication, and prevention.</a:t>
            </a:r>
          </a:p>
          <a:p xmlns:a="http://schemas.openxmlformats.org/drawingml/2006/main">
            <a:r>
              <a:t/>
            </a:r>
          </a:p>
          <a:p xmlns:a="http://schemas.openxmlformats.org/drawingml/2006/main">
            <a:r>
              <a:t>THINGS TO MENTION:</a:t>
            </a:r>
          </a:p>
          <a:p xmlns:a="http://schemas.openxmlformats.org/drawingml/2006/main">
            <a:r>
              <a:t>- Mention sources briefly; do not turn this into a compliance lecture.</a:t>
            </a:r>
          </a:p>
          <a:p xmlns:a="http://schemas.openxmlformats.org/drawingml/2006/main">
            <a:r>
              <a:t>- These are anchors, not memorization tasks.</a:t>
            </a:r>
          </a:p>
          <a:p xmlns:a="http://schemas.openxmlformats.org/drawingml/2006/main">
            <a:r>
              <a:t>- Keep it beginner-friendly.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lab walks you through the case. First, mark facts versus assumptions. Then classify the exposed fields. Build the timeline. Score severity. Choose first-hour actions. Write a plain-language update. Finally, pick prevention controls and explain the ethics lesson. The goal is not to find the one perfect answer. The goal is to support each answer with evidence from the case file.</a:t>
            </a:r>
          </a:p>
          <a:p xmlns:a="http://schemas.openxmlformats.org/drawingml/2006/main">
            <a:r>
              <a:t/>
            </a:r>
          </a:p>
          <a:p xmlns:a="http://schemas.openxmlformats.org/drawingml/2006/main">
            <a:r>
              <a:t>THINGS TO MENTION:</a:t>
            </a:r>
          </a:p>
          <a:p xmlns:a="http://schemas.openxmlformats.org/drawingml/2006/main">
            <a:r>
              <a:t>- Open lab handout now.</a:t>
            </a:r>
          </a:p>
          <a:p xmlns:a="http://schemas.openxmlformats.org/drawingml/2006/main">
            <a:r>
              <a:t>- Individual work only.</a:t>
            </a:r>
          </a:p>
          <a:p xmlns:a="http://schemas.openxmlformats.org/drawingml/2006/main">
            <a:r>
              <a:t>- Evidence-based answers get full credit.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finish the lab early, use the same method on your final project. Ask what your evidence actually proves. Ask what assumptions you should avoid. Ask what data or people could be harmed. Ask what recommendation is realistic. Ask what limitation you should admit. This keeps a connection to the final project without making the whole day a final project workshop. The final project is still due May 26, 2026.</a:t>
            </a:r>
          </a:p>
          <a:p xmlns:a="http://schemas.openxmlformats.org/drawingml/2006/main">
            <a:r>
              <a:t/>
            </a:r>
          </a:p>
          <a:p xmlns:a="http://schemas.openxmlformats.org/drawingml/2006/main">
            <a:r>
              <a:t>THINGS TO MENTION:</a:t>
            </a:r>
          </a:p>
          <a:p xmlns:a="http://schemas.openxmlformats.org/drawingml/2006/main">
            <a:r>
              <a:t>- This is the final-project bridge, not the whole class.</a:t>
            </a:r>
          </a:p>
          <a:p xmlns:a="http://schemas.openxmlformats.org/drawingml/2006/main">
            <a:r>
              <a:t>- Use extra time productively.</a:t>
            </a:r>
          </a:p>
          <a:p xmlns:a="http://schemas.openxmlformats.org/drawingml/2006/main">
            <a:r>
              <a:t>- Due date reminder.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Before you leave, complete the exit ticket. Name the most important confirmed fact, the most dangerous rumor or assumption, the strongest first-hour action, the best prevention control, and one possible final-project connection. This exit ticket matters because it forces you to compress the case into professional judgment. What happened, why it matters, what to do, and how to prevent it.</a:t>
            </a:r>
          </a:p>
          <a:p xmlns:a="http://schemas.openxmlformats.org/drawingml/2006/main">
            <a:r>
              <a:t/>
            </a:r>
          </a:p>
          <a:p xmlns:a="http://schemas.openxmlformats.org/drawingml/2006/main">
            <a:r>
              <a:t>THINGS TO MENTION:</a:t>
            </a:r>
          </a:p>
          <a:p xmlns:a="http://schemas.openxmlformats.org/drawingml/2006/main">
            <a:r>
              <a:t>- Collect the lab and exit ticket.</a:t>
            </a:r>
          </a:p>
          <a:p xmlns:a="http://schemas.openxmlformats.org/drawingml/2006/main">
            <a:r>
              <a:t>- End on evidence-supported judgment.</a:t>
            </a:r>
          </a:p>
          <a:p xmlns:a="http://schemas.openxmlformats.org/drawingml/2006/main">
            <a:r>
              <a:t>- No homework needed unless you assign it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6d858af623482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e60be0fdc374a43" /><Relationship Type="http://schemas.openxmlformats.org/officeDocument/2006/relationships/slideLayout" Target="/ppt/slideLayouts/slideLayout2.xml" Id="Rce18bda9fd5d4b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18bda9fd5d4b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2dac49ae87f454e" /><Relationship Type="http://schemas.openxmlformats.org/officeDocument/2006/relationships/notesSlide" Target="/ppt/notesSlides/notesSlide1.xml" Id="R77034a9cad1f4e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2cf1a239dcb4fa3" /><Relationship Type="http://schemas.openxmlformats.org/officeDocument/2006/relationships/notesSlide" Target="/ppt/notesSlides/notesSlide2.xml" Id="R4859cfbe84144b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6487bd81f5848f7" /><Relationship Type="http://schemas.openxmlformats.org/officeDocument/2006/relationships/notesSlide" Target="/ppt/notesSlides/notesSlide3.xml" Id="R07156478a11c44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85c79cc45804140" /><Relationship Type="http://schemas.openxmlformats.org/officeDocument/2006/relationships/notesSlide" Target="/ppt/notesSlides/notesSlide4.xml" Id="R98f8c7ce32a146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9a1327c5ab24f29" /><Relationship Type="http://schemas.openxmlformats.org/officeDocument/2006/relationships/notesSlide" Target="/ppt/notesSlides/notesSlide5.xml" Id="Rf94807055129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64dc5395a924e9f" /><Relationship Type="http://schemas.openxmlformats.org/officeDocument/2006/relationships/notesSlide" Target="/ppt/notesSlides/notesSlide6.xml" Id="R7718383894704b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f831f478c59493a" /><Relationship Type="http://schemas.openxmlformats.org/officeDocument/2006/relationships/notesSlide" Target="/ppt/notesSlides/notesSlide7.xml" Id="R273ac35eb7a24e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b2b0f194a594e26" /><Relationship Type="http://schemas.openxmlformats.org/officeDocument/2006/relationships/notesSlide" Target="/ppt/notesSlides/notesSlide8.xml" Id="Ra3858cc883e147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07aa26ed7304fc4" /><Relationship Type="http://schemas.openxmlformats.org/officeDocument/2006/relationships/notesSlide" Target="/ppt/notesSlides/notesSlide9.xml" Id="R0c363695103248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e25860388ee49f4" /><Relationship Type="http://schemas.openxmlformats.org/officeDocument/2006/relationships/notesSlide" Target="/ppt/notesSlides/notesSlide10.xml" Id="Rcfbe7aa37d6b4c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feb00131f3a47cd" /><Relationship Type="http://schemas.openxmlformats.org/officeDocument/2006/relationships/notesSlide" Target="/ppt/notesSlides/notesSlide11.xml" Id="R251a20d640e74a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11f03a823af4e93" /><Relationship Type="http://schemas.openxmlformats.org/officeDocument/2006/relationships/notesSlide" Target="/ppt/notesSlides/notesSlide12.xml" Id="R4b15e357546846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ecde2899ef54e0a" /><Relationship Type="http://schemas.openxmlformats.org/officeDocument/2006/relationships/notesSlide" Target="/ppt/notesSlides/notesSlide13.xml" Id="R18ea3870cbf043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51ed6c237914d7e" /><Relationship Type="http://schemas.openxmlformats.org/officeDocument/2006/relationships/notesSlide" Target="/ppt/notesSlides/notesSlide14.xml" Id="R88bc95376b3640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a8072b4495f4923" /><Relationship Type="http://schemas.openxmlformats.org/officeDocument/2006/relationships/notesSlide" Target="/ppt/notesSlides/notesSlide15.xml" Id="Rded1d7cae15940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77073fdefc64c69" /><Relationship Type="http://schemas.openxmlformats.org/officeDocument/2006/relationships/notesSlide" Target="/ppt/notesSlides/notesSlide16.xml" Id="Re2d37624359d4d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6618dab39c24857" /><Relationship Type="http://schemas.openxmlformats.org/officeDocument/2006/relationships/notesSlide" Target="/ppt/notesSlides/notesSlide17.xml" Id="Rfb1ca0ff82fc42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490750ee4a44da7" /><Relationship Type="http://schemas.openxmlformats.org/officeDocument/2006/relationships/notesSlide" Target="/ppt/notesSlides/notesSlide18.xml" Id="Rea3366eee8ed470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E120A6-27DD-4288-9F0E-D0BB1F95FE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17E5186-C3FC-4F56-9181-8901B9177E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0B50974-7198-4654-987E-DD877F15380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0D7CAA3-8E0D-4A28-9879-0EDA15AC7F31}"/>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B2389B5-A80F-4385-857A-D72AE9568B0F}"/>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ACD2BA4D-6841-4873-A339-9657A6C57903}"/>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1/18</a:t>
            </a:r>
          </a:p>
        </p:txBody>
      </p:sp>
      <p:sp>
        <p:nvSpPr>
          <p:cNvPr id="7" name="">
            <a:extLst xmlns:a="http://schemas.openxmlformats.org/drawingml/2006/main">
              <a:ext uri="{FF2B5EF4-FFF2-40B4-BE49-F238E27FC236}">
                <a16:creationId xmlns:a16="http://schemas.microsoft.com/office/drawing/2014/main" id="{9A6BCEAE-915E-4185-9045-4AD8F9EF9FD4}"/>
              </a:ext>
            </a:extLst>
          </p:cNvPr>
          <p:cNvSpPr>
            <a:spLocks xmlns:a="http://schemas.openxmlformats.org/drawingml/2006/main" noGrp="1"/>
          </p:cNvSpPr>
          <p:nvPr/>
        </p:nvSpPr>
        <p:spPr>
          <a:xfrm xmlns:a="http://schemas.openxmlformats.org/drawingml/2006/main">
            <a:off x="819150" y="1000125"/>
            <a:ext cx="6477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63CDDA"/>
                </a:solidFill>
                <a:latin typeface="Aptos Display"/>
                <a:ea typeface="Aptos Display"/>
                <a:cs typeface="Aptos Display"/>
              </a:defRPr>
            </a:pPr>
            <a:r>
              <a:rPr sz="1500" b="1">
                <a:solidFill>
                  <a:srgbClr val="63CDDA"/>
                </a:solidFill>
                <a:latin typeface="Aptos Display"/>
                <a:ea typeface="Aptos Display"/>
                <a:cs typeface="Aptos Display"/>
              </a:rPr>
              <a:t>WEEK 14 DAY 2</a:t>
            </a:r>
          </a:p>
        </p:txBody>
      </p:sp>
      <p:sp>
        <p:nvSpPr>
          <p:cNvPr id="8" name="">
            <a:extLst xmlns:a="http://schemas.openxmlformats.org/drawingml/2006/main">
              <a:ext uri="{FF2B5EF4-FFF2-40B4-BE49-F238E27FC236}">
                <a16:creationId xmlns:a16="http://schemas.microsoft.com/office/drawing/2014/main" id="{03AFE440-DD20-4046-B53B-C323D8989C64}"/>
              </a:ext>
            </a:extLst>
          </p:cNvPr>
          <p:cNvSpPr>
            <a:spLocks xmlns:a="http://schemas.openxmlformats.org/drawingml/2006/main" noGrp="1"/>
          </p:cNvSpPr>
          <p:nvPr/>
        </p:nvSpPr>
        <p:spPr>
          <a:xfrm xmlns:a="http://schemas.openxmlformats.org/drawingml/2006/main">
            <a:off x="819150" y="1504950"/>
            <a:ext cx="723900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4050" b="1">
                <a:solidFill>
                  <a:srgbClr val="FFF3D7"/>
                </a:solidFill>
                <a:latin typeface="Aptos Display"/>
                <a:ea typeface="Aptos Display"/>
                <a:cs typeface="Aptos Display"/>
              </a:defRPr>
            </a:pPr>
            <a:r>
              <a:rPr sz="4050" b="1">
                <a:solidFill>
                  <a:srgbClr val="FFF3D7"/>
                </a:solidFill>
                <a:latin typeface="Aptos Display"/>
                <a:ea typeface="Aptos Display"/>
                <a:cs typeface="Aptos Display"/>
              </a:rPr>
              <a:t>Privacy Incident Detective</a:t>
            </a:r>
          </a:p>
        </p:txBody>
      </p:sp>
      <p:sp>
        <p:nvSpPr>
          <p:cNvPr id="9" name="">
            <a:extLst xmlns:a="http://schemas.openxmlformats.org/drawingml/2006/main">
              <a:ext uri="{FF2B5EF4-FFF2-40B4-BE49-F238E27FC236}">
                <a16:creationId xmlns:a16="http://schemas.microsoft.com/office/drawing/2014/main" id="{3B8A90A3-9E64-4A00-B086-0A94C670E487}"/>
              </a:ext>
            </a:extLst>
          </p:cNvPr>
          <p:cNvSpPr>
            <a:spLocks xmlns:a="http://schemas.openxmlformats.org/drawingml/2006/main" noGrp="1"/>
          </p:cNvSpPr>
          <p:nvPr/>
        </p:nvSpPr>
        <p:spPr>
          <a:xfrm xmlns:a="http://schemas.openxmlformats.org/drawingml/2006/main">
            <a:off x="876300" y="3276600"/>
            <a:ext cx="6762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D9C6A3"/>
                </a:solidFill>
                <a:latin typeface="Aptos"/>
                <a:ea typeface="Aptos"/>
                <a:cs typeface="Aptos"/>
              </a:defRPr>
            </a:pPr>
            <a:r>
              <a:rPr sz="1950" b="0">
                <a:solidFill>
                  <a:srgbClr val="D9C6A3"/>
                </a:solidFill>
                <a:latin typeface="Aptos"/>
                <a:ea typeface="Aptos"/>
                <a:cs typeface="Aptos"/>
              </a:rPr>
              <a:t>A fictional breach-response case where evidence matters more than panic.</a:t>
            </a:r>
          </a:p>
        </p:txBody>
      </p:sp>
      <p:sp>
        <p:nvSpPr>
          <p:cNvPr id="10" name="">
            <a:extLst xmlns:a="http://schemas.openxmlformats.org/drawingml/2006/main">
              <a:ext uri="{FF2B5EF4-FFF2-40B4-BE49-F238E27FC236}">
                <a16:creationId xmlns:a16="http://schemas.microsoft.com/office/drawing/2014/main" id="{F41EF796-4A70-4B03-AF2D-0030A4B16B1E}"/>
              </a:ext>
            </a:extLst>
          </p:cNvPr>
          <p:cNvSpPr>
            <a:spLocks xmlns:a="http://schemas.openxmlformats.org/drawingml/2006/main" noGrp="1"/>
          </p:cNvSpPr>
          <p:nvPr/>
        </p:nvSpPr>
        <p:spPr>
          <a:xfrm xmlns:a="http://schemas.openxmlformats.org/drawingml/2006/main">
            <a:off x="8667750" y="1428750"/>
            <a:ext cx="2238375" cy="2238375"/>
          </a:xfrm>
          <a:prstGeom xmlns:a="http://schemas.openxmlformats.org/drawingml/2006/main" prst="roundRect">
            <a:avLst>
              <a:gd name="adj" fmla="val 3404"/>
            </a:avLst>
          </a:prstGeom>
          <a:solidFill xmlns:a="http://schemas.openxmlformats.org/drawingml/2006/main">
            <a:srgbClr val="F3E3C2"/>
          </a:solidFill>
          <a:ln xmlns:a="http://schemas.openxmlformats.org/drawingml/2006/main" w="9525">
            <a:solidFill>
              <a:srgbClr val="5D4630"/>
            </a:solidFill>
            <a:prstDash val="solid"/>
          </a:ln>
        </p:spPr>
      </p:sp>
      <p:sp>
        <p:nvSpPr>
          <p:cNvPr id="11" name="">
            <a:extLst xmlns:a="http://schemas.openxmlformats.org/drawingml/2006/main">
              <a:ext uri="{FF2B5EF4-FFF2-40B4-BE49-F238E27FC236}">
                <a16:creationId xmlns:a16="http://schemas.microsoft.com/office/drawing/2014/main" id="{5D6C3C33-E103-4EB1-97B3-34D2BFF3CF08}"/>
              </a:ext>
            </a:extLst>
          </p:cNvPr>
          <p:cNvSpPr>
            <a:spLocks xmlns:a="http://schemas.openxmlformats.org/drawingml/2006/main" noGrp="1"/>
          </p:cNvSpPr>
          <p:nvPr/>
        </p:nvSpPr>
        <p:spPr>
          <a:xfrm xmlns:a="http://schemas.openxmlformats.org/drawingml/2006/main">
            <a:off x="8934450" y="2019300"/>
            <a:ext cx="1714500" cy="1095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850" b="1">
                <a:solidFill>
                  <a:srgbClr val="251914"/>
                </a:solidFill>
                <a:latin typeface="Aptos Display"/>
                <a:ea typeface="Aptos Display"/>
                <a:cs typeface="Aptos Display"/>
              </a:defRPr>
            </a:pPr>
            <a:r>
              <a:rPr sz="2850" b="1">
                <a:solidFill>
                  <a:srgbClr val="251914"/>
                </a:solidFill>
                <a:latin typeface="Aptos Display"/>
                <a:ea typeface="Aptos Display"/>
                <a:cs typeface="Aptos Display"/>
              </a:rPr>
              <a:t>CASE</a:t>
            </a:r>
          </a:p>
          <a:p xmlns:a="http://schemas.openxmlformats.org/drawingml/2006/main">
            <a:pPr algn="ctr">
              <a:defRPr sz="2850" b="1">
                <a:solidFill>
                  <a:srgbClr val="251914"/>
                </a:solidFill>
                <a:latin typeface="Aptos Display"/>
                <a:ea typeface="Aptos Display"/>
                <a:cs typeface="Aptos Display"/>
              </a:defRPr>
            </a:pPr>
            <a:r>
              <a:rPr sz="2850" b="1">
                <a:solidFill>
                  <a:srgbClr val="251914"/>
                </a:solidFill>
                <a:latin typeface="Aptos Display"/>
                <a:ea typeface="Aptos Display"/>
                <a:cs typeface="Aptos Display"/>
              </a:rPr>
              <a:t>FILE</a:t>
            </a:r>
          </a:p>
        </p:txBody>
      </p:sp>
      <p:sp>
        <p:nvSpPr>
          <p:cNvPr id="12" name="">
            <a:extLst xmlns:a="http://schemas.openxmlformats.org/drawingml/2006/main">
              <a:ext uri="{FF2B5EF4-FFF2-40B4-BE49-F238E27FC236}">
                <a16:creationId xmlns:a16="http://schemas.microsoft.com/office/drawing/2014/main" id="{2B09D1E1-ED5E-4924-A9CA-3D3CEA9EA2B1}"/>
              </a:ext>
            </a:extLst>
          </p:cNvPr>
          <p:cNvSpPr>
            <a:spLocks xmlns:a="http://schemas.openxmlformats.org/drawingml/2006/main" noGrp="1"/>
          </p:cNvSpPr>
          <p:nvPr/>
        </p:nvSpPr>
        <p:spPr>
          <a:xfrm xmlns:a="http://schemas.openxmlformats.org/drawingml/2006/main">
            <a:off x="876300" y="5572125"/>
            <a:ext cx="723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FB000"/>
                </a:solidFill>
                <a:latin typeface="Aptos"/>
                <a:ea typeface="Aptos"/>
                <a:cs typeface="Aptos"/>
              </a:defRPr>
            </a:pPr>
            <a:r>
              <a:rPr sz="1650" b="1">
                <a:solidFill>
                  <a:srgbClr val="FFB000"/>
                </a:solidFill>
                <a:latin typeface="Aptos"/>
                <a:ea typeface="Aptos"/>
                <a:cs typeface="Aptos"/>
              </a:rPr>
              <a:t>Individual lab • no presentation • final project due May 26, 2026</a:t>
            </a:r>
          </a:p>
        </p:txBody>
      </p:sp>
    </p:spTree>
    <p:extLst>
      <p:ext uri="{BB962C8B-B14F-4D97-AF65-F5344CB8AC3E}">
        <p14:creationId xmlns:p14="http://schemas.microsoft.com/office/powerpoint/2010/main" val="14575128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839BA7-BECE-4118-887B-A6A86B5F93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789F1F5-EFB7-41C6-BAB0-9A12BD9775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09988AE-EEA7-428E-A4D1-E75A764711E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A8E3FC4-8D65-4D6D-BA39-AB1180E2A54E}"/>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E38A765-A75C-412E-9178-B22ACF6DCE21}"/>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A25FFB0E-43BC-4B67-8576-CCCA9FCD4D5C}"/>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2/18</a:t>
            </a:r>
          </a:p>
        </p:txBody>
      </p:sp>
      <p:sp>
        <p:nvSpPr>
          <p:cNvPr id="7" name="">
            <a:extLst xmlns:a="http://schemas.openxmlformats.org/drawingml/2006/main">
              <a:ext uri="{FF2B5EF4-FFF2-40B4-BE49-F238E27FC236}">
                <a16:creationId xmlns:a16="http://schemas.microsoft.com/office/drawing/2014/main" id="{379D502E-6A71-4B5E-9167-7D36536B7756}"/>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TODAY'S GAME</a:t>
            </a:r>
          </a:p>
        </p:txBody>
      </p:sp>
      <p:sp>
        <p:nvSpPr>
          <p:cNvPr id="8" name="">
            <a:extLst xmlns:a="http://schemas.openxmlformats.org/drawingml/2006/main">
              <a:ext uri="{FF2B5EF4-FFF2-40B4-BE49-F238E27FC236}">
                <a16:creationId xmlns:a16="http://schemas.microsoft.com/office/drawing/2014/main" id="{C49D7C74-F387-41A7-BF64-480661E29469}"/>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You are not the firefighter. You are the detective.</a:t>
            </a:r>
          </a:p>
        </p:txBody>
      </p:sp>
      <p:sp>
        <p:nvSpPr>
          <p:cNvPr id="9" name="">
            <a:extLst xmlns:a="http://schemas.openxmlformats.org/drawingml/2006/main">
              <a:ext uri="{FF2B5EF4-FFF2-40B4-BE49-F238E27FC236}">
                <a16:creationId xmlns:a16="http://schemas.microsoft.com/office/drawing/2014/main" id="{E0EC4DCB-C8C1-49AF-8FC7-D2B00C837C0D}"/>
              </a:ext>
            </a:extLst>
          </p:cNvPr>
          <p:cNvSpPr>
            <a:spLocks xmlns:a="http://schemas.openxmlformats.org/drawingml/2006/main" noGrp="1"/>
          </p:cNvSpPr>
          <p:nvPr/>
        </p:nvSpPr>
        <p:spPr>
          <a:xfrm xmlns:a="http://schemas.openxmlformats.org/drawingml/2006/main">
            <a:off x="781050" y="2590800"/>
            <a:ext cx="4333875" cy="1666875"/>
          </a:xfrm>
          <a:prstGeom xmlns:a="http://schemas.openxmlformats.org/drawingml/2006/main" prst="roundRect">
            <a:avLst>
              <a:gd name="adj" fmla="val 4571"/>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658782FE-DDD9-4950-AC90-9FD5A8C88C7D}"/>
              </a:ext>
            </a:extLst>
          </p:cNvPr>
          <p:cNvSpPr>
            <a:spLocks xmlns:a="http://schemas.openxmlformats.org/drawingml/2006/main" noGrp="1"/>
          </p:cNvSpPr>
          <p:nvPr/>
        </p:nvSpPr>
        <p:spPr>
          <a:xfrm xmlns:a="http://schemas.openxmlformats.org/drawingml/2006/main">
            <a:off x="1028700" y="2971800"/>
            <a:ext cx="3838575"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550" b="1">
                <a:solidFill>
                  <a:srgbClr val="251914"/>
                </a:solidFill>
                <a:latin typeface="Aptos Display"/>
                <a:ea typeface="Aptos Display"/>
                <a:cs typeface="Aptos Display"/>
              </a:defRPr>
            </a:pPr>
            <a:r>
              <a:rPr sz="2550" b="1">
                <a:solidFill>
                  <a:srgbClr val="251914"/>
                </a:solidFill>
                <a:latin typeface="Aptos Display"/>
                <a:ea typeface="Aptos Display"/>
                <a:cs typeface="Aptos Display"/>
              </a:rPr>
              <a:t>Evidence first. Drama later.</a:t>
            </a:r>
          </a:p>
        </p:txBody>
      </p:sp>
      <p:sp>
        <p:nvSpPr>
          <p:cNvPr id="11" name="">
            <a:extLst xmlns:a="http://schemas.openxmlformats.org/drawingml/2006/main">
              <a:ext uri="{FF2B5EF4-FFF2-40B4-BE49-F238E27FC236}">
                <a16:creationId xmlns:a16="http://schemas.microsoft.com/office/drawing/2014/main" id="{2249B28B-DE2B-4B40-981C-133AB55537A1}"/>
              </a:ext>
            </a:extLst>
          </p:cNvPr>
          <p:cNvSpPr>
            <a:spLocks xmlns:a="http://schemas.openxmlformats.org/drawingml/2006/main" noGrp="1"/>
          </p:cNvSpPr>
          <p:nvPr/>
        </p:nvSpPr>
        <p:spPr>
          <a:xfrm xmlns:a="http://schemas.openxmlformats.org/drawingml/2006/main">
            <a:off x="5619750" y="2476500"/>
            <a:ext cx="5572125" cy="3143250"/>
          </a:xfrm>
          <a:prstGeom xmlns:a="http://schemas.openxmlformats.org/drawingml/2006/main" prst="roundRect">
            <a:avLst>
              <a:gd name="adj" fmla="val 2424"/>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14C7C1D-A854-436A-803D-D7F760A20E1E}"/>
              </a:ext>
            </a:extLst>
          </p:cNvPr>
          <p:cNvSpPr>
            <a:spLocks xmlns:a="http://schemas.openxmlformats.org/drawingml/2006/main" noGrp="1"/>
          </p:cNvSpPr>
          <p:nvPr/>
        </p:nvSpPr>
        <p:spPr>
          <a:xfrm xmlns:a="http://schemas.openxmlformats.org/drawingml/2006/main">
            <a:off x="5867400" y="2705100"/>
            <a:ext cx="5076825" cy="2686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What do we know?</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What is still unknown?</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What data is involved?</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Who could be harmed?</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What should happen next?</a:t>
            </a:r>
          </a:p>
        </p:txBody>
      </p:sp>
    </p:spTree>
    <p:extLst>
      <p:ext uri="{BB962C8B-B14F-4D97-AF65-F5344CB8AC3E}">
        <p14:creationId xmlns:p14="http://schemas.microsoft.com/office/powerpoint/2010/main" val="183406864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9C3F76-B247-4C8E-B76C-F69D51C119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89553C5-B99A-4012-A3C9-D9E7EB6B5A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284F7BC-EECE-4859-94E0-12E814878DA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12A1373-666F-4276-BE54-EA17E55A121C}"/>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75C1FF4-48CF-453D-BFD2-0528EFA76DFD}"/>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433FA12C-3FDA-4EE3-A119-0CC710C7C9A9}"/>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3/18</a:t>
            </a:r>
          </a:p>
        </p:txBody>
      </p:sp>
      <p:sp>
        <p:nvSpPr>
          <p:cNvPr id="7" name="">
            <a:extLst xmlns:a="http://schemas.openxmlformats.org/drawingml/2006/main">
              <a:ext uri="{FF2B5EF4-FFF2-40B4-BE49-F238E27FC236}">
                <a16:creationId xmlns:a16="http://schemas.microsoft.com/office/drawing/2014/main" id="{5EDBAC6F-4EA9-45AA-91E4-77CF0FC8E180}"/>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CORE CONCEPT</a:t>
            </a:r>
          </a:p>
        </p:txBody>
      </p:sp>
      <p:sp>
        <p:nvSpPr>
          <p:cNvPr id="8" name="">
            <a:extLst xmlns:a="http://schemas.openxmlformats.org/drawingml/2006/main">
              <a:ext uri="{FF2B5EF4-FFF2-40B4-BE49-F238E27FC236}">
                <a16:creationId xmlns:a16="http://schemas.microsoft.com/office/drawing/2014/main" id="{4CF19130-F240-47E1-8672-2C77E29FB465}"/>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An incident is a security event that needs a decision</a:t>
            </a:r>
          </a:p>
        </p:txBody>
      </p:sp>
      <p:sp>
        <p:nvSpPr>
          <p:cNvPr id="9" name="">
            <a:extLst xmlns:a="http://schemas.openxmlformats.org/drawingml/2006/main">
              <a:ext uri="{FF2B5EF4-FFF2-40B4-BE49-F238E27FC236}">
                <a16:creationId xmlns:a16="http://schemas.microsoft.com/office/drawing/2014/main" id="{856872F4-A8DD-4130-9B78-2FB598C7729C}"/>
              </a:ext>
            </a:extLst>
          </p:cNvPr>
          <p:cNvSpPr>
            <a:spLocks xmlns:a="http://schemas.openxmlformats.org/drawingml/2006/main" noGrp="1"/>
          </p:cNvSpPr>
          <p:nvPr/>
        </p:nvSpPr>
        <p:spPr>
          <a:xfrm xmlns:a="http://schemas.openxmlformats.org/drawingml/2006/main">
            <a:off x="7810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0533C7C9-4D3E-41A4-85ED-80336475E731}"/>
              </a:ext>
            </a:extLst>
          </p:cNvPr>
          <p:cNvSpPr>
            <a:spLocks xmlns:a="http://schemas.openxmlformats.org/drawingml/2006/main" noGrp="1"/>
          </p:cNvSpPr>
          <p:nvPr/>
        </p:nvSpPr>
        <p:spPr>
          <a:xfrm xmlns:a="http://schemas.openxmlformats.org/drawingml/2006/main">
            <a:off x="9525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Event</a:t>
            </a:r>
          </a:p>
        </p:txBody>
      </p:sp>
      <p:sp>
        <p:nvSpPr>
          <p:cNvPr id="11" name="">
            <a:extLst xmlns:a="http://schemas.openxmlformats.org/drawingml/2006/main">
              <a:ext uri="{FF2B5EF4-FFF2-40B4-BE49-F238E27FC236}">
                <a16:creationId xmlns:a16="http://schemas.microsoft.com/office/drawing/2014/main" id="{61FA010E-54B8-4E43-8E4F-C1F312DEE02B}"/>
              </a:ext>
            </a:extLst>
          </p:cNvPr>
          <p:cNvSpPr>
            <a:spLocks xmlns:a="http://schemas.openxmlformats.org/drawingml/2006/main" noGrp="1"/>
          </p:cNvSpPr>
          <p:nvPr/>
        </p:nvSpPr>
        <p:spPr>
          <a:xfrm xmlns:a="http://schemas.openxmlformats.org/drawingml/2006/main">
            <a:off x="9525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Something happened: a file was shared, an account logged in, a database changed, or data moved.</a:t>
            </a:r>
          </a:p>
        </p:txBody>
      </p:sp>
      <p:sp>
        <p:nvSpPr>
          <p:cNvPr id="12" name="">
            <a:extLst xmlns:a="http://schemas.openxmlformats.org/drawingml/2006/main">
              <a:ext uri="{FF2B5EF4-FFF2-40B4-BE49-F238E27FC236}">
                <a16:creationId xmlns:a16="http://schemas.microsoft.com/office/drawing/2014/main" id="{CAC6C33F-A74E-42F0-A057-8F01B0F65245}"/>
              </a:ext>
            </a:extLst>
          </p:cNvPr>
          <p:cNvSpPr>
            <a:spLocks xmlns:a="http://schemas.openxmlformats.org/drawingml/2006/main" noGrp="1"/>
          </p:cNvSpPr>
          <p:nvPr/>
        </p:nvSpPr>
        <p:spPr>
          <a:xfrm xmlns:a="http://schemas.openxmlformats.org/drawingml/2006/main">
            <a:off x="4495800" y="2724150"/>
            <a:ext cx="3257550" cy="2190750"/>
          </a:xfrm>
          <a:prstGeom xmlns:a="http://schemas.openxmlformats.org/drawingml/2006/main" prst="roundRect">
            <a:avLst>
              <a:gd name="adj" fmla="val 3478"/>
            </a:avLst>
          </a:prstGeom>
          <a:solidFill xmlns:a="http://schemas.openxmlformats.org/drawingml/2006/main">
            <a:srgbClr val="E9D5AD"/>
          </a:solidFill>
          <a:ln xmlns:a="http://schemas.openxmlformats.org/drawingml/2006/main" w="9525">
            <a:solidFill>
              <a:srgbClr val="5D4630"/>
            </a:solidFill>
            <a:prstDash val="solid"/>
          </a:ln>
        </p:spPr>
      </p:sp>
      <p:sp>
        <p:nvSpPr>
          <p:cNvPr id="13" name="">
            <a:extLst xmlns:a="http://schemas.openxmlformats.org/drawingml/2006/main">
              <a:ext uri="{FF2B5EF4-FFF2-40B4-BE49-F238E27FC236}">
                <a16:creationId xmlns:a16="http://schemas.microsoft.com/office/drawing/2014/main" id="{0BE17A07-EE60-4CB8-9B58-7740FFE58501}"/>
              </a:ext>
            </a:extLst>
          </p:cNvPr>
          <p:cNvSpPr>
            <a:spLocks xmlns:a="http://schemas.openxmlformats.org/drawingml/2006/main" noGrp="1"/>
          </p:cNvSpPr>
          <p:nvPr/>
        </p:nvSpPr>
        <p:spPr>
          <a:xfrm xmlns:a="http://schemas.openxmlformats.org/drawingml/2006/main">
            <a:off x="466725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Incident</a:t>
            </a:r>
          </a:p>
        </p:txBody>
      </p:sp>
      <p:sp>
        <p:nvSpPr>
          <p:cNvPr id="14" name="">
            <a:extLst xmlns:a="http://schemas.openxmlformats.org/drawingml/2006/main">
              <a:ext uri="{FF2B5EF4-FFF2-40B4-BE49-F238E27FC236}">
                <a16:creationId xmlns:a16="http://schemas.microsoft.com/office/drawing/2014/main" id="{5FD65FA9-8787-4CA6-8F97-85D785C80365}"/>
              </a:ext>
            </a:extLst>
          </p:cNvPr>
          <p:cNvSpPr>
            <a:spLocks xmlns:a="http://schemas.openxmlformats.org/drawingml/2006/main" noGrp="1"/>
          </p:cNvSpPr>
          <p:nvPr/>
        </p:nvSpPr>
        <p:spPr>
          <a:xfrm xmlns:a="http://schemas.openxmlformats.org/drawingml/2006/main">
            <a:off x="466725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The event may affect confidentiality, integrity, availability, privacy, or trust.</a:t>
            </a:r>
          </a:p>
        </p:txBody>
      </p:sp>
      <p:sp>
        <p:nvSpPr>
          <p:cNvPr id="15" name="">
            <a:extLst xmlns:a="http://schemas.openxmlformats.org/drawingml/2006/main">
              <a:ext uri="{FF2B5EF4-FFF2-40B4-BE49-F238E27FC236}">
                <a16:creationId xmlns:a16="http://schemas.microsoft.com/office/drawing/2014/main" id="{972F190A-E7EB-4D03-8E36-143E32BF64D7}"/>
              </a:ext>
            </a:extLst>
          </p:cNvPr>
          <p:cNvSpPr>
            <a:spLocks xmlns:a="http://schemas.openxmlformats.org/drawingml/2006/main" noGrp="1"/>
          </p:cNvSpPr>
          <p:nvPr/>
        </p:nvSpPr>
        <p:spPr>
          <a:xfrm xmlns:a="http://schemas.openxmlformats.org/drawingml/2006/main">
            <a:off x="82105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6" name="">
            <a:extLst xmlns:a="http://schemas.openxmlformats.org/drawingml/2006/main">
              <a:ext uri="{FF2B5EF4-FFF2-40B4-BE49-F238E27FC236}">
                <a16:creationId xmlns:a16="http://schemas.microsoft.com/office/drawing/2014/main" id="{94420CD2-FD30-4D00-8401-373F955E672A}"/>
              </a:ext>
            </a:extLst>
          </p:cNvPr>
          <p:cNvSpPr>
            <a:spLocks xmlns:a="http://schemas.openxmlformats.org/drawingml/2006/main" noGrp="1"/>
          </p:cNvSpPr>
          <p:nvPr/>
        </p:nvSpPr>
        <p:spPr>
          <a:xfrm xmlns:a="http://schemas.openxmlformats.org/drawingml/2006/main">
            <a:off x="83820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Response</a:t>
            </a:r>
          </a:p>
        </p:txBody>
      </p:sp>
      <p:sp>
        <p:nvSpPr>
          <p:cNvPr id="17" name="">
            <a:extLst xmlns:a="http://schemas.openxmlformats.org/drawingml/2006/main">
              <a:ext uri="{FF2B5EF4-FFF2-40B4-BE49-F238E27FC236}">
                <a16:creationId xmlns:a16="http://schemas.microsoft.com/office/drawing/2014/main" id="{5EEC9722-1E77-4304-A70A-FD140E010AE2}"/>
              </a:ext>
            </a:extLst>
          </p:cNvPr>
          <p:cNvSpPr>
            <a:spLocks xmlns:a="http://schemas.openxmlformats.org/drawingml/2006/main" noGrp="1"/>
          </p:cNvSpPr>
          <p:nvPr/>
        </p:nvSpPr>
        <p:spPr>
          <a:xfrm xmlns:a="http://schemas.openxmlformats.org/drawingml/2006/main">
            <a:off x="83820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People decide how to contain harm, preserve evidence, communicate, and prevent repeats.</a:t>
            </a:r>
          </a:p>
        </p:txBody>
      </p:sp>
    </p:spTree>
    <p:extLst>
      <p:ext uri="{BB962C8B-B14F-4D97-AF65-F5344CB8AC3E}">
        <p14:creationId xmlns:p14="http://schemas.microsoft.com/office/powerpoint/2010/main" val="6134974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81F999-4197-4EBE-BA5A-C2DBF55E6E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9F7C326-7B17-44F9-AE91-A0AF65BDD5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30DE6B4-4C7E-4005-A6D2-CB7CC284EBE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6A737FB-D70A-494C-AF1F-4896E51DB834}"/>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2EAF72F-3C1F-45E9-8914-D5D1143FDB2F}"/>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E922E4F6-C5C3-40EB-B22D-4F85E30C5B47}"/>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4/18</a:t>
            </a:r>
          </a:p>
        </p:txBody>
      </p:sp>
      <p:sp>
        <p:nvSpPr>
          <p:cNvPr id="7" name="">
            <a:extLst xmlns:a="http://schemas.openxmlformats.org/drawingml/2006/main">
              <a:ext uri="{FF2B5EF4-FFF2-40B4-BE49-F238E27FC236}">
                <a16:creationId xmlns:a16="http://schemas.microsoft.com/office/drawing/2014/main" id="{C10782F8-AD52-4E49-AB45-B2D642B4E6ED}"/>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SYLLABUS CONNECTION</a:t>
            </a:r>
          </a:p>
        </p:txBody>
      </p:sp>
      <p:sp>
        <p:nvSpPr>
          <p:cNvPr id="8" name="">
            <a:extLst xmlns:a="http://schemas.openxmlformats.org/drawingml/2006/main">
              <a:ext uri="{FF2B5EF4-FFF2-40B4-BE49-F238E27FC236}">
                <a16:creationId xmlns:a16="http://schemas.microsoft.com/office/drawing/2014/main" id="{BDFD5859-1B34-492A-8D7E-CA2D4B2B984E}"/>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This case pulls together the whole course</a:t>
            </a:r>
          </a:p>
        </p:txBody>
      </p:sp>
      <p:sp>
        <p:nvSpPr>
          <p:cNvPr id="9" name="">
            <a:extLst xmlns:a="http://schemas.openxmlformats.org/drawingml/2006/main">
              <a:ext uri="{FF2B5EF4-FFF2-40B4-BE49-F238E27FC236}">
                <a16:creationId xmlns:a16="http://schemas.microsoft.com/office/drawing/2014/main" id="{7A986F0E-FD18-4F9E-81C7-48405DB1F29B}"/>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70EFDD5-4A9D-4CD1-A5A8-313E9BFE25B4}"/>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Access control: who could open the file?</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Cloud security: how did sharing settings expose data?</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Databases: what fields were exported?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Privacy and ethics: who could be affected?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Governance: what rule should prevent the repeat?</a:t>
            </a:r>
          </a:p>
        </p:txBody>
      </p:sp>
    </p:spTree>
    <p:extLst>
      <p:ext uri="{BB962C8B-B14F-4D97-AF65-F5344CB8AC3E}">
        <p14:creationId xmlns:p14="http://schemas.microsoft.com/office/powerpoint/2010/main" val="155043972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09E862-C989-4C51-83D3-EA5A829F92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3D3FAD7-7154-40E8-8611-3502D7076F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AA31905-237C-4EFE-9426-EC47F6556D8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C7507F9-944B-48C3-A345-D1262B3C1733}"/>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C7B8B15-52CF-4762-A0BE-E250363E3FC2}"/>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15D534AE-2529-4DBB-BABF-57236995F8AD}"/>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5/18</a:t>
            </a:r>
          </a:p>
        </p:txBody>
      </p:sp>
      <p:sp>
        <p:nvSpPr>
          <p:cNvPr id="7" name="">
            <a:extLst xmlns:a="http://schemas.openxmlformats.org/drawingml/2006/main">
              <a:ext uri="{FF2B5EF4-FFF2-40B4-BE49-F238E27FC236}">
                <a16:creationId xmlns:a16="http://schemas.microsoft.com/office/drawing/2014/main" id="{988A81A8-FD91-40AC-B2D7-33A60FA7F401}"/>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CASE FILE</a:t>
            </a:r>
          </a:p>
        </p:txBody>
      </p:sp>
      <p:sp>
        <p:nvSpPr>
          <p:cNvPr id="8" name="">
            <a:extLst xmlns:a="http://schemas.openxmlformats.org/drawingml/2006/main">
              <a:ext uri="{FF2B5EF4-FFF2-40B4-BE49-F238E27FC236}">
                <a16:creationId xmlns:a16="http://schemas.microsoft.com/office/drawing/2014/main" id="{238ABC4C-A968-41F8-8B72-87D81210E023}"/>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CampusQuest Rewards: a fictional cloud-sharing incident</a:t>
            </a:r>
          </a:p>
        </p:txBody>
      </p:sp>
      <p:sp>
        <p:nvSpPr>
          <p:cNvPr id="9" name="">
            <a:extLst xmlns:a="http://schemas.openxmlformats.org/drawingml/2006/main">
              <a:ext uri="{FF2B5EF4-FFF2-40B4-BE49-F238E27FC236}">
                <a16:creationId xmlns:a16="http://schemas.microsoft.com/office/drawing/2014/main" id="{A2886598-F602-42D1-B8CC-9ABFBD932E04}"/>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3A7BBC8-AB0F-470C-B6C8-7AB9536509E7}"/>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A student rewards app exported a CSV for dashboard testing</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The CSV was placed in cloud storage</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The file was accidentally made public by link</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A student found it online and emailed the help desk</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The link was disabled the next morning</a:t>
            </a:r>
          </a:p>
        </p:txBody>
      </p:sp>
    </p:spTree>
    <p:extLst>
      <p:ext uri="{BB962C8B-B14F-4D97-AF65-F5344CB8AC3E}">
        <p14:creationId xmlns:p14="http://schemas.microsoft.com/office/powerpoint/2010/main" val="18549297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15FBE2-CB9C-4FF0-8C3B-43097850D5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858688C-241B-4E59-91C6-A5D0866375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286F994-0ED9-4F2D-A3BD-7BACBF52169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589976F-C122-489E-AEC0-0A4A5DAB9090}"/>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41E428A-4421-46BC-95F6-6C4F321CFE87}"/>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BC7A13AF-E05A-4DB8-A3DF-FBF3B97CC9C4}"/>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6/18</a:t>
            </a:r>
          </a:p>
        </p:txBody>
      </p:sp>
      <p:sp>
        <p:nvSpPr>
          <p:cNvPr id="7" name="">
            <a:extLst xmlns:a="http://schemas.openxmlformats.org/drawingml/2006/main">
              <a:ext uri="{FF2B5EF4-FFF2-40B4-BE49-F238E27FC236}">
                <a16:creationId xmlns:a16="http://schemas.microsoft.com/office/drawing/2014/main" id="{5456D387-AAA5-42BA-BDDD-4B9D1EC0483E}"/>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THE DATA</a:t>
            </a:r>
          </a:p>
        </p:txBody>
      </p:sp>
      <p:sp>
        <p:nvSpPr>
          <p:cNvPr id="8" name="">
            <a:extLst xmlns:a="http://schemas.openxmlformats.org/drawingml/2006/main">
              <a:ext uri="{FF2B5EF4-FFF2-40B4-BE49-F238E27FC236}">
                <a16:creationId xmlns:a16="http://schemas.microsoft.com/office/drawing/2014/main" id="{02373645-652E-4E27-A401-9ACE3DBF0719}"/>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Not all exposed fields create the same level of concern</a:t>
            </a:r>
          </a:p>
        </p:txBody>
      </p:sp>
      <p:sp>
        <p:nvSpPr>
          <p:cNvPr id="9" name="">
            <a:extLst xmlns:a="http://schemas.openxmlformats.org/drawingml/2006/main">
              <a:ext uri="{FF2B5EF4-FFF2-40B4-BE49-F238E27FC236}">
                <a16:creationId xmlns:a16="http://schemas.microsoft.com/office/drawing/2014/main" id="{489FA165-BF8D-49E3-BFEF-96185C49ED71}"/>
              </a:ext>
            </a:extLst>
          </p:cNvPr>
          <p:cNvSpPr>
            <a:spLocks xmlns:a="http://schemas.openxmlformats.org/drawingml/2006/main" noGrp="1"/>
          </p:cNvSpPr>
          <p:nvPr/>
        </p:nvSpPr>
        <p:spPr>
          <a:xfrm xmlns:a="http://schemas.openxmlformats.org/drawingml/2006/main">
            <a:off x="7810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3A1C7FD3-CA46-41E6-9568-1505813573BA}"/>
              </a:ext>
            </a:extLst>
          </p:cNvPr>
          <p:cNvSpPr>
            <a:spLocks xmlns:a="http://schemas.openxmlformats.org/drawingml/2006/main" noGrp="1"/>
          </p:cNvSpPr>
          <p:nvPr/>
        </p:nvSpPr>
        <p:spPr>
          <a:xfrm xmlns:a="http://schemas.openxmlformats.org/drawingml/2006/main">
            <a:off x="9525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Lower concern</a:t>
            </a:r>
          </a:p>
        </p:txBody>
      </p:sp>
      <p:sp>
        <p:nvSpPr>
          <p:cNvPr id="11" name="">
            <a:extLst xmlns:a="http://schemas.openxmlformats.org/drawingml/2006/main">
              <a:ext uri="{FF2B5EF4-FFF2-40B4-BE49-F238E27FC236}">
                <a16:creationId xmlns:a16="http://schemas.microsoft.com/office/drawing/2014/main" id="{0E8B9D26-C9AA-4AD1-B802-0CED3D3505A5}"/>
              </a:ext>
            </a:extLst>
          </p:cNvPr>
          <p:cNvSpPr>
            <a:spLocks xmlns:a="http://schemas.openxmlformats.org/drawingml/2006/main" noGrp="1"/>
          </p:cNvSpPr>
          <p:nvPr/>
        </p:nvSpPr>
        <p:spPr>
          <a:xfrm xmlns:a="http://schemas.openxmlformats.org/drawingml/2006/main">
            <a:off x="9525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Event points, app consent status, and major may seem ordinary but still need context.</a:t>
            </a:r>
          </a:p>
        </p:txBody>
      </p:sp>
      <p:sp>
        <p:nvSpPr>
          <p:cNvPr id="12" name="">
            <a:extLst xmlns:a="http://schemas.openxmlformats.org/drawingml/2006/main">
              <a:ext uri="{FF2B5EF4-FFF2-40B4-BE49-F238E27FC236}">
                <a16:creationId xmlns:a16="http://schemas.microsoft.com/office/drawing/2014/main" id="{8AEDDBD3-F0ED-46F9-842A-86D2C09C9571}"/>
              </a:ext>
            </a:extLst>
          </p:cNvPr>
          <p:cNvSpPr>
            <a:spLocks xmlns:a="http://schemas.openxmlformats.org/drawingml/2006/main" noGrp="1"/>
          </p:cNvSpPr>
          <p:nvPr/>
        </p:nvSpPr>
        <p:spPr>
          <a:xfrm xmlns:a="http://schemas.openxmlformats.org/drawingml/2006/main">
            <a:off x="4495800" y="2724150"/>
            <a:ext cx="3257550" cy="2190750"/>
          </a:xfrm>
          <a:prstGeom xmlns:a="http://schemas.openxmlformats.org/drawingml/2006/main" prst="roundRect">
            <a:avLst>
              <a:gd name="adj" fmla="val 3478"/>
            </a:avLst>
          </a:prstGeom>
          <a:solidFill xmlns:a="http://schemas.openxmlformats.org/drawingml/2006/main">
            <a:srgbClr val="E9D5AD"/>
          </a:solidFill>
          <a:ln xmlns:a="http://schemas.openxmlformats.org/drawingml/2006/main" w="9525">
            <a:solidFill>
              <a:srgbClr val="5D4630"/>
            </a:solidFill>
            <a:prstDash val="solid"/>
          </a:ln>
        </p:spPr>
      </p:sp>
      <p:sp>
        <p:nvSpPr>
          <p:cNvPr id="13" name="">
            <a:extLst xmlns:a="http://schemas.openxmlformats.org/drawingml/2006/main">
              <a:ext uri="{FF2B5EF4-FFF2-40B4-BE49-F238E27FC236}">
                <a16:creationId xmlns:a16="http://schemas.microsoft.com/office/drawing/2014/main" id="{587738D7-ADA0-44E5-89B6-86BF6ED4B987}"/>
              </a:ext>
            </a:extLst>
          </p:cNvPr>
          <p:cNvSpPr>
            <a:spLocks xmlns:a="http://schemas.openxmlformats.org/drawingml/2006/main" noGrp="1"/>
          </p:cNvSpPr>
          <p:nvPr/>
        </p:nvSpPr>
        <p:spPr>
          <a:xfrm xmlns:a="http://schemas.openxmlformats.org/drawingml/2006/main">
            <a:off x="466725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Medium concern</a:t>
            </a:r>
          </a:p>
        </p:txBody>
      </p:sp>
      <p:sp>
        <p:nvSpPr>
          <p:cNvPr id="14" name="">
            <a:extLst xmlns:a="http://schemas.openxmlformats.org/drawingml/2006/main">
              <a:ext uri="{FF2B5EF4-FFF2-40B4-BE49-F238E27FC236}">
                <a16:creationId xmlns:a16="http://schemas.microsoft.com/office/drawing/2014/main" id="{678C5BF2-1C97-4876-ABC9-9B96B83C1473}"/>
              </a:ext>
            </a:extLst>
          </p:cNvPr>
          <p:cNvSpPr>
            <a:spLocks xmlns:a="http://schemas.openxmlformats.org/drawingml/2006/main" noGrp="1"/>
          </p:cNvSpPr>
          <p:nvPr/>
        </p:nvSpPr>
        <p:spPr>
          <a:xfrm xmlns:a="http://schemas.openxmlformats.org/drawingml/2006/main">
            <a:off x="466725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Name, school email, last login date, and partial ID can identify or track people.</a:t>
            </a:r>
          </a:p>
        </p:txBody>
      </p:sp>
      <p:sp>
        <p:nvSpPr>
          <p:cNvPr id="15" name="">
            <a:extLst xmlns:a="http://schemas.openxmlformats.org/drawingml/2006/main">
              <a:ext uri="{FF2B5EF4-FFF2-40B4-BE49-F238E27FC236}">
                <a16:creationId xmlns:a16="http://schemas.microsoft.com/office/drawing/2014/main" id="{90424760-D311-4997-8986-203F6888DDBF}"/>
              </a:ext>
            </a:extLst>
          </p:cNvPr>
          <p:cNvSpPr>
            <a:spLocks xmlns:a="http://schemas.openxmlformats.org/drawingml/2006/main" noGrp="1"/>
          </p:cNvSpPr>
          <p:nvPr/>
        </p:nvSpPr>
        <p:spPr>
          <a:xfrm xmlns:a="http://schemas.openxmlformats.org/drawingml/2006/main">
            <a:off x="82105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6" name="">
            <a:extLst xmlns:a="http://schemas.openxmlformats.org/drawingml/2006/main">
              <a:ext uri="{FF2B5EF4-FFF2-40B4-BE49-F238E27FC236}">
                <a16:creationId xmlns:a16="http://schemas.microsoft.com/office/drawing/2014/main" id="{2BC7C75B-D9C8-48A0-9F70-4A56AF402F5D}"/>
              </a:ext>
            </a:extLst>
          </p:cNvPr>
          <p:cNvSpPr>
            <a:spLocks xmlns:a="http://schemas.openxmlformats.org/drawingml/2006/main" noGrp="1"/>
          </p:cNvSpPr>
          <p:nvPr/>
        </p:nvSpPr>
        <p:spPr>
          <a:xfrm xmlns:a="http://schemas.openxmlformats.org/drawingml/2006/main">
            <a:off x="83820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Higher concern</a:t>
            </a:r>
          </a:p>
        </p:txBody>
      </p:sp>
      <p:sp>
        <p:nvSpPr>
          <p:cNvPr id="17" name="">
            <a:extLst xmlns:a="http://schemas.openxmlformats.org/drawingml/2006/main">
              <a:ext uri="{FF2B5EF4-FFF2-40B4-BE49-F238E27FC236}">
                <a16:creationId xmlns:a16="http://schemas.microsoft.com/office/drawing/2014/main" id="{63B6BC30-846D-42F3-BABF-813781EF0CC2}"/>
              </a:ext>
            </a:extLst>
          </p:cNvPr>
          <p:cNvSpPr>
            <a:spLocks xmlns:a="http://schemas.openxmlformats.org/drawingml/2006/main" noGrp="1"/>
          </p:cNvSpPr>
          <p:nvPr/>
        </p:nvSpPr>
        <p:spPr>
          <a:xfrm xmlns:a="http://schemas.openxmlformats.org/drawingml/2006/main">
            <a:off x="83820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Free-text help notes can reveal sensitive needs, situations, or personal context.</a:t>
            </a:r>
          </a:p>
        </p:txBody>
      </p:sp>
    </p:spTree>
    <p:extLst>
      <p:ext uri="{BB962C8B-B14F-4D97-AF65-F5344CB8AC3E}">
        <p14:creationId xmlns:p14="http://schemas.microsoft.com/office/powerpoint/2010/main" val="13529648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9CD6FD-E077-42C0-8BC5-9D84853372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0B189F8-8EDE-45BE-AC57-305DC8DE42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7F32BBF-227D-41C0-85CD-9ADFD7D1EE1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77C7099-F5E1-48A5-B195-122DE1B5F74C}"/>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C6B41C4-E2D1-45D0-B547-EED6EC932E0D}"/>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E3DA297E-1B39-4B59-8403-03219DE83213}"/>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7/18</a:t>
            </a:r>
          </a:p>
        </p:txBody>
      </p:sp>
      <p:sp>
        <p:nvSpPr>
          <p:cNvPr id="7" name="">
            <a:extLst xmlns:a="http://schemas.openxmlformats.org/drawingml/2006/main">
              <a:ext uri="{FF2B5EF4-FFF2-40B4-BE49-F238E27FC236}">
                <a16:creationId xmlns:a16="http://schemas.microsoft.com/office/drawing/2014/main" id="{940A92C0-F81F-4CD5-A49E-567E810CF85A}"/>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DETECTIVE RULE 1</a:t>
            </a:r>
          </a:p>
        </p:txBody>
      </p:sp>
      <p:sp>
        <p:nvSpPr>
          <p:cNvPr id="8" name="">
            <a:extLst xmlns:a="http://schemas.openxmlformats.org/drawingml/2006/main">
              <a:ext uri="{FF2B5EF4-FFF2-40B4-BE49-F238E27FC236}">
                <a16:creationId xmlns:a16="http://schemas.microsoft.com/office/drawing/2014/main" id="{71225708-E8B4-42C7-81E3-6A692DFB8155}"/>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Separate confirmed facts from assumptions</a:t>
            </a:r>
          </a:p>
        </p:txBody>
      </p:sp>
      <p:sp>
        <p:nvSpPr>
          <p:cNvPr id="9" name="">
            <a:extLst xmlns:a="http://schemas.openxmlformats.org/drawingml/2006/main">
              <a:ext uri="{FF2B5EF4-FFF2-40B4-BE49-F238E27FC236}">
                <a16:creationId xmlns:a16="http://schemas.microsoft.com/office/drawing/2014/main" id="{89125856-A620-4B31-BBC9-A39D91D8CB0C}"/>
              </a:ext>
            </a:extLst>
          </p:cNvPr>
          <p:cNvSpPr>
            <a:spLocks xmlns:a="http://schemas.openxmlformats.org/drawingml/2006/main" noGrp="1"/>
          </p:cNvSpPr>
          <p:nvPr/>
        </p:nvSpPr>
        <p:spPr>
          <a:xfrm xmlns:a="http://schemas.openxmlformats.org/drawingml/2006/main">
            <a:off x="781050" y="2590800"/>
            <a:ext cx="4333875" cy="1666875"/>
          </a:xfrm>
          <a:prstGeom xmlns:a="http://schemas.openxmlformats.org/drawingml/2006/main" prst="roundRect">
            <a:avLst>
              <a:gd name="adj" fmla="val 4571"/>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24FE1EAD-36A4-47C2-883B-E1C2F57EBDE2}"/>
              </a:ext>
            </a:extLst>
          </p:cNvPr>
          <p:cNvSpPr>
            <a:spLocks xmlns:a="http://schemas.openxmlformats.org/drawingml/2006/main" noGrp="1"/>
          </p:cNvSpPr>
          <p:nvPr/>
        </p:nvSpPr>
        <p:spPr>
          <a:xfrm xmlns:a="http://schemas.openxmlformats.org/drawingml/2006/main">
            <a:off x="1028700" y="2971800"/>
            <a:ext cx="3838575"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550" b="1">
                <a:solidFill>
                  <a:srgbClr val="251914"/>
                </a:solidFill>
                <a:latin typeface="Aptos Display"/>
                <a:ea typeface="Aptos Display"/>
                <a:cs typeface="Aptos Display"/>
              </a:defRPr>
            </a:pPr>
            <a:r>
              <a:rPr sz="2550" b="1">
                <a:solidFill>
                  <a:srgbClr val="251914"/>
                </a:solidFill>
                <a:latin typeface="Aptos Display"/>
                <a:ea typeface="Aptos Display"/>
                <a:cs typeface="Aptos Display"/>
              </a:rPr>
              <a:t>A rumor is not evidence.</a:t>
            </a:r>
          </a:p>
        </p:txBody>
      </p:sp>
      <p:sp>
        <p:nvSpPr>
          <p:cNvPr id="11" name="">
            <a:extLst xmlns:a="http://schemas.openxmlformats.org/drawingml/2006/main">
              <a:ext uri="{FF2B5EF4-FFF2-40B4-BE49-F238E27FC236}">
                <a16:creationId xmlns:a16="http://schemas.microsoft.com/office/drawing/2014/main" id="{8E3D7CBA-8957-4CE0-961C-89E22415963C}"/>
              </a:ext>
            </a:extLst>
          </p:cNvPr>
          <p:cNvSpPr>
            <a:spLocks xmlns:a="http://schemas.openxmlformats.org/drawingml/2006/main" noGrp="1"/>
          </p:cNvSpPr>
          <p:nvPr/>
        </p:nvSpPr>
        <p:spPr>
          <a:xfrm xmlns:a="http://schemas.openxmlformats.org/drawingml/2006/main">
            <a:off x="5619750" y="2476500"/>
            <a:ext cx="5572125" cy="3143250"/>
          </a:xfrm>
          <a:prstGeom xmlns:a="http://schemas.openxmlformats.org/drawingml/2006/main" prst="roundRect">
            <a:avLst>
              <a:gd name="adj" fmla="val 2424"/>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0EC7400-5E1F-4FBF-B755-A6EB24A28EF4}"/>
              </a:ext>
            </a:extLst>
          </p:cNvPr>
          <p:cNvSpPr>
            <a:spLocks xmlns:a="http://schemas.openxmlformats.org/drawingml/2006/main" noGrp="1"/>
          </p:cNvSpPr>
          <p:nvPr/>
        </p:nvSpPr>
        <p:spPr>
          <a:xfrm xmlns:a="http://schemas.openxmlformats.org/drawingml/2006/main">
            <a:off x="5867400" y="2705100"/>
            <a:ext cx="5076825" cy="2686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Confirmed: the public CSV existed</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Confirmed: the link was disabled</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Unknown: who downloaded it and why</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Rumor: passwords were leaked</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Evidence: no password field appears in the CSV</a:t>
            </a:r>
          </a:p>
        </p:txBody>
      </p:sp>
    </p:spTree>
    <p:extLst>
      <p:ext uri="{BB962C8B-B14F-4D97-AF65-F5344CB8AC3E}">
        <p14:creationId xmlns:p14="http://schemas.microsoft.com/office/powerpoint/2010/main" val="6301087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3DBEF6-AB3A-4390-8B96-87122BF403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5AE7DC5-8A9A-4A89-A447-5557424118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F39A7CA-A2EC-4CC8-9C79-617D3278EE5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69C4CCF-F353-4387-BE96-5395E1F3A9DF}"/>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B7B910C-4C16-4625-A39B-0A707DCBAAD0}"/>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6D94F226-571F-43F3-BF39-9E1F2642C04B}"/>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8/18</a:t>
            </a:r>
          </a:p>
        </p:txBody>
      </p:sp>
      <p:sp>
        <p:nvSpPr>
          <p:cNvPr id="7" name="">
            <a:extLst xmlns:a="http://schemas.openxmlformats.org/drawingml/2006/main">
              <a:ext uri="{FF2B5EF4-FFF2-40B4-BE49-F238E27FC236}">
                <a16:creationId xmlns:a16="http://schemas.microsoft.com/office/drawing/2014/main" id="{A158C83C-CC37-4B45-AE0C-A3D98FD36FD0}"/>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DETECTIVE RULE 2</a:t>
            </a:r>
          </a:p>
        </p:txBody>
      </p:sp>
      <p:sp>
        <p:nvSpPr>
          <p:cNvPr id="8" name="">
            <a:extLst xmlns:a="http://schemas.openxmlformats.org/drawingml/2006/main">
              <a:ext uri="{FF2B5EF4-FFF2-40B4-BE49-F238E27FC236}">
                <a16:creationId xmlns:a16="http://schemas.microsoft.com/office/drawing/2014/main" id="{A1A326D6-6CA8-4877-ACEE-ADFDB306208C}"/>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Build a timeline before deciding severity</a:t>
            </a:r>
          </a:p>
        </p:txBody>
      </p:sp>
      <p:sp>
        <p:nvSpPr>
          <p:cNvPr id="9" name="">
            <a:extLst xmlns:a="http://schemas.openxmlformats.org/drawingml/2006/main">
              <a:ext uri="{FF2B5EF4-FFF2-40B4-BE49-F238E27FC236}">
                <a16:creationId xmlns:a16="http://schemas.microsoft.com/office/drawing/2014/main" id="{5037858D-03C5-429E-AC7B-F4BDB885086F}"/>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2977A18-5A38-4057-92D5-E415259F7F0D}"/>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When was the public link created?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When was it discovered?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When was it disabled?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How long was the exposure window?</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What happened before and after containment?</a:t>
            </a:r>
          </a:p>
        </p:txBody>
      </p:sp>
    </p:spTree>
    <p:extLst>
      <p:ext uri="{BB962C8B-B14F-4D97-AF65-F5344CB8AC3E}">
        <p14:creationId xmlns:p14="http://schemas.microsoft.com/office/powerpoint/2010/main" val="79876062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958DD7-3DE3-4511-9C7B-0BA95249CA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933F6EE-DFBF-43FD-B365-819C0E175C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9CF3C64-814B-473B-8381-079D7C51DDA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77FB521-0C3A-4A6F-A729-C08F102054FA}"/>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CEF4E8E-81F5-44AF-9F89-06F927EC7E13}"/>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8FB08D26-DFB7-4202-A4E1-7B5C61E4EC6E}"/>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9/18</a:t>
            </a:r>
          </a:p>
        </p:txBody>
      </p:sp>
      <p:sp>
        <p:nvSpPr>
          <p:cNvPr id="7" name="">
            <a:extLst xmlns:a="http://schemas.openxmlformats.org/drawingml/2006/main">
              <a:ext uri="{FF2B5EF4-FFF2-40B4-BE49-F238E27FC236}">
                <a16:creationId xmlns:a16="http://schemas.microsoft.com/office/drawing/2014/main" id="{F8FDC884-7BFA-4F19-B27A-30AE0B13911F}"/>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DETECTIVE RULE 3</a:t>
            </a:r>
          </a:p>
        </p:txBody>
      </p:sp>
      <p:sp>
        <p:nvSpPr>
          <p:cNvPr id="8" name="">
            <a:extLst xmlns:a="http://schemas.openxmlformats.org/drawingml/2006/main">
              <a:ext uri="{FF2B5EF4-FFF2-40B4-BE49-F238E27FC236}">
                <a16:creationId xmlns:a16="http://schemas.microsoft.com/office/drawing/2014/main" id="{E07FDAAE-1BD9-46EA-8EF5-125863F51D9D}"/>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Triage means deciding what deserves attention first</a:t>
            </a:r>
          </a:p>
        </p:txBody>
      </p:sp>
      <p:sp>
        <p:nvSpPr>
          <p:cNvPr id="9" name="">
            <a:extLst xmlns:a="http://schemas.openxmlformats.org/drawingml/2006/main">
              <a:ext uri="{FF2B5EF4-FFF2-40B4-BE49-F238E27FC236}">
                <a16:creationId xmlns:a16="http://schemas.microsoft.com/office/drawing/2014/main" id="{99074EC5-33C4-459B-ACBB-4530A53CED14}"/>
              </a:ext>
            </a:extLst>
          </p:cNvPr>
          <p:cNvSpPr>
            <a:spLocks xmlns:a="http://schemas.openxmlformats.org/drawingml/2006/main" noGrp="1"/>
          </p:cNvSpPr>
          <p:nvPr/>
        </p:nvSpPr>
        <p:spPr>
          <a:xfrm xmlns:a="http://schemas.openxmlformats.org/drawingml/2006/main">
            <a:off x="7810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0E7B2CE6-8582-4A9B-99AA-37D22B856DE9}"/>
              </a:ext>
            </a:extLst>
          </p:cNvPr>
          <p:cNvSpPr>
            <a:spLocks xmlns:a="http://schemas.openxmlformats.org/drawingml/2006/main" noGrp="1"/>
          </p:cNvSpPr>
          <p:nvPr/>
        </p:nvSpPr>
        <p:spPr>
          <a:xfrm xmlns:a="http://schemas.openxmlformats.org/drawingml/2006/main">
            <a:off x="9525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Sensitivity</a:t>
            </a:r>
          </a:p>
        </p:txBody>
      </p:sp>
      <p:sp>
        <p:nvSpPr>
          <p:cNvPr id="11" name="">
            <a:extLst xmlns:a="http://schemas.openxmlformats.org/drawingml/2006/main">
              <a:ext uri="{FF2B5EF4-FFF2-40B4-BE49-F238E27FC236}">
                <a16:creationId xmlns:a16="http://schemas.microsoft.com/office/drawing/2014/main" id="{F9943C23-C6BE-49C0-8AF4-656ABC5ACCEB}"/>
              </a:ext>
            </a:extLst>
          </p:cNvPr>
          <p:cNvSpPr>
            <a:spLocks xmlns:a="http://schemas.openxmlformats.org/drawingml/2006/main" noGrp="1"/>
          </p:cNvSpPr>
          <p:nvPr/>
        </p:nvSpPr>
        <p:spPr>
          <a:xfrm xmlns:a="http://schemas.openxmlformats.org/drawingml/2006/main">
            <a:off x="9525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What kind of data was exposed?</a:t>
            </a:r>
          </a:p>
        </p:txBody>
      </p:sp>
      <p:sp>
        <p:nvSpPr>
          <p:cNvPr id="12" name="">
            <a:extLst xmlns:a="http://schemas.openxmlformats.org/drawingml/2006/main">
              <a:ext uri="{FF2B5EF4-FFF2-40B4-BE49-F238E27FC236}">
                <a16:creationId xmlns:a16="http://schemas.microsoft.com/office/drawing/2014/main" id="{B72979CA-71C0-4D6C-887D-FB197DED87BF}"/>
              </a:ext>
            </a:extLst>
          </p:cNvPr>
          <p:cNvSpPr>
            <a:spLocks xmlns:a="http://schemas.openxmlformats.org/drawingml/2006/main" noGrp="1"/>
          </p:cNvSpPr>
          <p:nvPr/>
        </p:nvSpPr>
        <p:spPr>
          <a:xfrm xmlns:a="http://schemas.openxmlformats.org/drawingml/2006/main">
            <a:off x="4495800" y="2724150"/>
            <a:ext cx="3257550" cy="2190750"/>
          </a:xfrm>
          <a:prstGeom xmlns:a="http://schemas.openxmlformats.org/drawingml/2006/main" prst="roundRect">
            <a:avLst>
              <a:gd name="adj" fmla="val 3478"/>
            </a:avLst>
          </a:prstGeom>
          <a:solidFill xmlns:a="http://schemas.openxmlformats.org/drawingml/2006/main">
            <a:srgbClr val="E9D5AD"/>
          </a:solidFill>
          <a:ln xmlns:a="http://schemas.openxmlformats.org/drawingml/2006/main" w="9525">
            <a:solidFill>
              <a:srgbClr val="5D4630"/>
            </a:solidFill>
            <a:prstDash val="solid"/>
          </a:ln>
        </p:spPr>
      </p:sp>
      <p:sp>
        <p:nvSpPr>
          <p:cNvPr id="13" name="">
            <a:extLst xmlns:a="http://schemas.openxmlformats.org/drawingml/2006/main">
              <a:ext uri="{FF2B5EF4-FFF2-40B4-BE49-F238E27FC236}">
                <a16:creationId xmlns:a16="http://schemas.microsoft.com/office/drawing/2014/main" id="{F2946AEA-FA2D-4118-83F7-74058AB6F71D}"/>
              </a:ext>
            </a:extLst>
          </p:cNvPr>
          <p:cNvSpPr>
            <a:spLocks xmlns:a="http://schemas.openxmlformats.org/drawingml/2006/main" noGrp="1"/>
          </p:cNvSpPr>
          <p:nvPr/>
        </p:nvSpPr>
        <p:spPr>
          <a:xfrm xmlns:a="http://schemas.openxmlformats.org/drawingml/2006/main">
            <a:off x="466725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Exposure</a:t>
            </a:r>
          </a:p>
        </p:txBody>
      </p:sp>
      <p:sp>
        <p:nvSpPr>
          <p:cNvPr id="14" name="">
            <a:extLst xmlns:a="http://schemas.openxmlformats.org/drawingml/2006/main">
              <a:ext uri="{FF2B5EF4-FFF2-40B4-BE49-F238E27FC236}">
                <a16:creationId xmlns:a16="http://schemas.microsoft.com/office/drawing/2014/main" id="{ADCE158F-20A6-4CE6-B545-A9A1AC72D67A}"/>
              </a:ext>
            </a:extLst>
          </p:cNvPr>
          <p:cNvSpPr>
            <a:spLocks xmlns:a="http://schemas.openxmlformats.org/drawingml/2006/main" noGrp="1"/>
          </p:cNvSpPr>
          <p:nvPr/>
        </p:nvSpPr>
        <p:spPr>
          <a:xfrm xmlns:a="http://schemas.openxmlformats.org/drawingml/2006/main">
            <a:off x="466725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How broadly was it available or downloaded?</a:t>
            </a:r>
          </a:p>
        </p:txBody>
      </p:sp>
      <p:sp>
        <p:nvSpPr>
          <p:cNvPr id="15" name="">
            <a:extLst xmlns:a="http://schemas.openxmlformats.org/drawingml/2006/main">
              <a:ext uri="{FF2B5EF4-FFF2-40B4-BE49-F238E27FC236}">
                <a16:creationId xmlns:a16="http://schemas.microsoft.com/office/drawing/2014/main" id="{9FECD3A0-9A5A-46E6-A694-4018E39C017D}"/>
              </a:ext>
            </a:extLst>
          </p:cNvPr>
          <p:cNvSpPr>
            <a:spLocks xmlns:a="http://schemas.openxmlformats.org/drawingml/2006/main" noGrp="1"/>
          </p:cNvSpPr>
          <p:nvPr/>
        </p:nvSpPr>
        <p:spPr>
          <a:xfrm xmlns:a="http://schemas.openxmlformats.org/drawingml/2006/main">
            <a:off x="82105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6" name="">
            <a:extLst xmlns:a="http://schemas.openxmlformats.org/drawingml/2006/main">
              <a:ext uri="{FF2B5EF4-FFF2-40B4-BE49-F238E27FC236}">
                <a16:creationId xmlns:a16="http://schemas.microsoft.com/office/drawing/2014/main" id="{08AE89F5-EDE4-40B8-A670-D8DBD2DB29AC}"/>
              </a:ext>
            </a:extLst>
          </p:cNvPr>
          <p:cNvSpPr>
            <a:spLocks xmlns:a="http://schemas.openxmlformats.org/drawingml/2006/main" noGrp="1"/>
          </p:cNvSpPr>
          <p:nvPr/>
        </p:nvSpPr>
        <p:spPr>
          <a:xfrm xmlns:a="http://schemas.openxmlformats.org/drawingml/2006/main">
            <a:off x="83820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Harm</a:t>
            </a:r>
          </a:p>
        </p:txBody>
      </p:sp>
      <p:sp>
        <p:nvSpPr>
          <p:cNvPr id="17" name="">
            <a:extLst xmlns:a="http://schemas.openxmlformats.org/drawingml/2006/main">
              <a:ext uri="{FF2B5EF4-FFF2-40B4-BE49-F238E27FC236}">
                <a16:creationId xmlns:a16="http://schemas.microsoft.com/office/drawing/2014/main" id="{0574A9BC-15E3-4BF8-8D67-FF6DB355BD0B}"/>
              </a:ext>
            </a:extLst>
          </p:cNvPr>
          <p:cNvSpPr>
            <a:spLocks xmlns:a="http://schemas.openxmlformats.org/drawingml/2006/main" noGrp="1"/>
          </p:cNvSpPr>
          <p:nvPr/>
        </p:nvSpPr>
        <p:spPr>
          <a:xfrm xmlns:a="http://schemas.openxmlformats.org/drawingml/2006/main">
            <a:off x="83820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What could happen to affected people?</a:t>
            </a:r>
          </a:p>
        </p:txBody>
      </p:sp>
    </p:spTree>
    <p:extLst>
      <p:ext uri="{BB962C8B-B14F-4D97-AF65-F5344CB8AC3E}">
        <p14:creationId xmlns:p14="http://schemas.microsoft.com/office/powerpoint/2010/main" val="83426776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492314-C5F4-45CD-9D5F-D50C4450BA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E10FE75-5CDB-48A6-8D92-3D64B12A3B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EE9276A-538F-44F0-83E7-C1D5C558ACB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ADC0DFC-1759-4470-A2F6-00C6ADB4D174}"/>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48ACCB9-7E27-44DA-994B-12469B99E581}"/>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851DDC1E-D732-4D7A-AF7C-4F35F943DAB1}"/>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10/18</a:t>
            </a:r>
          </a:p>
        </p:txBody>
      </p:sp>
      <p:sp>
        <p:nvSpPr>
          <p:cNvPr id="7" name="">
            <a:extLst xmlns:a="http://schemas.openxmlformats.org/drawingml/2006/main">
              <a:ext uri="{FF2B5EF4-FFF2-40B4-BE49-F238E27FC236}">
                <a16:creationId xmlns:a16="http://schemas.microsoft.com/office/drawing/2014/main" id="{661059B9-46FC-4474-84F6-F6475A431A7A}"/>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FIRST HOUR</a:t>
            </a:r>
          </a:p>
        </p:txBody>
      </p:sp>
      <p:sp>
        <p:nvSpPr>
          <p:cNvPr id="8" name="">
            <a:extLst xmlns:a="http://schemas.openxmlformats.org/drawingml/2006/main">
              <a:ext uri="{FF2B5EF4-FFF2-40B4-BE49-F238E27FC236}">
                <a16:creationId xmlns:a16="http://schemas.microsoft.com/office/drawing/2014/main" id="{CEFEE544-411D-46EF-B59F-4EFF828FD674}"/>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The first response should contain harm and preserve evidence</a:t>
            </a:r>
          </a:p>
        </p:txBody>
      </p:sp>
      <p:sp>
        <p:nvSpPr>
          <p:cNvPr id="9" name="">
            <a:extLst xmlns:a="http://schemas.openxmlformats.org/drawingml/2006/main">
              <a:ext uri="{FF2B5EF4-FFF2-40B4-BE49-F238E27FC236}">
                <a16:creationId xmlns:a16="http://schemas.microsoft.com/office/drawing/2014/main" id="{9671EB52-A178-44C3-B010-34063155351B}"/>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9B4B450-5B9B-4327-8077-A7774C44A6A0}"/>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Disable the public link</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Preserve logs and access records</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Identify exactly what fields were exposed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Confirm whether rumors are supported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Escalate to the privacy or legal contact</a:t>
            </a:r>
          </a:p>
        </p:txBody>
      </p:sp>
    </p:spTree>
    <p:extLst>
      <p:ext uri="{BB962C8B-B14F-4D97-AF65-F5344CB8AC3E}">
        <p14:creationId xmlns:p14="http://schemas.microsoft.com/office/powerpoint/2010/main" val="141977973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BC3E1D-F4F9-4B42-8E84-23756DE8FC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C34E86F-2F29-4C84-9ADF-C562E86E67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C5F82AF-65F6-4B1A-A6E3-BBE65815099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FB4B7C2-D330-4A0D-A34E-8623E80EE3F6}"/>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78AB1C4-34EA-45E2-9292-26D7D6429BD5}"/>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9B7B65D3-156E-449F-9F05-2A4DCD19EFF5}"/>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11/18</a:t>
            </a:r>
          </a:p>
        </p:txBody>
      </p:sp>
      <p:sp>
        <p:nvSpPr>
          <p:cNvPr id="7" name="">
            <a:extLst xmlns:a="http://schemas.openxmlformats.org/drawingml/2006/main">
              <a:ext uri="{FF2B5EF4-FFF2-40B4-BE49-F238E27FC236}">
                <a16:creationId xmlns:a16="http://schemas.microsoft.com/office/drawing/2014/main" id="{8A5F41CB-F7DF-4526-BDB6-29148141686E}"/>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BAD MOVES</a:t>
            </a:r>
          </a:p>
        </p:txBody>
      </p:sp>
      <p:sp>
        <p:nvSpPr>
          <p:cNvPr id="8" name="">
            <a:extLst xmlns:a="http://schemas.openxmlformats.org/drawingml/2006/main">
              <a:ext uri="{FF2B5EF4-FFF2-40B4-BE49-F238E27FC236}">
                <a16:creationId xmlns:a16="http://schemas.microsoft.com/office/drawing/2014/main" id="{8B01304F-B6F8-4A62-B803-7CFA933FF4FF}"/>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Some actions feel decisive but make the response worse</a:t>
            </a:r>
          </a:p>
        </p:txBody>
      </p:sp>
      <p:sp>
        <p:nvSpPr>
          <p:cNvPr id="9" name="">
            <a:extLst xmlns:a="http://schemas.openxmlformats.org/drawingml/2006/main">
              <a:ext uri="{FF2B5EF4-FFF2-40B4-BE49-F238E27FC236}">
                <a16:creationId xmlns:a16="http://schemas.microsoft.com/office/drawing/2014/main" id="{F1084B82-5404-4B65-8CCF-232A00157537}"/>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D977425-36ED-4E76-BAFB-76FACF2E91B6}"/>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Deleting logs destroys evidence</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Saying “nothing happened” before checking scope loses trust</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Saying “everything was hacked” exaggerates beyond evidence</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Resetting passwords may be unnecessary if passwords were not involved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Blaming one intern hides process failures</a:t>
            </a:r>
          </a:p>
        </p:txBody>
      </p:sp>
    </p:spTree>
    <p:extLst>
      <p:ext uri="{BB962C8B-B14F-4D97-AF65-F5344CB8AC3E}">
        <p14:creationId xmlns:p14="http://schemas.microsoft.com/office/powerpoint/2010/main" val="4779371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2720D7-5023-4031-AC40-E8401CF906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D2BAECC-C84E-443C-AF44-216587EC42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9FE26EE-DAE2-4CD8-A937-42E5AC3215B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B100843-3ED8-4DF6-8421-513F7E47A4D2}"/>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4D866A5-3676-4D8F-A294-D77A53FFB42F}"/>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FC585211-DA89-4B1C-BC8B-95D4F7BE1C30}"/>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12/18</a:t>
            </a:r>
          </a:p>
        </p:txBody>
      </p:sp>
      <p:sp>
        <p:nvSpPr>
          <p:cNvPr id="7" name="">
            <a:extLst xmlns:a="http://schemas.openxmlformats.org/drawingml/2006/main">
              <a:ext uri="{FF2B5EF4-FFF2-40B4-BE49-F238E27FC236}">
                <a16:creationId xmlns:a16="http://schemas.microsoft.com/office/drawing/2014/main" id="{1AFFA151-6E16-4241-851C-CD3432C9C500}"/>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PRIVACY LENS</a:t>
            </a:r>
          </a:p>
        </p:txBody>
      </p:sp>
      <p:sp>
        <p:nvSpPr>
          <p:cNvPr id="8" name="">
            <a:extLst xmlns:a="http://schemas.openxmlformats.org/drawingml/2006/main">
              <a:ext uri="{FF2B5EF4-FFF2-40B4-BE49-F238E27FC236}">
                <a16:creationId xmlns:a16="http://schemas.microsoft.com/office/drawing/2014/main" id="{6603B37A-F437-4A86-A765-DA891830AE8F}"/>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The people affected are not just rows in the CSV</a:t>
            </a:r>
          </a:p>
        </p:txBody>
      </p:sp>
      <p:sp>
        <p:nvSpPr>
          <p:cNvPr id="9" name="">
            <a:extLst xmlns:a="http://schemas.openxmlformats.org/drawingml/2006/main">
              <a:ext uri="{FF2B5EF4-FFF2-40B4-BE49-F238E27FC236}">
                <a16:creationId xmlns:a16="http://schemas.microsoft.com/office/drawing/2014/main" id="{D3013695-AAB8-40F4-81AB-40D803662714}"/>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DDC56CD-7C49-41B1-B941-B916BFBAC27D}"/>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Names and emails can identify students</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Login dates can reveal activity patterns</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Help notes can reveal sensitive needs</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Major and points can create profiling or embarrassment</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Communication should respect people, not just protect the institution</a:t>
            </a:r>
          </a:p>
        </p:txBody>
      </p:sp>
    </p:spTree>
    <p:extLst>
      <p:ext uri="{BB962C8B-B14F-4D97-AF65-F5344CB8AC3E}">
        <p14:creationId xmlns:p14="http://schemas.microsoft.com/office/powerpoint/2010/main" val="59476731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1CE9B1-2573-4DC9-A136-C77F6ECBF6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58220BA-1B31-4010-90DD-FA2ECDBDC9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11DF7AD-2CBF-443A-8FCE-6C105701D87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4A3A453-28E9-420A-84BA-2AB14A7F52BB}"/>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5525BF2-426E-4803-B5BB-691368A4EA13}"/>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22A4FBE0-D30B-49FD-AC2B-25AF67685721}"/>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13/18</a:t>
            </a:r>
          </a:p>
        </p:txBody>
      </p:sp>
      <p:sp>
        <p:nvSpPr>
          <p:cNvPr id="7" name="">
            <a:extLst xmlns:a="http://schemas.openxmlformats.org/drawingml/2006/main">
              <a:ext uri="{FF2B5EF4-FFF2-40B4-BE49-F238E27FC236}">
                <a16:creationId xmlns:a16="http://schemas.microsoft.com/office/drawing/2014/main" id="{0D338F2F-B9F2-4DFD-80F5-DDD87074E750}"/>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COMMUNICATION</a:t>
            </a:r>
          </a:p>
        </p:txBody>
      </p:sp>
      <p:sp>
        <p:nvSpPr>
          <p:cNvPr id="8" name="">
            <a:extLst xmlns:a="http://schemas.openxmlformats.org/drawingml/2006/main">
              <a:ext uri="{FF2B5EF4-FFF2-40B4-BE49-F238E27FC236}">
                <a16:creationId xmlns:a16="http://schemas.microsoft.com/office/drawing/2014/main" id="{AC79CBEE-272C-4BBF-BFB6-C1E4DC87E697}"/>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A good incident update is clear, calm, and specific</a:t>
            </a:r>
          </a:p>
        </p:txBody>
      </p:sp>
      <p:sp>
        <p:nvSpPr>
          <p:cNvPr id="9" name="">
            <a:extLst xmlns:a="http://schemas.openxmlformats.org/drawingml/2006/main">
              <a:ext uri="{FF2B5EF4-FFF2-40B4-BE49-F238E27FC236}">
                <a16:creationId xmlns:a16="http://schemas.microsoft.com/office/drawing/2014/main" id="{E0460128-785F-4D38-8D21-4B90E362B555}"/>
              </a:ext>
            </a:extLst>
          </p:cNvPr>
          <p:cNvSpPr>
            <a:spLocks xmlns:a="http://schemas.openxmlformats.org/drawingml/2006/main" noGrp="1"/>
          </p:cNvSpPr>
          <p:nvPr/>
        </p:nvSpPr>
        <p:spPr>
          <a:xfrm xmlns:a="http://schemas.openxmlformats.org/drawingml/2006/main">
            <a:off x="7810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7B47A350-17EA-4FE8-8707-F8E1876E9142}"/>
              </a:ext>
            </a:extLst>
          </p:cNvPr>
          <p:cNvSpPr>
            <a:spLocks xmlns:a="http://schemas.openxmlformats.org/drawingml/2006/main" noGrp="1"/>
          </p:cNvSpPr>
          <p:nvPr/>
        </p:nvSpPr>
        <p:spPr>
          <a:xfrm xmlns:a="http://schemas.openxmlformats.org/drawingml/2006/main">
            <a:off x="9525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Say what happened</a:t>
            </a:r>
          </a:p>
        </p:txBody>
      </p:sp>
      <p:sp>
        <p:nvSpPr>
          <p:cNvPr id="11" name="">
            <a:extLst xmlns:a="http://schemas.openxmlformats.org/drawingml/2006/main">
              <a:ext uri="{FF2B5EF4-FFF2-40B4-BE49-F238E27FC236}">
                <a16:creationId xmlns:a16="http://schemas.microsoft.com/office/drawing/2014/main" id="{F00E6064-52D3-4232-AF85-6D85925238A0}"/>
              </a:ext>
            </a:extLst>
          </p:cNvPr>
          <p:cNvSpPr>
            <a:spLocks xmlns:a="http://schemas.openxmlformats.org/drawingml/2006/main" noGrp="1"/>
          </p:cNvSpPr>
          <p:nvPr/>
        </p:nvSpPr>
        <p:spPr>
          <a:xfrm xmlns:a="http://schemas.openxmlformats.org/drawingml/2006/main">
            <a:off x="9525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Use plain language and confirmed facts.</a:t>
            </a:r>
          </a:p>
        </p:txBody>
      </p:sp>
      <p:sp>
        <p:nvSpPr>
          <p:cNvPr id="12" name="">
            <a:extLst xmlns:a="http://schemas.openxmlformats.org/drawingml/2006/main">
              <a:ext uri="{FF2B5EF4-FFF2-40B4-BE49-F238E27FC236}">
                <a16:creationId xmlns:a16="http://schemas.microsoft.com/office/drawing/2014/main" id="{A4B8BDAD-8145-44C4-B461-3E6415CBABDF}"/>
              </a:ext>
            </a:extLst>
          </p:cNvPr>
          <p:cNvSpPr>
            <a:spLocks xmlns:a="http://schemas.openxmlformats.org/drawingml/2006/main" noGrp="1"/>
          </p:cNvSpPr>
          <p:nvPr/>
        </p:nvSpPr>
        <p:spPr>
          <a:xfrm xmlns:a="http://schemas.openxmlformats.org/drawingml/2006/main">
            <a:off x="4495800" y="2724150"/>
            <a:ext cx="3257550" cy="2190750"/>
          </a:xfrm>
          <a:prstGeom xmlns:a="http://schemas.openxmlformats.org/drawingml/2006/main" prst="roundRect">
            <a:avLst>
              <a:gd name="adj" fmla="val 3478"/>
            </a:avLst>
          </a:prstGeom>
          <a:solidFill xmlns:a="http://schemas.openxmlformats.org/drawingml/2006/main">
            <a:srgbClr val="E9D5AD"/>
          </a:solidFill>
          <a:ln xmlns:a="http://schemas.openxmlformats.org/drawingml/2006/main" w="9525">
            <a:solidFill>
              <a:srgbClr val="5D4630"/>
            </a:solidFill>
            <a:prstDash val="solid"/>
          </a:ln>
        </p:spPr>
      </p:sp>
      <p:sp>
        <p:nvSpPr>
          <p:cNvPr id="13" name="">
            <a:extLst xmlns:a="http://schemas.openxmlformats.org/drawingml/2006/main">
              <a:ext uri="{FF2B5EF4-FFF2-40B4-BE49-F238E27FC236}">
                <a16:creationId xmlns:a16="http://schemas.microsoft.com/office/drawing/2014/main" id="{802CBED4-A060-4541-9505-08E992C22174}"/>
              </a:ext>
            </a:extLst>
          </p:cNvPr>
          <p:cNvSpPr>
            <a:spLocks xmlns:a="http://schemas.openxmlformats.org/drawingml/2006/main" noGrp="1"/>
          </p:cNvSpPr>
          <p:nvPr/>
        </p:nvSpPr>
        <p:spPr>
          <a:xfrm xmlns:a="http://schemas.openxmlformats.org/drawingml/2006/main">
            <a:off x="466725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Say what data was involved</a:t>
            </a:r>
          </a:p>
        </p:txBody>
      </p:sp>
      <p:sp>
        <p:nvSpPr>
          <p:cNvPr id="14" name="">
            <a:extLst xmlns:a="http://schemas.openxmlformats.org/drawingml/2006/main">
              <a:ext uri="{FF2B5EF4-FFF2-40B4-BE49-F238E27FC236}">
                <a16:creationId xmlns:a16="http://schemas.microsoft.com/office/drawing/2014/main" id="{F0E73084-9437-45C8-8794-B870638BDABD}"/>
              </a:ext>
            </a:extLst>
          </p:cNvPr>
          <p:cNvSpPr>
            <a:spLocks xmlns:a="http://schemas.openxmlformats.org/drawingml/2006/main" noGrp="1"/>
          </p:cNvSpPr>
          <p:nvPr/>
        </p:nvSpPr>
        <p:spPr>
          <a:xfrm xmlns:a="http://schemas.openxmlformats.org/drawingml/2006/main">
            <a:off x="466725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Name categories without adding unsupported claims.</a:t>
            </a:r>
          </a:p>
        </p:txBody>
      </p:sp>
      <p:sp>
        <p:nvSpPr>
          <p:cNvPr id="15" name="">
            <a:extLst xmlns:a="http://schemas.openxmlformats.org/drawingml/2006/main">
              <a:ext uri="{FF2B5EF4-FFF2-40B4-BE49-F238E27FC236}">
                <a16:creationId xmlns:a16="http://schemas.microsoft.com/office/drawing/2014/main" id="{4F99BFFE-00E0-4FC4-B3F2-31157E3AB8D4}"/>
              </a:ext>
            </a:extLst>
          </p:cNvPr>
          <p:cNvSpPr>
            <a:spLocks xmlns:a="http://schemas.openxmlformats.org/drawingml/2006/main" noGrp="1"/>
          </p:cNvSpPr>
          <p:nvPr/>
        </p:nvSpPr>
        <p:spPr>
          <a:xfrm xmlns:a="http://schemas.openxmlformats.org/drawingml/2006/main">
            <a:off x="8210550" y="2724150"/>
            <a:ext cx="3257550" cy="2190750"/>
          </a:xfrm>
          <a:prstGeom xmlns:a="http://schemas.openxmlformats.org/drawingml/2006/main" prst="roundRect">
            <a:avLst>
              <a:gd name="adj" fmla="val 3478"/>
            </a:avLst>
          </a:prstGeom>
          <a:solidFill xmlns:a="http://schemas.openxmlformats.org/drawingml/2006/main">
            <a:srgbClr val="F3E3C2"/>
          </a:solidFill>
          <a:ln xmlns:a="http://schemas.openxmlformats.org/drawingml/2006/main" w="9525">
            <a:solidFill>
              <a:srgbClr val="5D4630"/>
            </a:solidFill>
            <a:prstDash val="solid"/>
          </a:ln>
        </p:spPr>
      </p:sp>
      <p:sp>
        <p:nvSpPr>
          <p:cNvPr id="16" name="">
            <a:extLst xmlns:a="http://schemas.openxmlformats.org/drawingml/2006/main">
              <a:ext uri="{FF2B5EF4-FFF2-40B4-BE49-F238E27FC236}">
                <a16:creationId xmlns:a16="http://schemas.microsoft.com/office/drawing/2014/main" id="{89EDE3A1-F8C6-4A8A-8AD8-F5DDE8C9D8C5}"/>
              </a:ext>
            </a:extLst>
          </p:cNvPr>
          <p:cNvSpPr>
            <a:spLocks xmlns:a="http://schemas.openxmlformats.org/drawingml/2006/main" noGrp="1"/>
          </p:cNvSpPr>
          <p:nvPr/>
        </p:nvSpPr>
        <p:spPr>
          <a:xfrm xmlns:a="http://schemas.openxmlformats.org/drawingml/2006/main">
            <a:off x="8382000" y="2876550"/>
            <a:ext cx="29146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251914"/>
                </a:solidFill>
                <a:latin typeface="Aptos"/>
                <a:ea typeface="Aptos"/>
                <a:cs typeface="Aptos"/>
              </a:defRPr>
            </a:pPr>
            <a:r>
              <a:rPr sz="1500" b="1">
                <a:solidFill>
                  <a:srgbClr val="251914"/>
                </a:solidFill>
                <a:latin typeface="Aptos"/>
                <a:ea typeface="Aptos"/>
                <a:cs typeface="Aptos"/>
              </a:rPr>
              <a:t>Say what happens next</a:t>
            </a:r>
          </a:p>
        </p:txBody>
      </p:sp>
      <p:sp>
        <p:nvSpPr>
          <p:cNvPr id="17" name="">
            <a:extLst xmlns:a="http://schemas.openxmlformats.org/drawingml/2006/main">
              <a:ext uri="{FF2B5EF4-FFF2-40B4-BE49-F238E27FC236}">
                <a16:creationId xmlns:a16="http://schemas.microsoft.com/office/drawing/2014/main" id="{34CE15B4-B26F-474E-9359-724FDC7313B5}"/>
              </a:ext>
            </a:extLst>
          </p:cNvPr>
          <p:cNvSpPr>
            <a:spLocks xmlns:a="http://schemas.openxmlformats.org/drawingml/2006/main" noGrp="1"/>
          </p:cNvSpPr>
          <p:nvPr/>
        </p:nvSpPr>
        <p:spPr>
          <a:xfrm xmlns:a="http://schemas.openxmlformats.org/drawingml/2006/main">
            <a:off x="8382000" y="3333750"/>
            <a:ext cx="29146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0">
                <a:solidFill>
                  <a:srgbClr val="251914"/>
                </a:solidFill>
                <a:latin typeface="Aptos"/>
                <a:ea typeface="Aptos"/>
                <a:cs typeface="Aptos"/>
              </a:defRPr>
            </a:pPr>
            <a:r>
              <a:rPr sz="1650" b="0">
                <a:solidFill>
                  <a:srgbClr val="251914"/>
                </a:solidFill>
                <a:latin typeface="Aptos"/>
                <a:ea typeface="Aptos"/>
                <a:cs typeface="Aptos"/>
              </a:rPr>
              <a:t>Containment, review, contact point, and protective steps.</a:t>
            </a:r>
          </a:p>
        </p:txBody>
      </p:sp>
    </p:spTree>
    <p:extLst>
      <p:ext uri="{BB962C8B-B14F-4D97-AF65-F5344CB8AC3E}">
        <p14:creationId xmlns:p14="http://schemas.microsoft.com/office/powerpoint/2010/main" val="125251428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692508-86EB-4628-AA09-48D395801E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709968C-B068-4ED6-ABF5-7DCDA265DD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6C0B7EE-49FE-4CAA-A60F-47D593F46B3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825575A-DE23-4941-A415-EE99EEA7060D}"/>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CE74257-A5CE-4ACA-93A0-FF5DCF8DB2A3}"/>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1AC30CBB-1609-4911-BB62-EFB31DF72517}"/>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14/18</a:t>
            </a:r>
          </a:p>
        </p:txBody>
      </p:sp>
      <p:sp>
        <p:nvSpPr>
          <p:cNvPr id="7" name="">
            <a:extLst xmlns:a="http://schemas.openxmlformats.org/drawingml/2006/main">
              <a:ext uri="{FF2B5EF4-FFF2-40B4-BE49-F238E27FC236}">
                <a16:creationId xmlns:a16="http://schemas.microsoft.com/office/drawing/2014/main" id="{E646C6A4-75E9-4CC7-9DC9-C0AFA5979961}"/>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PREVENTION</a:t>
            </a:r>
          </a:p>
        </p:txBody>
      </p:sp>
      <p:sp>
        <p:nvSpPr>
          <p:cNvPr id="8" name="">
            <a:extLst xmlns:a="http://schemas.openxmlformats.org/drawingml/2006/main">
              <a:ext uri="{FF2B5EF4-FFF2-40B4-BE49-F238E27FC236}">
                <a16:creationId xmlns:a16="http://schemas.microsoft.com/office/drawing/2014/main" id="{F2CE25A9-7F95-416D-9B1D-21AC4B3C8821}"/>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The best fix is usually boring and procedural</a:t>
            </a:r>
          </a:p>
        </p:txBody>
      </p:sp>
      <p:sp>
        <p:nvSpPr>
          <p:cNvPr id="9" name="">
            <a:extLst xmlns:a="http://schemas.openxmlformats.org/drawingml/2006/main">
              <a:ext uri="{FF2B5EF4-FFF2-40B4-BE49-F238E27FC236}">
                <a16:creationId xmlns:a16="http://schemas.microsoft.com/office/drawing/2014/main" id="{60913CA7-A05B-44AC-B626-A15C4A1E2AE3}"/>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849608B-A702-4DD4-83C7-B1506DADD796}"/>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Private-by-default cloud storage</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Access review before sharing files</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Fake or minimized test data</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Remove free-text notes from exports</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Retention rule for temporary files</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Alerts for public links</a:t>
            </a:r>
          </a:p>
        </p:txBody>
      </p:sp>
    </p:spTree>
    <p:extLst>
      <p:ext uri="{BB962C8B-B14F-4D97-AF65-F5344CB8AC3E}">
        <p14:creationId xmlns:p14="http://schemas.microsoft.com/office/powerpoint/2010/main" val="11702902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BBCB8C-8CEC-449D-99A8-1290C0F37F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DB68784-3371-4727-9E70-3F1C8311FB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83D5B8D-4896-4B87-941B-A09A7A530FE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6983DC2-682B-45D9-9A75-D6C18921BFAB}"/>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F08E671-CC4D-47DD-A69E-B03D35145162}"/>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1650C91B-F9A2-431C-B92F-A3B833BC8DE3}"/>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15/18</a:t>
            </a:r>
          </a:p>
        </p:txBody>
      </p:sp>
      <p:sp>
        <p:nvSpPr>
          <p:cNvPr id="7" name="">
            <a:extLst xmlns:a="http://schemas.openxmlformats.org/drawingml/2006/main">
              <a:ext uri="{FF2B5EF4-FFF2-40B4-BE49-F238E27FC236}">
                <a16:creationId xmlns:a16="http://schemas.microsoft.com/office/drawing/2014/main" id="{264CB7BA-F89A-462E-848A-A57CD161E61D}"/>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PROFESSIONAL ANCHOR</a:t>
            </a:r>
          </a:p>
        </p:txBody>
      </p:sp>
      <p:sp>
        <p:nvSpPr>
          <p:cNvPr id="8" name="">
            <a:extLst xmlns:a="http://schemas.openxmlformats.org/drawingml/2006/main">
              <a:ext uri="{FF2B5EF4-FFF2-40B4-BE49-F238E27FC236}">
                <a16:creationId xmlns:a16="http://schemas.microsoft.com/office/drawing/2014/main" id="{3D29EB70-C836-439A-8805-D9883E56D641}"/>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Real guidance uses the same basic pattern</a:t>
            </a:r>
          </a:p>
        </p:txBody>
      </p:sp>
      <p:sp>
        <p:nvSpPr>
          <p:cNvPr id="9" name="">
            <a:extLst xmlns:a="http://schemas.openxmlformats.org/drawingml/2006/main">
              <a:ext uri="{FF2B5EF4-FFF2-40B4-BE49-F238E27FC236}">
                <a16:creationId xmlns:a16="http://schemas.microsoft.com/office/drawing/2014/main" id="{80655887-8319-4C7E-BD7D-3D973826B035}"/>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41C4DDF-A418-4316-91A7-9499BBB08902}"/>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NIST incident response guidance emphasizes preparation, detection, response, and recovery</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NIST Privacy Framework frames privacy as risk management</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FTC breach guidance highlights securing operations and notifying appropriate parties</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Today we practice the beginner version of those habits</a:t>
            </a:r>
          </a:p>
        </p:txBody>
      </p:sp>
    </p:spTree>
    <p:extLst>
      <p:ext uri="{BB962C8B-B14F-4D97-AF65-F5344CB8AC3E}">
        <p14:creationId xmlns:p14="http://schemas.microsoft.com/office/powerpoint/2010/main" val="58948258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183B81-2412-43AA-B3F2-5688554D07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D581EBF-B3CD-4B21-B955-CDC7976D0B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4AF717D-4F04-4ADC-823C-9F0200AB260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4FAD87C-F1D1-4B62-AD83-1A4E4CF72A93}"/>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D076584-D832-4627-8D5D-CEEFD870E615}"/>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EE4197FB-58AE-4EBB-BDA4-46DFDE9358AC}"/>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16/18</a:t>
            </a:r>
          </a:p>
        </p:txBody>
      </p:sp>
      <p:sp>
        <p:nvSpPr>
          <p:cNvPr id="7" name="">
            <a:extLst xmlns:a="http://schemas.openxmlformats.org/drawingml/2006/main">
              <a:ext uri="{FF2B5EF4-FFF2-40B4-BE49-F238E27FC236}">
                <a16:creationId xmlns:a16="http://schemas.microsoft.com/office/drawing/2014/main" id="{D90F6E34-4C98-41E6-89C9-56E7EA6831FD}"/>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TODAY'S LAB</a:t>
            </a:r>
          </a:p>
        </p:txBody>
      </p:sp>
      <p:sp>
        <p:nvSpPr>
          <p:cNvPr id="8" name="">
            <a:extLst xmlns:a="http://schemas.openxmlformats.org/drawingml/2006/main">
              <a:ext uri="{FF2B5EF4-FFF2-40B4-BE49-F238E27FC236}">
                <a16:creationId xmlns:a16="http://schemas.microsoft.com/office/drawing/2014/main" id="{BDE2D06F-EEF5-49DD-8850-A6DDA2A25A52}"/>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Your job: solve the case file without overclaiming</a:t>
            </a:r>
          </a:p>
        </p:txBody>
      </p:sp>
      <p:sp>
        <p:nvSpPr>
          <p:cNvPr id="9" name="">
            <a:extLst xmlns:a="http://schemas.openxmlformats.org/drawingml/2006/main">
              <a:ext uri="{FF2B5EF4-FFF2-40B4-BE49-F238E27FC236}">
                <a16:creationId xmlns:a16="http://schemas.microsoft.com/office/drawing/2014/main" id="{E3E8CE29-C6DA-4463-B395-E29DCE780480}"/>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3CCE926-4B2A-4735-9A35-20EBB3591850}"/>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Mark facts vs. assumptions</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Classify the exposed fields</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Build the timeline</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Score severity</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Choose first-hour actions</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Write a plain-language update</a:t>
            </a:r>
          </a:p>
          <a:p xmlns:a="http://schemas.openxmlformats.org/drawingml/2006/main">
            <a:pPr algn="l">
              <a:defRPr sz="1725" b="0">
                <a:solidFill>
                  <a:srgbClr val="FFF3D7"/>
                </a:solidFill>
                <a:latin typeface="Aptos"/>
                <a:ea typeface="Aptos"/>
                <a:cs typeface="Aptos"/>
              </a:defRPr>
            </a:pPr>
            <a:r>
              <a:rPr sz="1725" b="0">
                <a:solidFill>
                  <a:srgbClr val="FFF3D7"/>
                </a:solidFill>
                <a:latin typeface="Aptos"/>
                <a:ea typeface="Aptos"/>
                <a:cs typeface="Aptos"/>
              </a:rPr>
              <a:t>- Pick prevention controls</a:t>
            </a:r>
          </a:p>
        </p:txBody>
      </p:sp>
    </p:spTree>
    <p:extLst>
      <p:ext uri="{BB962C8B-B14F-4D97-AF65-F5344CB8AC3E}">
        <p14:creationId xmlns:p14="http://schemas.microsoft.com/office/powerpoint/2010/main" val="383067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9D1C3D-948C-4080-A107-DF5B67D93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0F02E8B-E893-4B58-9271-DB4511EFA8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4C52BF8-771C-4F0D-A287-6EF2D75359D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3F2E7B9-45EB-4F30-BBB6-86A3DD894D4F}"/>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3B8ED11-7D8A-4D6A-B586-3C12836BE7FD}"/>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9E1CCF39-3537-43E9-AAD5-02A913A4A502}"/>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17/18</a:t>
            </a:r>
          </a:p>
        </p:txBody>
      </p:sp>
      <p:sp>
        <p:nvSpPr>
          <p:cNvPr id="7" name="">
            <a:extLst xmlns:a="http://schemas.openxmlformats.org/drawingml/2006/main">
              <a:ext uri="{FF2B5EF4-FFF2-40B4-BE49-F238E27FC236}">
                <a16:creationId xmlns:a16="http://schemas.microsoft.com/office/drawing/2014/main" id="{8CC676A1-DECB-4541-B63B-93DBD943B9AC}"/>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MAKE IT USEFUL</a:t>
            </a:r>
          </a:p>
        </p:txBody>
      </p:sp>
      <p:sp>
        <p:nvSpPr>
          <p:cNvPr id="8" name="">
            <a:extLst xmlns:a="http://schemas.openxmlformats.org/drawingml/2006/main">
              <a:ext uri="{FF2B5EF4-FFF2-40B4-BE49-F238E27FC236}">
                <a16:creationId xmlns:a16="http://schemas.microsoft.com/office/drawing/2014/main" id="{EE769B2C-EB46-430D-A2EC-53299F177E45}"/>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If you finish early, connect the method to your final project</a:t>
            </a:r>
          </a:p>
        </p:txBody>
      </p:sp>
      <p:sp>
        <p:nvSpPr>
          <p:cNvPr id="9" name="">
            <a:extLst xmlns:a="http://schemas.openxmlformats.org/drawingml/2006/main">
              <a:ext uri="{FF2B5EF4-FFF2-40B4-BE49-F238E27FC236}">
                <a16:creationId xmlns:a16="http://schemas.microsoft.com/office/drawing/2014/main" id="{CA7FCEBB-9F27-455D-B6D5-293D29EB61D0}"/>
              </a:ext>
            </a:extLst>
          </p:cNvPr>
          <p:cNvSpPr>
            <a:spLocks xmlns:a="http://schemas.openxmlformats.org/drawingml/2006/main" noGrp="1"/>
          </p:cNvSpPr>
          <p:nvPr/>
        </p:nvSpPr>
        <p:spPr>
          <a:xfrm xmlns:a="http://schemas.openxmlformats.org/drawingml/2006/main">
            <a:off x="952500" y="2524125"/>
            <a:ext cx="9810750" cy="3333750"/>
          </a:xfrm>
          <a:prstGeom xmlns:a="http://schemas.openxmlformats.org/drawingml/2006/main" prst="roundRect">
            <a:avLst>
              <a:gd name="adj" fmla="val 2286"/>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AF66102-C5D2-45C0-B77D-07450594BBA4}"/>
              </a:ext>
            </a:extLst>
          </p:cNvPr>
          <p:cNvSpPr>
            <a:spLocks xmlns:a="http://schemas.openxmlformats.org/drawingml/2006/main" noGrp="1"/>
          </p:cNvSpPr>
          <p:nvPr/>
        </p:nvSpPr>
        <p:spPr>
          <a:xfrm xmlns:a="http://schemas.openxmlformats.org/drawingml/2006/main">
            <a:off x="1200150" y="2752725"/>
            <a:ext cx="9315450" cy="2876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What facts does my project actually prove?</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What assumptions should I avoid?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What data or people could be harmed?</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What recommendation is realistic?</a:t>
            </a:r>
          </a:p>
          <a:p xmlns:a="http://schemas.openxmlformats.org/drawingml/2006/main">
            <a:pPr algn="l">
              <a:defRPr sz="1875" b="0">
                <a:solidFill>
                  <a:srgbClr val="FFF3D7"/>
                </a:solidFill>
                <a:latin typeface="Aptos"/>
                <a:ea typeface="Aptos"/>
                <a:cs typeface="Aptos"/>
              </a:defRPr>
            </a:pPr>
            <a:r>
              <a:rPr sz="1875" b="0">
                <a:solidFill>
                  <a:srgbClr val="FFF3D7"/>
                </a:solidFill>
                <a:latin typeface="Aptos"/>
                <a:ea typeface="Aptos"/>
                <a:cs typeface="Aptos"/>
              </a:rPr>
              <a:t>- What limitation should I admit?</a:t>
            </a:r>
          </a:p>
        </p:txBody>
      </p:sp>
    </p:spTree>
    <p:extLst>
      <p:ext uri="{BB962C8B-B14F-4D97-AF65-F5344CB8AC3E}">
        <p14:creationId xmlns:p14="http://schemas.microsoft.com/office/powerpoint/2010/main" val="160115933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136173-EED9-40FD-86BC-38020B0E8C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2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B590565-79C0-420D-BB29-38F9E1186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31A1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5251622-861E-4A5E-892B-1BBA990C261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B000"/>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CB0B0D0-08CE-4118-B82F-1CDE96C6CE35}"/>
              </a:ext>
            </a:extLst>
          </p:cNvPr>
          <p:cNvSpPr>
            <a:spLocks xmlns:a="http://schemas.openxmlformats.org/drawingml/2006/main" noGrp="1"/>
          </p:cNvSpPr>
          <p:nvPr/>
        </p:nvSpPr>
        <p:spPr>
          <a:xfrm xmlns:a="http://schemas.openxmlformats.org/drawingml/2006/main">
            <a:off x="419100" y="428625"/>
            <a:ext cx="1571625" cy="304800"/>
          </a:xfrm>
          <a:prstGeom xmlns:a="http://schemas.openxmlformats.org/drawingml/2006/main" prst="roundRect">
            <a:avLst>
              <a:gd name="adj" fmla="val 25000"/>
            </a:avLst>
          </a:prstGeom>
          <a:solidFill xmlns:a="http://schemas.openxmlformats.org/drawingml/2006/main">
            <a:srgbClr val="3A2D2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715DCE5-0A46-4E8D-8122-BA5FF00BEEC6}"/>
              </a:ext>
            </a:extLst>
          </p:cNvPr>
          <p:cNvSpPr>
            <a:spLocks xmlns:a="http://schemas.openxmlformats.org/drawingml/2006/main" noGrp="1"/>
          </p:cNvSpPr>
          <p:nvPr/>
        </p:nvSpPr>
        <p:spPr>
          <a:xfrm xmlns:a="http://schemas.openxmlformats.org/drawingml/2006/main">
            <a:off x="533400" y="47625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76200" rIns="38100" bIns="76200" anchor="t"/>
          <a:lstStyle xmlns:a="http://schemas.openxmlformats.org/drawingml/2006/main"/>
          <a:p xmlns:a="http://schemas.openxmlformats.org/drawingml/2006/main">
            <a:pPr algn="ctr">
              <a:defRPr sz="975" b="1">
                <a:solidFill>
                  <a:srgbClr val="FFB000"/>
                </a:solidFill>
                <a:latin typeface="Aptos"/>
                <a:ea typeface="Aptos"/>
                <a:cs typeface="Aptos"/>
              </a:defRPr>
            </a:pPr>
            <a:r>
              <a:rPr sz="975" b="1">
                <a:solidFill>
                  <a:srgbClr val="FFB000"/>
                </a:solidFill>
                <a:latin typeface="Aptos"/>
                <a:ea typeface="Aptos"/>
                <a:cs typeface="Aptos"/>
              </a:rPr>
              <a:t>Week 14 Day 2</a:t>
            </a:r>
          </a:p>
        </p:txBody>
      </p:sp>
      <p:sp>
        <p:nvSpPr>
          <p:cNvPr id="6" name="">
            <a:extLst xmlns:a="http://schemas.openxmlformats.org/drawingml/2006/main">
              <a:ext uri="{FF2B5EF4-FFF2-40B4-BE49-F238E27FC236}">
                <a16:creationId xmlns:a16="http://schemas.microsoft.com/office/drawing/2014/main" id="{905D51F7-EE89-42C6-99E0-03C869279AC2}"/>
              </a:ext>
            </a:extLst>
          </p:cNvPr>
          <p:cNvSpPr>
            <a:spLocks xmlns:a="http://schemas.openxmlformats.org/drawingml/2006/main" noGrp="1"/>
          </p:cNvSpPr>
          <p:nvPr/>
        </p:nvSpPr>
        <p:spPr>
          <a:xfrm xmlns:a="http://schemas.openxmlformats.org/drawingml/2006/main">
            <a:off x="10839450" y="4381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050" b="0">
                <a:solidFill>
                  <a:srgbClr val="D9C6A3"/>
                </a:solidFill>
                <a:latin typeface="Aptos"/>
                <a:ea typeface="Aptos"/>
                <a:cs typeface="Aptos"/>
              </a:defRPr>
            </a:pPr>
            <a:r>
              <a:rPr sz="1050" b="0">
                <a:solidFill>
                  <a:srgbClr val="D9C6A3"/>
                </a:solidFill>
                <a:latin typeface="Aptos"/>
                <a:ea typeface="Aptos"/>
                <a:cs typeface="Aptos"/>
              </a:rPr>
              <a:t>18/18</a:t>
            </a:r>
          </a:p>
        </p:txBody>
      </p:sp>
      <p:sp>
        <p:nvSpPr>
          <p:cNvPr id="7" name="">
            <a:extLst xmlns:a="http://schemas.openxmlformats.org/drawingml/2006/main">
              <a:ext uri="{FF2B5EF4-FFF2-40B4-BE49-F238E27FC236}">
                <a16:creationId xmlns:a16="http://schemas.microsoft.com/office/drawing/2014/main" id="{6DA7A6FC-7C84-4178-89C7-06BD0EB1B199}"/>
              </a:ext>
            </a:extLst>
          </p:cNvPr>
          <p:cNvSpPr>
            <a:spLocks xmlns:a="http://schemas.openxmlformats.org/drawingml/2006/main" noGrp="1"/>
          </p:cNvSpPr>
          <p:nvPr/>
        </p:nvSpPr>
        <p:spPr>
          <a:xfrm xmlns:a="http://schemas.openxmlformats.org/drawingml/2006/main">
            <a:off x="723900" y="8953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3CDDA"/>
                </a:solidFill>
                <a:latin typeface="Aptos Display"/>
                <a:ea typeface="Aptos Display"/>
                <a:cs typeface="Aptos Display"/>
              </a:defRPr>
            </a:pPr>
            <a:r>
              <a:rPr sz="1350" b="1">
                <a:solidFill>
                  <a:srgbClr val="63CDDA"/>
                </a:solidFill>
                <a:latin typeface="Aptos Display"/>
                <a:ea typeface="Aptos Display"/>
                <a:cs typeface="Aptos Display"/>
              </a:rPr>
              <a:t>EXIT TICKET</a:t>
            </a:r>
          </a:p>
        </p:txBody>
      </p:sp>
      <p:sp>
        <p:nvSpPr>
          <p:cNvPr id="8" name="">
            <a:extLst xmlns:a="http://schemas.openxmlformats.org/drawingml/2006/main">
              <a:ext uri="{FF2B5EF4-FFF2-40B4-BE49-F238E27FC236}">
                <a16:creationId xmlns:a16="http://schemas.microsoft.com/office/drawing/2014/main" id="{917F2798-5742-43F6-9CD5-2B4F91FD4051}"/>
              </a:ext>
            </a:extLst>
          </p:cNvPr>
          <p:cNvSpPr>
            <a:spLocks xmlns:a="http://schemas.openxmlformats.org/drawingml/2006/main" noGrp="1"/>
          </p:cNvSpPr>
          <p:nvPr/>
        </p:nvSpPr>
        <p:spPr>
          <a:xfrm xmlns:a="http://schemas.openxmlformats.org/drawingml/2006/main">
            <a:off x="723900" y="1257300"/>
            <a:ext cx="9953625"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150" b="1">
                <a:solidFill>
                  <a:srgbClr val="FFF3D7"/>
                </a:solidFill>
                <a:latin typeface="Aptos Display"/>
                <a:ea typeface="Aptos Display"/>
                <a:cs typeface="Aptos Display"/>
              </a:defRPr>
            </a:pPr>
            <a:r>
              <a:rPr sz="3150" b="1">
                <a:solidFill>
                  <a:srgbClr val="FFF3D7"/>
                </a:solidFill>
                <a:latin typeface="Aptos Display"/>
                <a:ea typeface="Aptos Display"/>
                <a:cs typeface="Aptos Display"/>
              </a:rPr>
              <a:t>Before you leave: what did the evidence support?</a:t>
            </a:r>
          </a:p>
        </p:txBody>
      </p:sp>
      <p:sp>
        <p:nvSpPr>
          <p:cNvPr id="9" name="">
            <a:extLst xmlns:a="http://schemas.openxmlformats.org/drawingml/2006/main">
              <a:ext uri="{FF2B5EF4-FFF2-40B4-BE49-F238E27FC236}">
                <a16:creationId xmlns:a16="http://schemas.microsoft.com/office/drawing/2014/main" id="{37DE9939-D3DF-4442-B7E3-CA145F77B28B}"/>
              </a:ext>
            </a:extLst>
          </p:cNvPr>
          <p:cNvSpPr>
            <a:spLocks xmlns:a="http://schemas.openxmlformats.org/drawingml/2006/main" noGrp="1"/>
          </p:cNvSpPr>
          <p:nvPr/>
        </p:nvSpPr>
        <p:spPr>
          <a:xfrm xmlns:a="http://schemas.openxmlformats.org/drawingml/2006/main">
            <a:off x="781050" y="2590800"/>
            <a:ext cx="4333875" cy="1666875"/>
          </a:xfrm>
          <a:prstGeom xmlns:a="http://schemas.openxmlformats.org/drawingml/2006/main" prst="roundRect">
            <a:avLst>
              <a:gd name="adj" fmla="val 4571"/>
            </a:avLst>
          </a:prstGeom>
          <a:solidFill xmlns:a="http://schemas.openxmlformats.org/drawingml/2006/main">
            <a:srgbClr val="F3E3C2"/>
          </a:solidFill>
          <a:ln xmlns:a="http://schemas.openxmlformats.org/drawingml/2006/main" w="9525">
            <a:solidFill>
              <a:srgbClr val="5D4630"/>
            </a:solidFill>
            <a:prstDash val="solid"/>
          </a:ln>
        </p:spPr>
      </p:sp>
      <p:sp>
        <p:nvSpPr>
          <p:cNvPr id="10" name="">
            <a:extLst xmlns:a="http://schemas.openxmlformats.org/drawingml/2006/main">
              <a:ext uri="{FF2B5EF4-FFF2-40B4-BE49-F238E27FC236}">
                <a16:creationId xmlns:a16="http://schemas.microsoft.com/office/drawing/2014/main" id="{DF402C1C-DA11-48B5-8E15-BCCA96250ED3}"/>
              </a:ext>
            </a:extLst>
          </p:cNvPr>
          <p:cNvSpPr>
            <a:spLocks xmlns:a="http://schemas.openxmlformats.org/drawingml/2006/main" noGrp="1"/>
          </p:cNvSpPr>
          <p:nvPr/>
        </p:nvSpPr>
        <p:spPr>
          <a:xfrm xmlns:a="http://schemas.openxmlformats.org/drawingml/2006/main">
            <a:off x="1028700" y="2971800"/>
            <a:ext cx="3838575"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550" b="1">
                <a:solidFill>
                  <a:srgbClr val="251914"/>
                </a:solidFill>
                <a:latin typeface="Aptos Display"/>
                <a:ea typeface="Aptos Display"/>
                <a:cs typeface="Aptos Display"/>
              </a:defRPr>
            </a:pPr>
            <a:r>
              <a:rPr sz="2550" b="1">
                <a:solidFill>
                  <a:srgbClr val="251914"/>
                </a:solidFill>
                <a:latin typeface="Aptos Display"/>
                <a:ea typeface="Aptos Display"/>
                <a:cs typeface="Aptos Display"/>
              </a:rPr>
              <a:t>Facts. Harm. Action. Prevention.</a:t>
            </a:r>
          </a:p>
        </p:txBody>
      </p:sp>
      <p:sp>
        <p:nvSpPr>
          <p:cNvPr id="11" name="">
            <a:extLst xmlns:a="http://schemas.openxmlformats.org/drawingml/2006/main">
              <a:ext uri="{FF2B5EF4-FFF2-40B4-BE49-F238E27FC236}">
                <a16:creationId xmlns:a16="http://schemas.microsoft.com/office/drawing/2014/main" id="{D930C83E-CAF9-44EC-B096-F8215C18E3B3}"/>
              </a:ext>
            </a:extLst>
          </p:cNvPr>
          <p:cNvSpPr>
            <a:spLocks xmlns:a="http://schemas.openxmlformats.org/drawingml/2006/main" noGrp="1"/>
          </p:cNvSpPr>
          <p:nvPr/>
        </p:nvSpPr>
        <p:spPr>
          <a:xfrm xmlns:a="http://schemas.openxmlformats.org/drawingml/2006/main">
            <a:off x="5619750" y="2476500"/>
            <a:ext cx="5572125" cy="3143250"/>
          </a:xfrm>
          <a:prstGeom xmlns:a="http://schemas.openxmlformats.org/drawingml/2006/main" prst="roundRect">
            <a:avLst>
              <a:gd name="adj" fmla="val 2424"/>
            </a:avLst>
          </a:prstGeom>
          <a:solidFill xmlns:a="http://schemas.openxmlformats.org/drawingml/2006/main">
            <a:srgbClr val="2D241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4B4B908-E4A8-42BE-9626-22F0FD62564C}"/>
              </a:ext>
            </a:extLst>
          </p:cNvPr>
          <p:cNvSpPr>
            <a:spLocks xmlns:a="http://schemas.openxmlformats.org/drawingml/2006/main" noGrp="1"/>
          </p:cNvSpPr>
          <p:nvPr/>
        </p:nvSpPr>
        <p:spPr>
          <a:xfrm xmlns:a="http://schemas.openxmlformats.org/drawingml/2006/main">
            <a:off x="5867400" y="2705100"/>
            <a:ext cx="5076825" cy="2686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Most important confirmed fact</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Most dangerous rumor or assumption</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Strongest first-hour action</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Best prevention control</a:t>
            </a:r>
          </a:p>
          <a:p xmlns:a="http://schemas.openxmlformats.org/drawingml/2006/main">
            <a:pPr algn="l">
              <a:defRPr sz="1800" b="0">
                <a:solidFill>
                  <a:srgbClr val="FFF3D7"/>
                </a:solidFill>
                <a:latin typeface="Aptos"/>
                <a:ea typeface="Aptos"/>
                <a:cs typeface="Aptos"/>
              </a:defRPr>
            </a:pPr>
            <a:r>
              <a:rPr sz="1800" b="0">
                <a:solidFill>
                  <a:srgbClr val="FFF3D7"/>
                </a:solidFill>
                <a:latin typeface="Aptos"/>
                <a:ea typeface="Aptos"/>
                <a:cs typeface="Aptos"/>
              </a:rPr>
              <a:t>- One useful final-project connection</a:t>
            </a:r>
          </a:p>
        </p:txBody>
      </p:sp>
    </p:spTree>
    <p:extLst>
      <p:ext uri="{BB962C8B-B14F-4D97-AF65-F5344CB8AC3E}">
        <p14:creationId xmlns:p14="http://schemas.microsoft.com/office/powerpoint/2010/main" val="5139470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2026-05-14T18:41:18.2040000Z</dcterms:created>
  <dcterms:modified xsi:type="dcterms:W3CDTF">2026-05-14T18:41:18.2040000Z</dcterms:modified>
</coreProperties>
</file>