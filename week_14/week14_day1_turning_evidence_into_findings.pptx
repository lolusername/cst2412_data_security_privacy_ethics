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be683ef5434b11" /><Relationship Type="http://schemas.openxmlformats.org/officeDocument/2006/relationships/extended-properties" Target="/docProps/app.xml" Id="R4cb1efe4a26e4232" /><Relationship Type="http://schemas.openxmlformats.org/officeDocument/2006/relationships/officeDocument" Target="/ppt/presentation.xml" Id="R28d150ba1e824216" /></Relationships>
</file>

<file path=ppt/presentation.xml><?xml version="1.0" encoding="utf-8"?>
<p:presentation xmlns:p="http://schemas.openxmlformats.org/presentationml/2006/main">
  <p:sldMasterIdLst>
    <p:sldMasterId xmlns:r="http://schemas.openxmlformats.org/officeDocument/2006/relationships" id="2147483648" r:id="R891191be22044f44"/>
  </p:sldMasterIdLst>
  <p:notesMasterIdLst>
    <p:notesMasterId xmlns:r="http://schemas.openxmlformats.org/officeDocument/2006/relationships" r:id="R8cba210d1f1c4178"/>
  </p:notesMasterIdLst>
  <p:sldIdLst>
    <p:sldId xmlns:r="http://schemas.openxmlformats.org/officeDocument/2006/relationships" id="256" r:id="R2213b25f0cbd4edc"/>
    <p:sldId xmlns:r="http://schemas.openxmlformats.org/officeDocument/2006/relationships" id="257" r:id="Re9dbbc8cbe6045f0"/>
    <p:sldId xmlns:r="http://schemas.openxmlformats.org/officeDocument/2006/relationships" id="258" r:id="Rab9a535a59e640cc"/>
    <p:sldId xmlns:r="http://schemas.openxmlformats.org/officeDocument/2006/relationships" id="259" r:id="R9f182799d9b44a27"/>
    <p:sldId xmlns:r="http://schemas.openxmlformats.org/officeDocument/2006/relationships" id="260" r:id="R8f2383a8fb474e03"/>
    <p:sldId xmlns:r="http://schemas.openxmlformats.org/officeDocument/2006/relationships" id="261" r:id="Rde553d0bbdb84475"/>
    <p:sldId xmlns:r="http://schemas.openxmlformats.org/officeDocument/2006/relationships" id="262" r:id="Rd4423c692d2a49bf"/>
    <p:sldId xmlns:r="http://schemas.openxmlformats.org/officeDocument/2006/relationships" id="263" r:id="Rf5643e7fec784929"/>
    <p:sldId xmlns:r="http://schemas.openxmlformats.org/officeDocument/2006/relationships" id="264" r:id="R3500cda7bf4a46e4"/>
    <p:sldId xmlns:r="http://schemas.openxmlformats.org/officeDocument/2006/relationships" id="265" r:id="R4569aca332ff4926"/>
    <p:sldId xmlns:r="http://schemas.openxmlformats.org/officeDocument/2006/relationships" id="266" r:id="R3ae4a1fb3298496c"/>
    <p:sldId xmlns:r="http://schemas.openxmlformats.org/officeDocument/2006/relationships" id="267" r:id="Re200694a653342d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891191be22044f44" /><Relationship Type="http://schemas.openxmlformats.org/officeDocument/2006/relationships/theme" Target="/ppt/theme/theme1.xml" Id="Rbefac4f511e647d0" /><Relationship Type="http://schemas.openxmlformats.org/officeDocument/2006/relationships/notesMaster" Target="/ppt/notesMasters/notesMaster1.xml" Id="R8cba210d1f1c4178" /><Relationship Type="http://schemas.openxmlformats.org/officeDocument/2006/relationships/presProps" Target="/ppt/presProps.xml" Id="R406bbdefa32548b4" /><Relationship Type="http://schemas.openxmlformats.org/officeDocument/2006/relationships/viewProps" Target="/ppt/viewProps.xml" Id="Rcba218d7fd334b1d" /><Relationship Type="http://schemas.openxmlformats.org/officeDocument/2006/relationships/tableStyles" Target="/ppt/tableStyles.xml" Id="Re52d8f3e184743c4" /><Relationship Type="http://schemas.openxmlformats.org/officeDocument/2006/relationships/slide" Target="/ppt/slides/slide1.xml" Id="R2213b25f0cbd4edc" /><Relationship Type="http://schemas.openxmlformats.org/officeDocument/2006/relationships/slide" Target="/ppt/slides/slide2.xml" Id="Re9dbbc8cbe6045f0" /><Relationship Type="http://schemas.openxmlformats.org/officeDocument/2006/relationships/slide" Target="/ppt/slides/slide3.xml" Id="Rab9a535a59e640cc" /><Relationship Type="http://schemas.openxmlformats.org/officeDocument/2006/relationships/slide" Target="/ppt/slides/slide4.xml" Id="R9f182799d9b44a27" /><Relationship Type="http://schemas.openxmlformats.org/officeDocument/2006/relationships/slide" Target="/ppt/slides/slide5.xml" Id="R8f2383a8fb474e03" /><Relationship Type="http://schemas.openxmlformats.org/officeDocument/2006/relationships/slide" Target="/ppt/slides/slide6.xml" Id="Rde553d0bbdb84475" /><Relationship Type="http://schemas.openxmlformats.org/officeDocument/2006/relationships/slide" Target="/ppt/slides/slide7.xml" Id="Rd4423c692d2a49bf" /><Relationship Type="http://schemas.openxmlformats.org/officeDocument/2006/relationships/slide" Target="/ppt/slides/slide8.xml" Id="Rf5643e7fec784929" /><Relationship Type="http://schemas.openxmlformats.org/officeDocument/2006/relationships/slide" Target="/ppt/slides/slide9.xml" Id="R3500cda7bf4a46e4" /><Relationship Type="http://schemas.openxmlformats.org/officeDocument/2006/relationships/slide" Target="/ppt/slides/slide10.xml" Id="R4569aca332ff4926" /><Relationship Type="http://schemas.openxmlformats.org/officeDocument/2006/relationships/slide" Target="/ppt/slides/slide11.xml" Id="R3ae4a1fb3298496c" /><Relationship Type="http://schemas.openxmlformats.org/officeDocument/2006/relationships/slide" Target="/ppt/slides/slide12.xml" Id="Re200694a653342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4976ab28a5994d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332acde22b48bc" /><Relationship Type="http://schemas.openxmlformats.org/officeDocument/2006/relationships/notesMaster" Target="/ppt/notesMasters/notesMaster1.xml" Id="R639617f7f96c4c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2b7b249ae749a3" /><Relationship Type="http://schemas.openxmlformats.org/officeDocument/2006/relationships/notesMaster" Target="/ppt/notesMasters/notesMaster1.xml" Id="Rb5809aabf8ff41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dce779e521439b" /><Relationship Type="http://schemas.openxmlformats.org/officeDocument/2006/relationships/notesMaster" Target="/ppt/notesMasters/notesMaster1.xml" Id="R05cc747253c444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191d2a8d794450" /><Relationship Type="http://schemas.openxmlformats.org/officeDocument/2006/relationships/notesMaster" Target="/ppt/notesMasters/notesMaster1.xml" Id="R7743f41b596d4f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6dd223c5bb4343" /><Relationship Type="http://schemas.openxmlformats.org/officeDocument/2006/relationships/notesMaster" Target="/ppt/notesMasters/notesMaster1.xml" Id="R9fa1b3ec02ee42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6ad121c1d7424b" /><Relationship Type="http://schemas.openxmlformats.org/officeDocument/2006/relationships/notesMaster" Target="/ppt/notesMasters/notesMaster1.xml" Id="R5fa033051cda46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52d7129a8645aa" /><Relationship Type="http://schemas.openxmlformats.org/officeDocument/2006/relationships/notesMaster" Target="/ppt/notesMasters/notesMaster1.xml" Id="R85b36e73eaf64e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63456911d44dd7" /><Relationship Type="http://schemas.openxmlformats.org/officeDocument/2006/relationships/notesMaster" Target="/ppt/notesMasters/notesMaster1.xml" Id="Re3c98fa145ae4b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16109b157841fd" /><Relationship Type="http://schemas.openxmlformats.org/officeDocument/2006/relationships/notesMaster" Target="/ppt/notesMasters/notesMaster1.xml" Id="R1aaf3c9800434c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9746816db44196" /><Relationship Type="http://schemas.openxmlformats.org/officeDocument/2006/relationships/notesMaster" Target="/ppt/notesMasters/notesMaster1.xml" Id="R28e15ef26fca47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d7fb5ff8d648ba" /><Relationship Type="http://schemas.openxmlformats.org/officeDocument/2006/relationships/notesMaster" Target="/ppt/notesMasters/notesMaster1.xml" Id="R2f9a3157cc6c4f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c515316d9f4e17" /><Relationship Type="http://schemas.openxmlformats.org/officeDocument/2006/relationships/notesMaster" Target="/ppt/notesMasters/notesMaster1.xml" Id="Ra012122bca2246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Today is a final project studio day with a short lesson at the beginning. The main skill is turning evidence into findings. Evidence is the data, source, quote, chart, or observation. A finding is the claim you make from that evidence. By the end of class, you should have a project question, an evidence list, two or three draft findings, a recommendation, and a privacy or ethics paragraph started.</a:t>
            </a:r>
          </a:p>
          <a:p xmlns:a="http://schemas.openxmlformats.org/drawingml/2006/main">
            <a:r>
              <a:t/>
            </a:r>
          </a:p>
          <a:p xmlns:a="http://schemas.openxmlformats.org/drawingml/2006/main">
            <a:r>
              <a:t>THINGS TO MENTION:</a:t>
            </a:r>
          </a:p>
          <a:p xmlns:a="http://schemas.openxmlformats.org/drawingml/2006/main">
            <a:r>
              <a:t>- This is mostly work time.</a:t>
            </a:r>
          </a:p>
          <a:p xmlns:a="http://schemas.openxmlformats.org/drawingml/2006/main">
            <a:r>
              <a:t>- No presentations.</a:t>
            </a:r>
          </a:p>
          <a:p xmlns:a="http://schemas.openxmlformats.org/drawingml/2006/main">
            <a:r>
              <a:t>- Due date: May 26,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Evidence is not the same thing as a finding. Evidence is the thing you found: a table, a chart, a quote, a source, or a code output. A finding is your interpretation of that evidence. A recommendation is the action that follows from the finding. This structure matters because final projects often get weak when they list facts without explaining what the facts mean.</a:t>
            </a:r>
          </a:p>
          <a:p xmlns:a="http://schemas.openxmlformats.org/drawingml/2006/main">
            <a:r>
              <a:t/>
            </a:r>
          </a:p>
          <a:p xmlns:a="http://schemas.openxmlformats.org/drawingml/2006/main">
            <a:r>
              <a:t>THINGS TO MENTION:</a:t>
            </a:r>
          </a:p>
          <a:p xmlns:a="http://schemas.openxmlformats.org/drawingml/2006/main">
            <a:r>
              <a:t>- Use evidence, finding, recommendation as the main frame.</a:t>
            </a:r>
          </a:p>
          <a:p xmlns:a="http://schemas.openxmlformats.org/drawingml/2006/main">
            <a:r>
              <a:t>- Students should apply this to both paths.</a:t>
            </a:r>
          </a:p>
          <a:p xmlns:a="http://schemas.openxmlformats.org/drawingml/2006/main">
            <a:r>
              <a:t>- Avoid fact dumps.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weak finding is too general, like security is important. A stronger finding names the system, case, or dataset and explains what the evidence suggests. For example: the Student Portal deserves review first because it combines high criticality, sensitive data, internet exposure, repeated failed logins, and successful logins after failures. That is specific. It can be checked against evidence.</a:t>
            </a:r>
          </a:p>
          <a:p xmlns:a="http://schemas.openxmlformats.org/drawingml/2006/main">
            <a:r>
              <a:t/>
            </a:r>
          </a:p>
          <a:p xmlns:a="http://schemas.openxmlformats.org/drawingml/2006/main">
            <a:r>
              <a:t>THINGS TO MENTION:</a:t>
            </a:r>
          </a:p>
          <a:p xmlns:a="http://schemas.openxmlformats.org/drawingml/2006/main">
            <a:r>
              <a:t>- Show concrete stronger finding.</a:t>
            </a:r>
          </a:p>
          <a:p xmlns:a="http://schemas.openxmlformats.org/drawingml/2006/main">
            <a:r>
              <a:t>- Specific claims are easier to grade and defend.</a:t>
            </a:r>
          </a:p>
          <a:p xmlns:a="http://schemas.openxmlformats.org/drawingml/2006/main">
            <a:r>
              <a:t>- Connect to sample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 are doing the coding path, your notebook or script is only part of the final project. You also need the report. The report explains what the code result means. Do not only paste code. Do not assume the reader knows why your table matters. Use two or three findings and write like a junior analyst: what I reviewed, what I found, why it matters, what I recommend, and what limitation remains.</a:t>
            </a:r>
          </a:p>
          <a:p xmlns:a="http://schemas.openxmlformats.org/drawingml/2006/main">
            <a:r>
              <a:t/>
            </a:r>
          </a:p>
          <a:p xmlns:a="http://schemas.openxmlformats.org/drawingml/2006/main">
            <a:r>
              <a:t>THINGS TO MENTION:</a:t>
            </a:r>
          </a:p>
          <a:p xmlns:a="http://schemas.openxmlformats.org/drawingml/2006/main">
            <a:r>
              <a:t>- Report matters as much as code.</a:t>
            </a:r>
          </a:p>
          <a:p xmlns:a="http://schemas.openxmlformats.org/drawingml/2006/main">
            <a:r>
              <a:t>- Write analyst-style.</a:t>
            </a:r>
          </a:p>
          <a:p xmlns:a="http://schemas.openxmlformats.org/drawingml/2006/main">
            <a:r>
              <a:t>- Keep scope beginner-friendly.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 are writing the MLA essay, avoid writing three separate source summaries with no argument. The essay needs one main claim. Each source should help build, complicate, or support that claim. You still need a security issue, a privacy or ethics issue, and a recommendation. You also need MLA in-text citations and a Works Cited page. The writing should feel focused, not like a general overview.</a:t>
            </a:r>
          </a:p>
          <a:p xmlns:a="http://schemas.openxmlformats.org/drawingml/2006/main">
            <a:r>
              <a:t/>
            </a:r>
          </a:p>
          <a:p xmlns:a="http://schemas.openxmlformats.org/drawingml/2006/main">
            <a:r>
              <a:t>THINGS TO MENTION:</a:t>
            </a:r>
          </a:p>
          <a:p xmlns:a="http://schemas.openxmlformats.org/drawingml/2006/main">
            <a:r>
              <a:t>- Essay is not a generic summary.</a:t>
            </a:r>
          </a:p>
          <a:p xmlns:a="http://schemas.openxmlformats.org/drawingml/2006/main">
            <a:r>
              <a:t>- MLA format is required.</a:t>
            </a:r>
          </a:p>
          <a:p xmlns:a="http://schemas.openxmlformats.org/drawingml/2006/main">
            <a:r>
              <a:t>- Connect sources to one argument.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sample project shows the expected scale for a beginner coding project. It loads the Week 12 CSV from GitHub, calculates a simple priority score, sorts systems by review priority, makes a chart, and turns the result into a short analyst report. The point is not to copy the sample. The point is to see that a successful final project can be small, focused, and complete.</a:t>
            </a:r>
          </a:p>
          <a:p xmlns:a="http://schemas.openxmlformats.org/drawingml/2006/main">
            <a:r>
              <a:t/>
            </a:r>
          </a:p>
          <a:p xmlns:a="http://schemas.openxmlformats.org/drawingml/2006/main">
            <a:r>
              <a:t>THINGS TO MENTION:</a:t>
            </a:r>
          </a:p>
          <a:p xmlns:a="http://schemas.openxmlformats.org/drawingml/2006/main">
            <a:r>
              <a:t>- Walk through the sample notebook or script.</a:t>
            </a:r>
          </a:p>
          <a:p xmlns:a="http://schemas.openxmlformats.org/drawingml/2006/main">
            <a:r>
              <a:t>- Emphasize inspiration, not copying.</a:t>
            </a:r>
          </a:p>
          <a:p xmlns:a="http://schemas.openxmlformats.org/drawingml/2006/main">
            <a:r>
              <a:t>- Small and complete is the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When we look at the sample notebook, notice how each step is commented. It loads the CSV, creates helper functions, applies a score to each row, sorts the results, and creates one chart and one summary table. These are beginner code actions. They match the final project requirements because they show loading, filtering or scoring, sorting, charting, and summarizing. The code is useful because the writing explains it.</a:t>
            </a:r>
          </a:p>
          <a:p xmlns:a="http://schemas.openxmlformats.org/drawingml/2006/main">
            <a:r>
              <a:t/>
            </a:r>
          </a:p>
          <a:p xmlns:a="http://schemas.openxmlformats.org/drawingml/2006/main">
            <a:r>
              <a:t>THINGS TO MENTION:</a:t>
            </a:r>
          </a:p>
          <a:p xmlns:a="http://schemas.openxmlformats.org/drawingml/2006/main">
            <a:r>
              <a:t>- Do a quick live walkthrough if time allows.</a:t>
            </a:r>
          </a:p>
          <a:p xmlns:a="http://schemas.openxmlformats.org/drawingml/2006/main">
            <a:r>
              <a:t>- Point out comments for beginners.</a:t>
            </a:r>
          </a:p>
          <a:p xmlns:a="http://schemas.openxmlformats.org/drawingml/2006/main">
            <a:r>
              <a:t>- Show how outputs become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complete project report has predictable parts. Start with the project question and background. Describe the dataset or sources. Explain the method or evidence. Present two or three findings. Give one recommendation. Include a privacy or ethics concern. Include a limitation. If you follow this structure, the project becomes much easier to finish because you are filling sections instead of staring at a blank page.</a:t>
            </a:r>
          </a:p>
          <a:p xmlns:a="http://schemas.openxmlformats.org/drawingml/2006/main">
            <a:r>
              <a:t/>
            </a:r>
          </a:p>
          <a:p xmlns:a="http://schemas.openxmlformats.org/drawingml/2006/main">
            <a:r>
              <a:t>THINGS TO MENTION:</a:t>
            </a:r>
          </a:p>
          <a:p xmlns:a="http://schemas.openxmlformats.org/drawingml/2006/main">
            <a:r>
              <a:t>- Use this as a checklist.</a:t>
            </a:r>
          </a:p>
          <a:p xmlns:a="http://schemas.openxmlformats.org/drawingml/2006/main">
            <a:r>
              <a:t>- Works for coding and essay path with small adjustments.</a:t>
            </a:r>
          </a:p>
          <a:p xmlns:a="http://schemas.openxmlformats.org/drawingml/2006/main">
            <a:r>
              <a:t>- Helps reduce student anxiety.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lab today asks you to build a findings outline. This is not the final submission. It is a structured draft. Confirm your path and question, list your evidence, draft two or three findings, draft a recommendation and limitation, and submit a checkpoint paragraph. If you do this carefully, you will have the skeleton of the final project by the end of class.</a:t>
            </a:r>
          </a:p>
          <a:p xmlns:a="http://schemas.openxmlformats.org/drawingml/2006/main">
            <a:r>
              <a:t/>
            </a:r>
          </a:p>
          <a:p xmlns:a="http://schemas.openxmlformats.org/drawingml/2006/main">
            <a:r>
              <a:t>THINGS TO MENTION:</a:t>
            </a:r>
          </a:p>
          <a:p xmlns:a="http://schemas.openxmlformats.org/drawingml/2006/main">
            <a:r>
              <a:t>- This lab directly advances the final project.</a:t>
            </a:r>
          </a:p>
          <a:p xmlns:a="http://schemas.openxmlformats.org/drawingml/2006/main">
            <a:r>
              <a:t>- Students should not wait for perfect evidence.</a:t>
            </a:r>
          </a:p>
          <a:p xmlns:a="http://schemas.openxmlformats.org/drawingml/2006/main">
            <a:r>
              <a:t>- Collect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your project feels too big, shrink it. Use one dataset instead of three. Use one case instead of a whole industry. Use two findings instead of five. Make one recommendation you can defend. A small project that is clear and finished is better than a huge project that never becomes specific. The final project is not asking you to solve security, privacy, or ethics forever.</a:t>
            </a:r>
          </a:p>
          <a:p xmlns:a="http://schemas.openxmlformats.org/drawingml/2006/main">
            <a:r>
              <a:t/>
            </a:r>
          </a:p>
          <a:p xmlns:a="http://schemas.openxmlformats.org/drawingml/2006/main">
            <a:r>
              <a:t>THINGS TO MENTION:</a:t>
            </a:r>
          </a:p>
          <a:p xmlns:a="http://schemas.openxmlformats.org/drawingml/2006/main">
            <a:r>
              <a:t>- This is important for overwhelmed students.</a:t>
            </a:r>
          </a:p>
          <a:p xmlns:a="http://schemas.openxmlformats.org/drawingml/2006/main">
            <a:r>
              <a:t>- Narrowing is not failure.</a:t>
            </a:r>
          </a:p>
          <a:p xmlns:a="http://schemas.openxmlformats.org/drawingml/2006/main">
            <a:r>
              <a:t>- Keep them moving.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Before you leave, submit the checkpoint. The checkpoint should show your project skeleton: question, evidence, findings, and recommendation. It should also say what you finished today and what you still need to do. This gives you a clear next step before the final due date. It also gives me a way to see whether the project is on track.</a:t>
            </a:r>
          </a:p>
          <a:p xmlns:a="http://schemas.openxmlformats.org/drawingml/2006/main">
            <a:r>
              <a:t/>
            </a:r>
          </a:p>
          <a:p xmlns:a="http://schemas.openxmlformats.org/drawingml/2006/main">
            <a:r>
              <a:t>THINGS TO MENTION:</a:t>
            </a:r>
          </a:p>
          <a:p xmlns:a="http://schemas.openxmlformats.org/drawingml/2006/main">
            <a:r>
              <a:t>- Submit by end of class.</a:t>
            </a:r>
          </a:p>
          <a:p xmlns:a="http://schemas.openxmlformats.org/drawingml/2006/main">
            <a:r>
              <a:t>- Use as progress record.</a:t>
            </a:r>
          </a:p>
          <a:p xmlns:a="http://schemas.openxmlformats.org/drawingml/2006/main">
            <a:r>
              <a:t>- Keep the task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Next class is mostly work time. Come prepared with whatever you need: dataset, sources, notes, draft, notebook, or citation information. The goal next time is not more lecture. The goal is to use class time to make the final project more complete. If you are behind, bring the smallest workable version of your project so we can get it into shape.</a:t>
            </a:r>
          </a:p>
          <a:p xmlns:a="http://schemas.openxmlformats.org/drawingml/2006/main">
            <a:r>
              <a:t/>
            </a:r>
          </a:p>
          <a:p xmlns:a="http://schemas.openxmlformats.org/drawingml/2006/main">
            <a:r>
              <a:t>THINGS TO MENTION:</a:t>
            </a:r>
          </a:p>
          <a:p xmlns:a="http://schemas.openxmlformats.org/drawingml/2006/main">
            <a:r>
              <a:t>- Set expectations for Day 2.</a:t>
            </a:r>
          </a:p>
          <a:p xmlns:a="http://schemas.openxmlformats.org/drawingml/2006/main">
            <a:r>
              <a:t>- Low-prep for instructor.</a:t>
            </a:r>
          </a:p>
          <a:p xmlns:a="http://schemas.openxmlformats.org/drawingml/2006/main">
            <a:r>
              <a:t>- Students should bring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e84b3acc1e43b9"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52d135ffae54cb1" /><Relationship Type="http://schemas.openxmlformats.org/officeDocument/2006/relationships/slideLayout" Target="/ppt/slideLayouts/slideLayout2.xml" Id="R3a22556b101942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22556b101942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3d89951ca9a845b2" /><Relationship Type="http://schemas.openxmlformats.org/officeDocument/2006/relationships/notesSlide" Target="/ppt/notesSlides/notesSlide1.xml" Id="R9c20700f2ad341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d9bba3b5dd94877" /><Relationship Type="http://schemas.openxmlformats.org/officeDocument/2006/relationships/notesSlide" Target="/ppt/notesSlides/notesSlide2.xml" Id="Re4e95667a1e64d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23c53d97bb147f1" /><Relationship Type="http://schemas.openxmlformats.org/officeDocument/2006/relationships/notesSlide" Target="/ppt/notesSlides/notesSlide3.xml" Id="R24f032912b624b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429225aae3e4a9e" /><Relationship Type="http://schemas.openxmlformats.org/officeDocument/2006/relationships/notesSlide" Target="/ppt/notesSlides/notesSlide4.xml" Id="Rab8c7e4a4dab45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a079bdc77964364" /><Relationship Type="http://schemas.openxmlformats.org/officeDocument/2006/relationships/notesSlide" Target="/ppt/notesSlides/notesSlide5.xml" Id="Rfe9784c0be814b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19c0ff41c3f4ae0" /><Relationship Type="http://schemas.openxmlformats.org/officeDocument/2006/relationships/notesSlide" Target="/ppt/notesSlides/notesSlide6.xml" Id="R7de5ef17af9542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43c3ed68d6a40ae" /><Relationship Type="http://schemas.openxmlformats.org/officeDocument/2006/relationships/notesSlide" Target="/ppt/notesSlides/notesSlide7.xml" Id="Rc040e160c9af43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e6b9437e8e34d8e" /><Relationship Type="http://schemas.openxmlformats.org/officeDocument/2006/relationships/notesSlide" Target="/ppt/notesSlides/notesSlide8.xml" Id="R21a8a0c409214c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1abd50cea7d4b82" /><Relationship Type="http://schemas.openxmlformats.org/officeDocument/2006/relationships/notesSlide" Target="/ppt/notesSlides/notesSlide9.xml" Id="Rda415bcdfe1149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e9fa5e72946481b" /><Relationship Type="http://schemas.openxmlformats.org/officeDocument/2006/relationships/notesSlide" Target="/ppt/notesSlides/notesSlide10.xml" Id="R6ad3f1a5d2f54c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eb958a0cd7f4e9c" /><Relationship Type="http://schemas.openxmlformats.org/officeDocument/2006/relationships/notesSlide" Target="/ppt/notesSlides/notesSlide11.xml" Id="R3aca91312a5f42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1871adc5265482a" /><Relationship Type="http://schemas.openxmlformats.org/officeDocument/2006/relationships/notesSlide" Target="/ppt/notesSlides/notesSlide12.xml" Id="R9d0ca03a0b2c4af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50319F-DBA7-4C4C-89D2-6AEBCECAAD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E2C7A8B-E84F-42FB-BE63-B6C3C9447C5C}"/>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8B4BA78-BC27-4FD7-AEF5-8ABD3F87F36E}"/>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600E5789-B97E-47D0-B3B0-E9E2B54C0014}"/>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1/12</a:t>
            </a:r>
          </a:p>
        </p:txBody>
      </p:sp>
      <p:sp>
        <p:nvSpPr>
          <p:cNvPr id="5" name="">
            <a:extLst xmlns:a="http://schemas.openxmlformats.org/drawingml/2006/main">
              <a:ext uri="{FF2B5EF4-FFF2-40B4-BE49-F238E27FC236}">
                <a16:creationId xmlns:a16="http://schemas.microsoft.com/office/drawing/2014/main" id="{CABDCCF1-7C57-4751-98F6-EB72312054CF}"/>
              </a:ext>
            </a:extLst>
          </p:cNvPr>
          <p:cNvSpPr>
            <a:spLocks xmlns:a="http://schemas.openxmlformats.org/drawingml/2006/main" noGrp="1"/>
          </p:cNvSpPr>
          <p:nvPr/>
        </p:nvSpPr>
        <p:spPr>
          <a:xfrm xmlns:a="http://schemas.openxmlformats.org/drawingml/2006/main">
            <a:off x="819150" y="1047750"/>
            <a:ext cx="6477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70C1B3"/>
                </a:solidFill>
                <a:latin typeface="Aptos"/>
                <a:ea typeface="Aptos"/>
                <a:cs typeface="Aptos"/>
              </a:defRPr>
            </a:pPr>
            <a:r>
              <a:rPr sz="1500" b="1">
                <a:solidFill>
                  <a:srgbClr val="70C1B3"/>
                </a:solidFill>
                <a:latin typeface="Aptos"/>
                <a:ea typeface="Aptos"/>
                <a:cs typeface="Aptos"/>
              </a:rPr>
              <a:t>Turning Evidence Into Findings</a:t>
            </a:r>
          </a:p>
        </p:txBody>
      </p:sp>
      <p:sp>
        <p:nvSpPr>
          <p:cNvPr id="6" name="">
            <a:extLst xmlns:a="http://schemas.openxmlformats.org/drawingml/2006/main">
              <a:ext uri="{FF2B5EF4-FFF2-40B4-BE49-F238E27FC236}">
                <a16:creationId xmlns:a16="http://schemas.microsoft.com/office/drawing/2014/main" id="{A98DDD0E-6C8D-44D5-BB67-8257B8A4A152}"/>
              </a:ext>
            </a:extLst>
          </p:cNvPr>
          <p:cNvSpPr>
            <a:spLocks xmlns:a="http://schemas.openxmlformats.org/drawingml/2006/main" noGrp="1"/>
          </p:cNvSpPr>
          <p:nvPr/>
        </p:nvSpPr>
        <p:spPr>
          <a:xfrm xmlns:a="http://schemas.openxmlformats.org/drawingml/2006/main">
            <a:off x="819150" y="1571625"/>
            <a:ext cx="7334250" cy="169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600" b="1">
                <a:solidFill>
                  <a:srgbClr val="FBF7EA"/>
                </a:solidFill>
                <a:latin typeface="Aptos Display"/>
                <a:ea typeface="Aptos Display"/>
                <a:cs typeface="Aptos Display"/>
              </a:defRPr>
            </a:pPr>
            <a:r>
              <a:rPr sz="3600" b="1">
                <a:solidFill>
                  <a:srgbClr val="FBF7EA"/>
                </a:solidFill>
                <a:latin typeface="Aptos Display"/>
                <a:ea typeface="Aptos Display"/>
                <a:cs typeface="Aptos Display"/>
              </a:rPr>
              <a:t>From Notes to a Final Project</a:t>
            </a:r>
          </a:p>
        </p:txBody>
      </p:sp>
      <p:sp>
        <p:nvSpPr>
          <p:cNvPr id="7" name="">
            <a:extLst xmlns:a="http://schemas.openxmlformats.org/drawingml/2006/main">
              <a:ext uri="{FF2B5EF4-FFF2-40B4-BE49-F238E27FC236}">
                <a16:creationId xmlns:a16="http://schemas.microsoft.com/office/drawing/2014/main" id="{365DCEA0-9C08-4F0A-A08D-9B7F0DFA2DC4}"/>
              </a:ext>
            </a:extLst>
          </p:cNvPr>
          <p:cNvSpPr>
            <a:spLocks xmlns:a="http://schemas.openxmlformats.org/drawingml/2006/main" noGrp="1"/>
          </p:cNvSpPr>
          <p:nvPr/>
        </p:nvSpPr>
        <p:spPr>
          <a:xfrm xmlns:a="http://schemas.openxmlformats.org/drawingml/2006/main">
            <a:off x="876300" y="3476625"/>
            <a:ext cx="65722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D2D8CA"/>
                </a:solidFill>
                <a:latin typeface="Aptos"/>
                <a:ea typeface="Aptos"/>
                <a:cs typeface="Aptos"/>
              </a:defRPr>
            </a:pPr>
            <a:r>
              <a:rPr sz="2100" b="0">
                <a:solidFill>
                  <a:srgbClr val="D2D8CA"/>
                </a:solidFill>
                <a:latin typeface="Aptos"/>
                <a:ea typeface="Aptos"/>
                <a:cs typeface="Aptos"/>
              </a:rPr>
              <a:t>Today you turn data, sources, notebook outputs, and class labs into findings you can actually submit.</a:t>
            </a:r>
          </a:p>
        </p:txBody>
      </p:sp>
      <p:sp>
        <p:nvSpPr>
          <p:cNvPr id="8" name="">
            <a:extLst xmlns:a="http://schemas.openxmlformats.org/drawingml/2006/main">
              <a:ext uri="{FF2B5EF4-FFF2-40B4-BE49-F238E27FC236}">
                <a16:creationId xmlns:a16="http://schemas.microsoft.com/office/drawing/2014/main" id="{810633E8-269E-4810-BF86-706DC4EBA323}"/>
              </a:ext>
            </a:extLst>
          </p:cNvPr>
          <p:cNvSpPr>
            <a:spLocks xmlns:a="http://schemas.openxmlformats.org/drawingml/2006/main" noGrp="1"/>
          </p:cNvSpPr>
          <p:nvPr/>
        </p:nvSpPr>
        <p:spPr>
          <a:xfrm xmlns:a="http://schemas.openxmlformats.org/drawingml/2006/main">
            <a:off x="8667750" y="1428750"/>
            <a:ext cx="2190750" cy="2190750"/>
          </a:xfrm>
          <a:prstGeom xmlns:a="http://schemas.openxmlformats.org/drawingml/2006/main" prst="roundRect">
            <a:avLst>
              <a:gd name="adj" fmla="val 3478"/>
            </a:avLst>
          </a:prstGeom>
          <a:solidFill xmlns:a="http://schemas.openxmlformats.org/drawingml/2006/main">
            <a:srgbClr val="2D4A3D"/>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2DCE3E4-4CB8-4492-BCB7-C2AAAD5BB547}"/>
              </a:ext>
            </a:extLst>
          </p:cNvPr>
          <p:cNvSpPr>
            <a:spLocks xmlns:a="http://schemas.openxmlformats.org/drawingml/2006/main" noGrp="1"/>
          </p:cNvSpPr>
          <p:nvPr/>
        </p:nvSpPr>
        <p:spPr>
          <a:xfrm xmlns:a="http://schemas.openxmlformats.org/drawingml/2006/main">
            <a:off x="8858250" y="2047875"/>
            <a:ext cx="180975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1950" b="1">
                <a:solidFill>
                  <a:srgbClr val="F4D35E"/>
                </a:solidFill>
                <a:latin typeface="Aptos"/>
                <a:ea typeface="Aptos"/>
                <a:cs typeface="Aptos"/>
              </a:defRPr>
            </a:pPr>
            <a:r>
              <a:rPr sz="1950" b="1">
                <a:solidFill>
                  <a:srgbClr val="F4D35E"/>
                </a:solidFill>
                <a:latin typeface="Aptos"/>
                <a:ea typeface="Aptos"/>
                <a:cs typeface="Aptos"/>
              </a:rPr>
              <a:t>PROJECT</a:t>
            </a:r>
          </a:p>
          <a:p xmlns:a="http://schemas.openxmlformats.org/drawingml/2006/main">
            <a:pPr algn="ctr">
              <a:defRPr sz="1950" b="1">
                <a:solidFill>
                  <a:srgbClr val="F4D35E"/>
                </a:solidFill>
                <a:latin typeface="Aptos"/>
                <a:ea typeface="Aptos"/>
                <a:cs typeface="Aptos"/>
              </a:defRPr>
            </a:pPr>
            <a:r>
              <a:rPr sz="1950" b="1">
                <a:solidFill>
                  <a:srgbClr val="F4D35E"/>
                </a:solidFill>
                <a:latin typeface="Aptos"/>
                <a:ea typeface="Aptos"/>
                <a:cs typeface="Aptos"/>
              </a:rPr>
              <a:t>FINDINGS</a:t>
            </a:r>
          </a:p>
        </p:txBody>
      </p:sp>
      <p:sp>
        <p:nvSpPr>
          <p:cNvPr id="10" name="">
            <a:extLst xmlns:a="http://schemas.openxmlformats.org/drawingml/2006/main">
              <a:ext uri="{FF2B5EF4-FFF2-40B4-BE49-F238E27FC236}">
                <a16:creationId xmlns:a16="http://schemas.microsoft.com/office/drawing/2014/main" id="{C0CDA656-18CB-4F30-83AD-46E524E59697}"/>
              </a:ext>
            </a:extLst>
          </p:cNvPr>
          <p:cNvSpPr>
            <a:spLocks xmlns:a="http://schemas.openxmlformats.org/drawingml/2006/main" noGrp="1"/>
          </p:cNvSpPr>
          <p:nvPr/>
        </p:nvSpPr>
        <p:spPr>
          <a:xfrm xmlns:a="http://schemas.openxmlformats.org/drawingml/2006/main">
            <a:off x="876300" y="5572125"/>
            <a:ext cx="3429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4D35E"/>
                </a:solidFill>
                <a:latin typeface="Aptos"/>
                <a:ea typeface="Aptos"/>
                <a:cs typeface="Aptos"/>
              </a:defRPr>
            </a:pPr>
            <a:r>
              <a:rPr sz="1650" b="1">
                <a:solidFill>
                  <a:srgbClr val="F4D35E"/>
                </a:solidFill>
                <a:latin typeface="Aptos"/>
                <a:ea typeface="Aptos"/>
                <a:cs typeface="Aptos"/>
              </a:rPr>
              <a:t>Due May 26, 2026</a:t>
            </a:r>
          </a:p>
        </p:txBody>
      </p:sp>
    </p:spTree>
    <p:extLst>
      <p:ext uri="{BB962C8B-B14F-4D97-AF65-F5344CB8AC3E}">
        <p14:creationId xmlns:p14="http://schemas.microsoft.com/office/powerpoint/2010/main" val="17631692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97201C-B9B0-41BB-8D76-745B4E69EA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C48F541-AAF0-4310-8A87-BB226F53970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78C581F-12C2-4F17-929D-66EF1AAA069F}"/>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91469B32-DC20-4B3D-98E8-984FAA365754}"/>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2/12</a:t>
            </a:r>
          </a:p>
        </p:txBody>
      </p:sp>
      <p:sp>
        <p:nvSpPr>
          <p:cNvPr id="5" name="">
            <a:extLst xmlns:a="http://schemas.openxmlformats.org/drawingml/2006/main">
              <a:ext uri="{FF2B5EF4-FFF2-40B4-BE49-F238E27FC236}">
                <a16:creationId xmlns:a16="http://schemas.microsoft.com/office/drawing/2014/main" id="{4061AD04-5009-43EC-AF4F-CE66F29A4423}"/>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Core distinction</a:t>
            </a:r>
          </a:p>
        </p:txBody>
      </p:sp>
      <p:sp>
        <p:nvSpPr>
          <p:cNvPr id="6" name="">
            <a:extLst xmlns:a="http://schemas.openxmlformats.org/drawingml/2006/main">
              <a:ext uri="{FF2B5EF4-FFF2-40B4-BE49-F238E27FC236}">
                <a16:creationId xmlns:a16="http://schemas.microsoft.com/office/drawing/2014/main" id="{5BE238E1-2A17-4338-AA88-E66B5E92BF8F}"/>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Evidence is not the same thing as a finding</a:t>
            </a:r>
          </a:p>
        </p:txBody>
      </p:sp>
      <p:sp>
        <p:nvSpPr>
          <p:cNvPr id="7" name="">
            <a:extLst xmlns:a="http://schemas.openxmlformats.org/drawingml/2006/main">
              <a:ext uri="{FF2B5EF4-FFF2-40B4-BE49-F238E27FC236}">
                <a16:creationId xmlns:a16="http://schemas.microsoft.com/office/drawing/2014/main" id="{5358E2D9-AD94-4945-8F8A-25A00CFCFD49}"/>
              </a:ext>
            </a:extLst>
          </p:cNvPr>
          <p:cNvSpPr>
            <a:spLocks xmlns:a="http://schemas.openxmlformats.org/drawingml/2006/main" noGrp="1"/>
          </p:cNvSpPr>
          <p:nvPr/>
        </p:nvSpPr>
        <p:spPr>
          <a:xfrm xmlns:a="http://schemas.openxmlformats.org/drawingml/2006/main">
            <a:off x="762000" y="2428875"/>
            <a:ext cx="3257550" cy="2476500"/>
          </a:xfrm>
          <a:prstGeom xmlns:a="http://schemas.openxmlformats.org/drawingml/2006/main" prst="roundRect">
            <a:avLst>
              <a:gd name="adj" fmla="val 3077"/>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36BA349-8810-4088-BC05-C45297A488A6}"/>
              </a:ext>
            </a:extLst>
          </p:cNvPr>
          <p:cNvSpPr>
            <a:spLocks xmlns:a="http://schemas.openxmlformats.org/drawingml/2006/main" noGrp="1"/>
          </p:cNvSpPr>
          <p:nvPr/>
        </p:nvSpPr>
        <p:spPr>
          <a:xfrm xmlns:a="http://schemas.openxmlformats.org/drawingml/2006/main">
            <a:off x="971550" y="2647950"/>
            <a:ext cx="2838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4D35E"/>
                </a:solidFill>
                <a:latin typeface="Aptos"/>
                <a:ea typeface="Aptos"/>
                <a:cs typeface="Aptos"/>
              </a:defRPr>
            </a:pPr>
            <a:r>
              <a:rPr sz="1650" b="1">
                <a:solidFill>
                  <a:srgbClr val="F4D35E"/>
                </a:solidFill>
                <a:latin typeface="Aptos"/>
                <a:ea typeface="Aptos"/>
                <a:cs typeface="Aptos"/>
              </a:rPr>
              <a:t>Evidence</a:t>
            </a:r>
          </a:p>
        </p:txBody>
      </p:sp>
      <p:sp>
        <p:nvSpPr>
          <p:cNvPr id="9" name="">
            <a:extLst xmlns:a="http://schemas.openxmlformats.org/drawingml/2006/main">
              <a:ext uri="{FF2B5EF4-FFF2-40B4-BE49-F238E27FC236}">
                <a16:creationId xmlns:a16="http://schemas.microsoft.com/office/drawing/2014/main" id="{8CBA4A74-22E5-4B09-BE7F-71925BDCA5C3}"/>
              </a:ext>
            </a:extLst>
          </p:cNvPr>
          <p:cNvSpPr>
            <a:spLocks xmlns:a="http://schemas.openxmlformats.org/drawingml/2006/main" noGrp="1"/>
          </p:cNvSpPr>
          <p:nvPr/>
        </p:nvSpPr>
        <p:spPr>
          <a:xfrm xmlns:a="http://schemas.openxmlformats.org/drawingml/2006/main">
            <a:off x="971550" y="3190875"/>
            <a:ext cx="28384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BF7EA"/>
                </a:solidFill>
                <a:latin typeface="Aptos"/>
                <a:ea typeface="Aptos"/>
                <a:cs typeface="Aptos"/>
              </a:defRPr>
            </a:pPr>
            <a:r>
              <a:rPr sz="1800" b="0">
                <a:solidFill>
                  <a:srgbClr val="FBF7EA"/>
                </a:solidFill>
                <a:latin typeface="Aptos"/>
                <a:ea typeface="Aptos"/>
                <a:cs typeface="Aptos"/>
              </a:rPr>
              <a:t>A row, source, quote, chart, metric, or code output.</a:t>
            </a:r>
          </a:p>
        </p:txBody>
      </p:sp>
      <p:sp>
        <p:nvSpPr>
          <p:cNvPr id="10" name="">
            <a:extLst xmlns:a="http://schemas.openxmlformats.org/drawingml/2006/main">
              <a:ext uri="{FF2B5EF4-FFF2-40B4-BE49-F238E27FC236}">
                <a16:creationId xmlns:a16="http://schemas.microsoft.com/office/drawing/2014/main" id="{2CDBFC76-FCD3-4169-99A9-CA2C3D5AC7F2}"/>
              </a:ext>
            </a:extLst>
          </p:cNvPr>
          <p:cNvSpPr>
            <a:spLocks xmlns:a="http://schemas.openxmlformats.org/drawingml/2006/main" noGrp="1"/>
          </p:cNvSpPr>
          <p:nvPr/>
        </p:nvSpPr>
        <p:spPr>
          <a:xfrm xmlns:a="http://schemas.openxmlformats.org/drawingml/2006/main">
            <a:off x="4438650" y="2428875"/>
            <a:ext cx="3257550" cy="2476500"/>
          </a:xfrm>
          <a:prstGeom xmlns:a="http://schemas.openxmlformats.org/drawingml/2006/main" prst="roundRect">
            <a:avLst>
              <a:gd name="adj" fmla="val 3077"/>
            </a:avLst>
          </a:prstGeom>
          <a:solidFill xmlns:a="http://schemas.openxmlformats.org/drawingml/2006/main">
            <a:srgbClr val="2D4A3D"/>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4778ABE-E8BF-427F-BE56-84E638B4554A}"/>
              </a:ext>
            </a:extLst>
          </p:cNvPr>
          <p:cNvSpPr>
            <a:spLocks xmlns:a="http://schemas.openxmlformats.org/drawingml/2006/main" noGrp="1"/>
          </p:cNvSpPr>
          <p:nvPr/>
        </p:nvSpPr>
        <p:spPr>
          <a:xfrm xmlns:a="http://schemas.openxmlformats.org/drawingml/2006/main">
            <a:off x="4648200" y="2647950"/>
            <a:ext cx="2838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4D35E"/>
                </a:solidFill>
                <a:latin typeface="Aptos"/>
                <a:ea typeface="Aptos"/>
                <a:cs typeface="Aptos"/>
              </a:defRPr>
            </a:pPr>
            <a:r>
              <a:rPr sz="1650" b="1">
                <a:solidFill>
                  <a:srgbClr val="F4D35E"/>
                </a:solidFill>
                <a:latin typeface="Aptos"/>
                <a:ea typeface="Aptos"/>
                <a:cs typeface="Aptos"/>
              </a:rPr>
              <a:t>Finding</a:t>
            </a:r>
          </a:p>
        </p:txBody>
      </p:sp>
      <p:sp>
        <p:nvSpPr>
          <p:cNvPr id="12" name="">
            <a:extLst xmlns:a="http://schemas.openxmlformats.org/drawingml/2006/main">
              <a:ext uri="{FF2B5EF4-FFF2-40B4-BE49-F238E27FC236}">
                <a16:creationId xmlns:a16="http://schemas.microsoft.com/office/drawing/2014/main" id="{4DDFBD54-5D2E-4CB9-9D00-3FB692B1A06A}"/>
              </a:ext>
            </a:extLst>
          </p:cNvPr>
          <p:cNvSpPr>
            <a:spLocks xmlns:a="http://schemas.openxmlformats.org/drawingml/2006/main" noGrp="1"/>
          </p:cNvSpPr>
          <p:nvPr/>
        </p:nvSpPr>
        <p:spPr>
          <a:xfrm xmlns:a="http://schemas.openxmlformats.org/drawingml/2006/main">
            <a:off x="4648200" y="3190875"/>
            <a:ext cx="28384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BF7EA"/>
                </a:solidFill>
                <a:latin typeface="Aptos"/>
                <a:ea typeface="Aptos"/>
                <a:cs typeface="Aptos"/>
              </a:defRPr>
            </a:pPr>
            <a:r>
              <a:rPr sz="1800" b="0">
                <a:solidFill>
                  <a:srgbClr val="FBF7EA"/>
                </a:solidFill>
                <a:latin typeface="Aptos"/>
                <a:ea typeface="Aptos"/>
                <a:cs typeface="Aptos"/>
              </a:rPr>
              <a:t>A claim you can support using that evidence.</a:t>
            </a:r>
          </a:p>
        </p:txBody>
      </p:sp>
      <p:sp>
        <p:nvSpPr>
          <p:cNvPr id="13" name="">
            <a:extLst xmlns:a="http://schemas.openxmlformats.org/drawingml/2006/main">
              <a:ext uri="{FF2B5EF4-FFF2-40B4-BE49-F238E27FC236}">
                <a16:creationId xmlns:a16="http://schemas.microsoft.com/office/drawing/2014/main" id="{9BDF1941-5C74-4B9C-AC1D-D34EB4BC538F}"/>
              </a:ext>
            </a:extLst>
          </p:cNvPr>
          <p:cNvSpPr>
            <a:spLocks xmlns:a="http://schemas.openxmlformats.org/drawingml/2006/main" noGrp="1"/>
          </p:cNvSpPr>
          <p:nvPr/>
        </p:nvSpPr>
        <p:spPr>
          <a:xfrm xmlns:a="http://schemas.openxmlformats.org/drawingml/2006/main">
            <a:off x="8115300" y="2428875"/>
            <a:ext cx="3257550" cy="2476500"/>
          </a:xfrm>
          <a:prstGeom xmlns:a="http://schemas.openxmlformats.org/drawingml/2006/main" prst="roundRect">
            <a:avLst>
              <a:gd name="adj" fmla="val 3077"/>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F9D2CB1-18AA-4BC9-AC70-960C6841B8B8}"/>
              </a:ext>
            </a:extLst>
          </p:cNvPr>
          <p:cNvSpPr>
            <a:spLocks xmlns:a="http://schemas.openxmlformats.org/drawingml/2006/main" noGrp="1"/>
          </p:cNvSpPr>
          <p:nvPr/>
        </p:nvSpPr>
        <p:spPr>
          <a:xfrm xmlns:a="http://schemas.openxmlformats.org/drawingml/2006/main">
            <a:off x="8324850" y="2647950"/>
            <a:ext cx="2838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4D35E"/>
                </a:solidFill>
                <a:latin typeface="Aptos"/>
                <a:ea typeface="Aptos"/>
                <a:cs typeface="Aptos"/>
              </a:defRPr>
            </a:pPr>
            <a:r>
              <a:rPr sz="1650" b="1">
                <a:solidFill>
                  <a:srgbClr val="F4D35E"/>
                </a:solidFill>
                <a:latin typeface="Aptos"/>
                <a:ea typeface="Aptos"/>
                <a:cs typeface="Aptos"/>
              </a:rPr>
              <a:t>Recommendation</a:t>
            </a:r>
          </a:p>
        </p:txBody>
      </p:sp>
      <p:sp>
        <p:nvSpPr>
          <p:cNvPr id="15" name="">
            <a:extLst xmlns:a="http://schemas.openxmlformats.org/drawingml/2006/main">
              <a:ext uri="{FF2B5EF4-FFF2-40B4-BE49-F238E27FC236}">
                <a16:creationId xmlns:a16="http://schemas.microsoft.com/office/drawing/2014/main" id="{ABDE8EAF-284D-4B8F-8BB2-08A5C5E899E0}"/>
              </a:ext>
            </a:extLst>
          </p:cNvPr>
          <p:cNvSpPr>
            <a:spLocks xmlns:a="http://schemas.openxmlformats.org/drawingml/2006/main" noGrp="1"/>
          </p:cNvSpPr>
          <p:nvPr/>
        </p:nvSpPr>
        <p:spPr>
          <a:xfrm xmlns:a="http://schemas.openxmlformats.org/drawingml/2006/main">
            <a:off x="8324850" y="3190875"/>
            <a:ext cx="28384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BF7EA"/>
                </a:solidFill>
                <a:latin typeface="Aptos"/>
                <a:ea typeface="Aptos"/>
                <a:cs typeface="Aptos"/>
              </a:defRPr>
            </a:pPr>
            <a:r>
              <a:rPr sz="1800" b="0">
                <a:solidFill>
                  <a:srgbClr val="FBF7EA"/>
                </a:solidFill>
                <a:latin typeface="Aptos"/>
                <a:ea typeface="Aptos"/>
                <a:cs typeface="Aptos"/>
              </a:rPr>
              <a:t>A realistic action based on the finding.</a:t>
            </a:r>
          </a:p>
        </p:txBody>
      </p:sp>
    </p:spTree>
    <p:extLst>
      <p:ext uri="{BB962C8B-B14F-4D97-AF65-F5344CB8AC3E}">
        <p14:creationId xmlns:p14="http://schemas.microsoft.com/office/powerpoint/2010/main" val="56019035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83696E-050D-419E-A045-ABE08F56F1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535D571-5A9C-43CE-847D-8C97FBFFAD0C}"/>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9052D9A-909D-44E2-86F4-3403A624705B}"/>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BFD056D2-93A9-47C8-A3E5-7B7EE037C31A}"/>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3/12</a:t>
            </a:r>
          </a:p>
        </p:txBody>
      </p:sp>
      <p:sp>
        <p:nvSpPr>
          <p:cNvPr id="5" name="">
            <a:extLst xmlns:a="http://schemas.openxmlformats.org/drawingml/2006/main">
              <a:ext uri="{FF2B5EF4-FFF2-40B4-BE49-F238E27FC236}">
                <a16:creationId xmlns:a16="http://schemas.microsoft.com/office/drawing/2014/main" id="{269621DD-F26B-45FE-BBD3-08110154063D}"/>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Weak vs strong</a:t>
            </a:r>
          </a:p>
        </p:txBody>
      </p:sp>
      <p:sp>
        <p:nvSpPr>
          <p:cNvPr id="6" name="">
            <a:extLst xmlns:a="http://schemas.openxmlformats.org/drawingml/2006/main">
              <a:ext uri="{FF2B5EF4-FFF2-40B4-BE49-F238E27FC236}">
                <a16:creationId xmlns:a16="http://schemas.microsoft.com/office/drawing/2014/main" id="{9128255B-7BBE-4DA0-B73C-A50ADAF2B674}"/>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A finding must be specific enough to defend</a:t>
            </a:r>
          </a:p>
        </p:txBody>
      </p:sp>
      <p:sp>
        <p:nvSpPr>
          <p:cNvPr id="7" name="">
            <a:extLst xmlns:a="http://schemas.openxmlformats.org/drawingml/2006/main">
              <a:ext uri="{FF2B5EF4-FFF2-40B4-BE49-F238E27FC236}">
                <a16:creationId xmlns:a16="http://schemas.microsoft.com/office/drawing/2014/main" id="{D0FE205A-7B34-4DD8-99B5-CAF1DF0BF033}"/>
              </a:ext>
            </a:extLst>
          </p:cNvPr>
          <p:cNvSpPr>
            <a:spLocks xmlns:a="http://schemas.openxmlformats.org/drawingml/2006/main" noGrp="1"/>
          </p:cNvSpPr>
          <p:nvPr/>
        </p:nvSpPr>
        <p:spPr>
          <a:xfrm xmlns:a="http://schemas.openxmlformats.org/drawingml/2006/main">
            <a:off x="800100" y="2238375"/>
            <a:ext cx="4953000" cy="2095500"/>
          </a:xfrm>
          <a:prstGeom xmlns:a="http://schemas.openxmlformats.org/drawingml/2006/main" prst="rect">
            <a:avLst/>
          </a:prstGeom>
          <a:solidFill xmlns:a="http://schemas.openxmlformats.org/drawingml/2006/main">
            <a:srgbClr val="1F392D"/>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550" b="1">
                <a:solidFill>
                  <a:srgbClr val="FBF7EA"/>
                </a:solidFill>
                <a:latin typeface="Aptos"/>
                <a:ea typeface="Aptos"/>
                <a:cs typeface="Aptos"/>
              </a:defRPr>
            </a:pPr>
            <a:r>
              <a:rPr sz="2550" b="1">
                <a:solidFill>
                  <a:srgbClr val="FBF7EA"/>
                </a:solidFill>
                <a:latin typeface="Aptos"/>
                <a:ea typeface="Aptos"/>
                <a:cs typeface="Aptos"/>
              </a:rPr>
              <a:t>Weak: Security is important.</a:t>
            </a:r>
          </a:p>
        </p:txBody>
      </p:sp>
      <p:sp>
        <p:nvSpPr>
          <p:cNvPr id="8" name="">
            <a:extLst xmlns:a="http://schemas.openxmlformats.org/drawingml/2006/main">
              <a:ext uri="{FF2B5EF4-FFF2-40B4-BE49-F238E27FC236}">
                <a16:creationId xmlns:a16="http://schemas.microsoft.com/office/drawing/2014/main" id="{E09D8A3E-A04C-4B81-9BE8-1063593EDF69}"/>
              </a:ext>
            </a:extLst>
          </p:cNvPr>
          <p:cNvSpPr>
            <a:spLocks xmlns:a="http://schemas.openxmlformats.org/drawingml/2006/main" noGrp="1"/>
          </p:cNvSpPr>
          <p:nvPr/>
        </p:nvSpPr>
        <p:spPr>
          <a:xfrm xmlns:a="http://schemas.openxmlformats.org/drawingml/2006/main">
            <a:off x="6286500" y="2381250"/>
            <a:ext cx="4953000" cy="2952750"/>
          </a:xfrm>
          <a:prstGeom xmlns:a="http://schemas.openxmlformats.org/drawingml/2006/main" prst="roundRect">
            <a:avLst>
              <a:gd name="adj" fmla="val 2581"/>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6EA4B20-C579-4386-AF22-3B47B2120CDA}"/>
              </a:ext>
            </a:extLst>
          </p:cNvPr>
          <p:cNvSpPr>
            <a:spLocks xmlns:a="http://schemas.openxmlformats.org/drawingml/2006/main" noGrp="1"/>
          </p:cNvSpPr>
          <p:nvPr/>
        </p:nvSpPr>
        <p:spPr>
          <a:xfrm xmlns:a="http://schemas.openxmlformats.org/drawingml/2006/main">
            <a:off x="6553200" y="2628900"/>
            <a:ext cx="4419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Stronger: name the system or case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Name the evidence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Name the security issue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Name the privacy or ethics concern</a:t>
            </a:r>
          </a:p>
        </p:txBody>
      </p:sp>
    </p:spTree>
    <p:extLst>
      <p:ext uri="{BB962C8B-B14F-4D97-AF65-F5344CB8AC3E}">
        <p14:creationId xmlns:p14="http://schemas.microsoft.com/office/powerpoint/2010/main" val="125060480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86B1F0-87F8-4E58-872F-00963C780E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B00C5AF-4A23-4CC2-9BE3-F7751951B86E}"/>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065FE03-D6C2-4429-ACE1-110D23B77851}"/>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8451E47B-E9D3-4A74-B542-04103A9AC4EC}"/>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4/12</a:t>
            </a:r>
          </a:p>
        </p:txBody>
      </p:sp>
      <p:sp>
        <p:nvSpPr>
          <p:cNvPr id="5" name="">
            <a:extLst xmlns:a="http://schemas.openxmlformats.org/drawingml/2006/main">
              <a:ext uri="{FF2B5EF4-FFF2-40B4-BE49-F238E27FC236}">
                <a16:creationId xmlns:a16="http://schemas.microsoft.com/office/drawing/2014/main" id="{C417ECA7-FE06-42C1-B86F-9A82FE8085D3}"/>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Coding path</a:t>
            </a:r>
          </a:p>
        </p:txBody>
      </p:sp>
      <p:sp>
        <p:nvSpPr>
          <p:cNvPr id="6" name="">
            <a:extLst xmlns:a="http://schemas.openxmlformats.org/drawingml/2006/main">
              <a:ext uri="{FF2B5EF4-FFF2-40B4-BE49-F238E27FC236}">
                <a16:creationId xmlns:a16="http://schemas.microsoft.com/office/drawing/2014/main" id="{D18955AA-EBAD-4AA1-ADCF-88BECBF945D4}"/>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For coding projects: explain what the code result means</a:t>
            </a:r>
          </a:p>
        </p:txBody>
      </p:sp>
      <p:sp>
        <p:nvSpPr>
          <p:cNvPr id="7" name="">
            <a:extLst xmlns:a="http://schemas.openxmlformats.org/drawingml/2006/main">
              <a:ext uri="{FF2B5EF4-FFF2-40B4-BE49-F238E27FC236}">
                <a16:creationId xmlns:a16="http://schemas.microsoft.com/office/drawing/2014/main" id="{CC0BD461-3347-43DC-81C8-94EB3246CFD5}"/>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83BE9AD-F3AD-49D8-BC69-DC934551F067}"/>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Do not only paste code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Explain what table or chart shows</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Use two or three findings</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Write like a junior analyst, not like a programmer only</a:t>
            </a:r>
          </a:p>
        </p:txBody>
      </p:sp>
    </p:spTree>
    <p:extLst>
      <p:ext uri="{BB962C8B-B14F-4D97-AF65-F5344CB8AC3E}">
        <p14:creationId xmlns:p14="http://schemas.microsoft.com/office/powerpoint/2010/main" val="10840804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B73A25-9D49-4F40-A7E3-0FEFA452D0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274C432-FFA2-4CE9-85F5-2DAAF55AFCC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B5CFE4C-7940-4CFA-918A-430DC42D7AFF}"/>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805B9D1C-E094-447D-A332-C26C2AF7A0AD}"/>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5/12</a:t>
            </a:r>
          </a:p>
        </p:txBody>
      </p:sp>
      <p:sp>
        <p:nvSpPr>
          <p:cNvPr id="5" name="">
            <a:extLst xmlns:a="http://schemas.openxmlformats.org/drawingml/2006/main">
              <a:ext uri="{FF2B5EF4-FFF2-40B4-BE49-F238E27FC236}">
                <a16:creationId xmlns:a16="http://schemas.microsoft.com/office/drawing/2014/main" id="{14E0D53A-6F04-4ACD-8EED-D77159E99205}"/>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Essay path</a:t>
            </a:r>
          </a:p>
        </p:txBody>
      </p:sp>
      <p:sp>
        <p:nvSpPr>
          <p:cNvPr id="6" name="">
            <a:extLst xmlns:a="http://schemas.openxmlformats.org/drawingml/2006/main">
              <a:ext uri="{FF2B5EF4-FFF2-40B4-BE49-F238E27FC236}">
                <a16:creationId xmlns:a16="http://schemas.microsoft.com/office/drawing/2014/main" id="{1CF22029-C898-47F9-B486-902A9B22D3F4}"/>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For MLA essays: organize sources around an argument</a:t>
            </a:r>
          </a:p>
        </p:txBody>
      </p:sp>
      <p:sp>
        <p:nvSpPr>
          <p:cNvPr id="7" name="">
            <a:extLst xmlns:a="http://schemas.openxmlformats.org/drawingml/2006/main">
              <a:ext uri="{FF2B5EF4-FFF2-40B4-BE49-F238E27FC236}">
                <a16:creationId xmlns:a16="http://schemas.microsoft.com/office/drawing/2014/main" id="{2F4F1E96-AF84-4757-AE82-D5312ABA82A3}"/>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9665FE1-4B16-4CE7-AD85-3CBB7268172B}"/>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Do not summarize three sources separately</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Use sources to support one main claim</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Include security and privacy or ethics</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Use MLA citations and Works Cited</a:t>
            </a:r>
          </a:p>
        </p:txBody>
      </p:sp>
    </p:spTree>
    <p:extLst>
      <p:ext uri="{BB962C8B-B14F-4D97-AF65-F5344CB8AC3E}">
        <p14:creationId xmlns:p14="http://schemas.microsoft.com/office/powerpoint/2010/main" val="91443877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EE2BA6-9024-49AC-968D-7EE6D48FC3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C7F93D0-DEA2-415C-9793-69EBD728213A}"/>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C7D6602-35DE-4CC8-9A43-F6AE8DF348FA}"/>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7578DDEB-EFF8-4124-A766-04722571D1C9}"/>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6/12</a:t>
            </a:r>
          </a:p>
        </p:txBody>
      </p:sp>
      <p:sp>
        <p:nvSpPr>
          <p:cNvPr id="5" name="">
            <a:extLst xmlns:a="http://schemas.openxmlformats.org/drawingml/2006/main">
              <a:ext uri="{FF2B5EF4-FFF2-40B4-BE49-F238E27FC236}">
                <a16:creationId xmlns:a16="http://schemas.microsoft.com/office/drawing/2014/main" id="{DC757A1D-A456-4861-B7F8-B71D3C06B694}"/>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Sample project</a:t>
            </a:r>
          </a:p>
        </p:txBody>
      </p:sp>
      <p:sp>
        <p:nvSpPr>
          <p:cNvPr id="6" name="">
            <a:extLst xmlns:a="http://schemas.openxmlformats.org/drawingml/2006/main">
              <a:ext uri="{FF2B5EF4-FFF2-40B4-BE49-F238E27FC236}">
                <a16:creationId xmlns:a16="http://schemas.microsoft.com/office/drawing/2014/main" id="{75382D51-8D18-402E-80F2-E1226F74F156}"/>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Sample: security metrics daily summary</a:t>
            </a:r>
          </a:p>
        </p:txBody>
      </p:sp>
      <p:sp>
        <p:nvSpPr>
          <p:cNvPr id="7" name="">
            <a:extLst xmlns:a="http://schemas.openxmlformats.org/drawingml/2006/main">
              <a:ext uri="{FF2B5EF4-FFF2-40B4-BE49-F238E27FC236}">
                <a16:creationId xmlns:a16="http://schemas.microsoft.com/office/drawing/2014/main" id="{28B6E176-B9C6-455B-9E12-6D6E74326AC7}"/>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BA3BAE2-01AD-4432-8DCE-B21BC6567294}"/>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Load the Week 12 CSV from GitHub</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Calculate a simple priority score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Sort systems by review priority</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Turn the result into a short analyst report</a:t>
            </a:r>
          </a:p>
        </p:txBody>
      </p:sp>
    </p:spTree>
    <p:extLst>
      <p:ext uri="{BB962C8B-B14F-4D97-AF65-F5344CB8AC3E}">
        <p14:creationId xmlns:p14="http://schemas.microsoft.com/office/powerpoint/2010/main" val="127817867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C52C78-CF82-4C8C-B15B-D1B6634D91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91D20B6-79C3-411F-A412-320BAB0D5978}"/>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F9ABF2C-379E-40EB-91C1-E427545D740D}"/>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BB5D91A6-0461-47F2-A62A-7514BCB415A4}"/>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7/12</a:t>
            </a:r>
          </a:p>
        </p:txBody>
      </p:sp>
      <p:sp>
        <p:nvSpPr>
          <p:cNvPr id="5" name="">
            <a:extLst xmlns:a="http://schemas.openxmlformats.org/drawingml/2006/main">
              <a:ext uri="{FF2B5EF4-FFF2-40B4-BE49-F238E27FC236}">
                <a16:creationId xmlns:a16="http://schemas.microsoft.com/office/drawing/2014/main" id="{ED522AFA-2404-4D70-A5F6-E34F5C292BD2}"/>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Notebook walkthrough</a:t>
            </a:r>
          </a:p>
        </p:txBody>
      </p:sp>
      <p:sp>
        <p:nvSpPr>
          <p:cNvPr id="6" name="">
            <a:extLst xmlns:a="http://schemas.openxmlformats.org/drawingml/2006/main">
              <a:ext uri="{FF2B5EF4-FFF2-40B4-BE49-F238E27FC236}">
                <a16:creationId xmlns:a16="http://schemas.microsoft.com/office/drawing/2014/main" id="{811B8DB9-E92E-4CC0-8FBF-4561EE654955}"/>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What the sample code does</a:t>
            </a:r>
          </a:p>
        </p:txBody>
      </p:sp>
      <p:sp>
        <p:nvSpPr>
          <p:cNvPr id="7" name="">
            <a:extLst xmlns:a="http://schemas.openxmlformats.org/drawingml/2006/main">
              <a:ext uri="{FF2B5EF4-FFF2-40B4-BE49-F238E27FC236}">
                <a16:creationId xmlns:a16="http://schemas.microsoft.com/office/drawing/2014/main" id="{CED6F63D-4567-4FF0-BE80-4186AC195B3C}"/>
              </a:ext>
            </a:extLst>
          </p:cNvPr>
          <p:cNvSpPr>
            <a:spLocks xmlns:a="http://schemas.openxmlformats.org/drawingml/2006/main" noGrp="1"/>
          </p:cNvSpPr>
          <p:nvPr/>
        </p:nvSpPr>
        <p:spPr>
          <a:xfrm xmlns:a="http://schemas.openxmlformats.org/drawingml/2006/main">
            <a:off x="876300" y="2333625"/>
            <a:ext cx="685800" cy="514350"/>
          </a:xfrm>
          <a:prstGeom xmlns:a="http://schemas.openxmlformats.org/drawingml/2006/main" prst="roundRect">
            <a:avLst>
              <a:gd name="adj" fmla="val 14815"/>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C4AA48E-8929-493D-9E10-0C517D3AE608}"/>
              </a:ext>
            </a:extLst>
          </p:cNvPr>
          <p:cNvSpPr>
            <a:spLocks xmlns:a="http://schemas.openxmlformats.org/drawingml/2006/main" noGrp="1"/>
          </p:cNvSpPr>
          <p:nvPr/>
        </p:nvSpPr>
        <p:spPr>
          <a:xfrm xmlns:a="http://schemas.openxmlformats.org/drawingml/2006/main">
            <a:off x="1028700" y="240030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3231B"/>
                </a:solidFill>
                <a:latin typeface="Aptos"/>
                <a:ea typeface="Aptos"/>
                <a:cs typeface="Aptos"/>
              </a:defRPr>
            </a:pPr>
            <a:r>
              <a:rPr sz="1800" b="1">
                <a:solidFill>
                  <a:srgbClr val="13231B"/>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75ABFAFA-C1CC-478D-8071-9A771D786250}"/>
              </a:ext>
            </a:extLst>
          </p:cNvPr>
          <p:cNvSpPr>
            <a:spLocks xmlns:a="http://schemas.openxmlformats.org/drawingml/2006/main" noGrp="1"/>
          </p:cNvSpPr>
          <p:nvPr/>
        </p:nvSpPr>
        <p:spPr>
          <a:xfrm xmlns:a="http://schemas.openxmlformats.org/drawingml/2006/main">
            <a:off x="1790700" y="229552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BF7EA"/>
                </a:solidFill>
                <a:latin typeface="Aptos"/>
                <a:ea typeface="Aptos"/>
                <a:cs typeface="Aptos"/>
              </a:defRPr>
            </a:pPr>
            <a:r>
              <a:rPr sz="1950" b="0">
                <a:solidFill>
                  <a:srgbClr val="FBF7EA"/>
                </a:solidFill>
                <a:latin typeface="Aptos"/>
                <a:ea typeface="Aptos"/>
                <a:cs typeface="Aptos"/>
              </a:rPr>
              <a:t>Load the CSV with pandas.</a:t>
            </a:r>
          </a:p>
        </p:txBody>
      </p:sp>
      <p:sp>
        <p:nvSpPr>
          <p:cNvPr id="10" name="">
            <a:extLst xmlns:a="http://schemas.openxmlformats.org/drawingml/2006/main">
              <a:ext uri="{FF2B5EF4-FFF2-40B4-BE49-F238E27FC236}">
                <a16:creationId xmlns:a16="http://schemas.microsoft.com/office/drawing/2014/main" id="{A9F29B85-AB73-4596-8F7A-77BD0836739F}"/>
              </a:ext>
            </a:extLst>
          </p:cNvPr>
          <p:cNvSpPr>
            <a:spLocks xmlns:a="http://schemas.openxmlformats.org/drawingml/2006/main" noGrp="1"/>
          </p:cNvSpPr>
          <p:nvPr/>
        </p:nvSpPr>
        <p:spPr>
          <a:xfrm xmlns:a="http://schemas.openxmlformats.org/drawingml/2006/main">
            <a:off x="876300" y="3114675"/>
            <a:ext cx="685800" cy="514350"/>
          </a:xfrm>
          <a:prstGeom xmlns:a="http://schemas.openxmlformats.org/drawingml/2006/main" prst="roundRect">
            <a:avLst>
              <a:gd name="adj" fmla="val 14815"/>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86A6868-AB5F-4A06-BAAF-8902116A115A}"/>
              </a:ext>
            </a:extLst>
          </p:cNvPr>
          <p:cNvSpPr>
            <a:spLocks xmlns:a="http://schemas.openxmlformats.org/drawingml/2006/main" noGrp="1"/>
          </p:cNvSpPr>
          <p:nvPr/>
        </p:nvSpPr>
        <p:spPr>
          <a:xfrm xmlns:a="http://schemas.openxmlformats.org/drawingml/2006/main">
            <a:off x="1028700" y="318135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3231B"/>
                </a:solidFill>
                <a:latin typeface="Aptos"/>
                <a:ea typeface="Aptos"/>
                <a:cs typeface="Aptos"/>
              </a:defRPr>
            </a:pPr>
            <a:r>
              <a:rPr sz="1800" b="1">
                <a:solidFill>
                  <a:srgbClr val="13231B"/>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C8852AF3-EA10-4945-B12A-745EEAC216A3}"/>
              </a:ext>
            </a:extLst>
          </p:cNvPr>
          <p:cNvSpPr>
            <a:spLocks xmlns:a="http://schemas.openxmlformats.org/drawingml/2006/main" noGrp="1"/>
          </p:cNvSpPr>
          <p:nvPr/>
        </p:nvSpPr>
        <p:spPr>
          <a:xfrm xmlns:a="http://schemas.openxmlformats.org/drawingml/2006/main">
            <a:off x="1790700" y="307657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BF7EA"/>
                </a:solidFill>
                <a:latin typeface="Aptos"/>
                <a:ea typeface="Aptos"/>
                <a:cs typeface="Aptos"/>
              </a:defRPr>
            </a:pPr>
            <a:r>
              <a:rPr sz="1950" b="0">
                <a:solidFill>
                  <a:srgbClr val="FBF7EA"/>
                </a:solidFill>
                <a:latin typeface="Aptos"/>
                <a:ea typeface="Aptos"/>
                <a:cs typeface="Aptos"/>
              </a:rPr>
              <a:t>Create helper functions for points.</a:t>
            </a:r>
          </a:p>
        </p:txBody>
      </p:sp>
      <p:sp>
        <p:nvSpPr>
          <p:cNvPr id="13" name="">
            <a:extLst xmlns:a="http://schemas.openxmlformats.org/drawingml/2006/main">
              <a:ext uri="{FF2B5EF4-FFF2-40B4-BE49-F238E27FC236}">
                <a16:creationId xmlns:a16="http://schemas.microsoft.com/office/drawing/2014/main" id="{45B69FA9-08B9-45F7-ADBA-65FA9F55C232}"/>
              </a:ext>
            </a:extLst>
          </p:cNvPr>
          <p:cNvSpPr>
            <a:spLocks xmlns:a="http://schemas.openxmlformats.org/drawingml/2006/main" noGrp="1"/>
          </p:cNvSpPr>
          <p:nvPr/>
        </p:nvSpPr>
        <p:spPr>
          <a:xfrm xmlns:a="http://schemas.openxmlformats.org/drawingml/2006/main">
            <a:off x="876300" y="3895725"/>
            <a:ext cx="685800" cy="514350"/>
          </a:xfrm>
          <a:prstGeom xmlns:a="http://schemas.openxmlformats.org/drawingml/2006/main" prst="roundRect">
            <a:avLst>
              <a:gd name="adj" fmla="val 14815"/>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941F9A0-8F42-4626-B1F7-55446347D851}"/>
              </a:ext>
            </a:extLst>
          </p:cNvPr>
          <p:cNvSpPr>
            <a:spLocks xmlns:a="http://schemas.openxmlformats.org/drawingml/2006/main" noGrp="1"/>
          </p:cNvSpPr>
          <p:nvPr/>
        </p:nvSpPr>
        <p:spPr>
          <a:xfrm xmlns:a="http://schemas.openxmlformats.org/drawingml/2006/main">
            <a:off x="1028700" y="396240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3231B"/>
                </a:solidFill>
                <a:latin typeface="Aptos"/>
                <a:ea typeface="Aptos"/>
                <a:cs typeface="Aptos"/>
              </a:defRPr>
            </a:pPr>
            <a:r>
              <a:rPr sz="1800" b="1">
                <a:solidFill>
                  <a:srgbClr val="13231B"/>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27D7497C-7F47-4AFA-922C-EAD2E564FCD6}"/>
              </a:ext>
            </a:extLst>
          </p:cNvPr>
          <p:cNvSpPr>
            <a:spLocks xmlns:a="http://schemas.openxmlformats.org/drawingml/2006/main" noGrp="1"/>
          </p:cNvSpPr>
          <p:nvPr/>
        </p:nvSpPr>
        <p:spPr>
          <a:xfrm xmlns:a="http://schemas.openxmlformats.org/drawingml/2006/main">
            <a:off x="1790700" y="385762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BF7EA"/>
                </a:solidFill>
                <a:latin typeface="Aptos"/>
                <a:ea typeface="Aptos"/>
                <a:cs typeface="Aptos"/>
              </a:defRPr>
            </a:pPr>
            <a:r>
              <a:rPr sz="1950" b="0">
                <a:solidFill>
                  <a:srgbClr val="FBF7EA"/>
                </a:solidFill>
                <a:latin typeface="Aptos"/>
                <a:ea typeface="Aptos"/>
                <a:cs typeface="Aptos"/>
              </a:rPr>
              <a:t>Apply the score to each row.</a:t>
            </a:r>
          </a:p>
        </p:txBody>
      </p:sp>
      <p:sp>
        <p:nvSpPr>
          <p:cNvPr id="16" name="">
            <a:extLst xmlns:a="http://schemas.openxmlformats.org/drawingml/2006/main">
              <a:ext uri="{FF2B5EF4-FFF2-40B4-BE49-F238E27FC236}">
                <a16:creationId xmlns:a16="http://schemas.microsoft.com/office/drawing/2014/main" id="{6535EFDA-E0F5-494C-9EE5-E5AB0925C65A}"/>
              </a:ext>
            </a:extLst>
          </p:cNvPr>
          <p:cNvSpPr>
            <a:spLocks xmlns:a="http://schemas.openxmlformats.org/drawingml/2006/main" noGrp="1"/>
          </p:cNvSpPr>
          <p:nvPr/>
        </p:nvSpPr>
        <p:spPr>
          <a:xfrm xmlns:a="http://schemas.openxmlformats.org/drawingml/2006/main">
            <a:off x="876300" y="4676775"/>
            <a:ext cx="685800" cy="514350"/>
          </a:xfrm>
          <a:prstGeom xmlns:a="http://schemas.openxmlformats.org/drawingml/2006/main" prst="roundRect">
            <a:avLst>
              <a:gd name="adj" fmla="val 14815"/>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40A9F4B9-250A-44F4-99C8-1F202CC6FF85}"/>
              </a:ext>
            </a:extLst>
          </p:cNvPr>
          <p:cNvSpPr>
            <a:spLocks xmlns:a="http://schemas.openxmlformats.org/drawingml/2006/main" noGrp="1"/>
          </p:cNvSpPr>
          <p:nvPr/>
        </p:nvSpPr>
        <p:spPr>
          <a:xfrm xmlns:a="http://schemas.openxmlformats.org/drawingml/2006/main">
            <a:off x="1028700" y="474345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3231B"/>
                </a:solidFill>
                <a:latin typeface="Aptos"/>
                <a:ea typeface="Aptos"/>
                <a:cs typeface="Aptos"/>
              </a:defRPr>
            </a:pPr>
            <a:r>
              <a:rPr sz="1800" b="1">
                <a:solidFill>
                  <a:srgbClr val="13231B"/>
                </a:solidFill>
                <a:latin typeface="Aptos"/>
                <a:ea typeface="Aptos"/>
                <a:cs typeface="Aptos"/>
              </a:rPr>
              <a:t>4</a:t>
            </a:r>
          </a:p>
        </p:txBody>
      </p:sp>
      <p:sp>
        <p:nvSpPr>
          <p:cNvPr id="18" name="">
            <a:extLst xmlns:a="http://schemas.openxmlformats.org/drawingml/2006/main">
              <a:ext uri="{FF2B5EF4-FFF2-40B4-BE49-F238E27FC236}">
                <a16:creationId xmlns:a16="http://schemas.microsoft.com/office/drawing/2014/main" id="{7575099D-B103-41A7-908C-518BB1F6323A}"/>
              </a:ext>
            </a:extLst>
          </p:cNvPr>
          <p:cNvSpPr>
            <a:spLocks xmlns:a="http://schemas.openxmlformats.org/drawingml/2006/main" noGrp="1"/>
          </p:cNvSpPr>
          <p:nvPr/>
        </p:nvSpPr>
        <p:spPr>
          <a:xfrm xmlns:a="http://schemas.openxmlformats.org/drawingml/2006/main">
            <a:off x="1790700" y="463867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BF7EA"/>
                </a:solidFill>
                <a:latin typeface="Aptos"/>
                <a:ea typeface="Aptos"/>
                <a:cs typeface="Aptos"/>
              </a:defRPr>
            </a:pPr>
            <a:r>
              <a:rPr sz="1950" b="0">
                <a:solidFill>
                  <a:srgbClr val="FBF7EA"/>
                </a:solidFill>
                <a:latin typeface="Aptos"/>
                <a:ea typeface="Aptos"/>
                <a:cs typeface="Aptos"/>
              </a:rPr>
              <a:t>Sort by priority score.</a:t>
            </a:r>
          </a:p>
        </p:txBody>
      </p:sp>
      <p:sp>
        <p:nvSpPr>
          <p:cNvPr id="19" name="">
            <a:extLst xmlns:a="http://schemas.openxmlformats.org/drawingml/2006/main">
              <a:ext uri="{FF2B5EF4-FFF2-40B4-BE49-F238E27FC236}">
                <a16:creationId xmlns:a16="http://schemas.microsoft.com/office/drawing/2014/main" id="{A7EB70B3-A45D-48B1-9FCB-5C61609EFEF2}"/>
              </a:ext>
            </a:extLst>
          </p:cNvPr>
          <p:cNvSpPr>
            <a:spLocks xmlns:a="http://schemas.openxmlformats.org/drawingml/2006/main" noGrp="1"/>
          </p:cNvSpPr>
          <p:nvPr/>
        </p:nvSpPr>
        <p:spPr>
          <a:xfrm xmlns:a="http://schemas.openxmlformats.org/drawingml/2006/main">
            <a:off x="876300" y="5457825"/>
            <a:ext cx="685800" cy="514350"/>
          </a:xfrm>
          <a:prstGeom xmlns:a="http://schemas.openxmlformats.org/drawingml/2006/main" prst="roundRect">
            <a:avLst>
              <a:gd name="adj" fmla="val 14815"/>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7C9A10C-5EE5-414F-A517-C8FEA40F4DF2}"/>
              </a:ext>
            </a:extLst>
          </p:cNvPr>
          <p:cNvSpPr>
            <a:spLocks xmlns:a="http://schemas.openxmlformats.org/drawingml/2006/main" noGrp="1"/>
          </p:cNvSpPr>
          <p:nvPr/>
        </p:nvSpPr>
        <p:spPr>
          <a:xfrm xmlns:a="http://schemas.openxmlformats.org/drawingml/2006/main">
            <a:off x="1028700" y="552450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3231B"/>
                </a:solidFill>
                <a:latin typeface="Aptos"/>
                <a:ea typeface="Aptos"/>
                <a:cs typeface="Aptos"/>
              </a:defRPr>
            </a:pPr>
            <a:r>
              <a:rPr sz="1800" b="1">
                <a:solidFill>
                  <a:srgbClr val="13231B"/>
                </a:solidFill>
                <a:latin typeface="Aptos"/>
                <a:ea typeface="Aptos"/>
                <a:cs typeface="Aptos"/>
              </a:rPr>
              <a:t>5</a:t>
            </a:r>
          </a:p>
        </p:txBody>
      </p:sp>
      <p:sp>
        <p:nvSpPr>
          <p:cNvPr id="21" name="">
            <a:extLst xmlns:a="http://schemas.openxmlformats.org/drawingml/2006/main">
              <a:ext uri="{FF2B5EF4-FFF2-40B4-BE49-F238E27FC236}">
                <a16:creationId xmlns:a16="http://schemas.microsoft.com/office/drawing/2014/main" id="{8C758B3A-21D4-40D6-87B4-61FD2110A9EB}"/>
              </a:ext>
            </a:extLst>
          </p:cNvPr>
          <p:cNvSpPr>
            <a:spLocks xmlns:a="http://schemas.openxmlformats.org/drawingml/2006/main" noGrp="1"/>
          </p:cNvSpPr>
          <p:nvPr/>
        </p:nvSpPr>
        <p:spPr>
          <a:xfrm xmlns:a="http://schemas.openxmlformats.org/drawingml/2006/main">
            <a:off x="1790700" y="541972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BF7EA"/>
                </a:solidFill>
                <a:latin typeface="Aptos"/>
                <a:ea typeface="Aptos"/>
                <a:cs typeface="Aptos"/>
              </a:defRPr>
            </a:pPr>
            <a:r>
              <a:rPr sz="1950" b="0">
                <a:solidFill>
                  <a:srgbClr val="FBF7EA"/>
                </a:solidFill>
                <a:latin typeface="Aptos"/>
                <a:ea typeface="Aptos"/>
                <a:cs typeface="Aptos"/>
              </a:rPr>
              <a:t>Create one chart and summary table.</a:t>
            </a:r>
          </a:p>
        </p:txBody>
      </p:sp>
    </p:spTree>
    <p:extLst>
      <p:ext uri="{BB962C8B-B14F-4D97-AF65-F5344CB8AC3E}">
        <p14:creationId xmlns:p14="http://schemas.microsoft.com/office/powerpoint/2010/main" val="3118742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E8AE81-A5A0-481E-8136-6EBFE62A95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4D04FA6-4854-449F-87C2-9704D013D8E3}"/>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00A6471-CC3E-412D-BD8A-54564C0F3AF8}"/>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DA596776-87F0-4975-B9C5-9024EE35C7EE}"/>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8/12</a:t>
            </a:r>
          </a:p>
        </p:txBody>
      </p:sp>
      <p:sp>
        <p:nvSpPr>
          <p:cNvPr id="5" name="">
            <a:extLst xmlns:a="http://schemas.openxmlformats.org/drawingml/2006/main">
              <a:ext uri="{FF2B5EF4-FFF2-40B4-BE49-F238E27FC236}">
                <a16:creationId xmlns:a16="http://schemas.microsoft.com/office/drawing/2014/main" id="{169C526E-6A94-46E0-B8C3-12A32116ABC8}"/>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Report structure</a:t>
            </a:r>
          </a:p>
        </p:txBody>
      </p:sp>
      <p:sp>
        <p:nvSpPr>
          <p:cNvPr id="6" name="">
            <a:extLst xmlns:a="http://schemas.openxmlformats.org/drawingml/2006/main">
              <a:ext uri="{FF2B5EF4-FFF2-40B4-BE49-F238E27FC236}">
                <a16:creationId xmlns:a16="http://schemas.microsoft.com/office/drawing/2014/main" id="{8F9F37A1-E1FA-4802-A52A-EEE9144BA332}"/>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A complete project report has predictable parts</a:t>
            </a:r>
          </a:p>
        </p:txBody>
      </p:sp>
      <p:sp>
        <p:nvSpPr>
          <p:cNvPr id="7" name="">
            <a:extLst xmlns:a="http://schemas.openxmlformats.org/drawingml/2006/main">
              <a:ext uri="{FF2B5EF4-FFF2-40B4-BE49-F238E27FC236}">
                <a16:creationId xmlns:a16="http://schemas.microsoft.com/office/drawing/2014/main" id="{A8271430-D3EB-41EF-9145-117C50F2BF90}"/>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B8021EC-87BF-4DD8-88AE-FFA37D9F92B8}"/>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Question and background</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Dataset or source description</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Method or evidence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Findings</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Recommendation</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Privacy or ethics concern</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Limitation</a:t>
            </a:r>
          </a:p>
        </p:txBody>
      </p:sp>
    </p:spTree>
    <p:extLst>
      <p:ext uri="{BB962C8B-B14F-4D97-AF65-F5344CB8AC3E}">
        <p14:creationId xmlns:p14="http://schemas.microsoft.com/office/powerpoint/2010/main" val="16743281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D22FE4-A635-428F-A81F-69FBFE1689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4F08362-406C-45F9-B114-7682826E97A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D41E10B-A7FE-4C7C-AD80-BB8CF1F599B7}"/>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000BBBDE-FF72-4616-ADE0-3C6A61A6450A}"/>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9/12</a:t>
            </a:r>
          </a:p>
        </p:txBody>
      </p:sp>
      <p:sp>
        <p:nvSpPr>
          <p:cNvPr id="5" name="">
            <a:extLst xmlns:a="http://schemas.openxmlformats.org/drawingml/2006/main">
              <a:ext uri="{FF2B5EF4-FFF2-40B4-BE49-F238E27FC236}">
                <a16:creationId xmlns:a16="http://schemas.microsoft.com/office/drawing/2014/main" id="{BF8EA4F6-3AFC-40CF-BB04-ED2228B2203D}"/>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Today's lab</a:t>
            </a:r>
          </a:p>
        </p:txBody>
      </p:sp>
      <p:sp>
        <p:nvSpPr>
          <p:cNvPr id="6" name="">
            <a:extLst xmlns:a="http://schemas.openxmlformats.org/drawingml/2006/main">
              <a:ext uri="{FF2B5EF4-FFF2-40B4-BE49-F238E27FC236}">
                <a16:creationId xmlns:a16="http://schemas.microsoft.com/office/drawing/2014/main" id="{D4A9A7B9-3C42-47A3-8531-A4AC3F465390}"/>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Lab goal: draft your findings outline</a:t>
            </a:r>
          </a:p>
        </p:txBody>
      </p:sp>
      <p:sp>
        <p:nvSpPr>
          <p:cNvPr id="7" name="">
            <a:extLst xmlns:a="http://schemas.openxmlformats.org/drawingml/2006/main">
              <a:ext uri="{FF2B5EF4-FFF2-40B4-BE49-F238E27FC236}">
                <a16:creationId xmlns:a16="http://schemas.microsoft.com/office/drawing/2014/main" id="{25BEA9D9-716D-41BE-9E29-6B57046A590E}"/>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E1190B4-81E7-4ECE-AD04-CA9B9C40E1D9}"/>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Confirm your path and question</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List your evidence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Draft two or three findings</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Draft a recommendation and limitation</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Submit a checkpoint paragraph</a:t>
            </a:r>
          </a:p>
        </p:txBody>
      </p:sp>
    </p:spTree>
    <p:extLst>
      <p:ext uri="{BB962C8B-B14F-4D97-AF65-F5344CB8AC3E}">
        <p14:creationId xmlns:p14="http://schemas.microsoft.com/office/powerpoint/2010/main" val="38129735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9041BD-AAD5-4F8F-B34B-AED791AC54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5F2A523-6359-430E-86A5-D2A9667A6D8C}"/>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F0C1B8D-A537-4619-8860-A7696AFDD25D}"/>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1B00E5D8-A6C6-40E1-8F2A-EA42431397AA}"/>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10/12</a:t>
            </a:r>
          </a:p>
        </p:txBody>
      </p:sp>
      <p:sp>
        <p:nvSpPr>
          <p:cNvPr id="5" name="">
            <a:extLst xmlns:a="http://schemas.openxmlformats.org/drawingml/2006/main">
              <a:ext uri="{FF2B5EF4-FFF2-40B4-BE49-F238E27FC236}">
                <a16:creationId xmlns:a16="http://schemas.microsoft.com/office/drawing/2014/main" id="{42FA0748-6767-423E-9869-DE3A8A002F56}"/>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Work strategy</a:t>
            </a:r>
          </a:p>
        </p:txBody>
      </p:sp>
      <p:sp>
        <p:nvSpPr>
          <p:cNvPr id="6" name="">
            <a:extLst xmlns:a="http://schemas.openxmlformats.org/drawingml/2006/main">
              <a:ext uri="{FF2B5EF4-FFF2-40B4-BE49-F238E27FC236}">
                <a16:creationId xmlns:a16="http://schemas.microsoft.com/office/drawing/2014/main" id="{EDAE74BE-A797-4BD6-AE72-C1C128BACA4B}"/>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If you feel stuck, shrink the project</a:t>
            </a:r>
          </a:p>
        </p:txBody>
      </p:sp>
      <p:sp>
        <p:nvSpPr>
          <p:cNvPr id="7" name="">
            <a:extLst xmlns:a="http://schemas.openxmlformats.org/drawingml/2006/main">
              <a:ext uri="{FF2B5EF4-FFF2-40B4-BE49-F238E27FC236}">
                <a16:creationId xmlns:a16="http://schemas.microsoft.com/office/drawing/2014/main" id="{3CB7FFB9-82D5-4FEE-9A35-8D76D865E884}"/>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E890A51-1148-4831-ADC4-A636AC115292}"/>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Use one dataset instead of three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Use one case instead of a whole industry</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Use two findings instead of five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Make one recommendation you can defend</a:t>
            </a:r>
          </a:p>
        </p:txBody>
      </p:sp>
    </p:spTree>
    <p:extLst>
      <p:ext uri="{BB962C8B-B14F-4D97-AF65-F5344CB8AC3E}">
        <p14:creationId xmlns:p14="http://schemas.microsoft.com/office/powerpoint/2010/main" val="995591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067F8FF-8294-4C00-8074-F10E2E8220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0A9BEF9-B4CE-4B57-9CD0-E460AA9F4263}"/>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D6EF295-E56A-4AE4-9637-A41818B09FA5}"/>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41CD6BB1-7C24-4A0A-8276-03221B140175}"/>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11/12</a:t>
            </a:r>
          </a:p>
        </p:txBody>
      </p:sp>
      <p:sp>
        <p:nvSpPr>
          <p:cNvPr id="5" name="">
            <a:extLst xmlns:a="http://schemas.openxmlformats.org/drawingml/2006/main">
              <a:ext uri="{FF2B5EF4-FFF2-40B4-BE49-F238E27FC236}">
                <a16:creationId xmlns:a16="http://schemas.microsoft.com/office/drawing/2014/main" id="{18C52ED0-9FAB-425F-BEBF-1A4136BC816D}"/>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Checkpoint</a:t>
            </a:r>
          </a:p>
        </p:txBody>
      </p:sp>
      <p:sp>
        <p:nvSpPr>
          <p:cNvPr id="6" name="">
            <a:extLst xmlns:a="http://schemas.openxmlformats.org/drawingml/2006/main">
              <a:ext uri="{FF2B5EF4-FFF2-40B4-BE49-F238E27FC236}">
                <a16:creationId xmlns:a16="http://schemas.microsoft.com/office/drawing/2014/main" id="{B5BCAA8F-C5D0-40BC-ACBB-CE029959FF93}"/>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Before you leave: submit the project skeleton</a:t>
            </a:r>
          </a:p>
        </p:txBody>
      </p:sp>
      <p:sp>
        <p:nvSpPr>
          <p:cNvPr id="7" name="">
            <a:extLst xmlns:a="http://schemas.openxmlformats.org/drawingml/2006/main">
              <a:ext uri="{FF2B5EF4-FFF2-40B4-BE49-F238E27FC236}">
                <a16:creationId xmlns:a16="http://schemas.microsoft.com/office/drawing/2014/main" id="{CD67B30A-5163-47B9-9D7D-731FA26BCCBE}"/>
              </a:ext>
            </a:extLst>
          </p:cNvPr>
          <p:cNvSpPr>
            <a:spLocks xmlns:a="http://schemas.openxmlformats.org/drawingml/2006/main" noGrp="1"/>
          </p:cNvSpPr>
          <p:nvPr/>
        </p:nvSpPr>
        <p:spPr>
          <a:xfrm xmlns:a="http://schemas.openxmlformats.org/drawingml/2006/main">
            <a:off x="800100" y="2238375"/>
            <a:ext cx="4953000" cy="2095500"/>
          </a:xfrm>
          <a:prstGeom xmlns:a="http://schemas.openxmlformats.org/drawingml/2006/main" prst="rect">
            <a:avLst/>
          </a:prstGeom>
          <a:solidFill xmlns:a="http://schemas.openxmlformats.org/drawingml/2006/main">
            <a:srgbClr val="1F392D"/>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550" b="1">
                <a:solidFill>
                  <a:srgbClr val="FBF7EA"/>
                </a:solidFill>
                <a:latin typeface="Aptos"/>
                <a:ea typeface="Aptos"/>
                <a:cs typeface="Aptos"/>
              </a:defRPr>
            </a:pPr>
            <a:r>
              <a:rPr sz="2550" b="1">
                <a:solidFill>
                  <a:srgbClr val="FBF7EA"/>
                </a:solidFill>
                <a:latin typeface="Aptos"/>
                <a:ea typeface="Aptos"/>
                <a:cs typeface="Aptos"/>
              </a:rPr>
              <a:t>Question + evidence + findings + recommendation</a:t>
            </a:r>
          </a:p>
        </p:txBody>
      </p:sp>
      <p:sp>
        <p:nvSpPr>
          <p:cNvPr id="8" name="">
            <a:extLst xmlns:a="http://schemas.openxmlformats.org/drawingml/2006/main">
              <a:ext uri="{FF2B5EF4-FFF2-40B4-BE49-F238E27FC236}">
                <a16:creationId xmlns:a16="http://schemas.microsoft.com/office/drawing/2014/main" id="{9EC8277E-BFF4-489C-91D8-21398D1F0D18}"/>
              </a:ext>
            </a:extLst>
          </p:cNvPr>
          <p:cNvSpPr>
            <a:spLocks xmlns:a="http://schemas.openxmlformats.org/drawingml/2006/main" noGrp="1"/>
          </p:cNvSpPr>
          <p:nvPr/>
        </p:nvSpPr>
        <p:spPr>
          <a:xfrm xmlns:a="http://schemas.openxmlformats.org/drawingml/2006/main">
            <a:off x="6286500" y="2381250"/>
            <a:ext cx="4953000" cy="2952750"/>
          </a:xfrm>
          <a:prstGeom xmlns:a="http://schemas.openxmlformats.org/drawingml/2006/main" prst="roundRect">
            <a:avLst>
              <a:gd name="adj" fmla="val 2581"/>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521F5D5-CAE5-4F97-86C5-4103A9FDE3BF}"/>
              </a:ext>
            </a:extLst>
          </p:cNvPr>
          <p:cNvSpPr>
            <a:spLocks xmlns:a="http://schemas.openxmlformats.org/drawingml/2006/main" noGrp="1"/>
          </p:cNvSpPr>
          <p:nvPr/>
        </p:nvSpPr>
        <p:spPr>
          <a:xfrm xmlns:a="http://schemas.openxmlformats.org/drawingml/2006/main">
            <a:off x="6553200" y="2628900"/>
            <a:ext cx="4419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One paragraph explaining where you are</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One thing you finished today</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One thing you still need to do</a:t>
            </a:r>
          </a:p>
        </p:txBody>
      </p:sp>
    </p:spTree>
    <p:extLst>
      <p:ext uri="{BB962C8B-B14F-4D97-AF65-F5344CB8AC3E}">
        <p14:creationId xmlns:p14="http://schemas.microsoft.com/office/powerpoint/2010/main" val="5337040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7C4D9E-4A82-4255-8020-A3ACDF72D1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3231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5D309D4-F1CF-4DFC-9E8F-B4085DB871C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4D3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29B4E22-A7CA-48C9-8A75-E552C3A7661F}"/>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4D35E"/>
                </a:solidFill>
                <a:latin typeface="Aptos"/>
                <a:ea typeface="Aptos"/>
                <a:cs typeface="Aptos"/>
              </a:defRPr>
            </a:pPr>
            <a:r>
              <a:rPr sz="1200" b="1">
                <a:solidFill>
                  <a:srgbClr val="F4D35E"/>
                </a:solidFill>
                <a:latin typeface="Aptos"/>
                <a:ea typeface="Aptos"/>
                <a:cs typeface="Aptos"/>
              </a:rPr>
              <a:t>Week 14 Day 1</a:t>
            </a:r>
          </a:p>
        </p:txBody>
      </p:sp>
      <p:sp>
        <p:nvSpPr>
          <p:cNvPr id="4" name="">
            <a:extLst xmlns:a="http://schemas.openxmlformats.org/drawingml/2006/main">
              <a:ext uri="{FF2B5EF4-FFF2-40B4-BE49-F238E27FC236}">
                <a16:creationId xmlns:a16="http://schemas.microsoft.com/office/drawing/2014/main" id="{79C0A9BA-51A2-4D73-9906-E8E1F2E43A06}"/>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2D8CA"/>
                </a:solidFill>
                <a:latin typeface="Aptos"/>
                <a:ea typeface="Aptos"/>
                <a:cs typeface="Aptos"/>
              </a:defRPr>
            </a:pPr>
            <a:r>
              <a:rPr sz="1200" b="0">
                <a:solidFill>
                  <a:srgbClr val="D2D8CA"/>
                </a:solidFill>
                <a:latin typeface="Aptos"/>
                <a:ea typeface="Aptos"/>
                <a:cs typeface="Aptos"/>
              </a:rPr>
              <a:t>12/12</a:t>
            </a:r>
          </a:p>
        </p:txBody>
      </p:sp>
      <p:sp>
        <p:nvSpPr>
          <p:cNvPr id="5" name="">
            <a:extLst xmlns:a="http://schemas.openxmlformats.org/drawingml/2006/main">
              <a:ext uri="{FF2B5EF4-FFF2-40B4-BE49-F238E27FC236}">
                <a16:creationId xmlns:a16="http://schemas.microsoft.com/office/drawing/2014/main" id="{71399A73-6F5A-4A9F-9252-4711C4240E21}"/>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70C1B3"/>
                </a:solidFill>
                <a:latin typeface="Aptos"/>
                <a:ea typeface="Aptos"/>
                <a:cs typeface="Aptos"/>
              </a:defRPr>
            </a:pPr>
            <a:r>
              <a:rPr sz="1350" b="1">
                <a:solidFill>
                  <a:srgbClr val="70C1B3"/>
                </a:solidFill>
                <a:latin typeface="Aptos"/>
                <a:ea typeface="Aptos"/>
                <a:cs typeface="Aptos"/>
              </a:rPr>
              <a:t>Next class</a:t>
            </a:r>
          </a:p>
        </p:txBody>
      </p:sp>
      <p:sp>
        <p:nvSpPr>
          <p:cNvPr id="6" name="">
            <a:extLst xmlns:a="http://schemas.openxmlformats.org/drawingml/2006/main">
              <a:ext uri="{FF2B5EF4-FFF2-40B4-BE49-F238E27FC236}">
                <a16:creationId xmlns:a16="http://schemas.microsoft.com/office/drawing/2014/main" id="{CA415470-2713-41C6-A1E4-C2B002529665}"/>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BF7EA"/>
                </a:solidFill>
                <a:latin typeface="Aptos Display"/>
                <a:ea typeface="Aptos Display"/>
                <a:cs typeface="Aptos Display"/>
              </a:defRPr>
            </a:pPr>
            <a:r>
              <a:rPr sz="3300" b="1">
                <a:solidFill>
                  <a:srgbClr val="FBF7EA"/>
                </a:solidFill>
                <a:latin typeface="Aptos Display"/>
                <a:ea typeface="Aptos Display"/>
                <a:cs typeface="Aptos Display"/>
              </a:rPr>
              <a:t>Next class is mostly work time</a:t>
            </a:r>
          </a:p>
        </p:txBody>
      </p:sp>
      <p:sp>
        <p:nvSpPr>
          <p:cNvPr id="7" name="">
            <a:extLst xmlns:a="http://schemas.openxmlformats.org/drawingml/2006/main">
              <a:ext uri="{FF2B5EF4-FFF2-40B4-BE49-F238E27FC236}">
                <a16:creationId xmlns:a16="http://schemas.microsoft.com/office/drawing/2014/main" id="{50FBACD9-61A6-4B56-9CD3-D789204CA087}"/>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F392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5127D74-BCC4-4E94-BA29-FEF51EEFE4CA}"/>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Bring your dataset, sources, or draft</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Bring your notebook if you are coding</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Bring citation information if you are writing</a:t>
            </a:r>
          </a:p>
          <a:p xmlns:a="http://schemas.openxmlformats.org/drawingml/2006/main">
            <a:pPr algn="l">
              <a:defRPr sz="2100" b="0">
                <a:solidFill>
                  <a:srgbClr val="FBF7EA"/>
                </a:solidFill>
                <a:latin typeface="Aptos"/>
                <a:ea typeface="Aptos"/>
                <a:cs typeface="Aptos"/>
              </a:defRPr>
            </a:pPr>
            <a:r>
              <a:rPr sz="2100" b="0">
                <a:solidFill>
                  <a:srgbClr val="FBF7EA"/>
                </a:solidFill>
                <a:latin typeface="Aptos"/>
                <a:ea typeface="Aptos"/>
                <a:cs typeface="Aptos"/>
              </a:rPr>
              <a:t>- Use the checklist to finish</a:t>
            </a:r>
          </a:p>
        </p:txBody>
      </p:sp>
    </p:spTree>
    <p:extLst>
      <p:ext uri="{BB962C8B-B14F-4D97-AF65-F5344CB8AC3E}">
        <p14:creationId xmlns:p14="http://schemas.microsoft.com/office/powerpoint/2010/main" val="6358254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2026-05-04T02:06:54.0440000Z</dcterms:created>
  <dcterms:modified xsi:type="dcterms:W3CDTF">2026-05-04T02:06:54.0440000Z</dcterms:modified>
</coreProperties>
</file>