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59b69e7e55495b" /><Relationship Type="http://schemas.openxmlformats.org/officeDocument/2006/relationships/extended-properties" Target="/docProps/app.xml" Id="Rf981b8ab186c48a7" /><Relationship Type="http://schemas.openxmlformats.org/officeDocument/2006/relationships/officeDocument" Target="/ppt/presentation.xml" Id="R37dd3c8e13e647bb" /></Relationships>
</file>

<file path=ppt/presentation.xml><?xml version="1.0" encoding="utf-8"?>
<p:presentation xmlns:p="http://schemas.openxmlformats.org/presentationml/2006/main">
  <p:sldMasterIdLst>
    <p:sldMasterId xmlns:r="http://schemas.openxmlformats.org/officeDocument/2006/relationships" id="2147483648" r:id="R5eac26eececc48e9"/>
  </p:sldMasterIdLst>
  <p:notesMasterIdLst>
    <p:notesMasterId xmlns:r="http://schemas.openxmlformats.org/officeDocument/2006/relationships" r:id="R4cdacfffa6f640db"/>
  </p:notesMasterIdLst>
  <p:sldIdLst>
    <p:sldId xmlns:r="http://schemas.openxmlformats.org/officeDocument/2006/relationships" id="256" r:id="Rbc8d55b123124c9b"/>
    <p:sldId xmlns:r="http://schemas.openxmlformats.org/officeDocument/2006/relationships" id="257" r:id="Rf7865cf5be034302"/>
    <p:sldId xmlns:r="http://schemas.openxmlformats.org/officeDocument/2006/relationships" id="258" r:id="Ra7d624c90acd407d"/>
    <p:sldId xmlns:r="http://schemas.openxmlformats.org/officeDocument/2006/relationships" id="259" r:id="R1105512199bc4c5f"/>
    <p:sldId xmlns:r="http://schemas.openxmlformats.org/officeDocument/2006/relationships" id="260" r:id="Raf2027db13104a55"/>
    <p:sldId xmlns:r="http://schemas.openxmlformats.org/officeDocument/2006/relationships" id="261" r:id="R61d211cfbd4a46d9"/>
    <p:sldId xmlns:r="http://schemas.openxmlformats.org/officeDocument/2006/relationships" id="262" r:id="R3c095120115f40ea"/>
    <p:sldId xmlns:r="http://schemas.openxmlformats.org/officeDocument/2006/relationships" id="263" r:id="R753e6a73cbe14cd5"/>
    <p:sldId xmlns:r="http://schemas.openxmlformats.org/officeDocument/2006/relationships" id="264" r:id="R5dc83e0c7ac544c1"/>
    <p:sldId xmlns:r="http://schemas.openxmlformats.org/officeDocument/2006/relationships" id="265" r:id="R4882bd1229c24252"/>
    <p:sldId xmlns:r="http://schemas.openxmlformats.org/officeDocument/2006/relationships" id="266" r:id="R6469440218e64cbf"/>
    <p:sldId xmlns:r="http://schemas.openxmlformats.org/officeDocument/2006/relationships" id="267" r:id="R0a896b1d5bf94223"/>
    <p:sldId xmlns:r="http://schemas.openxmlformats.org/officeDocument/2006/relationships" id="268" r:id="Re4fe204e0dfc4b79"/>
    <p:sldId xmlns:r="http://schemas.openxmlformats.org/officeDocument/2006/relationships" id="269" r:id="R283cc76cdcac4bda"/>
    <p:sldId xmlns:r="http://schemas.openxmlformats.org/officeDocument/2006/relationships" id="270" r:id="R89e80605479d4ca5"/>
    <p:sldId xmlns:r="http://schemas.openxmlformats.org/officeDocument/2006/relationships" id="271" r:id="R52423f96d47d4d4b"/>
    <p:sldId xmlns:r="http://schemas.openxmlformats.org/officeDocument/2006/relationships" id="272" r:id="Rae262072d1484bb4"/>
    <p:sldId xmlns:r="http://schemas.openxmlformats.org/officeDocument/2006/relationships" id="273" r:id="R4b586cfc87a84904"/>
    <p:sldId xmlns:r="http://schemas.openxmlformats.org/officeDocument/2006/relationships" id="274" r:id="R34712360230d4eea"/>
    <p:sldId xmlns:r="http://schemas.openxmlformats.org/officeDocument/2006/relationships" id="275" r:id="R9e79c8c4c2754e4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eac26eececc48e9" /><Relationship Type="http://schemas.openxmlformats.org/officeDocument/2006/relationships/theme" Target="/ppt/theme/theme1.xml" Id="Rece04c95e04444c3" /><Relationship Type="http://schemas.openxmlformats.org/officeDocument/2006/relationships/notesMaster" Target="/ppt/notesMasters/notesMaster1.xml" Id="R4cdacfffa6f640db" /><Relationship Type="http://schemas.openxmlformats.org/officeDocument/2006/relationships/presProps" Target="/ppt/presProps.xml" Id="R6c8c0c5768b948bf" /><Relationship Type="http://schemas.openxmlformats.org/officeDocument/2006/relationships/viewProps" Target="/ppt/viewProps.xml" Id="R116b9f2c5ca545d6" /><Relationship Type="http://schemas.openxmlformats.org/officeDocument/2006/relationships/tableStyles" Target="/ppt/tableStyles.xml" Id="R3462ee43b1af4d8e" /><Relationship Type="http://schemas.openxmlformats.org/officeDocument/2006/relationships/slide" Target="/ppt/slides/slide1.xml" Id="Rbc8d55b123124c9b" /><Relationship Type="http://schemas.openxmlformats.org/officeDocument/2006/relationships/slide" Target="/ppt/slides/slide2.xml" Id="Rf7865cf5be034302" /><Relationship Type="http://schemas.openxmlformats.org/officeDocument/2006/relationships/slide" Target="/ppt/slides/slide3.xml" Id="Ra7d624c90acd407d" /><Relationship Type="http://schemas.openxmlformats.org/officeDocument/2006/relationships/slide" Target="/ppt/slides/slide4.xml" Id="R1105512199bc4c5f" /><Relationship Type="http://schemas.openxmlformats.org/officeDocument/2006/relationships/slide" Target="/ppt/slides/slide5.xml" Id="Raf2027db13104a55" /><Relationship Type="http://schemas.openxmlformats.org/officeDocument/2006/relationships/slide" Target="/ppt/slides/slide6.xml" Id="R61d211cfbd4a46d9" /><Relationship Type="http://schemas.openxmlformats.org/officeDocument/2006/relationships/slide" Target="/ppt/slides/slide7.xml" Id="R3c095120115f40ea" /><Relationship Type="http://schemas.openxmlformats.org/officeDocument/2006/relationships/slide" Target="/ppt/slides/slide8.xml" Id="R753e6a73cbe14cd5" /><Relationship Type="http://schemas.openxmlformats.org/officeDocument/2006/relationships/slide" Target="/ppt/slides/slide9.xml" Id="R5dc83e0c7ac544c1" /><Relationship Type="http://schemas.openxmlformats.org/officeDocument/2006/relationships/slide" Target="/ppt/slides/slide10.xml" Id="R4882bd1229c24252" /><Relationship Type="http://schemas.openxmlformats.org/officeDocument/2006/relationships/slide" Target="/ppt/slides/slide11.xml" Id="R6469440218e64cbf" /><Relationship Type="http://schemas.openxmlformats.org/officeDocument/2006/relationships/slide" Target="/ppt/slides/slide12.xml" Id="R0a896b1d5bf94223" /><Relationship Type="http://schemas.openxmlformats.org/officeDocument/2006/relationships/slide" Target="/ppt/slides/slide13.xml" Id="Re4fe204e0dfc4b79" /><Relationship Type="http://schemas.openxmlformats.org/officeDocument/2006/relationships/slide" Target="/ppt/slides/slide14.xml" Id="R283cc76cdcac4bda" /><Relationship Type="http://schemas.openxmlformats.org/officeDocument/2006/relationships/slide" Target="/ppt/slides/slide15.xml" Id="R89e80605479d4ca5" /><Relationship Type="http://schemas.openxmlformats.org/officeDocument/2006/relationships/slide" Target="/ppt/slides/slide16.xml" Id="R52423f96d47d4d4b" /><Relationship Type="http://schemas.openxmlformats.org/officeDocument/2006/relationships/slide" Target="/ppt/slides/slide17.xml" Id="Rae262072d1484bb4" /><Relationship Type="http://schemas.openxmlformats.org/officeDocument/2006/relationships/slide" Target="/ppt/slides/slide18.xml" Id="R4b586cfc87a84904" /><Relationship Type="http://schemas.openxmlformats.org/officeDocument/2006/relationships/slide" Target="/ppt/slides/slide19.xml" Id="R34712360230d4eea" /><Relationship Type="http://schemas.openxmlformats.org/officeDocument/2006/relationships/slide" Target="/ppt/slides/slide20.xml" Id="R9e79c8c4c2754e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69b140a3eab46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a0962179a542fc" /><Relationship Type="http://schemas.openxmlformats.org/officeDocument/2006/relationships/notesMaster" Target="/ppt/notesMasters/notesMaster1.xml" Id="Ra7f6f0acd95c4c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a58a7dc4294a32" /><Relationship Type="http://schemas.openxmlformats.org/officeDocument/2006/relationships/notesMaster" Target="/ppt/notesMasters/notesMaster1.xml" Id="R317734bd604445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7f9b2292ed4837" /><Relationship Type="http://schemas.openxmlformats.org/officeDocument/2006/relationships/notesMaster" Target="/ppt/notesMasters/notesMaster1.xml" Id="R6d7500c7f4f74c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365968b5794cbf" /><Relationship Type="http://schemas.openxmlformats.org/officeDocument/2006/relationships/notesMaster" Target="/ppt/notesMasters/notesMaster1.xml" Id="R27a453efdc5941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f12dc1b0de484c" /><Relationship Type="http://schemas.openxmlformats.org/officeDocument/2006/relationships/notesMaster" Target="/ppt/notesMasters/notesMaster1.xml" Id="R05d22d24dd4248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5bc90cca2d4b25" /><Relationship Type="http://schemas.openxmlformats.org/officeDocument/2006/relationships/notesMaster" Target="/ppt/notesMasters/notesMaster1.xml" Id="R671ce4eb0f0b4e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bf1a5e08d24b6a" /><Relationship Type="http://schemas.openxmlformats.org/officeDocument/2006/relationships/notesMaster" Target="/ppt/notesMasters/notesMaster1.xml" Id="Rc76a10f418f64e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5b5df05203499a" /><Relationship Type="http://schemas.openxmlformats.org/officeDocument/2006/relationships/notesMaster" Target="/ppt/notesMasters/notesMaster1.xml" Id="R515e2622a8384f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d66ca20ae64f98" /><Relationship Type="http://schemas.openxmlformats.org/officeDocument/2006/relationships/notesMaster" Target="/ppt/notesMasters/notesMaster1.xml" Id="R6c966e3277d749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ce4d65030c448d" /><Relationship Type="http://schemas.openxmlformats.org/officeDocument/2006/relationships/notesMaster" Target="/ppt/notesMasters/notesMaster1.xml" Id="Rb3f61d85573d41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c62d0d0bab464b" /><Relationship Type="http://schemas.openxmlformats.org/officeDocument/2006/relationships/notesMaster" Target="/ppt/notesMasters/notesMaster1.xml" Id="Rf8e3d8f531d142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024c6a1c64469c" /><Relationship Type="http://schemas.openxmlformats.org/officeDocument/2006/relationships/notesMaster" Target="/ppt/notesMasters/notesMaster1.xml" Id="R445aec52147b42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ad11035de74323" /><Relationship Type="http://schemas.openxmlformats.org/officeDocument/2006/relationships/notesMaster" Target="/ppt/notesMasters/notesMaster1.xml" Id="R50381677f8fd47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0c684946f843db" /><Relationship Type="http://schemas.openxmlformats.org/officeDocument/2006/relationships/notesMaster" Target="/ppt/notesMasters/notesMaster1.xml" Id="Rfd999179d66749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667f9abc8648ef" /><Relationship Type="http://schemas.openxmlformats.org/officeDocument/2006/relationships/notesMaster" Target="/ppt/notesMasters/notesMaster1.xml" Id="R0c766bab7edd45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e998883f204963" /><Relationship Type="http://schemas.openxmlformats.org/officeDocument/2006/relationships/notesMaster" Target="/ppt/notesMasters/notesMaster1.xml" Id="R2b2ac183a75a40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e7d7161b554e24" /><Relationship Type="http://schemas.openxmlformats.org/officeDocument/2006/relationships/notesMaster" Target="/ppt/notesMasters/notesMaster1.xml" Id="Rf24d7e3873d241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caef11c7754456" /><Relationship Type="http://schemas.openxmlformats.org/officeDocument/2006/relationships/notesMaster" Target="/ppt/notesMasters/notesMaster1.xml" Id="R876e92755ff940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596e3bd990466f" /><Relationship Type="http://schemas.openxmlformats.org/officeDocument/2006/relationships/notesMaster" Target="/ppt/notesMasters/notesMaster1.xml" Id="R6b005ca1e466425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64906eeb28450b" /><Relationship Type="http://schemas.openxmlformats.org/officeDocument/2006/relationships/notesMaster" Target="/ppt/notesMasters/notesMaster1.xml" Id="Ree352fb6c4f24f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is the last class meeting. We are going to do three things. First, we will review the major ideas from the course so the semester feels connected instead of scattered. Second, we will translate those ideas into language you can use in job interviews, resumes, GitHub profiles, and future classes. Third, you will create a small GitHub artifact about one concept from the class. That artifact can be a Markdown guide or a small code example with an explanation. The final project is still due May 26, 2026. Today should help you finish it and also help you talk about what you learned after the class ends.</a:t>
            </a:r>
          </a:p>
          <a:p xmlns:a="http://schemas.openxmlformats.org/drawingml/2006/main">
            <a:r>
              <a:t/>
            </a:r>
          </a:p>
          <a:p xmlns:a="http://schemas.openxmlformats.org/drawingml/2006/main">
            <a:r>
              <a:t>THINGS TO MENTION:</a:t>
            </a:r>
          </a:p>
          <a:p xmlns:a="http://schemas.openxmlformats.org/drawingml/2006/main">
            <a:r>
              <a:t>- Last class meeting is May 19, 2026.</a:t>
            </a:r>
          </a:p>
          <a:p xmlns:a="http://schemas.openxmlformats.org/drawingml/2006/main">
            <a:r>
              <a:t>- Final project due May 26, 2026.</a:t>
            </a:r>
          </a:p>
          <a:p xmlns:a="http://schemas.openxmlformats.org/drawingml/2006/main">
            <a:r>
              <a:t>- No presentation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path today is simple. We will review the course in plain language. We will practice turning course skills into interview and resume language. We will look at two short notebooks. Then you will work individually on a GitHub concept artifact. By the end of class, you should have either a GitHub link or a draft that is ready to upload. You should also know your next step for the final project.</a:t>
            </a:r>
          </a:p>
          <a:p xmlns:a="http://schemas.openxmlformats.org/drawingml/2006/main">
            <a:r>
              <a:t/>
            </a:r>
          </a:p>
          <a:p xmlns:a="http://schemas.openxmlformats.org/drawingml/2006/main">
            <a:r>
              <a:t>THINGS TO MENTION:</a:t>
            </a:r>
          </a:p>
          <a:p xmlns:a="http://schemas.openxmlformats.org/drawingml/2006/main">
            <a:r>
              <a:t>- Keep this calm and structured.</a:t>
            </a:r>
          </a:p>
          <a:p xmlns:a="http://schemas.openxmlformats.org/drawingml/2006/main">
            <a:r>
              <a:t>- Students leave with a concrete artifact.</a:t>
            </a:r>
          </a:p>
          <a:p xmlns:a="http://schemas.openxmlformats.org/drawingml/2006/main">
            <a:r>
              <a:t>- The lab is individual.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we had to summarize this course in one sentence, it would be this: security is not just blocking hackers; it is protecting data responsibly. That means thinking about the whole data lifecycle. Who can access the data? How is it stored or shared? How is it analyzed? Who could be harmed? What evidence supports the decision? This is why security, privacy, and ethics belong together. A technical decision can become a privacy decision. A data analysis decision can become an ethics decision.</a:t>
            </a:r>
          </a:p>
          <a:p xmlns:a="http://schemas.openxmlformats.org/drawingml/2006/main">
            <a:r>
              <a:t/>
            </a:r>
          </a:p>
          <a:p xmlns:a="http://schemas.openxmlformats.org/drawingml/2006/main">
            <a:r>
              <a:t>THINGS TO MENTION:</a:t>
            </a:r>
          </a:p>
          <a:p xmlns:a="http://schemas.openxmlformats.org/drawingml/2006/main">
            <a:r>
              <a:t>- Connect course title: security, privacy, ethics.</a:t>
            </a:r>
          </a:p>
          <a:p xmlns:a="http://schemas.openxmlformats.org/drawingml/2006/main">
            <a:r>
              <a:t>- Lifecycle language comes from syllabus.</a:t>
            </a:r>
          </a:p>
          <a:p xmlns:a="http://schemas.openxmlformats.org/drawingml/2006/main">
            <a:r>
              <a:t>- Use this as a high-level interview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CIA triad is one of the most useful basic frameworks from the course. Confidentiality means only the right people can access the data. Integrity means the data stays accurate, complete, and trustworthy. Availability means the system or data is usable when it is needed. This framework is useful in interviews because it gives you a simple way to organize security thinking. If someone asks what security means, you can explain that different controls protect different goals.</a:t>
            </a:r>
          </a:p>
          <a:p xmlns:a="http://schemas.openxmlformats.org/drawingml/2006/main">
            <a:r>
              <a:t/>
            </a:r>
          </a:p>
          <a:p xmlns:a="http://schemas.openxmlformats.org/drawingml/2006/main">
            <a:r>
              <a:t>THINGS TO MENTION:</a:t>
            </a:r>
          </a:p>
          <a:p xmlns:a="http://schemas.openxmlformats.org/drawingml/2006/main">
            <a:r>
              <a:t>- Do not overcomplicate CIA triad.</a:t>
            </a:r>
          </a:p>
          <a:p xmlns:a="http://schemas.openxmlformats.org/drawingml/2006/main">
            <a:r>
              <a:t>- Ask for one example of each if time allows.</a:t>
            </a:r>
          </a:p>
          <a:p xmlns:a="http://schemas.openxmlformats.org/drawingml/2006/main">
            <a:r>
              <a:t>- Useful portfolio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Risk thinking is another major theme. A beginner security analyst should not treat every problem as equal. Risk asks what could go wrong. Impact asks how serious the harm could be. Likelihood asks how plausible the problem is. Evidence asks what we actually know. Priority asks what should be handled first. In class, you practiced this through labs about security metrics, incident response, and final project recommendations.</a:t>
            </a:r>
          </a:p>
          <a:p xmlns:a="http://schemas.openxmlformats.org/drawingml/2006/main">
            <a:r>
              <a:t/>
            </a:r>
          </a:p>
          <a:p xmlns:a="http://schemas.openxmlformats.org/drawingml/2006/main">
            <a:r>
              <a:t>THINGS TO MENTION:</a:t>
            </a:r>
          </a:p>
          <a:p xmlns:a="http://schemas.openxmlformats.org/drawingml/2006/main">
            <a:r>
              <a:t>- Risk is prioritization.</a:t>
            </a:r>
          </a:p>
          <a:p xmlns:a="http://schemas.openxmlformats.org/drawingml/2006/main">
            <a:r>
              <a:t>- Evidence matters.</a:t>
            </a:r>
          </a:p>
          <a:p xmlns:a="http://schemas.openxmlformats.org/drawingml/2006/main">
            <a:r>
              <a:t>- Connect to final project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Authentication and access control are easy to mix up, but they answer different questions. Authentication asks who are you. Authorization asks what are you allowed to do. Least privilege means giving only the access needed for the task. This matters for almost every system we discussed: web applications, cloud storage, databases, student apps, and security logs. A strong interview answer can explain this difference clearly with an example.</a:t>
            </a:r>
          </a:p>
          <a:p xmlns:a="http://schemas.openxmlformats.org/drawingml/2006/main">
            <a:r>
              <a:t/>
            </a:r>
          </a:p>
          <a:p xmlns:a="http://schemas.openxmlformats.org/drawingml/2006/main">
            <a:r>
              <a:t>THINGS TO MENTION:</a:t>
            </a:r>
          </a:p>
          <a:p xmlns:a="http://schemas.openxmlformats.org/drawingml/2006/main">
            <a:r>
              <a:t>- Define MFA if needed: multi-factor authentication.</a:t>
            </a:r>
          </a:p>
          <a:p xmlns:a="http://schemas.openxmlformats.org/drawingml/2006/main">
            <a:r>
              <a:t>- Use a student portal example.</a:t>
            </a:r>
          </a:p>
          <a:p xmlns:a="http://schemas.openxmlformats.org/drawingml/2006/main">
            <a:r>
              <a:t>- Good GitHub guide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Cryptography was one of the technical foundations. Encryption can protect data at rest or in transit. TLS helps protect web traffic moving between clients and servers. Hashing is useful when discussing password storage. But the important course lesson is that cryptography is not magic. Keys, configuration, access control, and system design still matter. Encryption also does not solve every privacy problem. Data can be encrypted and still collected unnecessarily, shared too widely, or used unfairly.</a:t>
            </a:r>
          </a:p>
          <a:p xmlns:a="http://schemas.openxmlformats.org/drawingml/2006/main">
            <a:r>
              <a:t/>
            </a:r>
          </a:p>
          <a:p xmlns:a="http://schemas.openxmlformats.org/drawingml/2006/main">
            <a:r>
              <a:t>THINGS TO MENTION:</a:t>
            </a:r>
          </a:p>
          <a:p xmlns:a="http://schemas.openxmlformats.org/drawingml/2006/main">
            <a:r>
              <a:t>- Avoid going too math-heavy.</a:t>
            </a:r>
          </a:p>
          <a:p xmlns:a="http://schemas.openxmlformats.org/drawingml/2006/main">
            <a:r>
              <a:t>- TLS and HTTPS connection.</a:t>
            </a:r>
          </a:p>
          <a:p xmlns:a="http://schemas.openxmlformats.org/drawingml/2006/main">
            <a:r>
              <a:t>- Privacy requires more than encryption.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course moved through web security, network security, database security, and cloud security. These are not separate worlds. Web apps handle input, sessions, and user actions. Networks move traffic between systems. Databases store structured records. Cloud platforms add sharing, permissions, and vendor responsibility. A weakness in one layer can affect the others. For example, a cloud sharing mistake can expose a database export even if the original database was not directly attacked.</a:t>
            </a:r>
          </a:p>
          <a:p xmlns:a="http://schemas.openxmlformats.org/drawingml/2006/main">
            <a:r>
              <a:t/>
            </a:r>
          </a:p>
          <a:p xmlns:a="http://schemas.openxmlformats.org/drawingml/2006/main">
            <a:r>
              <a:t>THINGS TO MENTION:</a:t>
            </a:r>
          </a:p>
          <a:p xmlns:a="http://schemas.openxmlformats.org/drawingml/2006/main">
            <a:r>
              <a:t>- Layered thinking.</a:t>
            </a:r>
          </a:p>
          <a:p xmlns:a="http://schemas.openxmlformats.org/drawingml/2006/main">
            <a:r>
              <a:t>- Cloud sharing incident from Week 14.</a:t>
            </a:r>
          </a:p>
          <a:p xmlns:a="http://schemas.openxmlformats.org/drawingml/2006/main">
            <a:r>
              <a:t>- Good transition to data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In the database and cloud unit, we looked at tables, CSV files, JSON, and document-style data. The main lesson is that data representation shapes what analysis can show. Tables make comparison and sorting easy. JSON and document models can represent flexible nested information. Data dictionaries help explain what fields mean, what values are allowed, and what limitations matter. This matters because a dataset without definitions can look more reliable than it really is.</a:t>
            </a:r>
          </a:p>
          <a:p xmlns:a="http://schemas.openxmlformats.org/drawingml/2006/main">
            <a:r>
              <a:t/>
            </a:r>
          </a:p>
          <a:p xmlns:a="http://schemas.openxmlformats.org/drawingml/2006/main">
            <a:r>
              <a:t>THINGS TO MENTION:</a:t>
            </a:r>
          </a:p>
          <a:p xmlns:a="http://schemas.openxmlformats.org/drawingml/2006/main">
            <a:r>
              <a:t>- Connect Weeks 8, 9, and 12.</a:t>
            </a:r>
          </a:p>
          <a:p xmlns:a="http://schemas.openxmlformats.org/drawingml/2006/main">
            <a:r>
              <a:t>- Data dictionary is a practical workplace skill.</a:t>
            </a:r>
          </a:p>
          <a:p xmlns:a="http://schemas.openxmlformats.org/drawingml/2006/main">
            <a:r>
              <a:t>- Good GitHub artifact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Privacy and ethics were central themes, not side topics. Data can harm people even when it looks technical. Identifiers can be direct, like a name, or indirect, like a combination of location, time, and behavior. Categories can shape how people are seen. Missing data can create unfair conclusions. Surveillance can be excessive even when it is technically possible. Ethical analysis asks who benefits, who is burdened, and who gets a choice. This is where the Chun and Benjamin readings connect to technical systems.</a:t>
            </a:r>
          </a:p>
          <a:p xmlns:a="http://schemas.openxmlformats.org/drawingml/2006/main">
            <a:r>
              <a:t/>
            </a:r>
          </a:p>
          <a:p xmlns:a="http://schemas.openxmlformats.org/drawingml/2006/main">
            <a:r>
              <a:t>THINGS TO MENTION:</a:t>
            </a:r>
          </a:p>
          <a:p xmlns:a="http://schemas.openxmlformats.org/drawingml/2006/main">
            <a:r>
              <a:t>- Connect ethics to technical choices.</a:t>
            </a:r>
          </a:p>
          <a:p xmlns:a="http://schemas.openxmlformats.org/drawingml/2006/main">
            <a:r>
              <a:t>- Do not turn this into a generic opinion slide.</a:t>
            </a:r>
          </a:p>
          <a:p xmlns:a="http://schemas.openxmlformats.org/drawingml/2006/main">
            <a:r>
              <a:t>- Use concrete examples: logs, categories,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Security analytics was a major practical unit. Logs and metrics are evidence, but they are not automatic truth. A log shows recorded activity, not the whole story. A metric summarizes signals, but it can hide context. A chart can look convincing even when the data is incomplete. Good analysts explain findings and limits. They make recommendations that match the evidence instead of claiming more than the data can support.</a:t>
            </a:r>
          </a:p>
          <a:p xmlns:a="http://schemas.openxmlformats.org/drawingml/2006/main">
            <a:r>
              <a:t/>
            </a:r>
          </a:p>
          <a:p xmlns:a="http://schemas.openxmlformats.org/drawingml/2006/main">
            <a:r>
              <a:t>THINGS TO MENTION:</a:t>
            </a:r>
          </a:p>
          <a:p xmlns:a="http://schemas.openxmlformats.org/drawingml/2006/main">
            <a:r>
              <a:t>- Connect Week 11 and Week 12 notebooks/labs.</a:t>
            </a:r>
          </a:p>
          <a:p xmlns:a="http://schemas.openxmlformats.org/drawingml/2006/main">
            <a:r>
              <a:t>- Evidence plus limitation.</a:t>
            </a:r>
          </a:p>
          <a:p xmlns:a="http://schemas.openxmlformats.org/drawingml/2006/main">
            <a:r>
              <a:t>- Useful for final project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Data poisoning and model evasion were the Week 13 topics. Data poisoning means bad or manipulated data can shape bad outputs. Evasion means a system can be fooled during use. For this course, the practical lesson is broader than machine learning. Before trusting a chart, score, source, or automated output, ask what went into it and what could make it wrong. That habit makes final projects stronger because it leads to better limitation paragraphs and more realistic recommendations.</a:t>
            </a:r>
          </a:p>
          <a:p xmlns:a="http://schemas.openxmlformats.org/drawingml/2006/main">
            <a:r>
              <a:t/>
            </a:r>
          </a:p>
          <a:p xmlns:a="http://schemas.openxmlformats.org/drawingml/2006/main">
            <a:r>
              <a:t>THINGS TO MENTION:</a:t>
            </a:r>
          </a:p>
          <a:p xmlns:a="http://schemas.openxmlformats.org/drawingml/2006/main">
            <a:r>
              <a:t>- Keep it accessible.</a:t>
            </a:r>
          </a:p>
          <a:p xmlns:a="http://schemas.openxmlformats.org/drawingml/2006/main">
            <a:r>
              <a:t>- No need for advanced ML math.</a:t>
            </a:r>
          </a:p>
          <a:p xmlns:a="http://schemas.openxmlformats.org/drawingml/2006/main">
            <a:r>
              <a:t>- Tie directly to evidence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privacy incident case gave us a final practical skill. After something goes wrong, calm evidence beats panic. A good response separates confirmed facts from assumptions. It contains immediate harm. It preserves logs and evidence. It identifies what data was involved. It communicates clearly without unsupported claims. This is useful even outside cybersecurity because many workplaces need people who can handle uncertain situations carefully.</a:t>
            </a:r>
          </a:p>
          <a:p xmlns:a="http://schemas.openxmlformats.org/drawingml/2006/main">
            <a:r>
              <a:t/>
            </a:r>
          </a:p>
          <a:p xmlns:a="http://schemas.openxmlformats.org/drawingml/2006/main">
            <a:r>
              <a:t>THINGS TO MENTION:</a:t>
            </a:r>
          </a:p>
          <a:p xmlns:a="http://schemas.openxmlformats.org/drawingml/2006/main">
            <a:r>
              <a:t>- Connect Week 14 Day 2.</a:t>
            </a:r>
          </a:p>
          <a:p xmlns:a="http://schemas.openxmlformats.org/drawingml/2006/main">
            <a:r>
              <a:t>- Useful interview story.</a:t>
            </a:r>
          </a:p>
          <a:p xmlns:a="http://schemas.openxmlformats.org/drawingml/2006/main">
            <a:r>
              <a:t>- Avoid legal advice; focus on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When you talk about this course in an interview, avoid saying only, I learned cybersecurity. That is too vague. Say what you can actually do. I can explain access control with examples. I can document dataset fields and limits. I can read simple security metrics. I can separate facts from assumptions. I can write a realistic recommendation. Specific language sounds more credible because it tells the interviewer what skill you practiced.</a:t>
            </a:r>
          </a:p>
          <a:p xmlns:a="http://schemas.openxmlformats.org/drawingml/2006/main">
            <a:r>
              <a:t/>
            </a:r>
          </a:p>
          <a:p xmlns:a="http://schemas.openxmlformats.org/drawingml/2006/main">
            <a:r>
              <a:t>THINGS TO MENTION:</a:t>
            </a:r>
          </a:p>
          <a:p xmlns:a="http://schemas.openxmlformats.org/drawingml/2006/main">
            <a:r>
              <a:t>- Students should copy one sentence they can use.</a:t>
            </a:r>
          </a:p>
          <a:p xmlns:a="http://schemas.openxmlformats.org/drawingml/2006/main">
            <a:r>
              <a:t>- Specific, honest beginner language.</a:t>
            </a:r>
          </a:p>
          <a:p xmlns:a="http://schemas.openxmlformats.org/drawingml/2006/main">
            <a:r>
              <a:t>- Good segue to interview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Here is a simple formula for interview answers. First, name the concept. Second, name evidence from the class, such as a lab, dataset, source, notebook, or project. Third, explain workplace value. Fourth, name a limit or what you would check next. That last part is important. Beginners sometimes try to sound expert by overclaiming. It is stronger to say, this is what the evidence suggests, and this is what I would check before making a final decision.</a:t>
            </a:r>
          </a:p>
          <a:p xmlns:a="http://schemas.openxmlformats.org/drawingml/2006/main">
            <a:r>
              <a:t/>
            </a:r>
          </a:p>
          <a:p xmlns:a="http://schemas.openxmlformats.org/drawingml/2006/main">
            <a:r>
              <a:t>THINGS TO MENTION:</a:t>
            </a:r>
          </a:p>
          <a:p xmlns:a="http://schemas.openxmlformats.org/drawingml/2006/main">
            <a:r>
              <a:t>- Use with STAR stories if time allows.</a:t>
            </a:r>
          </a:p>
          <a:p xmlns:a="http://schemas.openxmlformats.org/drawingml/2006/main">
            <a:r>
              <a:t>- Limitations sound professional.</a:t>
            </a:r>
          </a:p>
          <a:p xmlns:a="http://schemas.openxmlformats.org/drawingml/2006/main">
            <a:r>
              <a:t>- Connect to guide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small clear GitHub artifact is better than a big confusing one. Today you are not trying to build a professional security product. You are trying to explain one course concept clearly. The artifact should have one concept, a beginner-friendly explanation, a simple example or code snippet, a privacy or ethics note, a workplace or interview sentence, and a limitation section. If you do only Markdown, that is fine. If you include code, comment it heavily.</a:t>
            </a:r>
          </a:p>
          <a:p xmlns:a="http://schemas.openxmlformats.org/drawingml/2006/main">
            <a:r>
              <a:t/>
            </a:r>
          </a:p>
          <a:p xmlns:a="http://schemas.openxmlformats.org/drawingml/2006/main">
            <a:r>
              <a:t>THINGS TO MENTION:</a:t>
            </a:r>
          </a:p>
          <a:p xmlns:a="http://schemas.openxmlformats.org/drawingml/2006/main">
            <a:r>
              <a:t>- Markdown-only path is valid.</a:t>
            </a:r>
          </a:p>
          <a:p xmlns:a="http://schemas.openxmlformats.org/drawingml/2006/main">
            <a:r>
              <a:t>- Code path needs comments.</a:t>
            </a:r>
          </a:p>
          <a:p xmlns:a="http://schemas.openxmlformats.org/drawingml/2006/main">
            <a:r>
              <a:t>- This is portfolio evidence, not final project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first notebook is the course review notebook. It maps course concepts to plain meaning, workplace language, interview sentences, and portfolio artifact ideas. It uses only basic Python, so it should run in Colab without setup. The useful thing is not the code complexity. The useful thing is the structure. It helps students choose one concept and translate it into language they can use outside this class.</a:t>
            </a:r>
          </a:p>
          <a:p xmlns:a="http://schemas.openxmlformats.org/drawingml/2006/main">
            <a:r>
              <a:t/>
            </a:r>
          </a:p>
          <a:p xmlns:a="http://schemas.openxmlformats.org/drawingml/2006/main">
            <a:r>
              <a:t>THINGS TO MENTION:</a:t>
            </a:r>
          </a:p>
          <a:p xmlns:a="http://schemas.openxmlformats.org/drawingml/2006/main">
            <a:r>
              <a:t>- Open Colab link from README.</a:t>
            </a:r>
          </a:p>
          <a:p xmlns:a="http://schemas.openxmlformats.org/drawingml/2006/main">
            <a:r>
              <a:t>- No pandas required.</a:t>
            </a:r>
          </a:p>
          <a:p xmlns:a="http://schemas.openxmlformats.org/drawingml/2006/main">
            <a:r>
              <a:t>- Focus on language and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second notebook is the GitHub concept starter. Students edit a few text fields: concept title, what it means, why it matters, an example, what can go wrong, and interview language. Then the notebook generates a Markdown README draft. It also includes a tiny optional code example about thresholds, false positives, and false negatives. This gives students a fast way to start the lab even if they are not comfortable creating a README from scratch.</a:t>
            </a:r>
          </a:p>
          <a:p xmlns:a="http://schemas.openxmlformats.org/drawingml/2006/main">
            <a:r>
              <a:t/>
            </a:r>
          </a:p>
          <a:p xmlns:a="http://schemas.openxmlformats.org/drawingml/2006/main">
            <a:r>
              <a:t>THINGS TO MENTION:</a:t>
            </a:r>
          </a:p>
          <a:p xmlns:a="http://schemas.openxmlformats.org/drawingml/2006/main">
            <a:r>
              <a:t>- Useful for students who freeze at blank pages.</a:t>
            </a:r>
          </a:p>
          <a:p xmlns:a="http://schemas.openxmlformats.org/drawingml/2006/main">
            <a:r>
              <a:t>- Notebook creates README_concept_portfolio.md.</a:t>
            </a:r>
          </a:p>
          <a:p xmlns:a="http://schemas.openxmlformats.org/drawingml/2006/main">
            <a:r>
              <a:t>- They should revise, not submit blindly.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final lab is to create one GitHub artifact that teaches one concept from the course. Choose a concept. Create a README or notebook. Explain what the concept means and why it matters. Add an example, table, checklist, or code snippet. Write one interview sentence. Submit a link or draft by the end of class. The artifact does not need to be perfect today. It needs to be clear enough that you can revise it after class if needed.</a:t>
            </a:r>
          </a:p>
          <a:p xmlns:a="http://schemas.openxmlformats.org/drawingml/2006/main">
            <a:r>
              <a:t/>
            </a:r>
          </a:p>
          <a:p xmlns:a="http://schemas.openxmlformats.org/drawingml/2006/main">
            <a:r>
              <a:t>THINGS TO MENTION:</a:t>
            </a:r>
          </a:p>
          <a:p xmlns:a="http://schemas.openxmlformats.org/drawingml/2006/main">
            <a:r>
              <a:t>- Work individually.</a:t>
            </a:r>
          </a:p>
          <a:p xmlns:a="http://schemas.openxmlformats.org/drawingml/2006/main">
            <a:r>
              <a:t>- A draft is acceptable if GitHub setup slows them down.</a:t>
            </a:r>
          </a:p>
          <a:p xmlns:a="http://schemas.openxmlformats.org/drawingml/2006/main">
            <a:r>
              <a:t>- The artifact can support final project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Before you leave, make sure you have three things. One artifact: a concept guide, code example, or draft. One sentence: a clear way to explain something you learned in the course. One next step: what remains for the final project. The final project is due May 26, 2026, and there is no presentation. The goal now is to finish clearly, submit the required files, and be able to explain what your work shows and what its limits are.</a:t>
            </a:r>
          </a:p>
          <a:p xmlns:a="http://schemas.openxmlformats.org/drawingml/2006/main">
            <a:r>
              <a:t/>
            </a:r>
          </a:p>
          <a:p xmlns:a="http://schemas.openxmlformats.org/drawingml/2006/main">
            <a:r>
              <a:t>THINGS TO MENTION:</a:t>
            </a:r>
          </a:p>
          <a:p xmlns:a="http://schemas.openxmlformats.org/drawingml/2006/main">
            <a:r>
              <a:t>- Final project due date.</a:t>
            </a:r>
          </a:p>
          <a:p xmlns:a="http://schemas.openxmlformats.org/drawingml/2006/main">
            <a:r>
              <a:t>- No presentation.</a:t>
            </a:r>
          </a:p>
          <a:p xmlns:a="http://schemas.openxmlformats.org/drawingml/2006/main">
            <a:r>
              <a:t>- Collect exit ticket/checkpoint.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ed5c709cc64368"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2470642917546f1" /><Relationship Type="http://schemas.openxmlformats.org/officeDocument/2006/relationships/slideLayout" Target="/ppt/slideLayouts/slideLayout2.xml" Id="R93cbce468c4843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bce468c4843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cea1dda576b4124" /><Relationship Type="http://schemas.openxmlformats.org/officeDocument/2006/relationships/notesSlide" Target="/ppt/notesSlides/notesSlide1.xml" Id="Ra962efd9a107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6cf5a824d5544ef" /><Relationship Type="http://schemas.openxmlformats.org/officeDocument/2006/relationships/notesSlide" Target="/ppt/notesSlides/notesSlide2.xml" Id="Rf9e1b868b3114b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9fffa3054142ec" /><Relationship Type="http://schemas.openxmlformats.org/officeDocument/2006/relationships/notesSlide" Target="/ppt/notesSlides/notesSlide3.xml" Id="R38d63c34763b46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c291cabbc9a4794" /><Relationship Type="http://schemas.openxmlformats.org/officeDocument/2006/relationships/notesSlide" Target="/ppt/notesSlides/notesSlide4.xml" Id="R28b27a24f03545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c227eb167984b59" /><Relationship Type="http://schemas.openxmlformats.org/officeDocument/2006/relationships/notesSlide" Target="/ppt/notesSlides/notesSlide5.xml" Id="Rcf52a308912845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61296d4b5194a33" /><Relationship Type="http://schemas.openxmlformats.org/officeDocument/2006/relationships/notesSlide" Target="/ppt/notesSlides/notesSlide6.xml" Id="R0e969e49625e45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dbb6ca5e90f4ed1" /><Relationship Type="http://schemas.openxmlformats.org/officeDocument/2006/relationships/notesSlide" Target="/ppt/notesSlides/notesSlide7.xml" Id="R404d7fee5b644d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f2f167b36ae42b7" /><Relationship Type="http://schemas.openxmlformats.org/officeDocument/2006/relationships/notesSlide" Target="/ppt/notesSlides/notesSlide8.xml" Id="Rd3e40f883163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0eb1d6b12694849" /><Relationship Type="http://schemas.openxmlformats.org/officeDocument/2006/relationships/notesSlide" Target="/ppt/notesSlides/notesSlide9.xml" Id="R2f59247851d64a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3404710ae3346c7" /><Relationship Type="http://schemas.openxmlformats.org/officeDocument/2006/relationships/notesSlide" Target="/ppt/notesSlides/notesSlide10.xml" Id="R46136d2090fe4a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32080686b624858" /><Relationship Type="http://schemas.openxmlformats.org/officeDocument/2006/relationships/notesSlide" Target="/ppt/notesSlides/notesSlide11.xml" Id="R8f6a428ced3a41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4ea7b9c1a354758" /><Relationship Type="http://schemas.openxmlformats.org/officeDocument/2006/relationships/notesSlide" Target="/ppt/notesSlides/notesSlide12.xml" Id="R81c83b2df6c642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8f7ff17d2a64488" /><Relationship Type="http://schemas.openxmlformats.org/officeDocument/2006/relationships/notesSlide" Target="/ppt/notesSlides/notesSlide13.xml" Id="R5b7a0094be9e40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c09311ea4fd4866" /><Relationship Type="http://schemas.openxmlformats.org/officeDocument/2006/relationships/notesSlide" Target="/ppt/notesSlides/notesSlide14.xml" Id="R709a1d5a912b4e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61ac218a38d4f62" /><Relationship Type="http://schemas.openxmlformats.org/officeDocument/2006/relationships/notesSlide" Target="/ppt/notesSlides/notesSlide15.xml" Id="R90641b99c3a748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64fa7794c144138" /><Relationship Type="http://schemas.openxmlformats.org/officeDocument/2006/relationships/notesSlide" Target="/ppt/notesSlides/notesSlide16.xml" Id="Re8eab66eb6dd4f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a8fb1a80dcc4838" /><Relationship Type="http://schemas.openxmlformats.org/officeDocument/2006/relationships/notesSlide" Target="/ppt/notesSlides/notesSlide17.xml" Id="R1c9b49bf540547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c527ffbbbe54711" /><Relationship Type="http://schemas.openxmlformats.org/officeDocument/2006/relationships/notesSlide" Target="/ppt/notesSlides/notesSlide18.xml" Id="R11a45bea92bb4d8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c3f2e111107458f" /><Relationship Type="http://schemas.openxmlformats.org/officeDocument/2006/relationships/notesSlide" Target="/ppt/notesSlides/notesSlide19.xml" Id="R52ef702634df41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0b6040878e8472d" /><Relationship Type="http://schemas.openxmlformats.org/officeDocument/2006/relationships/notesSlide" Target="/ppt/notesSlides/notesSlide20.xml" Id="R1ca0784523e147d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559954-F130-4844-8680-EC8A3BC3F9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447F47A-AD5B-4182-92A7-C6D13CDFE41C}"/>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3AFD0C8E-A243-4C6D-B6B9-BD44593E4792}"/>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4999574-E524-47B2-895B-2B8E6E38DEEB}"/>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1EF1B98D-5462-46E0-B4BB-0F398DCF9311}"/>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1/20</a:t>
            </a:r>
          </a:p>
        </p:txBody>
      </p:sp>
      <p:sp>
        <p:nvSpPr>
          <p:cNvPr id="6" name="">
            <a:extLst xmlns:a="http://schemas.openxmlformats.org/drawingml/2006/main">
              <a:ext uri="{FF2B5EF4-FFF2-40B4-BE49-F238E27FC236}">
                <a16:creationId xmlns:a16="http://schemas.microsoft.com/office/drawing/2014/main" id="{D2D0AFD3-3024-46F9-8195-9961B3BA1788}"/>
              </a:ext>
            </a:extLst>
          </p:cNvPr>
          <p:cNvSpPr>
            <a:spLocks xmlns:a="http://schemas.openxmlformats.org/drawingml/2006/main" noGrp="1"/>
          </p:cNvSpPr>
          <p:nvPr/>
        </p:nvSpPr>
        <p:spPr>
          <a:xfrm xmlns:a="http://schemas.openxmlformats.org/drawingml/2006/main">
            <a:off x="857250" y="1066800"/>
            <a:ext cx="6096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425" b="1">
                <a:solidFill>
                  <a:srgbClr val="E0842F"/>
                </a:solidFill>
                <a:latin typeface="Aptos Display"/>
                <a:ea typeface="Aptos Display"/>
                <a:cs typeface="Aptos Display"/>
              </a:defRPr>
            </a:pPr>
            <a:r>
              <a:rPr sz="1425" b="1">
                <a:solidFill>
                  <a:srgbClr val="E0842F"/>
                </a:solidFill>
                <a:latin typeface="Aptos Display"/>
                <a:ea typeface="Aptos Display"/>
                <a:cs typeface="Aptos Display"/>
              </a:rPr>
              <a:t>LAST CLASS REVIEW</a:t>
            </a:r>
          </a:p>
        </p:txBody>
      </p:sp>
      <p:sp>
        <p:nvSpPr>
          <p:cNvPr id="7" name="">
            <a:extLst xmlns:a="http://schemas.openxmlformats.org/drawingml/2006/main">
              <a:ext uri="{FF2B5EF4-FFF2-40B4-BE49-F238E27FC236}">
                <a16:creationId xmlns:a16="http://schemas.microsoft.com/office/drawing/2014/main" id="{E5B49E81-B991-4D29-B74C-3BB01DD811C3}"/>
              </a:ext>
            </a:extLst>
          </p:cNvPr>
          <p:cNvSpPr>
            <a:spLocks xmlns:a="http://schemas.openxmlformats.org/drawingml/2006/main" noGrp="1"/>
          </p:cNvSpPr>
          <p:nvPr/>
        </p:nvSpPr>
        <p:spPr>
          <a:xfrm xmlns:a="http://schemas.openxmlformats.org/drawingml/2006/main">
            <a:off x="857250" y="1543050"/>
            <a:ext cx="752475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750" b="1">
                <a:solidFill>
                  <a:srgbClr val="14212B"/>
                </a:solidFill>
                <a:latin typeface="Aptos Display"/>
                <a:ea typeface="Aptos Display"/>
                <a:cs typeface="Aptos Display"/>
              </a:defRPr>
            </a:pPr>
            <a:r>
              <a:rPr sz="3750" b="1">
                <a:solidFill>
                  <a:srgbClr val="14212B"/>
                </a:solidFill>
                <a:latin typeface="Aptos Display"/>
                <a:ea typeface="Aptos Display"/>
                <a:cs typeface="Aptos Display"/>
              </a:rPr>
              <a:t>What You Learned, What You Can Show, What You Can Say</a:t>
            </a:r>
          </a:p>
        </p:txBody>
      </p:sp>
      <p:sp>
        <p:nvSpPr>
          <p:cNvPr id="8" name="">
            <a:extLst xmlns:a="http://schemas.openxmlformats.org/drawingml/2006/main">
              <a:ext uri="{FF2B5EF4-FFF2-40B4-BE49-F238E27FC236}">
                <a16:creationId xmlns:a16="http://schemas.microsoft.com/office/drawing/2014/main" id="{A8EB18D9-AE5E-4FEA-9484-27C1201FDC2D}"/>
              </a:ext>
            </a:extLst>
          </p:cNvPr>
          <p:cNvSpPr>
            <a:spLocks xmlns:a="http://schemas.openxmlformats.org/drawingml/2006/main" noGrp="1"/>
          </p:cNvSpPr>
          <p:nvPr/>
        </p:nvSpPr>
        <p:spPr>
          <a:xfrm xmlns:a="http://schemas.openxmlformats.org/drawingml/2006/main">
            <a:off x="914400" y="3524250"/>
            <a:ext cx="6858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5D6B73"/>
                </a:solidFill>
                <a:latin typeface="Aptos"/>
                <a:ea typeface="Aptos"/>
                <a:cs typeface="Aptos"/>
              </a:defRPr>
            </a:pPr>
            <a:r>
              <a:rPr sz="1875" b="0">
                <a:solidFill>
                  <a:srgbClr val="5D6B73"/>
                </a:solidFill>
                <a:latin typeface="Aptos"/>
                <a:ea typeface="Aptos"/>
                <a:cs typeface="Aptos"/>
              </a:rPr>
              <a:t>Today we review the course, translate skills into interview language, and build a small GitHub artifact about one concept.</a:t>
            </a:r>
          </a:p>
        </p:txBody>
      </p:sp>
      <p:sp>
        <p:nvSpPr>
          <p:cNvPr id="9" name="">
            <a:extLst xmlns:a="http://schemas.openxmlformats.org/drawingml/2006/main">
              <a:ext uri="{FF2B5EF4-FFF2-40B4-BE49-F238E27FC236}">
                <a16:creationId xmlns:a16="http://schemas.microsoft.com/office/drawing/2014/main" id="{D6EE2946-F27A-465E-9531-14C2034DA8B6}"/>
              </a:ext>
            </a:extLst>
          </p:cNvPr>
          <p:cNvSpPr>
            <a:spLocks xmlns:a="http://schemas.openxmlformats.org/drawingml/2006/main" noGrp="1"/>
          </p:cNvSpPr>
          <p:nvPr/>
        </p:nvSpPr>
        <p:spPr>
          <a:xfrm xmlns:a="http://schemas.openxmlformats.org/drawingml/2006/main">
            <a:off x="8810625" y="1485900"/>
            <a:ext cx="2095500"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10" name="">
            <a:extLst xmlns:a="http://schemas.openxmlformats.org/drawingml/2006/main">
              <a:ext uri="{FF2B5EF4-FFF2-40B4-BE49-F238E27FC236}">
                <a16:creationId xmlns:a16="http://schemas.microsoft.com/office/drawing/2014/main" id="{A5A2F776-BC59-4209-A685-2EB6FEA17147}"/>
              </a:ext>
            </a:extLst>
          </p:cNvPr>
          <p:cNvSpPr>
            <a:spLocks xmlns:a="http://schemas.openxmlformats.org/drawingml/2006/main" noGrp="1"/>
          </p:cNvSpPr>
          <p:nvPr/>
        </p:nvSpPr>
        <p:spPr>
          <a:xfrm xmlns:a="http://schemas.openxmlformats.org/drawingml/2006/main">
            <a:off x="8953500" y="1943100"/>
            <a:ext cx="18097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1800" b="1">
                <a:solidFill>
                  <a:srgbClr val="0E3B43"/>
                </a:solidFill>
                <a:latin typeface="Aptos Display"/>
                <a:ea typeface="Aptos Display"/>
                <a:cs typeface="Aptos Display"/>
              </a:defRPr>
            </a:pPr>
            <a:r>
              <a:rPr sz="1800" b="1">
                <a:solidFill>
                  <a:srgbClr val="0E3B43"/>
                </a:solidFill>
                <a:latin typeface="Aptos Display"/>
                <a:ea typeface="Aptos Display"/>
                <a:cs typeface="Aptos Display"/>
              </a:rPr>
              <a:t>REVIEW</a:t>
            </a:r>
          </a:p>
          <a:p xmlns:a="http://schemas.openxmlformats.org/drawingml/2006/main">
            <a:pPr algn="ctr">
              <a:defRPr sz="1800" b="1">
                <a:solidFill>
                  <a:srgbClr val="0E3B43"/>
                </a:solidFill>
                <a:latin typeface="Aptos Display"/>
                <a:ea typeface="Aptos Display"/>
                <a:cs typeface="Aptos Display"/>
              </a:defRPr>
            </a:pPr>
            <a:r>
              <a:rPr sz="1800" b="1">
                <a:solidFill>
                  <a:srgbClr val="0E3B43"/>
                </a:solidFill>
                <a:latin typeface="Aptos Display"/>
                <a:ea typeface="Aptos Display"/>
                <a:cs typeface="Aptos Display"/>
              </a:rPr>
              <a:t>+</a:t>
            </a:r>
          </a:p>
          <a:p xmlns:a="http://schemas.openxmlformats.org/drawingml/2006/main">
            <a:pPr algn="ctr">
              <a:defRPr sz="1800" b="1">
                <a:solidFill>
                  <a:srgbClr val="0E3B43"/>
                </a:solidFill>
                <a:latin typeface="Aptos Display"/>
                <a:ea typeface="Aptos Display"/>
                <a:cs typeface="Aptos Display"/>
              </a:defRPr>
            </a:pPr>
            <a:r>
              <a:rPr sz="1800" b="1">
                <a:solidFill>
                  <a:srgbClr val="0E3B43"/>
                </a:solidFill>
                <a:latin typeface="Aptos Display"/>
                <a:ea typeface="Aptos Display"/>
                <a:cs typeface="Aptos Display"/>
              </a:rPr>
              <a:t>PORTFOLIO</a:t>
            </a:r>
          </a:p>
        </p:txBody>
      </p:sp>
      <p:sp>
        <p:nvSpPr>
          <p:cNvPr id="11" name="">
            <a:extLst xmlns:a="http://schemas.openxmlformats.org/drawingml/2006/main">
              <a:ext uri="{FF2B5EF4-FFF2-40B4-BE49-F238E27FC236}">
                <a16:creationId xmlns:a16="http://schemas.microsoft.com/office/drawing/2014/main" id="{1A005BB9-40A8-46A9-95B3-983B16EADF60}"/>
              </a:ext>
            </a:extLst>
          </p:cNvPr>
          <p:cNvSpPr>
            <a:spLocks xmlns:a="http://schemas.openxmlformats.org/drawingml/2006/main" noGrp="1"/>
          </p:cNvSpPr>
          <p:nvPr/>
        </p:nvSpPr>
        <p:spPr>
          <a:xfrm xmlns:a="http://schemas.openxmlformats.org/drawingml/2006/main">
            <a:off x="914400" y="5429250"/>
            <a:ext cx="4095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C7443E"/>
                </a:solidFill>
                <a:latin typeface="Aptos"/>
                <a:ea typeface="Aptos"/>
                <a:cs typeface="Aptos"/>
              </a:defRPr>
            </a:pPr>
            <a:r>
              <a:rPr sz="1650" b="1">
                <a:solidFill>
                  <a:srgbClr val="C7443E"/>
                </a:solidFill>
                <a:latin typeface="Aptos"/>
                <a:ea typeface="Aptos"/>
                <a:cs typeface="Aptos"/>
              </a:rPr>
              <a:t>Final project due May 26, 2026</a:t>
            </a:r>
          </a:p>
        </p:txBody>
      </p:sp>
    </p:spTree>
    <p:extLst>
      <p:ext uri="{BB962C8B-B14F-4D97-AF65-F5344CB8AC3E}">
        <p14:creationId xmlns:p14="http://schemas.microsoft.com/office/powerpoint/2010/main" val="16160469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1E6AFB-E63D-49F1-AFBD-86B495E51E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B692A49-108D-4DD2-B94C-52156519C1CC}"/>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19F48F5B-834C-47DB-8199-B0BFB7F2D5F2}"/>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6BCC2A5-22F2-4B7F-A96C-48F89F870106}"/>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FD7D25DB-EBE4-4B93-BB51-066EE8048103}"/>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2/20</a:t>
            </a:r>
          </a:p>
        </p:txBody>
      </p:sp>
      <p:sp>
        <p:nvSpPr>
          <p:cNvPr id="6" name="">
            <a:extLst xmlns:a="http://schemas.openxmlformats.org/drawingml/2006/main">
              <a:ext uri="{FF2B5EF4-FFF2-40B4-BE49-F238E27FC236}">
                <a16:creationId xmlns:a16="http://schemas.microsoft.com/office/drawing/2014/main" id="{8A2F91AE-5EF7-4736-9FA3-02F8B69519AB}"/>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TODAY'S PATH</a:t>
            </a:r>
          </a:p>
        </p:txBody>
      </p:sp>
      <p:sp>
        <p:nvSpPr>
          <p:cNvPr id="7" name="">
            <a:extLst xmlns:a="http://schemas.openxmlformats.org/drawingml/2006/main">
              <a:ext uri="{FF2B5EF4-FFF2-40B4-BE49-F238E27FC236}">
                <a16:creationId xmlns:a16="http://schemas.microsoft.com/office/drawing/2014/main" id="{C6E9CDEA-DDE6-4051-A5BB-283DA7DF3749}"/>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The class ends by turning learning into evidence</a:t>
            </a:r>
          </a:p>
        </p:txBody>
      </p:sp>
      <p:sp>
        <p:nvSpPr>
          <p:cNvPr id="8" name="">
            <a:extLst xmlns:a="http://schemas.openxmlformats.org/drawingml/2006/main">
              <a:ext uri="{FF2B5EF4-FFF2-40B4-BE49-F238E27FC236}">
                <a16:creationId xmlns:a16="http://schemas.microsoft.com/office/drawing/2014/main" id="{345917EB-1AF1-4695-850F-6F847AB52E49}"/>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14BAC351-6613-434E-8618-0F9D7950D856}"/>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Review the course in plain language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Practice interview and resume language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Walk through the Week 15 notebooks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Create one GitHub concept artifact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Leave with a final project next step</a:t>
            </a:r>
          </a:p>
        </p:txBody>
      </p:sp>
    </p:spTree>
    <p:extLst>
      <p:ext uri="{BB962C8B-B14F-4D97-AF65-F5344CB8AC3E}">
        <p14:creationId xmlns:p14="http://schemas.microsoft.com/office/powerpoint/2010/main" val="780754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2F17D-46C1-486E-8CED-6576AA74A8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B19CE33-A086-4613-8F3E-212B9D9A2323}"/>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39CE8F22-5612-435E-B93C-3158E09FF279}"/>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85CCABE-D29C-434A-B0C4-BD45A73007E6}"/>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8C5028F6-C8BA-40EF-93DC-E6B020C0EA27}"/>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3/20</a:t>
            </a:r>
          </a:p>
        </p:txBody>
      </p:sp>
      <p:sp>
        <p:nvSpPr>
          <p:cNvPr id="6" name="">
            <a:extLst xmlns:a="http://schemas.openxmlformats.org/drawingml/2006/main">
              <a:ext uri="{FF2B5EF4-FFF2-40B4-BE49-F238E27FC236}">
                <a16:creationId xmlns:a16="http://schemas.microsoft.com/office/drawing/2014/main" id="{01F53F1C-E92D-450A-848A-37B3473FBE2D}"/>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COURSE IN ONE SENTENCE</a:t>
            </a:r>
          </a:p>
        </p:txBody>
      </p:sp>
      <p:sp>
        <p:nvSpPr>
          <p:cNvPr id="7" name="">
            <a:extLst xmlns:a="http://schemas.openxmlformats.org/drawingml/2006/main">
              <a:ext uri="{FF2B5EF4-FFF2-40B4-BE49-F238E27FC236}">
                <a16:creationId xmlns:a16="http://schemas.microsoft.com/office/drawing/2014/main" id="{3EC32603-4D39-4637-8D81-E2FB548717E0}"/>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Security is not just blocking hackers; it is protecting data responsibly</a:t>
            </a:r>
          </a:p>
        </p:txBody>
      </p:sp>
      <p:sp>
        <p:nvSpPr>
          <p:cNvPr id="8" name="">
            <a:extLst xmlns:a="http://schemas.openxmlformats.org/drawingml/2006/main">
              <a:ext uri="{FF2B5EF4-FFF2-40B4-BE49-F238E27FC236}">
                <a16:creationId xmlns:a16="http://schemas.microsoft.com/office/drawing/2014/main" id="{8983D4F4-FABF-4FFC-A0E0-56A5EFFC3991}"/>
              </a:ext>
            </a:extLst>
          </p:cNvPr>
          <p:cNvSpPr>
            <a:spLocks xmlns:a="http://schemas.openxmlformats.org/drawingml/2006/main" noGrp="1"/>
          </p:cNvSpPr>
          <p:nvPr/>
        </p:nvSpPr>
        <p:spPr>
          <a:xfrm xmlns:a="http://schemas.openxmlformats.org/drawingml/2006/main">
            <a:off x="876300" y="2724150"/>
            <a:ext cx="4000500" cy="1638300"/>
          </a:xfrm>
          <a:prstGeom xmlns:a="http://schemas.openxmlformats.org/drawingml/2006/main" prst="roundRect">
            <a:avLst>
              <a:gd name="adj" fmla="val 4651"/>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12BEB03B-0CCB-46AB-89D2-6A49D2B49A0F}"/>
              </a:ext>
            </a:extLst>
          </p:cNvPr>
          <p:cNvSpPr>
            <a:spLocks xmlns:a="http://schemas.openxmlformats.org/drawingml/2006/main" noGrp="1"/>
          </p:cNvSpPr>
          <p:nvPr/>
        </p:nvSpPr>
        <p:spPr>
          <a:xfrm xmlns:a="http://schemas.openxmlformats.org/drawingml/2006/main">
            <a:off x="1123950" y="3105150"/>
            <a:ext cx="35052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0E3B43"/>
                </a:solidFill>
                <a:latin typeface="Aptos Display"/>
                <a:ea typeface="Aptos Display"/>
                <a:cs typeface="Aptos Display"/>
              </a:defRPr>
            </a:pPr>
            <a:r>
              <a:rPr sz="2550" b="1">
                <a:solidFill>
                  <a:srgbClr val="0E3B43"/>
                </a:solidFill>
                <a:latin typeface="Aptos Display"/>
                <a:ea typeface="Aptos Display"/>
                <a:cs typeface="Aptos Display"/>
              </a:rPr>
              <a:t>Protect data across its lifecycle.</a:t>
            </a:r>
          </a:p>
        </p:txBody>
      </p:sp>
      <p:sp>
        <p:nvSpPr>
          <p:cNvPr id="10" name="">
            <a:extLst xmlns:a="http://schemas.openxmlformats.org/drawingml/2006/main">
              <a:ext uri="{FF2B5EF4-FFF2-40B4-BE49-F238E27FC236}">
                <a16:creationId xmlns:a16="http://schemas.microsoft.com/office/drawing/2014/main" id="{D19C6F31-6200-4A41-B5A5-9DFE8F28275D}"/>
              </a:ext>
            </a:extLst>
          </p:cNvPr>
          <p:cNvSpPr>
            <a:spLocks xmlns:a="http://schemas.openxmlformats.org/drawingml/2006/main" noGrp="1"/>
          </p:cNvSpPr>
          <p:nvPr/>
        </p:nvSpPr>
        <p:spPr>
          <a:xfrm xmlns:a="http://schemas.openxmlformats.org/drawingml/2006/main">
            <a:off x="5391150" y="2571750"/>
            <a:ext cx="5638800" cy="3143250"/>
          </a:xfrm>
          <a:prstGeom xmlns:a="http://schemas.openxmlformats.org/drawingml/2006/main" prst="roundRect">
            <a:avLst>
              <a:gd name="adj" fmla="val 2424"/>
            </a:avLst>
          </a:prstGeom>
          <a:solidFill xmlns:a="http://schemas.openxmlformats.org/drawingml/2006/main">
            <a:srgbClr val="F0DFBF"/>
          </a:solidFill>
          <a:ln xmlns:a="http://schemas.openxmlformats.org/drawingml/2006/main" w="11906">
            <a:solidFill>
              <a:srgbClr val="D9C9A8"/>
            </a:solidFill>
            <a:prstDash val="solid"/>
          </a:ln>
        </p:spPr>
      </p:sp>
      <p:sp>
        <p:nvSpPr>
          <p:cNvPr id="11" name="">
            <a:extLst xmlns:a="http://schemas.openxmlformats.org/drawingml/2006/main">
              <a:ext uri="{FF2B5EF4-FFF2-40B4-BE49-F238E27FC236}">
                <a16:creationId xmlns:a16="http://schemas.microsoft.com/office/drawing/2014/main" id="{76641871-9D70-48AB-ADC7-45AF9FA34A7E}"/>
              </a:ext>
            </a:extLst>
          </p:cNvPr>
          <p:cNvSpPr>
            <a:spLocks xmlns:a="http://schemas.openxmlformats.org/drawingml/2006/main" noGrp="1"/>
          </p:cNvSpPr>
          <p:nvPr/>
        </p:nvSpPr>
        <p:spPr>
          <a:xfrm xmlns:a="http://schemas.openxmlformats.org/drawingml/2006/main">
            <a:off x="5619750" y="2781300"/>
            <a:ext cx="5181600" cy="2724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Who can access it?</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How is it stored or shared?</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How is it analyzed?</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Who could be harmed?</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What evidence supports the decision?</a:t>
            </a:r>
          </a:p>
        </p:txBody>
      </p:sp>
    </p:spTree>
    <p:extLst>
      <p:ext uri="{BB962C8B-B14F-4D97-AF65-F5344CB8AC3E}">
        <p14:creationId xmlns:p14="http://schemas.microsoft.com/office/powerpoint/2010/main" val="17171310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556761-2023-4518-A7BC-02B56A2DEF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14D81E7-394E-4E6C-8519-087F69226F83}"/>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D73AB9E6-C637-4068-9636-1F64747BBC1F}"/>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6B3F334-2FCF-43E9-9227-ED2072123B7C}"/>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B311FA2B-D2DA-41CF-AEFF-3996E744185D}"/>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4/20</a:t>
            </a:r>
          </a:p>
        </p:txBody>
      </p:sp>
      <p:sp>
        <p:nvSpPr>
          <p:cNvPr id="6" name="">
            <a:extLst xmlns:a="http://schemas.openxmlformats.org/drawingml/2006/main">
              <a:ext uri="{FF2B5EF4-FFF2-40B4-BE49-F238E27FC236}">
                <a16:creationId xmlns:a16="http://schemas.microsoft.com/office/drawing/2014/main" id="{5F7314DB-CDD9-4E25-BE10-8A813B2BAF1E}"/>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FOUNDATION</a:t>
            </a:r>
          </a:p>
        </p:txBody>
      </p:sp>
      <p:sp>
        <p:nvSpPr>
          <p:cNvPr id="7" name="">
            <a:extLst xmlns:a="http://schemas.openxmlformats.org/drawingml/2006/main">
              <a:ext uri="{FF2B5EF4-FFF2-40B4-BE49-F238E27FC236}">
                <a16:creationId xmlns:a16="http://schemas.microsoft.com/office/drawing/2014/main" id="{7209C869-4FBE-4E57-8B4B-20998C5AD5D8}"/>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The CIA triad is a simple way to organize security goals</a:t>
            </a:r>
          </a:p>
        </p:txBody>
      </p:sp>
      <p:sp>
        <p:nvSpPr>
          <p:cNvPr id="8" name="">
            <a:extLst xmlns:a="http://schemas.openxmlformats.org/drawingml/2006/main">
              <a:ext uri="{FF2B5EF4-FFF2-40B4-BE49-F238E27FC236}">
                <a16:creationId xmlns:a16="http://schemas.microsoft.com/office/drawing/2014/main" id="{7702D041-334B-4789-A3E4-5B00DA8DC5E7}"/>
              </a:ext>
            </a:extLst>
          </p:cNvPr>
          <p:cNvSpPr>
            <a:spLocks xmlns:a="http://schemas.openxmlformats.org/drawingml/2006/main" noGrp="1"/>
          </p:cNvSpPr>
          <p:nvPr/>
        </p:nvSpPr>
        <p:spPr>
          <a:xfrm xmlns:a="http://schemas.openxmlformats.org/drawingml/2006/main">
            <a:off x="8382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1F7957C5-2772-4415-BB72-ACB1080668EB}"/>
              </a:ext>
            </a:extLst>
          </p:cNvPr>
          <p:cNvSpPr>
            <a:spLocks xmlns:a="http://schemas.openxmlformats.org/drawingml/2006/main" noGrp="1"/>
          </p:cNvSpPr>
          <p:nvPr/>
        </p:nvSpPr>
        <p:spPr>
          <a:xfrm xmlns:a="http://schemas.openxmlformats.org/drawingml/2006/main">
            <a:off x="838200" y="2724150"/>
            <a:ext cx="95250" cy="2095500"/>
          </a:xfrm>
          <a:prstGeom xmlns:a="http://schemas.openxmlformats.org/drawingml/2006/main" prst="rect">
            <a:avLst/>
          </a:prstGeom>
          <a:solidFill xmlns:a="http://schemas.openxmlformats.org/drawingml/2006/main">
            <a:srgbClr val="1F8A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EE4D8F8-5E7A-4A46-A38E-E7099CB3CEA1}"/>
              </a:ext>
            </a:extLst>
          </p:cNvPr>
          <p:cNvSpPr>
            <a:spLocks xmlns:a="http://schemas.openxmlformats.org/drawingml/2006/main" noGrp="1"/>
          </p:cNvSpPr>
          <p:nvPr/>
        </p:nvSpPr>
        <p:spPr>
          <a:xfrm xmlns:a="http://schemas.openxmlformats.org/drawingml/2006/main">
            <a:off x="10477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Confidentiality</a:t>
            </a:r>
          </a:p>
        </p:txBody>
      </p:sp>
      <p:sp>
        <p:nvSpPr>
          <p:cNvPr id="11" name="">
            <a:extLst xmlns:a="http://schemas.openxmlformats.org/drawingml/2006/main">
              <a:ext uri="{FF2B5EF4-FFF2-40B4-BE49-F238E27FC236}">
                <a16:creationId xmlns:a16="http://schemas.microsoft.com/office/drawing/2014/main" id="{7AE6FF82-2DCB-4361-ADBB-4BBB9D4D5E3D}"/>
              </a:ext>
            </a:extLst>
          </p:cNvPr>
          <p:cNvSpPr>
            <a:spLocks xmlns:a="http://schemas.openxmlformats.org/drawingml/2006/main" noGrp="1"/>
          </p:cNvSpPr>
          <p:nvPr/>
        </p:nvSpPr>
        <p:spPr>
          <a:xfrm xmlns:a="http://schemas.openxmlformats.org/drawingml/2006/main">
            <a:off x="10477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Only the right people can access the data.</a:t>
            </a:r>
          </a:p>
        </p:txBody>
      </p:sp>
      <p:sp>
        <p:nvSpPr>
          <p:cNvPr id="12" name="">
            <a:extLst xmlns:a="http://schemas.openxmlformats.org/drawingml/2006/main">
              <a:ext uri="{FF2B5EF4-FFF2-40B4-BE49-F238E27FC236}">
                <a16:creationId xmlns:a16="http://schemas.microsoft.com/office/drawing/2014/main" id="{3E244561-23A4-43BC-A950-F940981DE6EA}"/>
              </a:ext>
            </a:extLst>
          </p:cNvPr>
          <p:cNvSpPr>
            <a:spLocks xmlns:a="http://schemas.openxmlformats.org/drawingml/2006/main" noGrp="1"/>
          </p:cNvSpPr>
          <p:nvPr/>
        </p:nvSpPr>
        <p:spPr>
          <a:xfrm xmlns:a="http://schemas.openxmlformats.org/drawingml/2006/main">
            <a:off x="4476750" y="2724150"/>
            <a:ext cx="3190875" cy="2095500"/>
          </a:xfrm>
          <a:prstGeom xmlns:a="http://schemas.openxmlformats.org/drawingml/2006/main" prst="roundRect">
            <a:avLst>
              <a:gd name="adj" fmla="val 3636"/>
            </a:avLst>
          </a:prstGeom>
          <a:solidFill xmlns:a="http://schemas.openxmlformats.org/drawingml/2006/main">
            <a:srgbClr val="E9E2C6"/>
          </a:solidFill>
          <a:ln xmlns:a="http://schemas.openxmlformats.org/drawingml/2006/main" w="11906">
            <a:solidFill>
              <a:srgbClr val="D9C9A8"/>
            </a:solidFill>
            <a:prstDash val="solid"/>
          </a:ln>
        </p:spPr>
      </p:sp>
      <p:sp>
        <p:nvSpPr>
          <p:cNvPr id="13" name="">
            <a:extLst xmlns:a="http://schemas.openxmlformats.org/drawingml/2006/main">
              <a:ext uri="{FF2B5EF4-FFF2-40B4-BE49-F238E27FC236}">
                <a16:creationId xmlns:a16="http://schemas.microsoft.com/office/drawing/2014/main" id="{E4331BF9-9F7F-40B8-BCCE-5842D7D1824E}"/>
              </a:ext>
            </a:extLst>
          </p:cNvPr>
          <p:cNvSpPr>
            <a:spLocks xmlns:a="http://schemas.openxmlformats.org/drawingml/2006/main" noGrp="1"/>
          </p:cNvSpPr>
          <p:nvPr/>
        </p:nvSpPr>
        <p:spPr>
          <a:xfrm xmlns:a="http://schemas.openxmlformats.org/drawingml/2006/main">
            <a:off x="4476750" y="2724150"/>
            <a:ext cx="95250" cy="2095500"/>
          </a:xfrm>
          <a:prstGeom xmlns:a="http://schemas.openxmlformats.org/drawingml/2006/main" prst="rect">
            <a:avLst/>
          </a:prstGeom>
          <a:solidFill xmlns:a="http://schemas.openxmlformats.org/drawingml/2006/main">
            <a:srgbClr val="E084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73E79E7-EE6A-4C7D-9067-1DA0C493D853}"/>
              </a:ext>
            </a:extLst>
          </p:cNvPr>
          <p:cNvSpPr>
            <a:spLocks xmlns:a="http://schemas.openxmlformats.org/drawingml/2006/main" noGrp="1"/>
          </p:cNvSpPr>
          <p:nvPr/>
        </p:nvSpPr>
        <p:spPr>
          <a:xfrm xmlns:a="http://schemas.openxmlformats.org/drawingml/2006/main">
            <a:off x="468630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Integrity</a:t>
            </a:r>
          </a:p>
        </p:txBody>
      </p:sp>
      <p:sp>
        <p:nvSpPr>
          <p:cNvPr id="15" name="">
            <a:extLst xmlns:a="http://schemas.openxmlformats.org/drawingml/2006/main">
              <a:ext uri="{FF2B5EF4-FFF2-40B4-BE49-F238E27FC236}">
                <a16:creationId xmlns:a16="http://schemas.microsoft.com/office/drawing/2014/main" id="{1AC638CC-0792-4DC3-B138-3F0B2410F52A}"/>
              </a:ext>
            </a:extLst>
          </p:cNvPr>
          <p:cNvSpPr>
            <a:spLocks xmlns:a="http://schemas.openxmlformats.org/drawingml/2006/main" noGrp="1"/>
          </p:cNvSpPr>
          <p:nvPr/>
        </p:nvSpPr>
        <p:spPr>
          <a:xfrm xmlns:a="http://schemas.openxmlformats.org/drawingml/2006/main">
            <a:off x="468630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The data stays accurate, complete, and trustworthy.</a:t>
            </a:r>
          </a:p>
        </p:txBody>
      </p:sp>
      <p:sp>
        <p:nvSpPr>
          <p:cNvPr id="16" name="">
            <a:extLst xmlns:a="http://schemas.openxmlformats.org/drawingml/2006/main">
              <a:ext uri="{FF2B5EF4-FFF2-40B4-BE49-F238E27FC236}">
                <a16:creationId xmlns:a16="http://schemas.microsoft.com/office/drawing/2014/main" id="{F0045B1D-2718-47FE-964F-78FBB19435B8}"/>
              </a:ext>
            </a:extLst>
          </p:cNvPr>
          <p:cNvSpPr>
            <a:spLocks xmlns:a="http://schemas.openxmlformats.org/drawingml/2006/main" noGrp="1"/>
          </p:cNvSpPr>
          <p:nvPr/>
        </p:nvSpPr>
        <p:spPr>
          <a:xfrm xmlns:a="http://schemas.openxmlformats.org/drawingml/2006/main">
            <a:off x="81153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17" name="">
            <a:extLst xmlns:a="http://schemas.openxmlformats.org/drawingml/2006/main">
              <a:ext uri="{FF2B5EF4-FFF2-40B4-BE49-F238E27FC236}">
                <a16:creationId xmlns:a16="http://schemas.microsoft.com/office/drawing/2014/main" id="{651C0B38-E149-4568-B5DD-4F71FF8561DC}"/>
              </a:ext>
            </a:extLst>
          </p:cNvPr>
          <p:cNvSpPr>
            <a:spLocks xmlns:a="http://schemas.openxmlformats.org/drawingml/2006/main" noGrp="1"/>
          </p:cNvSpPr>
          <p:nvPr/>
        </p:nvSpPr>
        <p:spPr>
          <a:xfrm xmlns:a="http://schemas.openxmlformats.org/drawingml/2006/main">
            <a:off x="8115300" y="2724150"/>
            <a:ext cx="95250" cy="2095500"/>
          </a:xfrm>
          <a:prstGeom xmlns:a="http://schemas.openxmlformats.org/drawingml/2006/main" prst="rect">
            <a:avLst/>
          </a:prstGeom>
          <a:solidFill xmlns:a="http://schemas.openxmlformats.org/drawingml/2006/main">
            <a:srgbClr val="6C9A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3EBCC75-727F-40B9-8657-119C2FED1275}"/>
              </a:ext>
            </a:extLst>
          </p:cNvPr>
          <p:cNvSpPr>
            <a:spLocks xmlns:a="http://schemas.openxmlformats.org/drawingml/2006/main" noGrp="1"/>
          </p:cNvSpPr>
          <p:nvPr/>
        </p:nvSpPr>
        <p:spPr>
          <a:xfrm xmlns:a="http://schemas.openxmlformats.org/drawingml/2006/main">
            <a:off x="83248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Availability</a:t>
            </a:r>
          </a:p>
        </p:txBody>
      </p:sp>
      <p:sp>
        <p:nvSpPr>
          <p:cNvPr id="19" name="">
            <a:extLst xmlns:a="http://schemas.openxmlformats.org/drawingml/2006/main">
              <a:ext uri="{FF2B5EF4-FFF2-40B4-BE49-F238E27FC236}">
                <a16:creationId xmlns:a16="http://schemas.microsoft.com/office/drawing/2014/main" id="{098E04DF-85B2-49BC-B5BE-242C0E9C0491}"/>
              </a:ext>
            </a:extLst>
          </p:cNvPr>
          <p:cNvSpPr>
            <a:spLocks xmlns:a="http://schemas.openxmlformats.org/drawingml/2006/main" noGrp="1"/>
          </p:cNvSpPr>
          <p:nvPr/>
        </p:nvSpPr>
        <p:spPr>
          <a:xfrm xmlns:a="http://schemas.openxmlformats.org/drawingml/2006/main">
            <a:off x="83248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The system or data is usable when it is needed.</a:t>
            </a:r>
          </a:p>
        </p:txBody>
      </p:sp>
    </p:spTree>
    <p:extLst>
      <p:ext uri="{BB962C8B-B14F-4D97-AF65-F5344CB8AC3E}">
        <p14:creationId xmlns:p14="http://schemas.microsoft.com/office/powerpoint/2010/main" val="170062516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EF4043-B051-4779-9131-41C6CE5AD4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DCA800-2D50-4B61-BA5D-76E9E78FA9DF}"/>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08B4EAC3-2E73-4266-B785-26D56E99EA7A}"/>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B897669-BDF8-4471-A7D1-49DBCBDE8B13}"/>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4A4E0C97-199E-471B-8685-5B90765660BC}"/>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5/20</a:t>
            </a:r>
          </a:p>
        </p:txBody>
      </p:sp>
      <p:sp>
        <p:nvSpPr>
          <p:cNvPr id="6" name="">
            <a:extLst xmlns:a="http://schemas.openxmlformats.org/drawingml/2006/main">
              <a:ext uri="{FF2B5EF4-FFF2-40B4-BE49-F238E27FC236}">
                <a16:creationId xmlns:a16="http://schemas.microsoft.com/office/drawing/2014/main" id="{2F6DFCE7-EB08-4B22-8B83-5232857FCAA5}"/>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RISK THINKING</a:t>
            </a:r>
          </a:p>
        </p:txBody>
      </p:sp>
      <p:sp>
        <p:nvSpPr>
          <p:cNvPr id="7" name="">
            <a:extLst xmlns:a="http://schemas.openxmlformats.org/drawingml/2006/main">
              <a:ext uri="{FF2B5EF4-FFF2-40B4-BE49-F238E27FC236}">
                <a16:creationId xmlns:a16="http://schemas.microsoft.com/office/drawing/2014/main" id="{72019682-D7CB-4B1C-8A69-AACA88E90401}"/>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A beginner security analyst does not treat every problem as equal</a:t>
            </a:r>
          </a:p>
        </p:txBody>
      </p:sp>
      <p:sp>
        <p:nvSpPr>
          <p:cNvPr id="8" name="">
            <a:extLst xmlns:a="http://schemas.openxmlformats.org/drawingml/2006/main">
              <a:ext uri="{FF2B5EF4-FFF2-40B4-BE49-F238E27FC236}">
                <a16:creationId xmlns:a16="http://schemas.microsoft.com/office/drawing/2014/main" id="{2CFA2AAD-DFC4-4540-B0EB-A46CCA809022}"/>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C67C32FE-C30F-41E6-B59C-039014932A1B}"/>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Risk asks what could go wrong</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Impact asks how serious the harm could be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Likelihood asks how plausible the problem is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Evidence asks what we actually know</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Priority asks what should be handled first</a:t>
            </a:r>
          </a:p>
        </p:txBody>
      </p:sp>
    </p:spTree>
    <p:extLst>
      <p:ext uri="{BB962C8B-B14F-4D97-AF65-F5344CB8AC3E}">
        <p14:creationId xmlns:p14="http://schemas.microsoft.com/office/powerpoint/2010/main" val="18613508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80FF43-5E01-4321-975E-50AA0B5204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A6B32DA-AF52-44E3-A2BC-0A00ECD25D80}"/>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7FCDA92F-6DFE-4B7D-8027-EAD983E7671D}"/>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606F7ED-8733-45A8-B5AB-3384E0D892D0}"/>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C80DC076-705C-4B31-9DE4-F7E67B718A1F}"/>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6/20</a:t>
            </a:r>
          </a:p>
        </p:txBody>
      </p:sp>
      <p:sp>
        <p:nvSpPr>
          <p:cNvPr id="6" name="">
            <a:extLst xmlns:a="http://schemas.openxmlformats.org/drawingml/2006/main">
              <a:ext uri="{FF2B5EF4-FFF2-40B4-BE49-F238E27FC236}">
                <a16:creationId xmlns:a16="http://schemas.microsoft.com/office/drawing/2014/main" id="{C9CCD658-6B2F-4B29-B94A-5D9CCC5CFB7E}"/>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IDENTITY</a:t>
            </a:r>
          </a:p>
        </p:txBody>
      </p:sp>
      <p:sp>
        <p:nvSpPr>
          <p:cNvPr id="7" name="">
            <a:extLst xmlns:a="http://schemas.openxmlformats.org/drawingml/2006/main">
              <a:ext uri="{FF2B5EF4-FFF2-40B4-BE49-F238E27FC236}">
                <a16:creationId xmlns:a16="http://schemas.microsoft.com/office/drawing/2014/main" id="{E9B42237-4A46-4643-B8F2-02D226BDC46C}"/>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Authentication and access control answer different questions</a:t>
            </a:r>
          </a:p>
        </p:txBody>
      </p:sp>
      <p:sp>
        <p:nvSpPr>
          <p:cNvPr id="8" name="">
            <a:extLst xmlns:a="http://schemas.openxmlformats.org/drawingml/2006/main">
              <a:ext uri="{FF2B5EF4-FFF2-40B4-BE49-F238E27FC236}">
                <a16:creationId xmlns:a16="http://schemas.microsoft.com/office/drawing/2014/main" id="{224EA429-43A2-48D1-B0F9-8B15A1ED97D3}"/>
              </a:ext>
            </a:extLst>
          </p:cNvPr>
          <p:cNvSpPr>
            <a:spLocks xmlns:a="http://schemas.openxmlformats.org/drawingml/2006/main" noGrp="1"/>
          </p:cNvSpPr>
          <p:nvPr/>
        </p:nvSpPr>
        <p:spPr>
          <a:xfrm xmlns:a="http://schemas.openxmlformats.org/drawingml/2006/main">
            <a:off x="8382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2DB82B28-45C5-4865-A4CA-EAC351235CE0}"/>
              </a:ext>
            </a:extLst>
          </p:cNvPr>
          <p:cNvSpPr>
            <a:spLocks xmlns:a="http://schemas.openxmlformats.org/drawingml/2006/main" noGrp="1"/>
          </p:cNvSpPr>
          <p:nvPr/>
        </p:nvSpPr>
        <p:spPr>
          <a:xfrm xmlns:a="http://schemas.openxmlformats.org/drawingml/2006/main">
            <a:off x="838200" y="2724150"/>
            <a:ext cx="95250" cy="2095500"/>
          </a:xfrm>
          <a:prstGeom xmlns:a="http://schemas.openxmlformats.org/drawingml/2006/main" prst="rect">
            <a:avLst/>
          </a:prstGeom>
          <a:solidFill xmlns:a="http://schemas.openxmlformats.org/drawingml/2006/main">
            <a:srgbClr val="1F8A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F01E9A0-562C-486D-A292-66FAD7910B0D}"/>
              </a:ext>
            </a:extLst>
          </p:cNvPr>
          <p:cNvSpPr>
            <a:spLocks xmlns:a="http://schemas.openxmlformats.org/drawingml/2006/main" noGrp="1"/>
          </p:cNvSpPr>
          <p:nvPr/>
        </p:nvSpPr>
        <p:spPr>
          <a:xfrm xmlns:a="http://schemas.openxmlformats.org/drawingml/2006/main">
            <a:off x="10477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Authentication</a:t>
            </a:r>
          </a:p>
        </p:txBody>
      </p:sp>
      <p:sp>
        <p:nvSpPr>
          <p:cNvPr id="11" name="">
            <a:extLst xmlns:a="http://schemas.openxmlformats.org/drawingml/2006/main">
              <a:ext uri="{FF2B5EF4-FFF2-40B4-BE49-F238E27FC236}">
                <a16:creationId xmlns:a16="http://schemas.microsoft.com/office/drawing/2014/main" id="{D3803F94-4EA4-4291-95B9-B18912173811}"/>
              </a:ext>
            </a:extLst>
          </p:cNvPr>
          <p:cNvSpPr>
            <a:spLocks xmlns:a="http://schemas.openxmlformats.org/drawingml/2006/main" noGrp="1"/>
          </p:cNvSpPr>
          <p:nvPr/>
        </p:nvSpPr>
        <p:spPr>
          <a:xfrm xmlns:a="http://schemas.openxmlformats.org/drawingml/2006/main">
            <a:off x="10477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Who are you? Example: login, password, MFA.</a:t>
            </a:r>
          </a:p>
        </p:txBody>
      </p:sp>
      <p:sp>
        <p:nvSpPr>
          <p:cNvPr id="12" name="">
            <a:extLst xmlns:a="http://schemas.openxmlformats.org/drawingml/2006/main">
              <a:ext uri="{FF2B5EF4-FFF2-40B4-BE49-F238E27FC236}">
                <a16:creationId xmlns:a16="http://schemas.microsoft.com/office/drawing/2014/main" id="{BFC51164-9AE9-4F39-A29B-14B9FE0C29DC}"/>
              </a:ext>
            </a:extLst>
          </p:cNvPr>
          <p:cNvSpPr>
            <a:spLocks xmlns:a="http://schemas.openxmlformats.org/drawingml/2006/main" noGrp="1"/>
          </p:cNvSpPr>
          <p:nvPr/>
        </p:nvSpPr>
        <p:spPr>
          <a:xfrm xmlns:a="http://schemas.openxmlformats.org/drawingml/2006/main">
            <a:off x="4476750" y="2724150"/>
            <a:ext cx="3190875" cy="2095500"/>
          </a:xfrm>
          <a:prstGeom xmlns:a="http://schemas.openxmlformats.org/drawingml/2006/main" prst="roundRect">
            <a:avLst>
              <a:gd name="adj" fmla="val 3636"/>
            </a:avLst>
          </a:prstGeom>
          <a:solidFill xmlns:a="http://schemas.openxmlformats.org/drawingml/2006/main">
            <a:srgbClr val="E9E2C6"/>
          </a:solidFill>
          <a:ln xmlns:a="http://schemas.openxmlformats.org/drawingml/2006/main" w="11906">
            <a:solidFill>
              <a:srgbClr val="D9C9A8"/>
            </a:solidFill>
            <a:prstDash val="solid"/>
          </a:ln>
        </p:spPr>
      </p:sp>
      <p:sp>
        <p:nvSpPr>
          <p:cNvPr id="13" name="">
            <a:extLst xmlns:a="http://schemas.openxmlformats.org/drawingml/2006/main">
              <a:ext uri="{FF2B5EF4-FFF2-40B4-BE49-F238E27FC236}">
                <a16:creationId xmlns:a16="http://schemas.microsoft.com/office/drawing/2014/main" id="{9981CDAB-7D79-494E-932E-B2096FD8AFE5}"/>
              </a:ext>
            </a:extLst>
          </p:cNvPr>
          <p:cNvSpPr>
            <a:spLocks xmlns:a="http://schemas.openxmlformats.org/drawingml/2006/main" noGrp="1"/>
          </p:cNvSpPr>
          <p:nvPr/>
        </p:nvSpPr>
        <p:spPr>
          <a:xfrm xmlns:a="http://schemas.openxmlformats.org/drawingml/2006/main">
            <a:off x="4476750" y="2724150"/>
            <a:ext cx="95250" cy="2095500"/>
          </a:xfrm>
          <a:prstGeom xmlns:a="http://schemas.openxmlformats.org/drawingml/2006/main" prst="rect">
            <a:avLst/>
          </a:prstGeom>
          <a:solidFill xmlns:a="http://schemas.openxmlformats.org/drawingml/2006/main">
            <a:srgbClr val="E084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10A7D9F-6AB0-4188-8D47-4C640C2F9BCB}"/>
              </a:ext>
            </a:extLst>
          </p:cNvPr>
          <p:cNvSpPr>
            <a:spLocks xmlns:a="http://schemas.openxmlformats.org/drawingml/2006/main" noGrp="1"/>
          </p:cNvSpPr>
          <p:nvPr/>
        </p:nvSpPr>
        <p:spPr>
          <a:xfrm xmlns:a="http://schemas.openxmlformats.org/drawingml/2006/main">
            <a:off x="468630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Authorization</a:t>
            </a:r>
          </a:p>
        </p:txBody>
      </p:sp>
      <p:sp>
        <p:nvSpPr>
          <p:cNvPr id="15" name="">
            <a:extLst xmlns:a="http://schemas.openxmlformats.org/drawingml/2006/main">
              <a:ext uri="{FF2B5EF4-FFF2-40B4-BE49-F238E27FC236}">
                <a16:creationId xmlns:a16="http://schemas.microsoft.com/office/drawing/2014/main" id="{9F5C51B6-E874-469B-9543-FA6262F324D8}"/>
              </a:ext>
            </a:extLst>
          </p:cNvPr>
          <p:cNvSpPr>
            <a:spLocks xmlns:a="http://schemas.openxmlformats.org/drawingml/2006/main" noGrp="1"/>
          </p:cNvSpPr>
          <p:nvPr/>
        </p:nvSpPr>
        <p:spPr>
          <a:xfrm xmlns:a="http://schemas.openxmlformats.org/drawingml/2006/main">
            <a:off x="468630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What are you allowed to do? Example: read, edit, export.</a:t>
            </a:r>
          </a:p>
        </p:txBody>
      </p:sp>
      <p:sp>
        <p:nvSpPr>
          <p:cNvPr id="16" name="">
            <a:extLst xmlns:a="http://schemas.openxmlformats.org/drawingml/2006/main">
              <a:ext uri="{FF2B5EF4-FFF2-40B4-BE49-F238E27FC236}">
                <a16:creationId xmlns:a16="http://schemas.microsoft.com/office/drawing/2014/main" id="{315EBAEC-5CF2-4CAC-A06B-3E436663BC84}"/>
              </a:ext>
            </a:extLst>
          </p:cNvPr>
          <p:cNvSpPr>
            <a:spLocks xmlns:a="http://schemas.openxmlformats.org/drawingml/2006/main" noGrp="1"/>
          </p:cNvSpPr>
          <p:nvPr/>
        </p:nvSpPr>
        <p:spPr>
          <a:xfrm xmlns:a="http://schemas.openxmlformats.org/drawingml/2006/main">
            <a:off x="81153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17" name="">
            <a:extLst xmlns:a="http://schemas.openxmlformats.org/drawingml/2006/main">
              <a:ext uri="{FF2B5EF4-FFF2-40B4-BE49-F238E27FC236}">
                <a16:creationId xmlns:a16="http://schemas.microsoft.com/office/drawing/2014/main" id="{2F20E2E7-B8EF-4C8C-B40C-3ACB9118A97F}"/>
              </a:ext>
            </a:extLst>
          </p:cNvPr>
          <p:cNvSpPr>
            <a:spLocks xmlns:a="http://schemas.openxmlformats.org/drawingml/2006/main" noGrp="1"/>
          </p:cNvSpPr>
          <p:nvPr/>
        </p:nvSpPr>
        <p:spPr>
          <a:xfrm xmlns:a="http://schemas.openxmlformats.org/drawingml/2006/main">
            <a:off x="8115300" y="2724150"/>
            <a:ext cx="95250" cy="2095500"/>
          </a:xfrm>
          <a:prstGeom xmlns:a="http://schemas.openxmlformats.org/drawingml/2006/main" prst="rect">
            <a:avLst/>
          </a:prstGeom>
          <a:solidFill xmlns:a="http://schemas.openxmlformats.org/drawingml/2006/main">
            <a:srgbClr val="6C9A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2350AAA-7D4A-4AB3-9C58-7A7B9FE4C219}"/>
              </a:ext>
            </a:extLst>
          </p:cNvPr>
          <p:cNvSpPr>
            <a:spLocks xmlns:a="http://schemas.openxmlformats.org/drawingml/2006/main" noGrp="1"/>
          </p:cNvSpPr>
          <p:nvPr/>
        </p:nvSpPr>
        <p:spPr>
          <a:xfrm xmlns:a="http://schemas.openxmlformats.org/drawingml/2006/main">
            <a:off x="83248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Least privilege</a:t>
            </a:r>
          </a:p>
        </p:txBody>
      </p:sp>
      <p:sp>
        <p:nvSpPr>
          <p:cNvPr id="19" name="">
            <a:extLst xmlns:a="http://schemas.openxmlformats.org/drawingml/2006/main">
              <a:ext uri="{FF2B5EF4-FFF2-40B4-BE49-F238E27FC236}">
                <a16:creationId xmlns:a16="http://schemas.microsoft.com/office/drawing/2014/main" id="{6A361EDC-B938-492C-9CBF-9EDD05DFF9E7}"/>
              </a:ext>
            </a:extLst>
          </p:cNvPr>
          <p:cNvSpPr>
            <a:spLocks xmlns:a="http://schemas.openxmlformats.org/drawingml/2006/main" noGrp="1"/>
          </p:cNvSpPr>
          <p:nvPr/>
        </p:nvSpPr>
        <p:spPr>
          <a:xfrm xmlns:a="http://schemas.openxmlformats.org/drawingml/2006/main">
            <a:off x="83248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Give only the access needed for the task.</a:t>
            </a:r>
          </a:p>
        </p:txBody>
      </p:sp>
    </p:spTree>
    <p:extLst>
      <p:ext uri="{BB962C8B-B14F-4D97-AF65-F5344CB8AC3E}">
        <p14:creationId xmlns:p14="http://schemas.microsoft.com/office/powerpoint/2010/main" val="21000685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8D6876-9046-4E5A-A76D-E765C2D188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D7DBB9-3AAC-4F2A-A9ED-3C84BEC16B8B}"/>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A862E056-1B39-407B-B6BB-136728340275}"/>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6A58803-1A8A-43B9-B258-E43AF350497C}"/>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FD0556F2-8C3D-449C-952E-4D51E732F547}"/>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7/20</a:t>
            </a:r>
          </a:p>
        </p:txBody>
      </p:sp>
      <p:sp>
        <p:nvSpPr>
          <p:cNvPr id="6" name="">
            <a:extLst xmlns:a="http://schemas.openxmlformats.org/drawingml/2006/main">
              <a:ext uri="{FF2B5EF4-FFF2-40B4-BE49-F238E27FC236}">
                <a16:creationId xmlns:a16="http://schemas.microsoft.com/office/drawing/2014/main" id="{2D48103A-B694-4348-BDFB-0109CEA9504D}"/>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ENCRYPTION</a:t>
            </a:r>
          </a:p>
        </p:txBody>
      </p:sp>
      <p:sp>
        <p:nvSpPr>
          <p:cNvPr id="7" name="">
            <a:extLst xmlns:a="http://schemas.openxmlformats.org/drawingml/2006/main">
              <a:ext uri="{FF2B5EF4-FFF2-40B4-BE49-F238E27FC236}">
                <a16:creationId xmlns:a16="http://schemas.microsoft.com/office/drawing/2014/main" id="{B3C35DB3-6739-4E4F-9764-B7B80635C68F}"/>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Cryptography protects data, but only when the system around it is designed well</a:t>
            </a:r>
          </a:p>
        </p:txBody>
      </p:sp>
      <p:sp>
        <p:nvSpPr>
          <p:cNvPr id="8" name="">
            <a:extLst xmlns:a="http://schemas.openxmlformats.org/drawingml/2006/main">
              <a:ext uri="{FF2B5EF4-FFF2-40B4-BE49-F238E27FC236}">
                <a16:creationId xmlns:a16="http://schemas.microsoft.com/office/drawing/2014/main" id="{8738A876-1D8B-4E00-908A-8B50CED2AF08}"/>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092B18A4-7784-4569-A6A3-CAA8598B131E}"/>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Encryption can protect data at rest or in transit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TLS helps protect web traffic in transit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Hashing is useful for password storage discussions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Keys, configuration, and access still matter</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Encryption does not solve every privacy problem</a:t>
            </a:r>
          </a:p>
        </p:txBody>
      </p:sp>
    </p:spTree>
    <p:extLst>
      <p:ext uri="{BB962C8B-B14F-4D97-AF65-F5344CB8AC3E}">
        <p14:creationId xmlns:p14="http://schemas.microsoft.com/office/powerpoint/2010/main" val="111033923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B91357-F0F7-4FB5-B496-8471A6B5B5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99AE0CB-95BE-4D49-9DC5-7E12C490409D}"/>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5B56D9E4-3535-46ED-8786-53EBE9E0866B}"/>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516A862-F215-4949-9382-BC02F1486FE2}"/>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7C72C02C-885E-48CE-87D3-42761AFF47C0}"/>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8/20</a:t>
            </a:r>
          </a:p>
        </p:txBody>
      </p:sp>
      <p:sp>
        <p:nvSpPr>
          <p:cNvPr id="6" name="">
            <a:extLst xmlns:a="http://schemas.openxmlformats.org/drawingml/2006/main">
              <a:ext uri="{FF2B5EF4-FFF2-40B4-BE49-F238E27FC236}">
                <a16:creationId xmlns:a16="http://schemas.microsoft.com/office/drawing/2014/main" id="{AA10AE02-38CC-4C3F-9EC1-5FEC064612DA}"/>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SYSTEMS</a:t>
            </a:r>
          </a:p>
        </p:txBody>
      </p:sp>
      <p:sp>
        <p:nvSpPr>
          <p:cNvPr id="7" name="">
            <a:extLst xmlns:a="http://schemas.openxmlformats.org/drawingml/2006/main">
              <a:ext uri="{FF2B5EF4-FFF2-40B4-BE49-F238E27FC236}">
                <a16:creationId xmlns:a16="http://schemas.microsoft.com/office/drawing/2014/main" id="{234BD3F4-F7CD-4E66-8393-D88376761EE2}"/>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Web, network, database, and cloud security are connected</a:t>
            </a:r>
          </a:p>
        </p:txBody>
      </p:sp>
      <p:sp>
        <p:nvSpPr>
          <p:cNvPr id="8" name="">
            <a:extLst xmlns:a="http://schemas.openxmlformats.org/drawingml/2006/main">
              <a:ext uri="{FF2B5EF4-FFF2-40B4-BE49-F238E27FC236}">
                <a16:creationId xmlns:a16="http://schemas.microsoft.com/office/drawing/2014/main" id="{780D67E5-7FB5-4601-9E7E-1B26FAF9B3EE}"/>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05A80E28-335F-42FC-9AFA-8463E6817ECF}"/>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Web apps handle input, sessions, and user actions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Networks move traffic between systems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Databases store structured records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Cloud platforms add sharing, permissions, and vendor responsibility</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Weakness in one layer can affect the others</a:t>
            </a:r>
          </a:p>
        </p:txBody>
      </p:sp>
    </p:spTree>
    <p:extLst>
      <p:ext uri="{BB962C8B-B14F-4D97-AF65-F5344CB8AC3E}">
        <p14:creationId xmlns:p14="http://schemas.microsoft.com/office/powerpoint/2010/main" val="2732079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25E947-4CE1-45C2-B400-E5835E7EE7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B2D14A3-F503-4FC6-8F6C-BC39E4D2F029}"/>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C2AE017E-2A77-4C47-895A-F6747C263ECA}"/>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D477B29-C332-42D8-BDF0-A141ACD14C95}"/>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4CD09552-0EEC-4851-8C01-3C58043F56D8}"/>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9/20</a:t>
            </a:r>
          </a:p>
        </p:txBody>
      </p:sp>
      <p:sp>
        <p:nvSpPr>
          <p:cNvPr id="6" name="">
            <a:extLst xmlns:a="http://schemas.openxmlformats.org/drawingml/2006/main">
              <a:ext uri="{FF2B5EF4-FFF2-40B4-BE49-F238E27FC236}">
                <a16:creationId xmlns:a16="http://schemas.microsoft.com/office/drawing/2014/main" id="{951231C5-028F-4742-BE12-340DE3E632EC}"/>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DATA REPRESENTATION</a:t>
            </a:r>
          </a:p>
        </p:txBody>
      </p:sp>
      <p:sp>
        <p:nvSpPr>
          <p:cNvPr id="7" name="">
            <a:extLst xmlns:a="http://schemas.openxmlformats.org/drawingml/2006/main">
              <a:ext uri="{FF2B5EF4-FFF2-40B4-BE49-F238E27FC236}">
                <a16:creationId xmlns:a16="http://schemas.microsoft.com/office/drawing/2014/main" id="{2C7F3D3F-BC7B-4DDD-B8B1-7CBA2AF43BE5}"/>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Tables, CSVs, JSON, and documents shape what analysis can show</a:t>
            </a:r>
          </a:p>
        </p:txBody>
      </p:sp>
      <p:sp>
        <p:nvSpPr>
          <p:cNvPr id="8" name="">
            <a:extLst xmlns:a="http://schemas.openxmlformats.org/drawingml/2006/main">
              <a:ext uri="{FF2B5EF4-FFF2-40B4-BE49-F238E27FC236}">
                <a16:creationId xmlns:a16="http://schemas.microsoft.com/office/drawing/2014/main" id="{B7247AB2-72AA-48E8-BC72-94A0A3CAE2B8}"/>
              </a:ext>
            </a:extLst>
          </p:cNvPr>
          <p:cNvSpPr>
            <a:spLocks xmlns:a="http://schemas.openxmlformats.org/drawingml/2006/main" noGrp="1"/>
          </p:cNvSpPr>
          <p:nvPr/>
        </p:nvSpPr>
        <p:spPr>
          <a:xfrm xmlns:a="http://schemas.openxmlformats.org/drawingml/2006/main">
            <a:off x="8382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B852CABD-041A-4F25-A37D-1B8950397887}"/>
              </a:ext>
            </a:extLst>
          </p:cNvPr>
          <p:cNvSpPr>
            <a:spLocks xmlns:a="http://schemas.openxmlformats.org/drawingml/2006/main" noGrp="1"/>
          </p:cNvSpPr>
          <p:nvPr/>
        </p:nvSpPr>
        <p:spPr>
          <a:xfrm xmlns:a="http://schemas.openxmlformats.org/drawingml/2006/main">
            <a:off x="838200" y="2724150"/>
            <a:ext cx="95250" cy="2095500"/>
          </a:xfrm>
          <a:prstGeom xmlns:a="http://schemas.openxmlformats.org/drawingml/2006/main" prst="rect">
            <a:avLst/>
          </a:prstGeom>
          <a:solidFill xmlns:a="http://schemas.openxmlformats.org/drawingml/2006/main">
            <a:srgbClr val="1F8A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64964DE-1308-4A69-B8ED-8C1875CB640B}"/>
              </a:ext>
            </a:extLst>
          </p:cNvPr>
          <p:cNvSpPr>
            <a:spLocks xmlns:a="http://schemas.openxmlformats.org/drawingml/2006/main" noGrp="1"/>
          </p:cNvSpPr>
          <p:nvPr/>
        </p:nvSpPr>
        <p:spPr>
          <a:xfrm xmlns:a="http://schemas.openxmlformats.org/drawingml/2006/main">
            <a:off x="10477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CSV / table</a:t>
            </a:r>
          </a:p>
        </p:txBody>
      </p:sp>
      <p:sp>
        <p:nvSpPr>
          <p:cNvPr id="11" name="">
            <a:extLst xmlns:a="http://schemas.openxmlformats.org/drawingml/2006/main">
              <a:ext uri="{FF2B5EF4-FFF2-40B4-BE49-F238E27FC236}">
                <a16:creationId xmlns:a16="http://schemas.microsoft.com/office/drawing/2014/main" id="{E54FF30E-9509-40A6-815E-61DD8802AA9D}"/>
              </a:ext>
            </a:extLst>
          </p:cNvPr>
          <p:cNvSpPr>
            <a:spLocks xmlns:a="http://schemas.openxmlformats.org/drawingml/2006/main" noGrp="1"/>
          </p:cNvSpPr>
          <p:nvPr/>
        </p:nvSpPr>
        <p:spPr>
          <a:xfrm xmlns:a="http://schemas.openxmlformats.org/drawingml/2006/main">
            <a:off x="10477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Rows and columns make comparison and sorting easy.</a:t>
            </a:r>
          </a:p>
        </p:txBody>
      </p:sp>
      <p:sp>
        <p:nvSpPr>
          <p:cNvPr id="12" name="">
            <a:extLst xmlns:a="http://schemas.openxmlformats.org/drawingml/2006/main">
              <a:ext uri="{FF2B5EF4-FFF2-40B4-BE49-F238E27FC236}">
                <a16:creationId xmlns:a16="http://schemas.microsoft.com/office/drawing/2014/main" id="{509C9B55-7507-451B-BB86-76502DC9EC3E}"/>
              </a:ext>
            </a:extLst>
          </p:cNvPr>
          <p:cNvSpPr>
            <a:spLocks xmlns:a="http://schemas.openxmlformats.org/drawingml/2006/main" noGrp="1"/>
          </p:cNvSpPr>
          <p:nvPr/>
        </p:nvSpPr>
        <p:spPr>
          <a:xfrm xmlns:a="http://schemas.openxmlformats.org/drawingml/2006/main">
            <a:off x="4476750" y="2724150"/>
            <a:ext cx="3190875" cy="2095500"/>
          </a:xfrm>
          <a:prstGeom xmlns:a="http://schemas.openxmlformats.org/drawingml/2006/main" prst="roundRect">
            <a:avLst>
              <a:gd name="adj" fmla="val 3636"/>
            </a:avLst>
          </a:prstGeom>
          <a:solidFill xmlns:a="http://schemas.openxmlformats.org/drawingml/2006/main">
            <a:srgbClr val="E9E2C6"/>
          </a:solidFill>
          <a:ln xmlns:a="http://schemas.openxmlformats.org/drawingml/2006/main" w="11906">
            <a:solidFill>
              <a:srgbClr val="D9C9A8"/>
            </a:solidFill>
            <a:prstDash val="solid"/>
          </a:ln>
        </p:spPr>
      </p:sp>
      <p:sp>
        <p:nvSpPr>
          <p:cNvPr id="13" name="">
            <a:extLst xmlns:a="http://schemas.openxmlformats.org/drawingml/2006/main">
              <a:ext uri="{FF2B5EF4-FFF2-40B4-BE49-F238E27FC236}">
                <a16:creationId xmlns:a16="http://schemas.microsoft.com/office/drawing/2014/main" id="{2B215748-E7B6-450D-B156-CE005608F3C2}"/>
              </a:ext>
            </a:extLst>
          </p:cNvPr>
          <p:cNvSpPr>
            <a:spLocks xmlns:a="http://schemas.openxmlformats.org/drawingml/2006/main" noGrp="1"/>
          </p:cNvSpPr>
          <p:nvPr/>
        </p:nvSpPr>
        <p:spPr>
          <a:xfrm xmlns:a="http://schemas.openxmlformats.org/drawingml/2006/main">
            <a:off x="4476750" y="2724150"/>
            <a:ext cx="95250" cy="2095500"/>
          </a:xfrm>
          <a:prstGeom xmlns:a="http://schemas.openxmlformats.org/drawingml/2006/main" prst="rect">
            <a:avLst/>
          </a:prstGeom>
          <a:solidFill xmlns:a="http://schemas.openxmlformats.org/drawingml/2006/main">
            <a:srgbClr val="E084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B9FD123-AFEB-41FD-BF2B-F28662ECF45E}"/>
              </a:ext>
            </a:extLst>
          </p:cNvPr>
          <p:cNvSpPr>
            <a:spLocks xmlns:a="http://schemas.openxmlformats.org/drawingml/2006/main" noGrp="1"/>
          </p:cNvSpPr>
          <p:nvPr/>
        </p:nvSpPr>
        <p:spPr>
          <a:xfrm xmlns:a="http://schemas.openxmlformats.org/drawingml/2006/main">
            <a:off x="468630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JSON / document</a:t>
            </a:r>
          </a:p>
        </p:txBody>
      </p:sp>
      <p:sp>
        <p:nvSpPr>
          <p:cNvPr id="15" name="">
            <a:extLst xmlns:a="http://schemas.openxmlformats.org/drawingml/2006/main">
              <a:ext uri="{FF2B5EF4-FFF2-40B4-BE49-F238E27FC236}">
                <a16:creationId xmlns:a16="http://schemas.microsoft.com/office/drawing/2014/main" id="{5DF30C38-1C78-4BAA-8A24-2489B6000B53}"/>
              </a:ext>
            </a:extLst>
          </p:cNvPr>
          <p:cNvSpPr>
            <a:spLocks xmlns:a="http://schemas.openxmlformats.org/drawingml/2006/main" noGrp="1"/>
          </p:cNvSpPr>
          <p:nvPr/>
        </p:nvSpPr>
        <p:spPr>
          <a:xfrm xmlns:a="http://schemas.openxmlformats.org/drawingml/2006/main">
            <a:off x="468630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Nested structures can represent flexible real-world objects.</a:t>
            </a:r>
          </a:p>
        </p:txBody>
      </p:sp>
      <p:sp>
        <p:nvSpPr>
          <p:cNvPr id="16" name="">
            <a:extLst xmlns:a="http://schemas.openxmlformats.org/drawingml/2006/main">
              <a:ext uri="{FF2B5EF4-FFF2-40B4-BE49-F238E27FC236}">
                <a16:creationId xmlns:a16="http://schemas.microsoft.com/office/drawing/2014/main" id="{4DB094A2-11D1-4BF7-B2AF-4F5FF061DC0C}"/>
              </a:ext>
            </a:extLst>
          </p:cNvPr>
          <p:cNvSpPr>
            <a:spLocks xmlns:a="http://schemas.openxmlformats.org/drawingml/2006/main" noGrp="1"/>
          </p:cNvSpPr>
          <p:nvPr/>
        </p:nvSpPr>
        <p:spPr>
          <a:xfrm xmlns:a="http://schemas.openxmlformats.org/drawingml/2006/main">
            <a:off x="81153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17" name="">
            <a:extLst xmlns:a="http://schemas.openxmlformats.org/drawingml/2006/main">
              <a:ext uri="{FF2B5EF4-FFF2-40B4-BE49-F238E27FC236}">
                <a16:creationId xmlns:a16="http://schemas.microsoft.com/office/drawing/2014/main" id="{2B668879-2E32-4E58-B2FF-8F993474A529}"/>
              </a:ext>
            </a:extLst>
          </p:cNvPr>
          <p:cNvSpPr>
            <a:spLocks xmlns:a="http://schemas.openxmlformats.org/drawingml/2006/main" noGrp="1"/>
          </p:cNvSpPr>
          <p:nvPr/>
        </p:nvSpPr>
        <p:spPr>
          <a:xfrm xmlns:a="http://schemas.openxmlformats.org/drawingml/2006/main">
            <a:off x="8115300" y="2724150"/>
            <a:ext cx="95250" cy="2095500"/>
          </a:xfrm>
          <a:prstGeom xmlns:a="http://schemas.openxmlformats.org/drawingml/2006/main" prst="rect">
            <a:avLst/>
          </a:prstGeom>
          <a:solidFill xmlns:a="http://schemas.openxmlformats.org/drawingml/2006/main">
            <a:srgbClr val="6C9A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84245EC-E04F-4BF4-8876-2A9CC010022F}"/>
              </a:ext>
            </a:extLst>
          </p:cNvPr>
          <p:cNvSpPr>
            <a:spLocks xmlns:a="http://schemas.openxmlformats.org/drawingml/2006/main" noGrp="1"/>
          </p:cNvSpPr>
          <p:nvPr/>
        </p:nvSpPr>
        <p:spPr>
          <a:xfrm xmlns:a="http://schemas.openxmlformats.org/drawingml/2006/main">
            <a:off x="83248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Data dictionary</a:t>
            </a:r>
          </a:p>
        </p:txBody>
      </p:sp>
      <p:sp>
        <p:nvSpPr>
          <p:cNvPr id="19" name="">
            <a:extLst xmlns:a="http://schemas.openxmlformats.org/drawingml/2006/main">
              <a:ext uri="{FF2B5EF4-FFF2-40B4-BE49-F238E27FC236}">
                <a16:creationId xmlns:a16="http://schemas.microsoft.com/office/drawing/2014/main" id="{091169A8-A35E-42E1-9FEB-062B0DAB3518}"/>
              </a:ext>
            </a:extLst>
          </p:cNvPr>
          <p:cNvSpPr>
            <a:spLocks xmlns:a="http://schemas.openxmlformats.org/drawingml/2006/main" noGrp="1"/>
          </p:cNvSpPr>
          <p:nvPr/>
        </p:nvSpPr>
        <p:spPr>
          <a:xfrm xmlns:a="http://schemas.openxmlformats.org/drawingml/2006/main">
            <a:off x="83248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Definitions make analysis safer and clearer.</a:t>
            </a:r>
          </a:p>
        </p:txBody>
      </p:sp>
    </p:spTree>
    <p:extLst>
      <p:ext uri="{BB962C8B-B14F-4D97-AF65-F5344CB8AC3E}">
        <p14:creationId xmlns:p14="http://schemas.microsoft.com/office/powerpoint/2010/main" val="6281085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F3336F-EA46-4E3F-9FFE-F3513962D0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51DE77-8960-4A36-AAFD-06078B2D766E}"/>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B3819F9E-3C9E-4A56-853E-DAF7AA126EEB}"/>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EE89378-E8F3-4B0E-9368-18563B0466FA}"/>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EF59DDE9-6F26-4F00-A1CD-27DEBF6CFD29}"/>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10/20</a:t>
            </a:r>
          </a:p>
        </p:txBody>
      </p:sp>
      <p:sp>
        <p:nvSpPr>
          <p:cNvPr id="6" name="">
            <a:extLst xmlns:a="http://schemas.openxmlformats.org/drawingml/2006/main">
              <a:ext uri="{FF2B5EF4-FFF2-40B4-BE49-F238E27FC236}">
                <a16:creationId xmlns:a16="http://schemas.microsoft.com/office/drawing/2014/main" id="{21A1F4AE-AB5B-4188-AE0F-2F726477E340}"/>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PRIVACY AND ETHICS</a:t>
            </a:r>
          </a:p>
        </p:txBody>
      </p:sp>
      <p:sp>
        <p:nvSpPr>
          <p:cNvPr id="7" name="">
            <a:extLst xmlns:a="http://schemas.openxmlformats.org/drawingml/2006/main">
              <a:ext uri="{FF2B5EF4-FFF2-40B4-BE49-F238E27FC236}">
                <a16:creationId xmlns:a16="http://schemas.microsoft.com/office/drawing/2014/main" id="{E127BBDB-5B8B-4257-9710-7F8057A8F8C0}"/>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Data can harm people even when it looks technical</a:t>
            </a:r>
          </a:p>
        </p:txBody>
      </p:sp>
      <p:sp>
        <p:nvSpPr>
          <p:cNvPr id="8" name="">
            <a:extLst xmlns:a="http://schemas.openxmlformats.org/drawingml/2006/main">
              <a:ext uri="{FF2B5EF4-FFF2-40B4-BE49-F238E27FC236}">
                <a16:creationId xmlns:a16="http://schemas.microsoft.com/office/drawing/2014/main" id="{7F123BA2-CFFD-4CFF-ADAD-CCEDC1F280C9}"/>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7295A42B-2915-4463-9736-7AA5C03EE5CC}"/>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Identifiers can be direct or indirect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Categories can shape how people are seen</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Missing data can create unfair conclusions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Surveillance can be excessive even when technically possible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Ethics asks who benefits, who is burdened, and who gets a choice</a:t>
            </a:r>
          </a:p>
        </p:txBody>
      </p:sp>
    </p:spTree>
    <p:extLst>
      <p:ext uri="{BB962C8B-B14F-4D97-AF65-F5344CB8AC3E}">
        <p14:creationId xmlns:p14="http://schemas.microsoft.com/office/powerpoint/2010/main" val="1546205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458CE2-0003-4BAE-8034-251BBA3ED8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3CCD691-882F-4EC9-BC3A-04F5BEAA4944}"/>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392ED28B-502E-4E11-95CA-A5BD2EFEAACF}"/>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A1672C3-CA2B-456F-9EA4-4B402C5CB566}"/>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69F3D660-27EB-484B-A35D-C38F6C2CC8B6}"/>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11/20</a:t>
            </a:r>
          </a:p>
        </p:txBody>
      </p:sp>
      <p:sp>
        <p:nvSpPr>
          <p:cNvPr id="6" name="">
            <a:extLst xmlns:a="http://schemas.openxmlformats.org/drawingml/2006/main">
              <a:ext uri="{FF2B5EF4-FFF2-40B4-BE49-F238E27FC236}">
                <a16:creationId xmlns:a16="http://schemas.microsoft.com/office/drawing/2014/main" id="{F1B91D57-B296-4335-9D1B-D55911A57EB5}"/>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SECURITY ANALYTICS</a:t>
            </a:r>
          </a:p>
        </p:txBody>
      </p:sp>
      <p:sp>
        <p:nvSpPr>
          <p:cNvPr id="7" name="">
            <a:extLst xmlns:a="http://schemas.openxmlformats.org/drawingml/2006/main">
              <a:ext uri="{FF2B5EF4-FFF2-40B4-BE49-F238E27FC236}">
                <a16:creationId xmlns:a16="http://schemas.microsoft.com/office/drawing/2014/main" id="{3BF09BD3-8CEC-4BB9-B838-89E1FE168DC0}"/>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Logs and metrics are evidence, not automatic truth</a:t>
            </a:r>
          </a:p>
        </p:txBody>
      </p:sp>
      <p:sp>
        <p:nvSpPr>
          <p:cNvPr id="8" name="">
            <a:extLst xmlns:a="http://schemas.openxmlformats.org/drawingml/2006/main">
              <a:ext uri="{FF2B5EF4-FFF2-40B4-BE49-F238E27FC236}">
                <a16:creationId xmlns:a16="http://schemas.microsoft.com/office/drawing/2014/main" id="{A65D5A62-93E6-413F-BB52-B53DCBFB31F7}"/>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57410F58-E6C1-4E87-8885-BCEF6EB7A227}"/>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A log shows recorded activity, not the whole story</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A metric summarizes signals, but it can hide context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A chart can look convincing even when data is incomplete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Good analysts explain both findings and limits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Recommendations should match the evidence</a:t>
            </a:r>
          </a:p>
        </p:txBody>
      </p:sp>
    </p:spTree>
    <p:extLst>
      <p:ext uri="{BB962C8B-B14F-4D97-AF65-F5344CB8AC3E}">
        <p14:creationId xmlns:p14="http://schemas.microsoft.com/office/powerpoint/2010/main" val="36219301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FBBA2D-8A28-4CE8-9E8A-F267AB119C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58133A-8C02-4D77-AC2C-1F86EEB51E9B}"/>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6A1D3D6B-2D22-46BE-91AE-15CA7182E7F3}"/>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203B161-0970-412C-AE19-2846BD1117D1}"/>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C1EA5979-F28A-48DE-9F7A-3B7BEB3D95FA}"/>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12/20</a:t>
            </a:r>
          </a:p>
        </p:txBody>
      </p:sp>
      <p:sp>
        <p:nvSpPr>
          <p:cNvPr id="6" name="">
            <a:extLst xmlns:a="http://schemas.openxmlformats.org/drawingml/2006/main">
              <a:ext uri="{FF2B5EF4-FFF2-40B4-BE49-F238E27FC236}">
                <a16:creationId xmlns:a16="http://schemas.microsoft.com/office/drawing/2014/main" id="{BD533BD4-4C43-4C6E-BFE3-36CEE7B0DA74}"/>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ADVERSARIAL THINKING</a:t>
            </a:r>
          </a:p>
        </p:txBody>
      </p:sp>
      <p:sp>
        <p:nvSpPr>
          <p:cNvPr id="7" name="">
            <a:extLst xmlns:a="http://schemas.openxmlformats.org/drawingml/2006/main">
              <a:ext uri="{FF2B5EF4-FFF2-40B4-BE49-F238E27FC236}">
                <a16:creationId xmlns:a16="http://schemas.microsoft.com/office/drawing/2014/main" id="{AC87A11A-FF13-4AED-BF13-AB8D27F04F11}"/>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Data poisoning and evasion teach us to question inputs and outputs</a:t>
            </a:r>
          </a:p>
        </p:txBody>
      </p:sp>
      <p:sp>
        <p:nvSpPr>
          <p:cNvPr id="8" name="">
            <a:extLst xmlns:a="http://schemas.openxmlformats.org/drawingml/2006/main">
              <a:ext uri="{FF2B5EF4-FFF2-40B4-BE49-F238E27FC236}">
                <a16:creationId xmlns:a16="http://schemas.microsoft.com/office/drawing/2014/main" id="{81D20565-8255-40F2-BD96-D254C9399CFD}"/>
              </a:ext>
            </a:extLst>
          </p:cNvPr>
          <p:cNvSpPr>
            <a:spLocks xmlns:a="http://schemas.openxmlformats.org/drawingml/2006/main" noGrp="1"/>
          </p:cNvSpPr>
          <p:nvPr/>
        </p:nvSpPr>
        <p:spPr>
          <a:xfrm xmlns:a="http://schemas.openxmlformats.org/drawingml/2006/main">
            <a:off x="8382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3DDABA76-6D7B-4F4C-BB9D-8D6D12382295}"/>
              </a:ext>
            </a:extLst>
          </p:cNvPr>
          <p:cNvSpPr>
            <a:spLocks xmlns:a="http://schemas.openxmlformats.org/drawingml/2006/main" noGrp="1"/>
          </p:cNvSpPr>
          <p:nvPr/>
        </p:nvSpPr>
        <p:spPr>
          <a:xfrm xmlns:a="http://schemas.openxmlformats.org/drawingml/2006/main">
            <a:off x="838200" y="2724150"/>
            <a:ext cx="95250" cy="2095500"/>
          </a:xfrm>
          <a:prstGeom xmlns:a="http://schemas.openxmlformats.org/drawingml/2006/main" prst="rect">
            <a:avLst/>
          </a:prstGeom>
          <a:solidFill xmlns:a="http://schemas.openxmlformats.org/drawingml/2006/main">
            <a:srgbClr val="1F8A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8409DEF-7F43-4494-B37F-0C85F4F2A613}"/>
              </a:ext>
            </a:extLst>
          </p:cNvPr>
          <p:cNvSpPr>
            <a:spLocks xmlns:a="http://schemas.openxmlformats.org/drawingml/2006/main" noGrp="1"/>
          </p:cNvSpPr>
          <p:nvPr/>
        </p:nvSpPr>
        <p:spPr>
          <a:xfrm xmlns:a="http://schemas.openxmlformats.org/drawingml/2006/main">
            <a:off x="10477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Data poisoning</a:t>
            </a:r>
          </a:p>
        </p:txBody>
      </p:sp>
      <p:sp>
        <p:nvSpPr>
          <p:cNvPr id="11" name="">
            <a:extLst xmlns:a="http://schemas.openxmlformats.org/drawingml/2006/main">
              <a:ext uri="{FF2B5EF4-FFF2-40B4-BE49-F238E27FC236}">
                <a16:creationId xmlns:a16="http://schemas.microsoft.com/office/drawing/2014/main" id="{8C59C16D-C47A-4994-A5E8-3C4C674B7D30}"/>
              </a:ext>
            </a:extLst>
          </p:cNvPr>
          <p:cNvSpPr>
            <a:spLocks xmlns:a="http://schemas.openxmlformats.org/drawingml/2006/main" noGrp="1"/>
          </p:cNvSpPr>
          <p:nvPr/>
        </p:nvSpPr>
        <p:spPr>
          <a:xfrm xmlns:a="http://schemas.openxmlformats.org/drawingml/2006/main">
            <a:off x="10477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Bad or manipulated data can shape bad outputs.</a:t>
            </a:r>
          </a:p>
        </p:txBody>
      </p:sp>
      <p:sp>
        <p:nvSpPr>
          <p:cNvPr id="12" name="">
            <a:extLst xmlns:a="http://schemas.openxmlformats.org/drawingml/2006/main">
              <a:ext uri="{FF2B5EF4-FFF2-40B4-BE49-F238E27FC236}">
                <a16:creationId xmlns:a16="http://schemas.microsoft.com/office/drawing/2014/main" id="{F70686B2-4546-464C-A7AD-54227783C288}"/>
              </a:ext>
            </a:extLst>
          </p:cNvPr>
          <p:cNvSpPr>
            <a:spLocks xmlns:a="http://schemas.openxmlformats.org/drawingml/2006/main" noGrp="1"/>
          </p:cNvSpPr>
          <p:nvPr/>
        </p:nvSpPr>
        <p:spPr>
          <a:xfrm xmlns:a="http://schemas.openxmlformats.org/drawingml/2006/main">
            <a:off x="4476750" y="2724150"/>
            <a:ext cx="3190875" cy="2095500"/>
          </a:xfrm>
          <a:prstGeom xmlns:a="http://schemas.openxmlformats.org/drawingml/2006/main" prst="roundRect">
            <a:avLst>
              <a:gd name="adj" fmla="val 3636"/>
            </a:avLst>
          </a:prstGeom>
          <a:solidFill xmlns:a="http://schemas.openxmlformats.org/drawingml/2006/main">
            <a:srgbClr val="E9E2C6"/>
          </a:solidFill>
          <a:ln xmlns:a="http://schemas.openxmlformats.org/drawingml/2006/main" w="11906">
            <a:solidFill>
              <a:srgbClr val="D9C9A8"/>
            </a:solidFill>
            <a:prstDash val="solid"/>
          </a:ln>
        </p:spPr>
      </p:sp>
      <p:sp>
        <p:nvSpPr>
          <p:cNvPr id="13" name="">
            <a:extLst xmlns:a="http://schemas.openxmlformats.org/drawingml/2006/main">
              <a:ext uri="{FF2B5EF4-FFF2-40B4-BE49-F238E27FC236}">
                <a16:creationId xmlns:a16="http://schemas.microsoft.com/office/drawing/2014/main" id="{47B55169-1EE8-4FF3-BA07-42D975013E6F}"/>
              </a:ext>
            </a:extLst>
          </p:cNvPr>
          <p:cNvSpPr>
            <a:spLocks xmlns:a="http://schemas.openxmlformats.org/drawingml/2006/main" noGrp="1"/>
          </p:cNvSpPr>
          <p:nvPr/>
        </p:nvSpPr>
        <p:spPr>
          <a:xfrm xmlns:a="http://schemas.openxmlformats.org/drawingml/2006/main">
            <a:off x="4476750" y="2724150"/>
            <a:ext cx="95250" cy="2095500"/>
          </a:xfrm>
          <a:prstGeom xmlns:a="http://schemas.openxmlformats.org/drawingml/2006/main" prst="rect">
            <a:avLst/>
          </a:prstGeom>
          <a:solidFill xmlns:a="http://schemas.openxmlformats.org/drawingml/2006/main">
            <a:srgbClr val="E084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DB0F11B-1E41-4883-9AF8-EECC8F7AAE1A}"/>
              </a:ext>
            </a:extLst>
          </p:cNvPr>
          <p:cNvSpPr>
            <a:spLocks xmlns:a="http://schemas.openxmlformats.org/drawingml/2006/main" noGrp="1"/>
          </p:cNvSpPr>
          <p:nvPr/>
        </p:nvSpPr>
        <p:spPr>
          <a:xfrm xmlns:a="http://schemas.openxmlformats.org/drawingml/2006/main">
            <a:off x="468630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Evasion</a:t>
            </a:r>
          </a:p>
        </p:txBody>
      </p:sp>
      <p:sp>
        <p:nvSpPr>
          <p:cNvPr id="15" name="">
            <a:extLst xmlns:a="http://schemas.openxmlformats.org/drawingml/2006/main">
              <a:ext uri="{FF2B5EF4-FFF2-40B4-BE49-F238E27FC236}">
                <a16:creationId xmlns:a16="http://schemas.microsoft.com/office/drawing/2014/main" id="{7DB89B5E-51A1-4799-831F-D9F26B2A4078}"/>
              </a:ext>
            </a:extLst>
          </p:cNvPr>
          <p:cNvSpPr>
            <a:spLocks xmlns:a="http://schemas.openxmlformats.org/drawingml/2006/main" noGrp="1"/>
          </p:cNvSpPr>
          <p:nvPr/>
        </p:nvSpPr>
        <p:spPr>
          <a:xfrm xmlns:a="http://schemas.openxmlformats.org/drawingml/2006/main">
            <a:off x="468630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A system can be fooled during use.</a:t>
            </a:r>
          </a:p>
        </p:txBody>
      </p:sp>
      <p:sp>
        <p:nvSpPr>
          <p:cNvPr id="16" name="">
            <a:extLst xmlns:a="http://schemas.openxmlformats.org/drawingml/2006/main">
              <a:ext uri="{FF2B5EF4-FFF2-40B4-BE49-F238E27FC236}">
                <a16:creationId xmlns:a16="http://schemas.microsoft.com/office/drawing/2014/main" id="{C7214B56-B822-4C8F-9202-5FD32A0FBED0}"/>
              </a:ext>
            </a:extLst>
          </p:cNvPr>
          <p:cNvSpPr>
            <a:spLocks xmlns:a="http://schemas.openxmlformats.org/drawingml/2006/main" noGrp="1"/>
          </p:cNvSpPr>
          <p:nvPr/>
        </p:nvSpPr>
        <p:spPr>
          <a:xfrm xmlns:a="http://schemas.openxmlformats.org/drawingml/2006/main">
            <a:off x="8115300" y="2724150"/>
            <a:ext cx="3190875" cy="2095500"/>
          </a:xfrm>
          <a:prstGeom xmlns:a="http://schemas.openxmlformats.org/drawingml/2006/main" prst="roundRect">
            <a:avLst>
              <a:gd name="adj" fmla="val 3636"/>
            </a:avLst>
          </a:prstGeom>
          <a:solidFill xmlns:a="http://schemas.openxmlformats.org/drawingml/2006/main">
            <a:srgbClr val="F0DFBF"/>
          </a:solidFill>
          <a:ln xmlns:a="http://schemas.openxmlformats.org/drawingml/2006/main" w="11906">
            <a:solidFill>
              <a:srgbClr val="D9C9A8"/>
            </a:solidFill>
            <a:prstDash val="solid"/>
          </a:ln>
        </p:spPr>
      </p:sp>
      <p:sp>
        <p:nvSpPr>
          <p:cNvPr id="17" name="">
            <a:extLst xmlns:a="http://schemas.openxmlformats.org/drawingml/2006/main">
              <a:ext uri="{FF2B5EF4-FFF2-40B4-BE49-F238E27FC236}">
                <a16:creationId xmlns:a16="http://schemas.microsoft.com/office/drawing/2014/main" id="{A9D05EBF-56B9-4557-B453-8E410A8CC358}"/>
              </a:ext>
            </a:extLst>
          </p:cNvPr>
          <p:cNvSpPr>
            <a:spLocks xmlns:a="http://schemas.openxmlformats.org/drawingml/2006/main" noGrp="1"/>
          </p:cNvSpPr>
          <p:nvPr/>
        </p:nvSpPr>
        <p:spPr>
          <a:xfrm xmlns:a="http://schemas.openxmlformats.org/drawingml/2006/main">
            <a:off x="8115300" y="2724150"/>
            <a:ext cx="95250" cy="2095500"/>
          </a:xfrm>
          <a:prstGeom xmlns:a="http://schemas.openxmlformats.org/drawingml/2006/main" prst="rect">
            <a:avLst/>
          </a:prstGeom>
          <a:solidFill xmlns:a="http://schemas.openxmlformats.org/drawingml/2006/main">
            <a:srgbClr val="6C9A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7FAB073-BDB0-423C-BE65-0FDB230961FB}"/>
              </a:ext>
            </a:extLst>
          </p:cNvPr>
          <p:cNvSpPr>
            <a:spLocks xmlns:a="http://schemas.openxmlformats.org/drawingml/2006/main" noGrp="1"/>
          </p:cNvSpPr>
          <p:nvPr/>
        </p:nvSpPr>
        <p:spPr>
          <a:xfrm xmlns:a="http://schemas.openxmlformats.org/drawingml/2006/main">
            <a:off x="8324850" y="2895600"/>
            <a:ext cx="277177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14212B"/>
                </a:solidFill>
                <a:latin typeface="Aptos"/>
                <a:ea typeface="Aptos"/>
                <a:cs typeface="Aptos"/>
              </a:defRPr>
            </a:pPr>
            <a:r>
              <a:rPr sz="1500" b="1">
                <a:solidFill>
                  <a:srgbClr val="14212B"/>
                </a:solidFill>
                <a:latin typeface="Aptos"/>
                <a:ea typeface="Aptos"/>
                <a:cs typeface="Aptos"/>
              </a:rPr>
              <a:t>Limitation</a:t>
            </a:r>
          </a:p>
        </p:txBody>
      </p:sp>
      <p:sp>
        <p:nvSpPr>
          <p:cNvPr id="19" name="">
            <a:extLst xmlns:a="http://schemas.openxmlformats.org/drawingml/2006/main">
              <a:ext uri="{FF2B5EF4-FFF2-40B4-BE49-F238E27FC236}">
                <a16:creationId xmlns:a16="http://schemas.microsoft.com/office/drawing/2014/main" id="{305D44C0-67D2-420F-A597-A73090F362FB}"/>
              </a:ext>
            </a:extLst>
          </p:cNvPr>
          <p:cNvSpPr>
            <a:spLocks xmlns:a="http://schemas.openxmlformats.org/drawingml/2006/main" noGrp="1"/>
          </p:cNvSpPr>
          <p:nvPr/>
        </p:nvSpPr>
        <p:spPr>
          <a:xfrm xmlns:a="http://schemas.openxmlformats.org/drawingml/2006/main">
            <a:off x="8324850" y="3371850"/>
            <a:ext cx="2771775"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14212B"/>
                </a:solidFill>
                <a:latin typeface="Aptos"/>
                <a:ea typeface="Aptos"/>
                <a:cs typeface="Aptos"/>
              </a:defRPr>
            </a:pPr>
            <a:r>
              <a:rPr sz="1650" b="0">
                <a:solidFill>
                  <a:srgbClr val="14212B"/>
                </a:solidFill>
                <a:latin typeface="Aptos"/>
                <a:ea typeface="Aptos"/>
                <a:cs typeface="Aptos"/>
              </a:rPr>
              <a:t>A careful recommendation says what it cannot prove.</a:t>
            </a:r>
          </a:p>
        </p:txBody>
      </p:sp>
    </p:spTree>
    <p:extLst>
      <p:ext uri="{BB962C8B-B14F-4D97-AF65-F5344CB8AC3E}">
        <p14:creationId xmlns:p14="http://schemas.microsoft.com/office/powerpoint/2010/main" val="101652921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ED38CA-8AE9-4764-A335-8BDBBE164C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2E6AAF-05BC-4E07-BE53-FE863E9FBCF5}"/>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BFFC6EB5-7F80-4023-95B5-5A692FBED00D}"/>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37DFF3B-675D-4225-B4CA-6092AC835CE9}"/>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5ECCBEC1-FA19-4349-A776-FFCA3BE5500F}"/>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13/20</a:t>
            </a:r>
          </a:p>
        </p:txBody>
      </p:sp>
      <p:sp>
        <p:nvSpPr>
          <p:cNvPr id="6" name="">
            <a:extLst xmlns:a="http://schemas.openxmlformats.org/drawingml/2006/main">
              <a:ext uri="{FF2B5EF4-FFF2-40B4-BE49-F238E27FC236}">
                <a16:creationId xmlns:a16="http://schemas.microsoft.com/office/drawing/2014/main" id="{CE1CF33B-A3B7-4611-A674-8626670A36A2}"/>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INCIDENT RESPONSE</a:t>
            </a:r>
          </a:p>
        </p:txBody>
      </p:sp>
      <p:sp>
        <p:nvSpPr>
          <p:cNvPr id="7" name="">
            <a:extLst xmlns:a="http://schemas.openxmlformats.org/drawingml/2006/main">
              <a:ext uri="{FF2B5EF4-FFF2-40B4-BE49-F238E27FC236}">
                <a16:creationId xmlns:a16="http://schemas.microsoft.com/office/drawing/2014/main" id="{C2365C3C-7AC3-451C-90EC-C2A1CF6AA93A}"/>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After something goes wrong, calm evidence beats panic</a:t>
            </a:r>
          </a:p>
        </p:txBody>
      </p:sp>
      <p:sp>
        <p:nvSpPr>
          <p:cNvPr id="8" name="">
            <a:extLst xmlns:a="http://schemas.openxmlformats.org/drawingml/2006/main">
              <a:ext uri="{FF2B5EF4-FFF2-40B4-BE49-F238E27FC236}">
                <a16:creationId xmlns:a16="http://schemas.microsoft.com/office/drawing/2014/main" id="{90E336D5-A2EA-49BA-8D49-E837276F89E1}"/>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D2D2DDAB-29EA-4296-AF7B-AA79C1EC7F91}"/>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Separate confirmed facts from assumptions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Contain the immediate harm</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Preserve logs and evidence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Identify what data was involved</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Communicate clearly and avoid unsupported claims</a:t>
            </a:r>
          </a:p>
        </p:txBody>
      </p:sp>
    </p:spTree>
    <p:extLst>
      <p:ext uri="{BB962C8B-B14F-4D97-AF65-F5344CB8AC3E}">
        <p14:creationId xmlns:p14="http://schemas.microsoft.com/office/powerpoint/2010/main" val="13632697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A430BE-5B8C-40ED-B409-D30E6D9148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059C9E1-AC0A-4066-B72F-033F5BADA3D6}"/>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9A631974-1FE9-47FC-A0F3-53657C1D9ECB}"/>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451AD87-D376-4694-86E5-82BF9E7D6627}"/>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910E6AE5-5544-4F3E-8266-2498EE3F7944}"/>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14/20</a:t>
            </a:r>
          </a:p>
        </p:txBody>
      </p:sp>
      <p:sp>
        <p:nvSpPr>
          <p:cNvPr id="6" name="">
            <a:extLst xmlns:a="http://schemas.openxmlformats.org/drawingml/2006/main">
              <a:ext uri="{FF2B5EF4-FFF2-40B4-BE49-F238E27FC236}">
                <a16:creationId xmlns:a16="http://schemas.microsoft.com/office/drawing/2014/main" id="{9517B346-1EDD-4BF7-8EB7-28BA54283C05}"/>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CAREER TRANSLATION</a:t>
            </a:r>
          </a:p>
        </p:txBody>
      </p:sp>
      <p:sp>
        <p:nvSpPr>
          <p:cNvPr id="7" name="">
            <a:extLst xmlns:a="http://schemas.openxmlformats.org/drawingml/2006/main">
              <a:ext uri="{FF2B5EF4-FFF2-40B4-BE49-F238E27FC236}">
                <a16:creationId xmlns:a16="http://schemas.microsoft.com/office/drawing/2014/main" id="{67841114-2DFF-4281-802C-78362DA67585}"/>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Do not say “I learned cybersecurity.” Say what you can actually do.</a:t>
            </a:r>
          </a:p>
        </p:txBody>
      </p:sp>
      <p:sp>
        <p:nvSpPr>
          <p:cNvPr id="8" name="">
            <a:extLst xmlns:a="http://schemas.openxmlformats.org/drawingml/2006/main">
              <a:ext uri="{FF2B5EF4-FFF2-40B4-BE49-F238E27FC236}">
                <a16:creationId xmlns:a16="http://schemas.microsoft.com/office/drawing/2014/main" id="{8A1DD8BA-9F63-4039-9392-1E4CD8F06215}"/>
              </a:ext>
            </a:extLst>
          </p:cNvPr>
          <p:cNvSpPr>
            <a:spLocks xmlns:a="http://schemas.openxmlformats.org/drawingml/2006/main" noGrp="1"/>
          </p:cNvSpPr>
          <p:nvPr/>
        </p:nvSpPr>
        <p:spPr>
          <a:xfrm xmlns:a="http://schemas.openxmlformats.org/drawingml/2006/main">
            <a:off x="876300" y="2724150"/>
            <a:ext cx="4000500" cy="1638300"/>
          </a:xfrm>
          <a:prstGeom xmlns:a="http://schemas.openxmlformats.org/drawingml/2006/main" prst="roundRect">
            <a:avLst>
              <a:gd name="adj" fmla="val 4651"/>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7997A963-2EE4-4209-A1C1-E8D785DE6CAB}"/>
              </a:ext>
            </a:extLst>
          </p:cNvPr>
          <p:cNvSpPr>
            <a:spLocks xmlns:a="http://schemas.openxmlformats.org/drawingml/2006/main" noGrp="1"/>
          </p:cNvSpPr>
          <p:nvPr/>
        </p:nvSpPr>
        <p:spPr>
          <a:xfrm xmlns:a="http://schemas.openxmlformats.org/drawingml/2006/main">
            <a:off x="1123950" y="3105150"/>
            <a:ext cx="35052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0E3B43"/>
                </a:solidFill>
                <a:latin typeface="Aptos Display"/>
                <a:ea typeface="Aptos Display"/>
                <a:cs typeface="Aptos Display"/>
              </a:defRPr>
            </a:pPr>
            <a:r>
              <a:rPr sz="2550" b="1">
                <a:solidFill>
                  <a:srgbClr val="0E3B43"/>
                </a:solidFill>
                <a:latin typeface="Aptos Display"/>
                <a:ea typeface="Aptos Display"/>
                <a:cs typeface="Aptos Display"/>
              </a:rPr>
              <a:t>Specific beats vague.</a:t>
            </a:r>
          </a:p>
        </p:txBody>
      </p:sp>
      <p:sp>
        <p:nvSpPr>
          <p:cNvPr id="10" name="">
            <a:extLst xmlns:a="http://schemas.openxmlformats.org/drawingml/2006/main">
              <a:ext uri="{FF2B5EF4-FFF2-40B4-BE49-F238E27FC236}">
                <a16:creationId xmlns:a16="http://schemas.microsoft.com/office/drawing/2014/main" id="{1F49B752-8A98-4BF8-ACBF-E6C26F79BBB1}"/>
              </a:ext>
            </a:extLst>
          </p:cNvPr>
          <p:cNvSpPr>
            <a:spLocks xmlns:a="http://schemas.openxmlformats.org/drawingml/2006/main" noGrp="1"/>
          </p:cNvSpPr>
          <p:nvPr/>
        </p:nvSpPr>
        <p:spPr>
          <a:xfrm xmlns:a="http://schemas.openxmlformats.org/drawingml/2006/main">
            <a:off x="5391150" y="2571750"/>
            <a:ext cx="5638800" cy="3143250"/>
          </a:xfrm>
          <a:prstGeom xmlns:a="http://schemas.openxmlformats.org/drawingml/2006/main" prst="roundRect">
            <a:avLst>
              <a:gd name="adj" fmla="val 2424"/>
            </a:avLst>
          </a:prstGeom>
          <a:solidFill xmlns:a="http://schemas.openxmlformats.org/drawingml/2006/main">
            <a:srgbClr val="F0DFBF"/>
          </a:solidFill>
          <a:ln xmlns:a="http://schemas.openxmlformats.org/drawingml/2006/main" w="11906">
            <a:solidFill>
              <a:srgbClr val="D9C9A8"/>
            </a:solidFill>
            <a:prstDash val="solid"/>
          </a:ln>
        </p:spPr>
      </p:sp>
      <p:sp>
        <p:nvSpPr>
          <p:cNvPr id="11" name="">
            <a:extLst xmlns:a="http://schemas.openxmlformats.org/drawingml/2006/main">
              <a:ext uri="{FF2B5EF4-FFF2-40B4-BE49-F238E27FC236}">
                <a16:creationId xmlns:a16="http://schemas.microsoft.com/office/drawing/2014/main" id="{55414471-B8F7-4F70-BA3F-51D31EB07B4F}"/>
              </a:ext>
            </a:extLst>
          </p:cNvPr>
          <p:cNvSpPr>
            <a:spLocks xmlns:a="http://schemas.openxmlformats.org/drawingml/2006/main" noGrp="1"/>
          </p:cNvSpPr>
          <p:nvPr/>
        </p:nvSpPr>
        <p:spPr>
          <a:xfrm xmlns:a="http://schemas.openxmlformats.org/drawingml/2006/main">
            <a:off x="5619750" y="2781300"/>
            <a:ext cx="5181600" cy="2724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I can explain access control with examples</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I can document dataset fields and limits</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I can read simple security metrics</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I can separate facts from assumptions</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I can write a realistic recommendation</a:t>
            </a:r>
          </a:p>
        </p:txBody>
      </p:sp>
    </p:spTree>
    <p:extLst>
      <p:ext uri="{BB962C8B-B14F-4D97-AF65-F5344CB8AC3E}">
        <p14:creationId xmlns:p14="http://schemas.microsoft.com/office/powerpoint/2010/main" val="179176262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D715B1-CE8C-4F94-B303-9CF8423020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6DE122-ED3B-4C0C-8AFE-A3AB4775F141}"/>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02B98C34-41EB-4C73-B2E7-C5C482718646}"/>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DB1A146-B167-4C08-96A3-8AA295D1A969}"/>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51830566-A647-4114-9A41-F6385E00E210}"/>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15/20</a:t>
            </a:r>
          </a:p>
        </p:txBody>
      </p:sp>
      <p:sp>
        <p:nvSpPr>
          <p:cNvPr id="6" name="">
            <a:extLst xmlns:a="http://schemas.openxmlformats.org/drawingml/2006/main">
              <a:ext uri="{FF2B5EF4-FFF2-40B4-BE49-F238E27FC236}">
                <a16:creationId xmlns:a16="http://schemas.microsoft.com/office/drawing/2014/main" id="{1E241DB1-677B-42CD-982C-7254F03B692D}"/>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INTERVIEW FORMULA</a:t>
            </a:r>
          </a:p>
        </p:txBody>
      </p:sp>
      <p:sp>
        <p:nvSpPr>
          <p:cNvPr id="7" name="">
            <a:extLst xmlns:a="http://schemas.openxmlformats.org/drawingml/2006/main">
              <a:ext uri="{FF2B5EF4-FFF2-40B4-BE49-F238E27FC236}">
                <a16:creationId xmlns:a16="http://schemas.microsoft.com/office/drawing/2014/main" id="{C78AB675-A917-4BAE-99B6-6EDD084DC7D6}"/>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Use concept, evidence, workplace value, and limit</a:t>
            </a:r>
          </a:p>
        </p:txBody>
      </p:sp>
      <p:sp>
        <p:nvSpPr>
          <p:cNvPr id="8" name="">
            <a:extLst xmlns:a="http://schemas.openxmlformats.org/drawingml/2006/main">
              <a:ext uri="{FF2B5EF4-FFF2-40B4-BE49-F238E27FC236}">
                <a16:creationId xmlns:a16="http://schemas.microsoft.com/office/drawing/2014/main" id="{CDD8F572-3662-4B5C-8684-DBEEAE0AD138}"/>
              </a:ext>
            </a:extLst>
          </p:cNvPr>
          <p:cNvSpPr>
            <a:spLocks xmlns:a="http://schemas.openxmlformats.org/drawingml/2006/main" noGrp="1"/>
          </p:cNvSpPr>
          <p:nvPr/>
        </p:nvSpPr>
        <p:spPr>
          <a:xfrm xmlns:a="http://schemas.openxmlformats.org/drawingml/2006/main">
            <a:off x="1047750" y="2552700"/>
            <a:ext cx="571500" cy="457200"/>
          </a:xfrm>
          <a:prstGeom xmlns:a="http://schemas.openxmlformats.org/drawingml/2006/main" prst="roundRect">
            <a:avLst>
              <a:gd name="adj" fmla="val 16667"/>
            </a:avLst>
          </a:prstGeom>
          <a:solidFill xmlns:a="http://schemas.openxmlformats.org/drawingml/2006/main">
            <a:srgbClr val="1F8A8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42E42CB-F564-4BF2-AD3B-697ED11323A5}"/>
              </a:ext>
            </a:extLst>
          </p:cNvPr>
          <p:cNvSpPr>
            <a:spLocks xmlns:a="http://schemas.openxmlformats.org/drawingml/2006/main" noGrp="1"/>
          </p:cNvSpPr>
          <p:nvPr/>
        </p:nvSpPr>
        <p:spPr>
          <a:xfrm xmlns:a="http://schemas.openxmlformats.org/drawingml/2006/main">
            <a:off x="1181100" y="2619375"/>
            <a:ext cx="30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76200" rIns="19050" bIns="7620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6379DB74-D467-471C-8FC4-4CBEADB5227F}"/>
              </a:ext>
            </a:extLst>
          </p:cNvPr>
          <p:cNvSpPr>
            <a:spLocks xmlns:a="http://schemas.openxmlformats.org/drawingml/2006/main" noGrp="1"/>
          </p:cNvSpPr>
          <p:nvPr/>
        </p:nvSpPr>
        <p:spPr>
          <a:xfrm xmlns:a="http://schemas.openxmlformats.org/drawingml/2006/main">
            <a:off x="1885950" y="2533650"/>
            <a:ext cx="8096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025" b="0">
                <a:solidFill>
                  <a:srgbClr val="14212B"/>
                </a:solidFill>
                <a:latin typeface="Aptos"/>
                <a:ea typeface="Aptos"/>
                <a:cs typeface="Aptos"/>
              </a:defRPr>
            </a:pPr>
            <a:r>
              <a:rPr sz="2025" b="0">
                <a:solidFill>
                  <a:srgbClr val="14212B"/>
                </a:solidFill>
                <a:latin typeface="Aptos"/>
                <a:ea typeface="Aptos"/>
                <a:cs typeface="Aptos"/>
              </a:rPr>
              <a:t>Concept: name the idea</a:t>
            </a:r>
          </a:p>
        </p:txBody>
      </p:sp>
      <p:sp>
        <p:nvSpPr>
          <p:cNvPr id="11" name="">
            <a:extLst xmlns:a="http://schemas.openxmlformats.org/drawingml/2006/main">
              <a:ext uri="{FF2B5EF4-FFF2-40B4-BE49-F238E27FC236}">
                <a16:creationId xmlns:a16="http://schemas.microsoft.com/office/drawing/2014/main" id="{B2C8786F-9A50-46B8-AD0C-2F55EC1A5A6E}"/>
              </a:ext>
            </a:extLst>
          </p:cNvPr>
          <p:cNvSpPr>
            <a:spLocks xmlns:a="http://schemas.openxmlformats.org/drawingml/2006/main" noGrp="1"/>
          </p:cNvSpPr>
          <p:nvPr/>
        </p:nvSpPr>
        <p:spPr>
          <a:xfrm xmlns:a="http://schemas.openxmlformats.org/drawingml/2006/main">
            <a:off x="1047750" y="3295650"/>
            <a:ext cx="571500" cy="457200"/>
          </a:xfrm>
          <a:prstGeom xmlns:a="http://schemas.openxmlformats.org/drawingml/2006/main" prst="roundRect">
            <a:avLst>
              <a:gd name="adj" fmla="val 16667"/>
            </a:avLst>
          </a:prstGeom>
          <a:solidFill xmlns:a="http://schemas.openxmlformats.org/drawingml/2006/main">
            <a:srgbClr val="E0842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32878D6-0980-4473-8ED8-03B5A202CD52}"/>
              </a:ext>
            </a:extLst>
          </p:cNvPr>
          <p:cNvSpPr>
            <a:spLocks xmlns:a="http://schemas.openxmlformats.org/drawingml/2006/main" noGrp="1"/>
          </p:cNvSpPr>
          <p:nvPr/>
        </p:nvSpPr>
        <p:spPr>
          <a:xfrm xmlns:a="http://schemas.openxmlformats.org/drawingml/2006/main">
            <a:off x="1181100" y="3362325"/>
            <a:ext cx="30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76200" rIns="19050" bIns="7620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31F3F092-D3C7-4F07-BFDD-37AFC4D25C85}"/>
              </a:ext>
            </a:extLst>
          </p:cNvPr>
          <p:cNvSpPr>
            <a:spLocks xmlns:a="http://schemas.openxmlformats.org/drawingml/2006/main" noGrp="1"/>
          </p:cNvSpPr>
          <p:nvPr/>
        </p:nvSpPr>
        <p:spPr>
          <a:xfrm xmlns:a="http://schemas.openxmlformats.org/drawingml/2006/main">
            <a:off x="1885950" y="3276600"/>
            <a:ext cx="8096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025" b="0">
                <a:solidFill>
                  <a:srgbClr val="14212B"/>
                </a:solidFill>
                <a:latin typeface="Aptos"/>
                <a:ea typeface="Aptos"/>
                <a:cs typeface="Aptos"/>
              </a:defRPr>
            </a:pPr>
            <a:r>
              <a:rPr sz="2025" b="0">
                <a:solidFill>
                  <a:srgbClr val="14212B"/>
                </a:solidFill>
                <a:latin typeface="Aptos"/>
                <a:ea typeface="Aptos"/>
                <a:cs typeface="Aptos"/>
              </a:rPr>
              <a:t>Evidence: name the lab, dataset, source, or project</a:t>
            </a:r>
          </a:p>
        </p:txBody>
      </p:sp>
      <p:sp>
        <p:nvSpPr>
          <p:cNvPr id="14" name="">
            <a:extLst xmlns:a="http://schemas.openxmlformats.org/drawingml/2006/main">
              <a:ext uri="{FF2B5EF4-FFF2-40B4-BE49-F238E27FC236}">
                <a16:creationId xmlns:a16="http://schemas.microsoft.com/office/drawing/2014/main" id="{59AEFE7F-F94F-4D4A-A024-431BD3EFAE24}"/>
              </a:ext>
            </a:extLst>
          </p:cNvPr>
          <p:cNvSpPr>
            <a:spLocks xmlns:a="http://schemas.openxmlformats.org/drawingml/2006/main" noGrp="1"/>
          </p:cNvSpPr>
          <p:nvPr/>
        </p:nvSpPr>
        <p:spPr>
          <a:xfrm xmlns:a="http://schemas.openxmlformats.org/drawingml/2006/main">
            <a:off x="1047750" y="4038600"/>
            <a:ext cx="571500" cy="457200"/>
          </a:xfrm>
          <a:prstGeom xmlns:a="http://schemas.openxmlformats.org/drawingml/2006/main" prst="roundRect">
            <a:avLst>
              <a:gd name="adj" fmla="val 16667"/>
            </a:avLst>
          </a:prstGeom>
          <a:solidFill xmlns:a="http://schemas.openxmlformats.org/drawingml/2006/main">
            <a:srgbClr val="6C9A3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C6D91E9-38CA-4CD7-99E7-987DA3D9352D}"/>
              </a:ext>
            </a:extLst>
          </p:cNvPr>
          <p:cNvSpPr>
            <a:spLocks xmlns:a="http://schemas.openxmlformats.org/drawingml/2006/main" noGrp="1"/>
          </p:cNvSpPr>
          <p:nvPr/>
        </p:nvSpPr>
        <p:spPr>
          <a:xfrm xmlns:a="http://schemas.openxmlformats.org/drawingml/2006/main">
            <a:off x="1181100" y="4105275"/>
            <a:ext cx="30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76200" rIns="19050" bIns="7620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0DD93674-7460-41E1-AB86-C51EACAC8763}"/>
              </a:ext>
            </a:extLst>
          </p:cNvPr>
          <p:cNvSpPr>
            <a:spLocks xmlns:a="http://schemas.openxmlformats.org/drawingml/2006/main" noGrp="1"/>
          </p:cNvSpPr>
          <p:nvPr/>
        </p:nvSpPr>
        <p:spPr>
          <a:xfrm xmlns:a="http://schemas.openxmlformats.org/drawingml/2006/main">
            <a:off x="1885950" y="4019550"/>
            <a:ext cx="8096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025" b="0">
                <a:solidFill>
                  <a:srgbClr val="14212B"/>
                </a:solidFill>
                <a:latin typeface="Aptos"/>
                <a:ea typeface="Aptos"/>
                <a:cs typeface="Aptos"/>
              </a:defRPr>
            </a:pPr>
            <a:r>
              <a:rPr sz="2025" b="0">
                <a:solidFill>
                  <a:srgbClr val="14212B"/>
                </a:solidFill>
                <a:latin typeface="Aptos"/>
                <a:ea typeface="Aptos"/>
                <a:cs typeface="Aptos"/>
              </a:rPr>
              <a:t>Value: explain why it matters at work</a:t>
            </a:r>
          </a:p>
        </p:txBody>
      </p:sp>
      <p:sp>
        <p:nvSpPr>
          <p:cNvPr id="17" name="">
            <a:extLst xmlns:a="http://schemas.openxmlformats.org/drawingml/2006/main">
              <a:ext uri="{FF2B5EF4-FFF2-40B4-BE49-F238E27FC236}">
                <a16:creationId xmlns:a16="http://schemas.microsoft.com/office/drawing/2014/main" id="{F9371CF7-3734-4500-A2E6-341521A91B3F}"/>
              </a:ext>
            </a:extLst>
          </p:cNvPr>
          <p:cNvSpPr>
            <a:spLocks xmlns:a="http://schemas.openxmlformats.org/drawingml/2006/main" noGrp="1"/>
          </p:cNvSpPr>
          <p:nvPr/>
        </p:nvSpPr>
        <p:spPr>
          <a:xfrm xmlns:a="http://schemas.openxmlformats.org/drawingml/2006/main">
            <a:off x="1047750" y="4781550"/>
            <a:ext cx="571500" cy="457200"/>
          </a:xfrm>
          <a:prstGeom xmlns:a="http://schemas.openxmlformats.org/drawingml/2006/main" prst="roundRect">
            <a:avLst>
              <a:gd name="adj" fmla="val 16667"/>
            </a:avLst>
          </a:prstGeom>
          <a:solidFill xmlns:a="http://schemas.openxmlformats.org/drawingml/2006/main">
            <a:srgbClr val="C7443E"/>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CBA2D7A-4845-490A-AA9D-36B037079087}"/>
              </a:ext>
            </a:extLst>
          </p:cNvPr>
          <p:cNvSpPr>
            <a:spLocks xmlns:a="http://schemas.openxmlformats.org/drawingml/2006/main" noGrp="1"/>
          </p:cNvSpPr>
          <p:nvPr/>
        </p:nvSpPr>
        <p:spPr>
          <a:xfrm xmlns:a="http://schemas.openxmlformats.org/drawingml/2006/main">
            <a:off x="1181100" y="4848225"/>
            <a:ext cx="30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76200" rIns="19050" bIns="7620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8DC73266-944B-4AFE-989D-C2ECD5C7304A}"/>
              </a:ext>
            </a:extLst>
          </p:cNvPr>
          <p:cNvSpPr>
            <a:spLocks xmlns:a="http://schemas.openxmlformats.org/drawingml/2006/main" noGrp="1"/>
          </p:cNvSpPr>
          <p:nvPr/>
        </p:nvSpPr>
        <p:spPr>
          <a:xfrm xmlns:a="http://schemas.openxmlformats.org/drawingml/2006/main">
            <a:off x="1885950" y="4762500"/>
            <a:ext cx="8096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025" b="0">
                <a:solidFill>
                  <a:srgbClr val="14212B"/>
                </a:solidFill>
                <a:latin typeface="Aptos"/>
                <a:ea typeface="Aptos"/>
                <a:cs typeface="Aptos"/>
              </a:defRPr>
            </a:pPr>
            <a:r>
              <a:rPr sz="2025" b="0">
                <a:solidFill>
                  <a:srgbClr val="14212B"/>
                </a:solidFill>
                <a:latin typeface="Aptos"/>
                <a:ea typeface="Aptos"/>
                <a:cs typeface="Aptos"/>
              </a:rPr>
              <a:t>Limit: say what you would check before a stronger claim</a:t>
            </a:r>
          </a:p>
        </p:txBody>
      </p:sp>
    </p:spTree>
    <p:extLst>
      <p:ext uri="{BB962C8B-B14F-4D97-AF65-F5344CB8AC3E}">
        <p14:creationId xmlns:p14="http://schemas.microsoft.com/office/powerpoint/2010/main" val="187223657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6445D0-432E-46DB-A14A-FB50AB552E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922CDD3-0DCC-41EC-BC18-90D2B1A4D73C}"/>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4A15AB7B-3CB6-4746-A113-98E495A883C2}"/>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8DF9A3E-7B18-4B96-AE89-EF08BBA40BFB}"/>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9E03E796-217C-4F34-9F06-75FB887E7228}"/>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16/20</a:t>
            </a:r>
          </a:p>
        </p:txBody>
      </p:sp>
      <p:sp>
        <p:nvSpPr>
          <p:cNvPr id="6" name="">
            <a:extLst xmlns:a="http://schemas.openxmlformats.org/drawingml/2006/main">
              <a:ext uri="{FF2B5EF4-FFF2-40B4-BE49-F238E27FC236}">
                <a16:creationId xmlns:a16="http://schemas.microsoft.com/office/drawing/2014/main" id="{3A2D35A6-387B-40DD-9027-709C0906E81F}"/>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GITHUB PORTFOLIO</a:t>
            </a:r>
          </a:p>
        </p:txBody>
      </p:sp>
      <p:sp>
        <p:nvSpPr>
          <p:cNvPr id="7" name="">
            <a:extLst xmlns:a="http://schemas.openxmlformats.org/drawingml/2006/main">
              <a:ext uri="{FF2B5EF4-FFF2-40B4-BE49-F238E27FC236}">
                <a16:creationId xmlns:a16="http://schemas.microsoft.com/office/drawing/2014/main" id="{C5618E07-E2EC-4204-9F69-37D71E0E657E}"/>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A small clear artifact is better than a big confusing one</a:t>
            </a:r>
          </a:p>
        </p:txBody>
      </p:sp>
      <p:sp>
        <p:nvSpPr>
          <p:cNvPr id="8" name="">
            <a:extLst xmlns:a="http://schemas.openxmlformats.org/drawingml/2006/main">
              <a:ext uri="{FF2B5EF4-FFF2-40B4-BE49-F238E27FC236}">
                <a16:creationId xmlns:a16="http://schemas.microsoft.com/office/drawing/2014/main" id="{3502EDC1-BD8E-499B-911E-69D97C5394C0}"/>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FAFA88F7-5E9E-4AB7-A90A-D1B0607C1AE7}"/>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One concept from the course</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Beginner-friendly explanation</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Simple example or code snippet</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Privacy or ethics note</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Workplace/interview sentence</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Limitation section</a:t>
            </a:r>
          </a:p>
        </p:txBody>
      </p:sp>
    </p:spTree>
    <p:extLst>
      <p:ext uri="{BB962C8B-B14F-4D97-AF65-F5344CB8AC3E}">
        <p14:creationId xmlns:p14="http://schemas.microsoft.com/office/powerpoint/2010/main" val="119753707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95799F-3D1C-4286-8BF8-C598417F6F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13B2FAD-5237-4E49-8A3F-938DD888B9EC}"/>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25127592-5726-4A0B-A349-5DD8B25138D8}"/>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E18B810-12AD-4EAE-801F-CB650541FAB4}"/>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E83CCA87-5FF6-4B5E-8AF0-811536E90166}"/>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17/20</a:t>
            </a:r>
          </a:p>
        </p:txBody>
      </p:sp>
      <p:sp>
        <p:nvSpPr>
          <p:cNvPr id="6" name="">
            <a:extLst xmlns:a="http://schemas.openxmlformats.org/drawingml/2006/main">
              <a:ext uri="{FF2B5EF4-FFF2-40B4-BE49-F238E27FC236}">
                <a16:creationId xmlns:a16="http://schemas.microsoft.com/office/drawing/2014/main" id="{7CF3662F-D035-450C-A558-1A13C7DD343A}"/>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NOTEBOOK 1</a:t>
            </a:r>
          </a:p>
        </p:txBody>
      </p:sp>
      <p:sp>
        <p:nvSpPr>
          <p:cNvPr id="7" name="">
            <a:extLst xmlns:a="http://schemas.openxmlformats.org/drawingml/2006/main">
              <a:ext uri="{FF2B5EF4-FFF2-40B4-BE49-F238E27FC236}">
                <a16:creationId xmlns:a16="http://schemas.microsoft.com/office/drawing/2014/main" id="{2CE23972-0139-4396-83A1-64A3431F3324}"/>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The course review notebook maps concepts to language</a:t>
            </a:r>
          </a:p>
        </p:txBody>
      </p:sp>
      <p:sp>
        <p:nvSpPr>
          <p:cNvPr id="8" name="">
            <a:extLst xmlns:a="http://schemas.openxmlformats.org/drawingml/2006/main">
              <a:ext uri="{FF2B5EF4-FFF2-40B4-BE49-F238E27FC236}">
                <a16:creationId xmlns:a16="http://schemas.microsoft.com/office/drawing/2014/main" id="{C88FCAEA-6203-46D8-A27A-A7A750180127}"/>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68564A32-A682-4596-9AFA-21D19A014E64}"/>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Review major course concepts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Search by keyword</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Print a concept card</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Generate resume bullet starters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Export a small planning CSV</a:t>
            </a:r>
          </a:p>
        </p:txBody>
      </p:sp>
    </p:spTree>
    <p:extLst>
      <p:ext uri="{BB962C8B-B14F-4D97-AF65-F5344CB8AC3E}">
        <p14:creationId xmlns:p14="http://schemas.microsoft.com/office/powerpoint/2010/main" val="17043305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391D5D-C07A-4690-8BBB-5C7C3CF78A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87A5128-0A52-445B-8BAE-5628CA6DF211}"/>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3DBF054A-7E09-4771-B830-58486BA63991}"/>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31D6163-33FB-473C-B2C9-C98F99D63346}"/>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348E4552-A167-461B-BD6A-43207BD2DB91}"/>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18/20</a:t>
            </a:r>
          </a:p>
        </p:txBody>
      </p:sp>
      <p:sp>
        <p:nvSpPr>
          <p:cNvPr id="6" name="">
            <a:extLst xmlns:a="http://schemas.openxmlformats.org/drawingml/2006/main">
              <a:ext uri="{FF2B5EF4-FFF2-40B4-BE49-F238E27FC236}">
                <a16:creationId xmlns:a16="http://schemas.microsoft.com/office/drawing/2014/main" id="{69979869-9A8E-47FC-AB76-77FD2EEB203D}"/>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NOTEBOOK 2</a:t>
            </a:r>
          </a:p>
        </p:txBody>
      </p:sp>
      <p:sp>
        <p:nvSpPr>
          <p:cNvPr id="7" name="">
            <a:extLst xmlns:a="http://schemas.openxmlformats.org/drawingml/2006/main">
              <a:ext uri="{FF2B5EF4-FFF2-40B4-BE49-F238E27FC236}">
                <a16:creationId xmlns:a16="http://schemas.microsoft.com/office/drawing/2014/main" id="{A07CAB0E-A411-471E-9EE8-E712329F4891}"/>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The GitHub starter notebook generates a README draft</a:t>
            </a:r>
          </a:p>
        </p:txBody>
      </p:sp>
      <p:sp>
        <p:nvSpPr>
          <p:cNvPr id="8" name="">
            <a:extLst xmlns:a="http://schemas.openxmlformats.org/drawingml/2006/main">
              <a:ext uri="{FF2B5EF4-FFF2-40B4-BE49-F238E27FC236}">
                <a16:creationId xmlns:a16="http://schemas.microsoft.com/office/drawing/2014/main" id="{6EABD73C-70A5-4C1B-8038-69E50792CD23}"/>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55B04BC9-050F-4977-9805-C9BD30EEECC4}"/>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Students edit concept fields</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Run a tiny optional code example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Generate Markdown text</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Save a README file</a:t>
            </a:r>
          </a:p>
          <a:p xmlns:a="http://schemas.openxmlformats.org/drawingml/2006/main">
            <a:pPr algn="l">
              <a:defRPr sz="1875" b="0">
                <a:solidFill>
                  <a:srgbClr val="14212B"/>
                </a:solidFill>
                <a:latin typeface="Aptos"/>
                <a:ea typeface="Aptos"/>
                <a:cs typeface="Aptos"/>
              </a:defRPr>
            </a:pPr>
            <a:r>
              <a:rPr sz="1875" b="0">
                <a:solidFill>
                  <a:srgbClr val="14212B"/>
                </a:solidFill>
                <a:latin typeface="Aptos"/>
                <a:ea typeface="Aptos"/>
                <a:cs typeface="Aptos"/>
              </a:rPr>
              <a:t>- Upload or revise for GitHub</a:t>
            </a:r>
          </a:p>
        </p:txBody>
      </p:sp>
    </p:spTree>
    <p:extLst>
      <p:ext uri="{BB962C8B-B14F-4D97-AF65-F5344CB8AC3E}">
        <p14:creationId xmlns:p14="http://schemas.microsoft.com/office/powerpoint/2010/main" val="67101415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80E509-CD9D-495B-880D-AE9A52D675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E5FCC0D-641F-4B31-AF0B-4A9AFACE0874}"/>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F0316354-D418-4DDB-96BE-8B70D6FBC5C1}"/>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9CD46E2-13D2-484B-AD6D-245613DF702B}"/>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DCBC2A4C-CD33-4143-8F1B-37B9826CFEC8}"/>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19/20</a:t>
            </a:r>
          </a:p>
        </p:txBody>
      </p:sp>
      <p:sp>
        <p:nvSpPr>
          <p:cNvPr id="6" name="">
            <a:extLst xmlns:a="http://schemas.openxmlformats.org/drawingml/2006/main">
              <a:ext uri="{FF2B5EF4-FFF2-40B4-BE49-F238E27FC236}">
                <a16:creationId xmlns:a16="http://schemas.microsoft.com/office/drawing/2014/main" id="{AF8819A5-9EAB-4C10-A6BD-C3DBCD4E8163}"/>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FINAL LAB</a:t>
            </a:r>
          </a:p>
        </p:txBody>
      </p:sp>
      <p:sp>
        <p:nvSpPr>
          <p:cNvPr id="7" name="">
            <a:extLst xmlns:a="http://schemas.openxmlformats.org/drawingml/2006/main">
              <a:ext uri="{FF2B5EF4-FFF2-40B4-BE49-F238E27FC236}">
                <a16:creationId xmlns:a16="http://schemas.microsoft.com/office/drawing/2014/main" id="{CDB4585A-1A7C-4560-90F1-AD5411ECC491}"/>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Create one GitHub artifact that teaches one concept</a:t>
            </a:r>
          </a:p>
        </p:txBody>
      </p:sp>
      <p:sp>
        <p:nvSpPr>
          <p:cNvPr id="8" name="">
            <a:extLst xmlns:a="http://schemas.openxmlformats.org/drawingml/2006/main">
              <a:ext uri="{FF2B5EF4-FFF2-40B4-BE49-F238E27FC236}">
                <a16:creationId xmlns:a16="http://schemas.microsoft.com/office/drawing/2014/main" id="{02FB9AD0-8BB4-45EC-ADBF-E34059E98A20}"/>
              </a:ext>
            </a:extLst>
          </p:cNvPr>
          <p:cNvSpPr>
            <a:spLocks xmlns:a="http://schemas.openxmlformats.org/drawingml/2006/main" noGrp="1"/>
          </p:cNvSpPr>
          <p:nvPr/>
        </p:nvSpPr>
        <p:spPr>
          <a:xfrm xmlns:a="http://schemas.openxmlformats.org/drawingml/2006/main">
            <a:off x="1047750" y="2524125"/>
            <a:ext cx="9810750" cy="3333750"/>
          </a:xfrm>
          <a:prstGeom xmlns:a="http://schemas.openxmlformats.org/drawingml/2006/main" prst="roundRect">
            <a:avLst>
              <a:gd name="adj" fmla="val 2286"/>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EC10C78E-FBCA-40A0-9A30-FD8385E83CD5}"/>
              </a:ext>
            </a:extLst>
          </p:cNvPr>
          <p:cNvSpPr>
            <a:spLocks xmlns:a="http://schemas.openxmlformats.org/drawingml/2006/main" noGrp="1"/>
          </p:cNvSpPr>
          <p:nvPr/>
        </p:nvSpPr>
        <p:spPr>
          <a:xfrm xmlns:a="http://schemas.openxmlformats.org/drawingml/2006/main">
            <a:off x="1276350" y="2733675"/>
            <a:ext cx="9353550" cy="2914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Choose a concept</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Create a README or notebook</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Explain why the concept matters</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Add an example, table, checklist, or code</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Write one interview sentence</a:t>
            </a:r>
          </a:p>
          <a:p xmlns:a="http://schemas.openxmlformats.org/drawingml/2006/main">
            <a:pPr algn="l">
              <a:defRPr sz="1725" b="0">
                <a:solidFill>
                  <a:srgbClr val="14212B"/>
                </a:solidFill>
                <a:latin typeface="Aptos"/>
                <a:ea typeface="Aptos"/>
                <a:cs typeface="Aptos"/>
              </a:defRPr>
            </a:pPr>
            <a:r>
              <a:rPr sz="1725" b="0">
                <a:solidFill>
                  <a:srgbClr val="14212B"/>
                </a:solidFill>
                <a:latin typeface="Aptos"/>
                <a:ea typeface="Aptos"/>
                <a:cs typeface="Aptos"/>
              </a:rPr>
              <a:t>- Submit a link or draft by the end of class</a:t>
            </a:r>
          </a:p>
        </p:txBody>
      </p:sp>
    </p:spTree>
    <p:extLst>
      <p:ext uri="{BB962C8B-B14F-4D97-AF65-F5344CB8AC3E}">
        <p14:creationId xmlns:p14="http://schemas.microsoft.com/office/powerpoint/2010/main" val="13966990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1C0CB4-3514-41F3-9BAC-26FAE039DA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DD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FE4D063-EB9B-4617-92BC-F375AF86E442}"/>
              </a:ext>
            </a:extLst>
          </p:cNvPr>
          <p:cNvSpPr>
            <a:spLocks xmlns:a="http://schemas.openxmlformats.org/drawingml/2006/main" noGrp="1"/>
          </p:cNvSpPr>
          <p:nvPr/>
        </p:nvSpPr>
        <p:spPr>
          <a:xfrm xmlns:a="http://schemas.openxmlformats.org/drawingml/2006/main">
            <a:off x="266700" y="238125"/>
            <a:ext cx="11658600" cy="6381750"/>
          </a:xfrm>
          <a:prstGeom xmlns:a="http://schemas.openxmlformats.org/drawingml/2006/main" prst="roundRect">
            <a:avLst>
              <a:gd name="adj" fmla="val 1194"/>
            </a:avLst>
          </a:prstGeom>
          <a:solidFill xmlns:a="http://schemas.openxmlformats.org/drawingml/2006/main">
            <a:srgbClr val="FFF9EC"/>
          </a:solidFill>
          <a:ln xmlns:a="http://schemas.openxmlformats.org/drawingml/2006/main" w="11906">
            <a:solidFill>
              <a:srgbClr val="D9C9A8"/>
            </a:solidFill>
            <a:prstDash val="solid"/>
          </a:ln>
        </p:spPr>
      </p:sp>
      <p:sp>
        <p:nvSpPr>
          <p:cNvPr id="3" name="">
            <a:extLst xmlns:a="http://schemas.openxmlformats.org/drawingml/2006/main">
              <a:ext uri="{FF2B5EF4-FFF2-40B4-BE49-F238E27FC236}">
                <a16:creationId xmlns:a16="http://schemas.microsoft.com/office/drawing/2014/main" id="{2CB18D20-9A55-450D-A7EC-B0A28F0E34BE}"/>
              </a:ext>
            </a:extLst>
          </p:cNvPr>
          <p:cNvSpPr>
            <a:spLocks xmlns:a="http://schemas.openxmlformats.org/drawingml/2006/main" noGrp="1"/>
          </p:cNvSpPr>
          <p:nvPr/>
        </p:nvSpPr>
        <p:spPr>
          <a:xfrm xmlns:a="http://schemas.openxmlformats.org/drawingml/2006/main">
            <a:off x="266700" y="238125"/>
            <a:ext cx="11658600" cy="152400"/>
          </a:xfrm>
          <a:prstGeom xmlns:a="http://schemas.openxmlformats.org/drawingml/2006/main" prst="rect">
            <a:avLst/>
          </a:prstGeom>
          <a:solidFill xmlns:a="http://schemas.openxmlformats.org/drawingml/2006/main">
            <a:srgbClr val="0E3B4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A005C6C-DC2A-41AC-9F4B-044EFECB0792}"/>
              </a:ext>
            </a:extLst>
          </p:cNvPr>
          <p:cNvSpPr>
            <a:spLocks xmlns:a="http://schemas.openxmlformats.org/drawingml/2006/main" noGrp="1"/>
          </p:cNvSpPr>
          <p:nvPr/>
        </p:nvSpPr>
        <p:spPr>
          <a:xfrm xmlns:a="http://schemas.openxmlformats.org/drawingml/2006/main">
            <a:off x="590550" y="476250"/>
            <a:ext cx="495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l">
              <a:defRPr sz="1050" b="1">
                <a:solidFill>
                  <a:srgbClr val="1F8A8A"/>
                </a:solidFill>
                <a:latin typeface="Aptos"/>
                <a:ea typeface="Aptos"/>
                <a:cs typeface="Aptos"/>
              </a:defRPr>
            </a:pPr>
            <a:r>
              <a:rPr sz="1050" b="1">
                <a:solidFill>
                  <a:srgbClr val="1F8A8A"/>
                </a:solidFill>
                <a:latin typeface="Aptos"/>
                <a:ea typeface="Aptos"/>
                <a:cs typeface="Aptos"/>
              </a:rPr>
              <a:t>CST 2412 • Last Class • May 19, 2026</a:t>
            </a:r>
          </a:p>
        </p:txBody>
      </p:sp>
      <p:sp>
        <p:nvSpPr>
          <p:cNvPr id="5" name="">
            <a:extLst xmlns:a="http://schemas.openxmlformats.org/drawingml/2006/main">
              <a:ext uri="{FF2B5EF4-FFF2-40B4-BE49-F238E27FC236}">
                <a16:creationId xmlns:a16="http://schemas.microsoft.com/office/drawing/2014/main" id="{879B2B04-EE37-456B-A2B0-FC0EBA25D2FB}"/>
              </a:ext>
            </a:extLst>
          </p:cNvPr>
          <p:cNvSpPr>
            <a:spLocks xmlns:a="http://schemas.openxmlformats.org/drawingml/2006/main" noGrp="1"/>
          </p:cNvSpPr>
          <p:nvPr/>
        </p:nvSpPr>
        <p:spPr>
          <a:xfrm xmlns:a="http://schemas.openxmlformats.org/drawingml/2006/main">
            <a:off x="10839450" y="476250"/>
            <a:ext cx="781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76200" rIns="0" bIns="76200" anchor="t"/>
          <a:lstStyle xmlns:a="http://schemas.openxmlformats.org/drawingml/2006/main"/>
          <a:p xmlns:a="http://schemas.openxmlformats.org/drawingml/2006/main">
            <a:pPr algn="r">
              <a:defRPr sz="1050" b="0">
                <a:solidFill>
                  <a:srgbClr val="5D6B73"/>
                </a:solidFill>
                <a:latin typeface="Aptos"/>
                <a:ea typeface="Aptos"/>
                <a:cs typeface="Aptos"/>
              </a:defRPr>
            </a:pPr>
            <a:r>
              <a:rPr sz="1050" b="0">
                <a:solidFill>
                  <a:srgbClr val="5D6B73"/>
                </a:solidFill>
                <a:latin typeface="Aptos"/>
                <a:ea typeface="Aptos"/>
                <a:cs typeface="Aptos"/>
              </a:rPr>
              <a:t>20/20</a:t>
            </a:r>
          </a:p>
        </p:txBody>
      </p:sp>
      <p:sp>
        <p:nvSpPr>
          <p:cNvPr id="6" name="">
            <a:extLst xmlns:a="http://schemas.openxmlformats.org/drawingml/2006/main">
              <a:ext uri="{FF2B5EF4-FFF2-40B4-BE49-F238E27FC236}">
                <a16:creationId xmlns:a16="http://schemas.microsoft.com/office/drawing/2014/main" id="{9A13E4D1-9E84-43BA-9C5B-803659293198}"/>
              </a:ext>
            </a:extLst>
          </p:cNvPr>
          <p:cNvSpPr>
            <a:spLocks xmlns:a="http://schemas.openxmlformats.org/drawingml/2006/main" noGrp="1"/>
          </p:cNvSpPr>
          <p:nvPr/>
        </p:nvSpPr>
        <p:spPr>
          <a:xfrm xmlns:a="http://schemas.openxmlformats.org/drawingml/2006/main">
            <a:off x="742950" y="876300"/>
            <a:ext cx="666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E0842F"/>
                </a:solidFill>
                <a:latin typeface="Aptos Display"/>
                <a:ea typeface="Aptos Display"/>
                <a:cs typeface="Aptos Display"/>
              </a:defRPr>
            </a:pPr>
            <a:r>
              <a:rPr sz="1350" b="1">
                <a:solidFill>
                  <a:srgbClr val="E0842F"/>
                </a:solidFill>
                <a:latin typeface="Aptos Display"/>
                <a:ea typeface="Aptos Display"/>
                <a:cs typeface="Aptos Display"/>
              </a:rPr>
              <a:t>EXIT AND FINAL PROJECT</a:t>
            </a:r>
          </a:p>
        </p:txBody>
      </p:sp>
      <p:sp>
        <p:nvSpPr>
          <p:cNvPr id="7" name="">
            <a:extLst xmlns:a="http://schemas.openxmlformats.org/drawingml/2006/main">
              <a:ext uri="{FF2B5EF4-FFF2-40B4-BE49-F238E27FC236}">
                <a16:creationId xmlns:a16="http://schemas.microsoft.com/office/drawing/2014/main" id="{945BBB81-D15C-4257-BA85-AD4004375D9F}"/>
              </a:ext>
            </a:extLst>
          </p:cNvPr>
          <p:cNvSpPr>
            <a:spLocks xmlns:a="http://schemas.openxmlformats.org/drawingml/2006/main" noGrp="1"/>
          </p:cNvSpPr>
          <p:nvPr/>
        </p:nvSpPr>
        <p:spPr>
          <a:xfrm xmlns:a="http://schemas.openxmlformats.org/drawingml/2006/main">
            <a:off x="742950" y="1257300"/>
            <a:ext cx="9906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14212B"/>
                </a:solidFill>
                <a:latin typeface="Aptos Display"/>
                <a:ea typeface="Aptos Display"/>
                <a:cs typeface="Aptos Display"/>
              </a:defRPr>
            </a:pPr>
            <a:r>
              <a:rPr sz="3150" b="1">
                <a:solidFill>
                  <a:srgbClr val="14212B"/>
                </a:solidFill>
                <a:latin typeface="Aptos Display"/>
                <a:ea typeface="Aptos Display"/>
                <a:cs typeface="Aptos Display"/>
              </a:rPr>
              <a:t>Leave with one artifact, one sentence, and one next step</a:t>
            </a:r>
          </a:p>
        </p:txBody>
      </p:sp>
      <p:sp>
        <p:nvSpPr>
          <p:cNvPr id="8" name="">
            <a:extLst xmlns:a="http://schemas.openxmlformats.org/drawingml/2006/main">
              <a:ext uri="{FF2B5EF4-FFF2-40B4-BE49-F238E27FC236}">
                <a16:creationId xmlns:a16="http://schemas.microsoft.com/office/drawing/2014/main" id="{FC3A4BB5-82C1-45ED-883E-6E95C0ADEF89}"/>
              </a:ext>
            </a:extLst>
          </p:cNvPr>
          <p:cNvSpPr>
            <a:spLocks xmlns:a="http://schemas.openxmlformats.org/drawingml/2006/main" noGrp="1"/>
          </p:cNvSpPr>
          <p:nvPr/>
        </p:nvSpPr>
        <p:spPr>
          <a:xfrm xmlns:a="http://schemas.openxmlformats.org/drawingml/2006/main">
            <a:off x="876300" y="2724150"/>
            <a:ext cx="4000500" cy="1638300"/>
          </a:xfrm>
          <a:prstGeom xmlns:a="http://schemas.openxmlformats.org/drawingml/2006/main" prst="roundRect">
            <a:avLst>
              <a:gd name="adj" fmla="val 4651"/>
            </a:avLst>
          </a:prstGeom>
          <a:solidFill xmlns:a="http://schemas.openxmlformats.org/drawingml/2006/main">
            <a:srgbClr val="F0DFBF"/>
          </a:solidFill>
          <a:ln xmlns:a="http://schemas.openxmlformats.org/drawingml/2006/main" w="11906">
            <a:solidFill>
              <a:srgbClr val="D9C9A8"/>
            </a:solidFill>
            <a:prstDash val="solid"/>
          </a:ln>
        </p:spPr>
      </p:sp>
      <p:sp>
        <p:nvSpPr>
          <p:cNvPr id="9" name="">
            <a:extLst xmlns:a="http://schemas.openxmlformats.org/drawingml/2006/main">
              <a:ext uri="{FF2B5EF4-FFF2-40B4-BE49-F238E27FC236}">
                <a16:creationId xmlns:a16="http://schemas.microsoft.com/office/drawing/2014/main" id="{5E24ED27-B6CC-42B6-A4CA-AA603BB33627}"/>
              </a:ext>
            </a:extLst>
          </p:cNvPr>
          <p:cNvSpPr>
            <a:spLocks xmlns:a="http://schemas.openxmlformats.org/drawingml/2006/main" noGrp="1"/>
          </p:cNvSpPr>
          <p:nvPr/>
        </p:nvSpPr>
        <p:spPr>
          <a:xfrm xmlns:a="http://schemas.openxmlformats.org/drawingml/2006/main">
            <a:off x="1123950" y="3105150"/>
            <a:ext cx="35052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0E3B43"/>
                </a:solidFill>
                <a:latin typeface="Aptos Display"/>
                <a:ea typeface="Aptos Display"/>
                <a:cs typeface="Aptos Display"/>
              </a:defRPr>
            </a:pPr>
            <a:r>
              <a:rPr sz="2550" b="1">
                <a:solidFill>
                  <a:srgbClr val="0E3B43"/>
                </a:solidFill>
                <a:latin typeface="Aptos Display"/>
                <a:ea typeface="Aptos Display"/>
                <a:cs typeface="Aptos Display"/>
              </a:rPr>
              <a:t>Due May 26, 2026</a:t>
            </a:r>
          </a:p>
        </p:txBody>
      </p:sp>
      <p:sp>
        <p:nvSpPr>
          <p:cNvPr id="10" name="">
            <a:extLst xmlns:a="http://schemas.openxmlformats.org/drawingml/2006/main">
              <a:ext uri="{FF2B5EF4-FFF2-40B4-BE49-F238E27FC236}">
                <a16:creationId xmlns:a16="http://schemas.microsoft.com/office/drawing/2014/main" id="{8DC70147-BC3B-4434-8F81-B0CC50A2AE1E}"/>
              </a:ext>
            </a:extLst>
          </p:cNvPr>
          <p:cNvSpPr>
            <a:spLocks xmlns:a="http://schemas.openxmlformats.org/drawingml/2006/main" noGrp="1"/>
          </p:cNvSpPr>
          <p:nvPr/>
        </p:nvSpPr>
        <p:spPr>
          <a:xfrm xmlns:a="http://schemas.openxmlformats.org/drawingml/2006/main">
            <a:off x="5391150" y="2571750"/>
            <a:ext cx="5638800" cy="3143250"/>
          </a:xfrm>
          <a:prstGeom xmlns:a="http://schemas.openxmlformats.org/drawingml/2006/main" prst="roundRect">
            <a:avLst>
              <a:gd name="adj" fmla="val 2424"/>
            </a:avLst>
          </a:prstGeom>
          <a:solidFill xmlns:a="http://schemas.openxmlformats.org/drawingml/2006/main">
            <a:srgbClr val="F0DFBF"/>
          </a:solidFill>
          <a:ln xmlns:a="http://schemas.openxmlformats.org/drawingml/2006/main" w="11906">
            <a:solidFill>
              <a:srgbClr val="D9C9A8"/>
            </a:solidFill>
            <a:prstDash val="solid"/>
          </a:ln>
        </p:spPr>
      </p:sp>
      <p:sp>
        <p:nvSpPr>
          <p:cNvPr id="11" name="">
            <a:extLst xmlns:a="http://schemas.openxmlformats.org/drawingml/2006/main">
              <a:ext uri="{FF2B5EF4-FFF2-40B4-BE49-F238E27FC236}">
                <a16:creationId xmlns:a16="http://schemas.microsoft.com/office/drawing/2014/main" id="{7377355C-AB91-4EA1-B8F2-4DDFE5C024AA}"/>
              </a:ext>
            </a:extLst>
          </p:cNvPr>
          <p:cNvSpPr>
            <a:spLocks xmlns:a="http://schemas.openxmlformats.org/drawingml/2006/main" noGrp="1"/>
          </p:cNvSpPr>
          <p:nvPr/>
        </p:nvSpPr>
        <p:spPr>
          <a:xfrm xmlns:a="http://schemas.openxmlformats.org/drawingml/2006/main">
            <a:off x="5619750" y="2781300"/>
            <a:ext cx="5181600" cy="2724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Artifact: concept guide or code example</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Sentence: what you learned and can explain</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Next step: what remains for the final project</a:t>
            </a:r>
          </a:p>
          <a:p xmlns:a="http://schemas.openxmlformats.org/drawingml/2006/main">
            <a:pPr algn="l">
              <a:defRPr sz="1800" b="0">
                <a:solidFill>
                  <a:srgbClr val="14212B"/>
                </a:solidFill>
                <a:latin typeface="Aptos"/>
                <a:ea typeface="Aptos"/>
                <a:cs typeface="Aptos"/>
              </a:defRPr>
            </a:pPr>
            <a:r>
              <a:rPr sz="1800" b="0">
                <a:solidFill>
                  <a:srgbClr val="14212B"/>
                </a:solidFill>
                <a:latin typeface="Aptos"/>
                <a:ea typeface="Aptos"/>
                <a:cs typeface="Aptos"/>
              </a:rPr>
              <a:t>- Reminder: no presentation</a:t>
            </a:r>
          </a:p>
        </p:txBody>
      </p:sp>
    </p:spTree>
    <p:extLst>
      <p:ext uri="{BB962C8B-B14F-4D97-AF65-F5344CB8AC3E}">
        <p14:creationId xmlns:p14="http://schemas.microsoft.com/office/powerpoint/2010/main" val="1000798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2026-05-19T20:11:28.4460000Z</dcterms:created>
  <dcterms:modified xsi:type="dcterms:W3CDTF">2026-05-19T20:11:28.4460000Z</dcterms:modified>
</coreProperties>
</file>