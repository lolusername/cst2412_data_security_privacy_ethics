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4" r:id="rId36"/>
    <p:sldId id="295"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0548"/>
  </p:normalViewPr>
  <p:slideViewPr>
    <p:cSldViewPr snapToGrid="0" snapToObjects="1">
      <p:cViewPr varScale="1">
        <p:scale>
          <a:sx n="74" d="100"/>
          <a:sy n="74" d="100"/>
        </p:scale>
        <p:origin x="25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4042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 “how security actually works” day. We’re going to connect two ideas:
(1) the security *toolbox* — the mechanisms we use to protect systems, and
(2) the reality that code is itself a security boundary — because inputs are not friendly, they’re adversarial.
By the end, you should be able to look at a system and say: “Here’s the identity story, here’s the authorization story, here’s how crypto fits, and here are the most likely programming failure modes.” Then we’ll do a lab that forces you to make tradeoffs: security, privacy, and usability — in the real world you never get only one.
[Sources]
- Pfleeger &amp; Margulies, *Security in Computing* (6e), Ch. 2–3 (course text).
- https://www.ebooks.com/en-us/book/210832131/security-in-computing/charles-pfleeger-shari-lawrence-pfleeger-jonathan-margulies/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map. Notice the structure: we’ll build the toolbox first, then we’ll talk about how the toolbox fails when software is written or deployed poorly.
If you’ve ever wondered, “Why does this security control feel pointless?” the answer is often: the control is correct in theory, but it’s not connected to threat models, or it’s undermined by programming mistakes, or it creates harms on the privacy/ethics side. We’ll keep that triangle in view the whole time: security, privacy, ethics.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say “security,” they often mean “prevent bad outcomes.” That’s true — but incomplete.
Privacy asks: what information about people is revealed or collected, even in the name of safety?
Ethics asks: who bears the costs, and who benefits? Are we increasing autonomy, or reducing it?
So throughout the toolbox, we’ll do a two‑step: first “what threat does this mitigate,” then “what new risks or harms does it introduce.”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is called “the toolbox” for a reason: it’s the set of reusable building blocks that appear in almost every system. The danger is treating tools as magic.
A tool is only useful in context. A deadbolt is great on a door; it’s useless if the window is open. Same in computing: strong crypto won’t save you if access control is broken, and perfect access control won’t help if authentication is weak.
[Sources]
- Pfleeger &amp; Margulies, *Security in Computing* (6e), Ch. 2.
- https://www.ebooks.com/en-us/book/210832131/security-in-computing/charles-pfleeger-shari-lawrence-pfleeger-jonathan-margulies/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terms are the backbone of the chapter, and they’re the source of constant confusion.
Identification is a claim: a username, email, badge number.
Authentication is proof: evidence the claimant controls a secret or device.
Authorization is a decision: what actions are permitted.
Accounting is the record: the trail that lets us investigate and learn.
In privacy terms, accounting is where surveillance risk lives — so we must design it deliberately.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factors are categories of evidence. The popular shorthand is “know / have / are.”
Multi‑factor authentication helps because it forces attackers to compromise multiple kinds of evidence. But MFA is not automatically “good”: it can exclude people (lost phones), increase surveillance (device tracking), and biometrics are hard to change if compromised.
So we treat MFA as a risk decision, not a moral badge.
[Sources]
- NIST Digital Identity Guidelines (SP 800-63 series).
- https://pages.nist.gov/800-63-3/
- NIST SP 800-63B (IPD) PDF: https://nvlpubs.nist.gov/nistpubs/SpecialPublications/NIST.SP.800-63b-4.ipd.pdf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say passwords are “bad” because the math is broken. We say passwords are weak because the *ecosystem* around them is hostile.
If your password database leaks, attackers can guess offline quickly unless you’ve slowed them down with strong hashing.
If users reuse passwords, a breach elsewhere becomes your breach.
And phishing sidesteps cracking entirely: it just convinces people to hand over the secret.
So modern authentication is layered: safer storage + rate limits + MFA + detection.
[Sources]
- NIST SP 800-63B (IPD) PDF: https://nvlpubs.nist.gov/nistpubs/SpecialPublications/NIST.SP.800-63b-4.ipd.pdf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key ideas: (1) passwords should be *hashed* because you want a one-way transform, and (2) the hashing should be *slow* to resist offline guessing.
Salts prevent attackers from using precomputed tables and make identical passwords look different.
Rate limiting reduces online guessing.
And don’t log secrets — not even “temporarily.” In real incidents, logs are where credentials and tokens are discovered.
Also: if you’re tempted to invent a scheme, stop — use vetted libraries.
[Sources]
- NIST SP 800-63B (IPD) PDF: https://nvlpubs.nist.gov/nistpubs/SpecialPublications/NIST.SP.800-63b-4.ipd.pdf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distinctions: policy is the intent; mechanism is the code.
A team might say “Only instructors can see grades.” That’s policy. But if one API endpoint forgets to check, the mechanism fails, and the real policy becomes “anyone who finds the endpoint can see grades.”
Security often fails not because people didn’t care, but because enforcement is fragmented and inconsistent.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models are different answers to “who decides?” and “based on what information?”
RBAC is popular because it’s legible: roles like “student,” “TA,” “instructor.”
ABAC is powerful because it can incorporate context: “instructor can view grades *for their course* during the term, from approved devices.”
But ABAC also expands surveillance: you now need more attributes. And those attributes can become proxies for protected traits. So ABAC requires careful governance.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access control matrix is not something you implement directly most of the time — it’s how you think.
Every system has subjects, objects, and operations. When you get lost in code, come back here: “who is acting on what, and what are they allowed to do?”
From this model, two main implementations appear:
ACLs attach permissions to objects.
Capabilities attach permissions to subjects.
Both have tradeoffs.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ACLs like a guest list on a door: the door knows who can enter.
Think of capabilities like tickets: the person holds a token that grants entry.
Modern web systems often use capability-like tokens: signed URLs, API keys, OAuth scopes. They’re convenient — and dangerous when leaked.
So our ethics question becomes: what’s the blast radius of a leaked capability? And who bears the cost of that leak?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are your guardrails. They prevent “permission creep,” where everyone slowly becomes admin because it’s convenient.
Least privilege reduces harm when accounts are compromised.
Separation of duties reduces insider risk and forces accountability.
Fail-safe defaults reduce accidental exposure.
Complete mediation is about consistency: don’t check once and then assume forever.
Later today, we’ll connect these directly to secure programming practices.
[Sources]
- Saltzer &amp; Schroeder, “The Protection of Information in Computer Systems” (MIT PDF).
- https://web.mit.edu/saltzer/www/publications/rfc/csr-rfc-075.pdf
- NIST SP 800-53 Rev. 5 (Access Control family). https://nvlpubs.nist.gov/nistpubs/SpecialPublications/NIST.SP.800-53r5.pdf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is essential — and it’s one of the main privacy danger zones.
Security wants enough detail to investigate. Privacy wants collection minimized and controlled. Ethics asks: who can see the logs, and how else might they be used?
So we design logs as a *product*: decide fields, retention, access controls, and review processes. “Log everything” is not a plan; it’s a future breach.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cryptography. Crypto is one of the most misunderstood tools because people treat it like a blanket: “we encrypt, so we’re safe.”
Crypto is a control that protects data *under certain threat models*: eavesdroppers, stolen disks, tampering in transit. It does not stop an authorized user from misusing data, and it doesn’t fix a bug that exposes decrypted data through an API.
So we’ll keep repeating: “Where are the keys? Who has them? When is the data decrypted?”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remember these three jobs.
Confidentiality is about secrecy.
Integrity is about detecting changes.
Authenticity is about identity and proof.
Many real systems need combinations. For example, TLS gives you confidentiality and integrity for data in transit. Password storage uses hashing — not for secrecy, but for one-way verification.
And a classic mistake is assuming encryption automatically implies integrity. It often does not unless you use an authenticated mode.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Symmetric crypto is like one shared lock combination — fast, but you must share it securely.
Asymmetric crypto is like having a public padlock and a private key. It enables scalable secure exchange and signatures, but it’s slower.
So the common pattern is hybrid: asymmetric crypto negotiates a session key, then symmetric crypto protects the data stream.
Again: the weakest point is usually key handling and authorization, not the cipher.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 alone says “this data has this fingerprint.” But anyone can compute a hash.
A MAC adds a shared key, so it proves membership in the key-holders club.
A digital signature proves the holder of a private key created the signature, and anyone with the public key can verify.
These distinctions matter when you design systems: do you need integrity only, or identity proof, or both?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crypto failures in the wild are not “math failures.” They’re key failures.
If keys are hard-coded, logged, emailed, or shared broadly, crypto collapses.
If keys aren’t rotated, compromise lasts forever.
If keys are accessible to too many services, your trust boundary expands.
Notice the loop: key management is access control. Crypto doesn’t replace authorization; it depends on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is protective, not preventive, and privacy is a governance question.
If you collect unnecessary sensitive data and encrypt it, you still created risk: the data exists, it can be subpoenaed, it can be decrypted later, it can be misused by insiders.
So privacy-first design says: minimize collection, limit retention, and then encrypt what remains. Crypto supports privacy — it doesn’t substitute for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pivot: Chapter 3 explains why secure systems are not just “add authentication.” The software itself is a boundary.
The key mental shift: assume inputs are malicious. Assume someone is exploring edge cases. Security bugs are often ordinary bugs under adversarial pressure.
So we’ll focus on common vulnerability classes and the secure design principles that reduce them.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exploits are assumptions turned into vulnerabilities.
A developer assumes: “IDs are numeric.” An attacker sends a string.
A developer assumes: “This endpoint is only called by the UI.” An attacker calls it directly.
A developer assumes: “We checked authorization earlier.” An attacker finds a path that skips the check.
So we identify trust boundaries and apply validation and enforcement at those edges.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Injection is the poster child for “code as boundary.”
If you build queries by concatenating strings, the attacker can inject syntax that changes the query. The secure alternative is parameterization: the database receives structure separately from data.
Also note the least-privilege link: even with injection, the damage is limited if the DB account can’t drop tables or read everything.
This is a perfect example of how Chapter 2 and 3 reinforce each other.
[Sources]
- OWASP Top 10 (2021) Injection page: https://owasp.org/Top10/A03_2021-Injection/
- OWASP Top 10 2021 notice: https://owasp.org/www-project-top-ten/2021/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Broken access control is often the #1 real-world failure mode, because it’s easy to accidentally assume the UI enforces policy.
Attackers don’t use your UI. They call your APIs directly.
So every endpoint must enforce authorization, and you should test it. You also want consistent patterns: middleware, policy engines, row-level security where appropriate.
When access control fails, it’s usually a privacy incident: other people’s data gets exposed.
[Sources]
- OWASP Top 10 2021 notice: https://owasp.org/www-project-top-ten/2021/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Cross-site scripting is a reminder: security isn’t only server-side. The browser is part of your system.
If user content is rendered without proper encoding, it can execute scripts in another user’s session. That can steal tokens, perform actions, or show deceptive content.
The defense is: encode output by context, use modern frameworks carefully, and add CSP to reduce blast radius. Again, think in boundaries: untrusted content crossing into executable context.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safety failures are where “normal bugs” become code execution.
In languages with manual memory management, boundary mistakes can overwrite control data. In higher-level languages, you still have boundary issues—often at serialization, native extensions, or unsafe APIs.
The secure programming move is to reduce entire classes of bugs: safer languages, hardening, fuzzing, and strong testing around parsers and edge cases.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deserialize untrusted data into rich objects, you can accidentally execute behavior.
The defense is to treat parsing as a high-risk boundary: use simple data formats, validate against strict schemas, allowlist expected fields, and never allow untrusted input to choose types or code paths.
It’s also a reminder: logs and error traces can leak private data when parsing fails. So error handling is part of privacy.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management is partly technical, partly cultural.
Technically: don’t hard-code secrets, use a secrets manager, rotate keys, and use short-lived tokens.
Culturally: treat secrets like hazardous materials—don’t paste them into tickets, chat, or docs.
And ethically: breaches don’t just harm “customers.” They can expose employees and contractors too. So we design processes that protect everyone.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are older than most of the web — and they still describe modern failures.
Complexity breeds vulnerabilities.
Secret designs fail once revealed.
Excess privilege increases blast radius.
Incomplete checks create bypasses.
And security that is miserable gets routed around.
Psychological acceptability matters ethically: if security is too hard, the people with the least power suffer most — locked out, flagged, or forced into unsafe workarounds.
[Sources]
- Saltzer &amp; Schroeder (MIT PDF): https://web.mit.edu/saltzer/www/publications/rfc/csr-rfc-075.pdf</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you’re overwhelmed, anchor to two buckets.
Boundary patterns are what you do in code: validate, parameterize, encode, and constrain.
Process patterns are how teams prevent mistakes: review, scanning, testing, fuzzing, threat modeling.
The point is not perfection. The point is reducing risk by making the safe path the default path.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Chapter 2 gives you controls. Chapter 3 shows how controls fail when software and processes don’t enforce them consistently.
If you can explain these four bullets in your own words, you’re doing security reasoning, not vocabulary memorization.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practice. This lab is deliberately defensive: we are not “learning to hack.” We’re learning to build systems that resist common failures.
You’ll work in small groups. I’ll circulate and challenge your assumptions, like: “What happens if this role is compromised?” or “What if the logs are subpoenaed?”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is design. Your job is to be explicit.
Write the matrix: roles down the left, objects across the top, actions in the cells. Then choose RBAC or ABAC and justify.
I will ask you:
- What’s the minimum instructor access needed?
- Who can see counseling notes?
- Who can export data?
- What’s the “break glass” path in emergencies, and how is it audited?
The goal is a policy you can actually enforce in code.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checklist to pressure-test your matrix.
Security teams spend a lot of time doing this *before* coding because changing authorization later is expensive.
Also: the equity question is required. A secure design that excludes people or forces unsafe workarounds is not actually secure — it produces shadow practices.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you’ll write. This is short but serious: I want a claim, reasons, a counterargument, and a conclusion.
This is how we prevent “security theater”: you can’t just assert a control is good — you have to argue why it’s justified given the burdens it creates.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prompt. Your thesis must be a clear “should/should not” statement.
Then: explain your reasons, name stakeholders, and include one counterargument you take seriously. Finally, justify using an ethical lens — for example:
- consequentialist: outcomes/harms,
- deontological: duties/rights,
- care ethics: relationships and vulnerability.
The point is not to agree with me. The point is to reason responsibly.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 Ch 3</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1/43</a:t>
            </a:r>
            <a:endParaRPr lang="en-US" sz="1200" dirty="0"/>
          </a:p>
        </p:txBody>
      </p:sp>
      <p:sp>
        <p:nvSpPr>
          <p:cNvPr id="5" name="Text 3"/>
          <p:cNvSpPr/>
          <p:nvPr/>
        </p:nvSpPr>
        <p:spPr>
          <a:xfrm>
            <a:off x="731520" y="1417320"/>
            <a:ext cx="10789920" cy="914400"/>
          </a:xfrm>
          <a:prstGeom prst="rect">
            <a:avLst/>
          </a:prstGeom>
          <a:noFill/>
          <a:ln/>
        </p:spPr>
        <p:txBody>
          <a:bodyPr wrap="square" rtlCol="0" anchor="ctr"/>
          <a:lstStyle/>
          <a:p>
            <a:pPr marL="0" indent="0">
              <a:buNone/>
            </a:pPr>
            <a:r>
              <a:rPr lang="en-US" sz="4600" b="1" dirty="0">
                <a:solidFill>
                  <a:srgbClr val="111827"/>
                </a:solidFill>
                <a:latin typeface="Aptos Display" pitchFamily="34" charset="0"/>
                <a:ea typeface="Aptos Display" pitchFamily="34" charset="-122"/>
                <a:cs typeface="Aptos Display" pitchFamily="34" charset="-120"/>
              </a:rPr>
              <a:t>Security Toolbox</a:t>
            </a:r>
            <a:endParaRPr lang="en-US" sz="4600" dirty="0"/>
          </a:p>
          <a:p>
            <a:pPr marL="0" indent="0">
              <a:buNone/>
            </a:pPr>
            <a:r>
              <a:rPr lang="en-US" sz="4600" b="1" dirty="0">
                <a:solidFill>
                  <a:srgbClr val="111827"/>
                </a:solidFill>
                <a:latin typeface="Aptos Display" pitchFamily="34" charset="0"/>
                <a:ea typeface="Aptos Display" pitchFamily="34" charset="-122"/>
                <a:cs typeface="Aptos Display" pitchFamily="34" charset="-120"/>
              </a:rPr>
              <a:t>+ Secure Programming</a:t>
            </a:r>
            <a:endParaRPr lang="en-US" sz="4600" dirty="0"/>
          </a:p>
        </p:txBody>
      </p:sp>
      <p:sp>
        <p:nvSpPr>
          <p:cNvPr id="6" name="Text 4"/>
          <p:cNvSpPr/>
          <p:nvPr/>
        </p:nvSpPr>
        <p:spPr>
          <a:xfrm>
            <a:off x="777240" y="2331720"/>
            <a:ext cx="10607040" cy="822960"/>
          </a:xfrm>
          <a:prstGeom prst="rect">
            <a:avLst/>
          </a:prstGeom>
          <a:noFill/>
          <a:ln/>
        </p:spPr>
        <p:txBody>
          <a:bodyPr wrap="square" rtlCol="0" anchor="ctr"/>
          <a:lstStyle/>
          <a:p>
            <a:pPr marL="0" indent="0">
              <a:buNone/>
            </a:pPr>
            <a:r>
              <a:rPr lang="en-US" sz="2000" dirty="0">
                <a:solidFill>
                  <a:srgbClr val="4B5563"/>
                </a:solidFill>
                <a:latin typeface="Aptos" pitchFamily="34" charset="0"/>
                <a:ea typeface="Aptos" pitchFamily="34" charset="-122"/>
                <a:cs typeface="Aptos" pitchFamily="34" charset="-120"/>
              </a:rPr>
              <a:t>CST2412 — Data Security / Privacy / Ethics</a:t>
            </a:r>
            <a:endParaRPr lang="en-US" sz="2000" dirty="0"/>
          </a:p>
          <a:p>
            <a:pPr marL="0" indent="0">
              <a:buNone/>
            </a:pPr>
            <a:r>
              <a:rPr lang="en-US" sz="2000" dirty="0">
                <a:solidFill>
                  <a:srgbClr val="4B5563"/>
                </a:solidFill>
                <a:latin typeface="Aptos" pitchFamily="34" charset="0"/>
                <a:ea typeface="Aptos" pitchFamily="34" charset="-122"/>
                <a:cs typeface="Aptos" pitchFamily="34" charset="-120"/>
              </a:rPr>
              <a:t>(Ch. 2: Authentication, Access Control, Cryptography • Ch. 3: Programs &amp; Programming)</a:t>
            </a:r>
            <a:endParaRPr lang="en-US" sz="2000" dirty="0"/>
          </a:p>
        </p:txBody>
      </p:sp>
      <p:sp>
        <p:nvSpPr>
          <p:cNvPr id="7" name="Shape 5"/>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8" name="Text 6"/>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Today</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Agenda</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Why “toolbox” + “programming” belong together</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Ch 2: Identification &amp; authentication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Ch 2: Access control (authorization) + auditing</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Ch 2: Cryptography — what it can and can’t do</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Ch 3: Code as a security boundary + vulnerability classes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In‑class lab: design access control + safe credential storage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In‑class writing: security vs privacy vs ethics tradeoff argument</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Instructor pacing</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~35–40 min lecture • ~15–20 min lab • ~10–15 min writing</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Framing</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4/43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Security, Privacy, Ethics: three questions</a:t>
            </a:r>
            <a:endParaRPr lang="en-US" sz="3400" dirty="0"/>
          </a:p>
        </p:txBody>
      </p:sp>
      <p:sp>
        <p:nvSpPr>
          <p:cNvPr id="6" name="Shape 4"/>
          <p:cNvSpPr/>
          <p:nvPr/>
        </p:nvSpPr>
        <p:spPr>
          <a:xfrm>
            <a:off x="822960" y="1463040"/>
            <a:ext cx="5394960" cy="4480560"/>
          </a:xfrm>
          <a:prstGeom prst="roundRect">
            <a:avLst/>
          </a:prstGeom>
          <a:solidFill>
            <a:srgbClr val="F3F4F6"/>
          </a:solidFill>
          <a:ln w="12700">
            <a:solidFill>
              <a:srgbClr val="E5E7EB"/>
            </a:solidFill>
            <a:prstDash val="solid"/>
          </a:ln>
        </p:spPr>
        <p:txBody>
          <a:bodyPr/>
          <a:lstStyle/>
          <a:p>
            <a:endParaRPr lang="en-US"/>
          </a:p>
        </p:txBody>
      </p:sp>
      <p:sp>
        <p:nvSpPr>
          <p:cNvPr id="7" name="Text 5"/>
          <p:cNvSpPr/>
          <p:nvPr/>
        </p:nvSpPr>
        <p:spPr>
          <a:xfrm>
            <a:off x="1097280" y="1645920"/>
            <a:ext cx="484632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Security</a:t>
            </a:r>
            <a:endParaRPr lang="en-US" sz="1800" dirty="0"/>
          </a:p>
        </p:txBody>
      </p:sp>
      <p:sp>
        <p:nvSpPr>
          <p:cNvPr id="8" name="Text 6"/>
          <p:cNvSpPr/>
          <p:nvPr/>
        </p:nvSpPr>
        <p:spPr>
          <a:xfrm>
            <a:off x="1143000" y="2057400"/>
            <a:ext cx="498348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What can go wrong?</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How likely is it?</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How bad is it?</a:t>
            </a:r>
            <a:endParaRPr lang="en-US" sz="1800" dirty="0"/>
          </a:p>
        </p:txBody>
      </p:sp>
      <p:sp>
        <p:nvSpPr>
          <p:cNvPr id="9" name="Shape 7"/>
          <p:cNvSpPr/>
          <p:nvPr/>
        </p:nvSpPr>
        <p:spPr>
          <a:xfrm>
            <a:off x="6355080" y="1463040"/>
            <a:ext cx="5074920" cy="4480560"/>
          </a:xfrm>
          <a:prstGeom prst="roundRect">
            <a:avLst/>
          </a:prstGeom>
          <a:solidFill>
            <a:srgbClr val="F3F4F6"/>
          </a:solidFill>
          <a:ln w="12700">
            <a:solidFill>
              <a:srgbClr val="E5E7EB"/>
            </a:solidFill>
            <a:prstDash val="solid"/>
          </a:ln>
        </p:spPr>
        <p:txBody>
          <a:bodyPr/>
          <a:lstStyle/>
          <a:p>
            <a:endParaRPr lang="en-US"/>
          </a:p>
        </p:txBody>
      </p:sp>
      <p:sp>
        <p:nvSpPr>
          <p:cNvPr id="10" name="Text 8"/>
          <p:cNvSpPr/>
          <p:nvPr/>
        </p:nvSpPr>
        <p:spPr>
          <a:xfrm>
            <a:off x="6629400" y="1645920"/>
            <a:ext cx="457200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Privacy &amp; Ethics</a:t>
            </a:r>
            <a:endParaRPr lang="en-US" sz="1800" dirty="0"/>
          </a:p>
        </p:txBody>
      </p:sp>
      <p:sp>
        <p:nvSpPr>
          <p:cNvPr id="11" name="Text 9"/>
          <p:cNvSpPr/>
          <p:nvPr/>
        </p:nvSpPr>
        <p:spPr>
          <a:xfrm>
            <a:off x="6675120" y="2057400"/>
            <a:ext cx="466344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Who is exposed by the fix?</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Who is excluded by the fix?</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Who gets power from the fix?</a:t>
            </a:r>
            <a:endParaRPr lang="en-US" sz="1800" dirty="0"/>
          </a:p>
        </p:txBody>
      </p:sp>
      <p:sp>
        <p:nvSpPr>
          <p:cNvPr id="12" name="Shape 10"/>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Today’s habit</a:t>
            </a:r>
            <a:endParaRPr lang="en-US" sz="1400" dirty="0"/>
          </a:p>
        </p:txBody>
      </p:sp>
      <p:sp>
        <p:nvSpPr>
          <p:cNvPr id="14" name="Text 12"/>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Every mechanism we learn → ask what harms it prevents AND what harms it can cause.</a:t>
            </a:r>
            <a:endParaRPr lang="en-US" sz="1600" dirty="0"/>
          </a:p>
        </p:txBody>
      </p:sp>
      <p:sp>
        <p:nvSpPr>
          <p:cNvPr id="15" name="Shape 13"/>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6" name="Text 14"/>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Chapter 2</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5/43</a:t>
            </a:r>
            <a:endParaRPr lang="en-US" sz="1200" dirty="0"/>
          </a:p>
        </p:txBody>
      </p:sp>
      <p:sp>
        <p:nvSpPr>
          <p:cNvPr id="5" name="Shape 3"/>
          <p:cNvSpPr/>
          <p:nvPr/>
        </p:nvSpPr>
        <p:spPr>
          <a:xfrm>
            <a:off x="0" y="502920"/>
            <a:ext cx="12191695" cy="6355080"/>
          </a:xfrm>
          <a:prstGeom prst="rect">
            <a:avLst/>
          </a:prstGeom>
          <a:solidFill>
            <a:srgbClr val="F3F4F6"/>
          </a:solidFill>
          <a:ln w="12700">
            <a:solidFill>
              <a:srgbClr val="F3F4F6"/>
            </a:solidFill>
            <a:prstDash val="solid"/>
          </a:ln>
        </p:spPr>
        <p:txBody>
          <a:bodyPr/>
          <a:lstStyle/>
          <a:p>
            <a:endParaRPr lang="en-US"/>
          </a:p>
        </p:txBody>
      </p:sp>
      <p:sp>
        <p:nvSpPr>
          <p:cNvPr id="6" name="Text 4"/>
          <p:cNvSpPr/>
          <p:nvPr/>
        </p:nvSpPr>
        <p:spPr>
          <a:xfrm>
            <a:off x="822960" y="1097280"/>
            <a:ext cx="10515600" cy="365760"/>
          </a:xfrm>
          <a:prstGeom prst="rect">
            <a:avLst/>
          </a:prstGeom>
          <a:noFill/>
          <a:ln/>
        </p:spPr>
        <p:txBody>
          <a:bodyPr wrap="square" rtlCol="0" anchor="ctr"/>
          <a:lstStyle/>
          <a:p>
            <a:pPr marL="0" indent="0">
              <a:buNone/>
            </a:pPr>
            <a:r>
              <a:rPr lang="en-US" sz="1400" b="1" dirty="0">
                <a:solidFill>
                  <a:srgbClr val="1AA6B7"/>
                </a:solidFill>
                <a:latin typeface="Aptos" pitchFamily="34" charset="0"/>
                <a:ea typeface="Aptos" pitchFamily="34" charset="-122"/>
                <a:cs typeface="Aptos" pitchFamily="34" charset="-120"/>
              </a:rPr>
              <a:t>CHAPTER 2</a:t>
            </a:r>
            <a:endParaRPr lang="en-US" sz="1400" dirty="0"/>
          </a:p>
        </p:txBody>
      </p:sp>
      <p:sp>
        <p:nvSpPr>
          <p:cNvPr id="7" name="Text 5"/>
          <p:cNvSpPr/>
          <p:nvPr/>
        </p:nvSpPr>
        <p:spPr>
          <a:xfrm>
            <a:off x="822960" y="1508760"/>
            <a:ext cx="10698480" cy="1097280"/>
          </a:xfrm>
          <a:prstGeom prst="rect">
            <a:avLst/>
          </a:prstGeom>
          <a:noFill/>
          <a:ln/>
        </p:spPr>
        <p:txBody>
          <a:bodyPr wrap="square" rtlCol="0" anchor="ctr"/>
          <a:lstStyle/>
          <a:p>
            <a:pPr marL="0" indent="0">
              <a:buNone/>
            </a:pPr>
            <a:r>
              <a:rPr lang="en-US" sz="4400" b="1" dirty="0">
                <a:solidFill>
                  <a:srgbClr val="111827"/>
                </a:solidFill>
                <a:latin typeface="Aptos Display" pitchFamily="34" charset="0"/>
                <a:ea typeface="Aptos Display" pitchFamily="34" charset="-122"/>
                <a:cs typeface="Aptos Display" pitchFamily="34" charset="-120"/>
              </a:rPr>
              <a:t>The Toolbox</a:t>
            </a:r>
            <a:endParaRPr lang="en-US" sz="4400" dirty="0"/>
          </a:p>
        </p:txBody>
      </p:sp>
      <p:sp>
        <p:nvSpPr>
          <p:cNvPr id="8" name="Text 6"/>
          <p:cNvSpPr/>
          <p:nvPr/>
        </p:nvSpPr>
        <p:spPr>
          <a:xfrm>
            <a:off x="868680" y="2651760"/>
            <a:ext cx="10515600" cy="731520"/>
          </a:xfrm>
          <a:prstGeom prst="rect">
            <a:avLst/>
          </a:prstGeom>
          <a:noFill/>
          <a:ln/>
        </p:spPr>
        <p:txBody>
          <a:bodyPr wrap="square" rtlCol="0" anchor="ctr"/>
          <a:lstStyle/>
          <a:p>
            <a:pPr marL="0" indent="0">
              <a:buNone/>
            </a:pPr>
            <a:r>
              <a:rPr lang="en-US" sz="1800" dirty="0">
                <a:solidFill>
                  <a:srgbClr val="4B5563"/>
                </a:solidFill>
                <a:latin typeface="Aptos" pitchFamily="34" charset="0"/>
                <a:ea typeface="Aptos" pitchFamily="34" charset="-122"/>
                <a:cs typeface="Aptos" pitchFamily="34" charset="-120"/>
              </a:rPr>
              <a:t>Mechanisms: identity • authorization • cryptography</a:t>
            </a:r>
            <a:endParaRPr lang="en-US" sz="1800" dirty="0"/>
          </a:p>
          <a:p>
            <a:pPr marL="0" indent="0">
              <a:buNone/>
            </a:pPr>
            <a:r>
              <a:rPr lang="en-US" sz="1800" dirty="0">
                <a:solidFill>
                  <a:srgbClr val="4B5563"/>
                </a:solidFill>
                <a:latin typeface="Aptos" pitchFamily="34" charset="0"/>
                <a:ea typeface="Aptos" pitchFamily="34" charset="-122"/>
                <a:cs typeface="Aptos" pitchFamily="34" charset="-120"/>
              </a:rPr>
              <a:t>…but mechanisms only work when they match threats.</a:t>
            </a:r>
            <a:endParaRPr lang="en-US" sz="1800" dirty="0"/>
          </a:p>
        </p:txBody>
      </p:sp>
      <p:sp>
        <p:nvSpPr>
          <p:cNvPr id="9" name="Shape 7"/>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0" name="Text 8"/>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Identity</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6/43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Identity words people mix up</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Identification: “I claim I’m Alex.” (a label)</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Authentication: “Prove you are Alex.” (evidence)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Authorization: “Alex is allowed to do X.” (policy + decision)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Accounting/Auditing: “Record what Alex did.” (logs)</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Quick check</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Logging is not access control. It’s accountability after the fact.</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Authentication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7/43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Authentication factors (and why MFA helps)</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Something you know (password, PIN)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Something you have (phone, security key)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Something you are (biometrics)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MFA works because attackers rarely steal all factors at once</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Ethics note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Biometrics raise consent, permanence, and misuse risks.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Authentication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8/43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Passwords: what makes them weak in practice</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Humans reuse passwords across sites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Attackers can do credential stuffing at scale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Phishing steals passwords without “cracking” them</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Databases leak → offline guessing becomes possible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“Security questions” are often guessable social data</a:t>
            </a:r>
            <a:endParaRPr lang="en-US" sz="2000" dirty="0"/>
          </a:p>
        </p:txBody>
      </p:sp>
      <p:sp>
        <p:nvSpPr>
          <p:cNvPr id="7" name="Shape 5"/>
          <p:cNvSpPr/>
          <p:nvPr/>
        </p:nvSpPr>
        <p:spPr>
          <a:xfrm>
            <a:off x="822960" y="5532120"/>
            <a:ext cx="10607040" cy="685800"/>
          </a:xfrm>
          <a:prstGeom prst="roundRect">
            <a:avLst/>
          </a:prstGeom>
          <a:solidFill>
            <a:srgbClr val="6D28D9"/>
          </a:solidFill>
          <a:ln w="12700">
            <a:solidFill>
              <a:srgbClr val="6D28D9"/>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Key shift</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Assume passwords will leak; design as if compromise is normal.</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Authentication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9/43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What “good” password handling looks like</a:t>
            </a:r>
            <a:endParaRPr lang="en-US" sz="3400" dirty="0"/>
          </a:p>
        </p:txBody>
      </p:sp>
      <p:sp>
        <p:nvSpPr>
          <p:cNvPr id="6" name="Shape 4"/>
          <p:cNvSpPr/>
          <p:nvPr/>
        </p:nvSpPr>
        <p:spPr>
          <a:xfrm>
            <a:off x="822960" y="1463040"/>
            <a:ext cx="5394960" cy="4480560"/>
          </a:xfrm>
          <a:prstGeom prst="roundRect">
            <a:avLst/>
          </a:prstGeom>
          <a:solidFill>
            <a:srgbClr val="F3F4F6"/>
          </a:solidFill>
          <a:ln w="12700">
            <a:solidFill>
              <a:srgbClr val="E5E7EB"/>
            </a:solidFill>
            <a:prstDash val="solid"/>
          </a:ln>
        </p:spPr>
        <p:txBody>
          <a:bodyPr/>
          <a:lstStyle/>
          <a:p>
            <a:endParaRPr lang="en-US"/>
          </a:p>
        </p:txBody>
      </p:sp>
      <p:sp>
        <p:nvSpPr>
          <p:cNvPr id="7" name="Text 5"/>
          <p:cNvSpPr/>
          <p:nvPr/>
        </p:nvSpPr>
        <p:spPr>
          <a:xfrm>
            <a:off x="1097280" y="1645920"/>
            <a:ext cx="484632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Do</a:t>
            </a:r>
            <a:endParaRPr lang="en-US" sz="1800" dirty="0"/>
          </a:p>
        </p:txBody>
      </p:sp>
      <p:sp>
        <p:nvSpPr>
          <p:cNvPr id="8" name="Text 6"/>
          <p:cNvSpPr/>
          <p:nvPr/>
        </p:nvSpPr>
        <p:spPr>
          <a:xfrm>
            <a:off x="1143000" y="2057400"/>
            <a:ext cx="498348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Hash, don’t encrypt passwords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Use slow hashing (bcrypt/Argon2)</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Unique salt per password</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Rate-limit login attempts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Offer MFA / passkeys</a:t>
            </a:r>
            <a:endParaRPr lang="en-US" sz="1800" dirty="0"/>
          </a:p>
        </p:txBody>
      </p:sp>
      <p:sp>
        <p:nvSpPr>
          <p:cNvPr id="9" name="Shape 7"/>
          <p:cNvSpPr/>
          <p:nvPr/>
        </p:nvSpPr>
        <p:spPr>
          <a:xfrm>
            <a:off x="6355080" y="1463040"/>
            <a:ext cx="5074920" cy="4480560"/>
          </a:xfrm>
          <a:prstGeom prst="roundRect">
            <a:avLst/>
          </a:prstGeom>
          <a:solidFill>
            <a:srgbClr val="F3F4F6"/>
          </a:solidFill>
          <a:ln w="12700">
            <a:solidFill>
              <a:srgbClr val="E5E7EB"/>
            </a:solidFill>
            <a:prstDash val="solid"/>
          </a:ln>
        </p:spPr>
        <p:txBody>
          <a:bodyPr/>
          <a:lstStyle/>
          <a:p>
            <a:endParaRPr lang="en-US"/>
          </a:p>
        </p:txBody>
      </p:sp>
      <p:sp>
        <p:nvSpPr>
          <p:cNvPr id="10" name="Text 8"/>
          <p:cNvSpPr/>
          <p:nvPr/>
        </p:nvSpPr>
        <p:spPr>
          <a:xfrm>
            <a:off x="6629400" y="1645920"/>
            <a:ext cx="457200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Don’t</a:t>
            </a:r>
            <a:endParaRPr lang="en-US" sz="1800" dirty="0"/>
          </a:p>
        </p:txBody>
      </p:sp>
      <p:sp>
        <p:nvSpPr>
          <p:cNvPr id="11" name="Text 9"/>
          <p:cNvSpPr/>
          <p:nvPr/>
        </p:nvSpPr>
        <p:spPr>
          <a:xfrm>
            <a:off x="6675120" y="2057400"/>
            <a:ext cx="466344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Store plaintext passwords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Use fast hashes (SHA-256) alone</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Reuse a single salt</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Log passwords or reset tokens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Build your own crypto</a:t>
            </a:r>
            <a:endParaRPr lang="en-US" sz="1800" dirty="0"/>
          </a:p>
        </p:txBody>
      </p:sp>
      <p:sp>
        <p:nvSpPr>
          <p:cNvPr id="12" name="Shape 10"/>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Privacy note</a:t>
            </a:r>
            <a:endParaRPr lang="en-US" sz="1400" dirty="0"/>
          </a:p>
        </p:txBody>
      </p:sp>
      <p:sp>
        <p:nvSpPr>
          <p:cNvPr id="14" name="Text 12"/>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Logs are where secrets go to die. Treat logging as a data-ethics surface.</a:t>
            </a:r>
            <a:endParaRPr lang="en-US" sz="1600" dirty="0"/>
          </a:p>
        </p:txBody>
      </p:sp>
      <p:sp>
        <p:nvSpPr>
          <p:cNvPr id="15" name="Shape 13"/>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6" name="Text 14"/>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Authorization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10/43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Authorization: policy vs mechanism</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Policy: the rules (who can do what, under what conditions)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Mechanism: the implementation (ACLs, RBAC tables, middleware)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 secure system needs both — and they must match</a:t>
            </a:r>
            <a:endParaRPr lang="en-US" sz="2000" dirty="0"/>
          </a:p>
        </p:txBody>
      </p:sp>
      <p:sp>
        <p:nvSpPr>
          <p:cNvPr id="7" name="Shape 5"/>
          <p:cNvSpPr/>
          <p:nvPr/>
        </p:nvSpPr>
        <p:spPr>
          <a:xfrm>
            <a:off x="822960" y="5532120"/>
            <a:ext cx="10607040" cy="685800"/>
          </a:xfrm>
          <a:prstGeom prst="round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Common failure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“We have roles” (policy) but no consistent enforcement (mechanism).</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Authorization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11/43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Access control models (choose intentionally)</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DAC (Discretionary): owners share at their discretion (common in file sharing)</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MAC (Mandatory): central labels/clearances (military-style)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RBAC: roles → permissions (common in orgs/apps)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ABAC: attributes → decisions (context-aware: time, location, purpose)</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Ethics note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ABAC can become discrimination if attributes encode bias or proxies.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Authorization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12/43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Access control matrix (the mental model)</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Rows: subjects (users/roles/services)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Columns: objects (data/resources)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Cells: allowed operations (read/write/delete/admin)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Implementations are usually ACLs or capabilities</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Practice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In the lab, you will literally build one of these for a scenario.</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Authorization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13/43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Access Control Lists vs capabilities (tradeoffs)</a:t>
            </a:r>
            <a:endParaRPr lang="en-US" sz="3400" dirty="0"/>
          </a:p>
        </p:txBody>
      </p:sp>
      <p:sp>
        <p:nvSpPr>
          <p:cNvPr id="6" name="Shape 4"/>
          <p:cNvSpPr/>
          <p:nvPr/>
        </p:nvSpPr>
        <p:spPr>
          <a:xfrm>
            <a:off x="822960" y="1463040"/>
            <a:ext cx="5394960" cy="4480560"/>
          </a:xfrm>
          <a:prstGeom prst="roundRect">
            <a:avLst/>
          </a:prstGeom>
          <a:solidFill>
            <a:srgbClr val="F3F4F6"/>
          </a:solidFill>
          <a:ln w="12700">
            <a:solidFill>
              <a:srgbClr val="E5E7EB"/>
            </a:solidFill>
            <a:prstDash val="solid"/>
          </a:ln>
        </p:spPr>
        <p:txBody>
          <a:bodyPr/>
          <a:lstStyle/>
          <a:p>
            <a:endParaRPr lang="en-US"/>
          </a:p>
        </p:txBody>
      </p:sp>
      <p:sp>
        <p:nvSpPr>
          <p:cNvPr id="7" name="Text 5"/>
          <p:cNvSpPr/>
          <p:nvPr/>
        </p:nvSpPr>
        <p:spPr>
          <a:xfrm>
            <a:off x="1097280" y="1645920"/>
            <a:ext cx="484632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ACLs (object-centered)</a:t>
            </a:r>
            <a:endParaRPr lang="en-US" sz="1800" dirty="0"/>
          </a:p>
        </p:txBody>
      </p:sp>
      <p:sp>
        <p:nvSpPr>
          <p:cNvPr id="8" name="Text 6"/>
          <p:cNvSpPr/>
          <p:nvPr/>
        </p:nvSpPr>
        <p:spPr>
          <a:xfrm>
            <a:off x="1143000" y="2057400"/>
            <a:ext cx="498348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Easy to answer: who can access this file?</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Centralized management per object</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Revocation can be straightforward</a:t>
            </a:r>
            <a:endParaRPr lang="en-US" sz="1800" dirty="0"/>
          </a:p>
        </p:txBody>
      </p:sp>
      <p:sp>
        <p:nvSpPr>
          <p:cNvPr id="9" name="Shape 7"/>
          <p:cNvSpPr/>
          <p:nvPr/>
        </p:nvSpPr>
        <p:spPr>
          <a:xfrm>
            <a:off x="6355080" y="1463040"/>
            <a:ext cx="5074920" cy="4480560"/>
          </a:xfrm>
          <a:prstGeom prst="roundRect">
            <a:avLst/>
          </a:prstGeom>
          <a:solidFill>
            <a:srgbClr val="F3F4F6"/>
          </a:solidFill>
          <a:ln w="12700">
            <a:solidFill>
              <a:srgbClr val="E5E7EB"/>
            </a:solidFill>
            <a:prstDash val="solid"/>
          </a:ln>
        </p:spPr>
        <p:txBody>
          <a:bodyPr/>
          <a:lstStyle/>
          <a:p>
            <a:endParaRPr lang="en-US"/>
          </a:p>
        </p:txBody>
      </p:sp>
      <p:sp>
        <p:nvSpPr>
          <p:cNvPr id="10" name="Text 8"/>
          <p:cNvSpPr/>
          <p:nvPr/>
        </p:nvSpPr>
        <p:spPr>
          <a:xfrm>
            <a:off x="6629400" y="1645920"/>
            <a:ext cx="457200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Capabilities (subject-centered)</a:t>
            </a:r>
            <a:endParaRPr lang="en-US" sz="1800" dirty="0"/>
          </a:p>
        </p:txBody>
      </p:sp>
      <p:sp>
        <p:nvSpPr>
          <p:cNvPr id="11" name="Text 9"/>
          <p:cNvSpPr/>
          <p:nvPr/>
        </p:nvSpPr>
        <p:spPr>
          <a:xfrm>
            <a:off x="6675120" y="2057400"/>
            <a:ext cx="466344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Easy to delegate a token/handle</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Works well in distributed systems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Revocation can be tricky</a:t>
            </a:r>
            <a:endParaRPr lang="en-US" sz="1800" dirty="0"/>
          </a:p>
        </p:txBody>
      </p:sp>
      <p:sp>
        <p:nvSpPr>
          <p:cNvPr id="12" name="Shape 10"/>
          <p:cNvSpPr/>
          <p:nvPr/>
        </p:nvSpPr>
        <p:spPr>
          <a:xfrm>
            <a:off x="822960" y="5532120"/>
            <a:ext cx="10607040" cy="685800"/>
          </a:xfrm>
          <a:prstGeom prst="roundRect">
            <a:avLst/>
          </a:prstGeom>
          <a:solidFill>
            <a:srgbClr val="6D28D9"/>
          </a:solidFill>
          <a:ln w="12700">
            <a:solidFill>
              <a:srgbClr val="6D28D9"/>
            </a:solidFill>
            <a:prstDash val="solid"/>
          </a:ln>
        </p:spPr>
        <p:txBody>
          <a:bodyPr/>
          <a:lstStyle/>
          <a:p>
            <a:endParaRPr lang="en-US"/>
          </a:p>
        </p:txBody>
      </p:sp>
      <p:sp>
        <p:nvSpPr>
          <p:cNvPr id="13" name="Text 11"/>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Privacy hook</a:t>
            </a:r>
            <a:endParaRPr lang="en-US" sz="1400" dirty="0"/>
          </a:p>
        </p:txBody>
      </p:sp>
      <p:sp>
        <p:nvSpPr>
          <p:cNvPr id="14" name="Text 12"/>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Delegation is power. Track how permissions propagate.</a:t>
            </a:r>
            <a:endParaRPr lang="en-US" sz="1600" dirty="0"/>
          </a:p>
        </p:txBody>
      </p:sp>
      <p:sp>
        <p:nvSpPr>
          <p:cNvPr id="15" name="Shape 13"/>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6" name="Text 14"/>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Authorization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14/43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Principles that keep access control sane</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Least privilege: only the permissions you need, only when you need them</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Separation of duties: split sensitive actions across people/steps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Fail-safe defaults: deny by default, allow explicitly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Complete mediation: check every access, not just the first time</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Design lens</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These are as much ethics as security: they limit power concentration.</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2: Auditing</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15/43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Auditing: accountability vs surveillance</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Why we log: incident response, forensics, fraud detection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What we risk: surveillance, chilling effects, secondary use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Minimize: log what you need, redact, retain briefly, restrict access</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Rule of thumb</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If you wouldn’t show it to the user, question whether you should collect it.</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Chapter 2</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16/43</a:t>
            </a:r>
            <a:endParaRPr lang="en-US" sz="1200" dirty="0"/>
          </a:p>
        </p:txBody>
      </p:sp>
      <p:sp>
        <p:nvSpPr>
          <p:cNvPr id="5" name="Shape 3"/>
          <p:cNvSpPr/>
          <p:nvPr/>
        </p:nvSpPr>
        <p:spPr>
          <a:xfrm>
            <a:off x="0" y="502920"/>
            <a:ext cx="12191695" cy="6355080"/>
          </a:xfrm>
          <a:prstGeom prst="rect">
            <a:avLst/>
          </a:prstGeom>
          <a:solidFill>
            <a:srgbClr val="F3F4F6"/>
          </a:solidFill>
          <a:ln w="12700">
            <a:solidFill>
              <a:srgbClr val="F3F4F6"/>
            </a:solidFill>
            <a:prstDash val="solid"/>
          </a:ln>
        </p:spPr>
        <p:txBody>
          <a:bodyPr/>
          <a:lstStyle/>
          <a:p>
            <a:endParaRPr lang="en-US"/>
          </a:p>
        </p:txBody>
      </p:sp>
      <p:sp>
        <p:nvSpPr>
          <p:cNvPr id="6" name="Text 4"/>
          <p:cNvSpPr/>
          <p:nvPr/>
        </p:nvSpPr>
        <p:spPr>
          <a:xfrm>
            <a:off x="822960" y="1097280"/>
            <a:ext cx="10515600" cy="365760"/>
          </a:xfrm>
          <a:prstGeom prst="rect">
            <a:avLst/>
          </a:prstGeom>
          <a:noFill/>
          <a:ln/>
        </p:spPr>
        <p:txBody>
          <a:bodyPr wrap="square" rtlCol="0" anchor="ctr"/>
          <a:lstStyle/>
          <a:p>
            <a:pPr marL="0" indent="0">
              <a:buNone/>
            </a:pPr>
            <a:r>
              <a:rPr lang="en-US" sz="1400" b="1" dirty="0">
                <a:solidFill>
                  <a:srgbClr val="1AA6B7"/>
                </a:solidFill>
                <a:latin typeface="Aptos" pitchFamily="34" charset="0"/>
                <a:ea typeface="Aptos" pitchFamily="34" charset="-122"/>
                <a:cs typeface="Aptos" pitchFamily="34" charset="-120"/>
              </a:rPr>
              <a:t>CHAPTER 2</a:t>
            </a:r>
            <a:endParaRPr lang="en-US" sz="1400" dirty="0"/>
          </a:p>
        </p:txBody>
      </p:sp>
      <p:sp>
        <p:nvSpPr>
          <p:cNvPr id="7" name="Text 5"/>
          <p:cNvSpPr/>
          <p:nvPr/>
        </p:nvSpPr>
        <p:spPr>
          <a:xfrm>
            <a:off x="822960" y="1508760"/>
            <a:ext cx="10698480" cy="1097280"/>
          </a:xfrm>
          <a:prstGeom prst="rect">
            <a:avLst/>
          </a:prstGeom>
          <a:noFill/>
          <a:ln/>
        </p:spPr>
        <p:txBody>
          <a:bodyPr wrap="square" rtlCol="0" anchor="ctr"/>
          <a:lstStyle/>
          <a:p>
            <a:pPr marL="0" indent="0">
              <a:buNone/>
            </a:pPr>
            <a:r>
              <a:rPr lang="en-US" sz="4400" b="1" dirty="0">
                <a:solidFill>
                  <a:srgbClr val="111827"/>
                </a:solidFill>
                <a:latin typeface="Aptos Display" pitchFamily="34" charset="0"/>
                <a:ea typeface="Aptos Display" pitchFamily="34" charset="-122"/>
                <a:cs typeface="Aptos Display" pitchFamily="34" charset="-120"/>
              </a:rPr>
              <a:t>Cryptography</a:t>
            </a:r>
            <a:endParaRPr lang="en-US" sz="4400" dirty="0"/>
          </a:p>
        </p:txBody>
      </p:sp>
      <p:sp>
        <p:nvSpPr>
          <p:cNvPr id="8" name="Text 6"/>
          <p:cNvSpPr/>
          <p:nvPr/>
        </p:nvSpPr>
        <p:spPr>
          <a:xfrm>
            <a:off x="868680" y="2651760"/>
            <a:ext cx="10515600" cy="731520"/>
          </a:xfrm>
          <a:prstGeom prst="rect">
            <a:avLst/>
          </a:prstGeom>
          <a:noFill/>
          <a:ln/>
        </p:spPr>
        <p:txBody>
          <a:bodyPr wrap="square" rtlCol="0" anchor="ctr"/>
          <a:lstStyle/>
          <a:p>
            <a:pPr marL="0" indent="0">
              <a:buNone/>
            </a:pPr>
            <a:r>
              <a:rPr lang="en-US" sz="1800" dirty="0">
                <a:solidFill>
                  <a:srgbClr val="4B5563"/>
                </a:solidFill>
                <a:latin typeface="Aptos" pitchFamily="34" charset="0"/>
                <a:ea typeface="Aptos" pitchFamily="34" charset="-122"/>
                <a:cs typeface="Aptos" pitchFamily="34" charset="-120"/>
              </a:rPr>
              <a:t>Confidentiality • Integrity • Authenticity</a:t>
            </a:r>
            <a:endParaRPr lang="en-US" sz="1800" dirty="0"/>
          </a:p>
          <a:p>
            <a:pPr marL="0" indent="0">
              <a:buNone/>
            </a:pPr>
            <a:r>
              <a:rPr lang="en-US" sz="1800" dirty="0">
                <a:solidFill>
                  <a:srgbClr val="4B5563"/>
                </a:solidFill>
                <a:latin typeface="Aptos" pitchFamily="34" charset="0"/>
                <a:ea typeface="Aptos" pitchFamily="34" charset="-122"/>
                <a:cs typeface="Aptos" pitchFamily="34" charset="-120"/>
              </a:rPr>
              <a:t>Crypto is powerful — but it does not fix broken authorization.</a:t>
            </a:r>
            <a:endParaRPr lang="en-US" sz="1800" dirty="0"/>
          </a:p>
        </p:txBody>
      </p:sp>
      <p:sp>
        <p:nvSpPr>
          <p:cNvPr id="9" name="Shape 7"/>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0" name="Text 8"/>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Crypto</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17/43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Three crypto jobs (memorize these)</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Confidentiality: keep data secret (encryption)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Integrity: detect tampering (hash/MAC)</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Authenticity / non-repudiation: prove who created something (signatures)</a:t>
            </a:r>
            <a:endParaRPr lang="en-US" sz="2000" dirty="0"/>
          </a:p>
        </p:txBody>
      </p:sp>
      <p:sp>
        <p:nvSpPr>
          <p:cNvPr id="7" name="Shape 5"/>
          <p:cNvSpPr/>
          <p:nvPr/>
        </p:nvSpPr>
        <p:spPr>
          <a:xfrm>
            <a:off x="822960" y="5532120"/>
            <a:ext cx="10607040" cy="685800"/>
          </a:xfrm>
          <a:prstGeom prst="round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Check</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Encryption ≠ integrity. A ciphertext can be modified unless integrity is included.</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Crypto</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18/43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Symmetric vs asymmetric (when to use what)</a:t>
            </a:r>
            <a:endParaRPr lang="en-US" sz="3400" dirty="0"/>
          </a:p>
        </p:txBody>
      </p:sp>
      <p:sp>
        <p:nvSpPr>
          <p:cNvPr id="6" name="Shape 4"/>
          <p:cNvSpPr/>
          <p:nvPr/>
        </p:nvSpPr>
        <p:spPr>
          <a:xfrm>
            <a:off x="822960" y="1463040"/>
            <a:ext cx="5394960" cy="4480560"/>
          </a:xfrm>
          <a:prstGeom prst="roundRect">
            <a:avLst/>
          </a:prstGeom>
          <a:solidFill>
            <a:srgbClr val="F3F4F6"/>
          </a:solidFill>
          <a:ln w="12700">
            <a:solidFill>
              <a:srgbClr val="E5E7EB"/>
            </a:solidFill>
            <a:prstDash val="solid"/>
          </a:ln>
        </p:spPr>
        <p:txBody>
          <a:bodyPr/>
          <a:lstStyle/>
          <a:p>
            <a:endParaRPr lang="en-US"/>
          </a:p>
        </p:txBody>
      </p:sp>
      <p:sp>
        <p:nvSpPr>
          <p:cNvPr id="7" name="Text 5"/>
          <p:cNvSpPr/>
          <p:nvPr/>
        </p:nvSpPr>
        <p:spPr>
          <a:xfrm>
            <a:off x="1097280" y="1645920"/>
            <a:ext cx="484632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Symmetric (one shared key)</a:t>
            </a:r>
            <a:endParaRPr lang="en-US" sz="1800" dirty="0"/>
          </a:p>
        </p:txBody>
      </p:sp>
      <p:sp>
        <p:nvSpPr>
          <p:cNvPr id="8" name="Text 6"/>
          <p:cNvSpPr/>
          <p:nvPr/>
        </p:nvSpPr>
        <p:spPr>
          <a:xfrm>
            <a:off x="1143000" y="2057400"/>
            <a:ext cx="498348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Fast</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Great for bulk data</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Key distribution is the hard part</a:t>
            </a:r>
            <a:endParaRPr lang="en-US" sz="1800" dirty="0"/>
          </a:p>
        </p:txBody>
      </p:sp>
      <p:sp>
        <p:nvSpPr>
          <p:cNvPr id="9" name="Shape 7"/>
          <p:cNvSpPr/>
          <p:nvPr/>
        </p:nvSpPr>
        <p:spPr>
          <a:xfrm>
            <a:off x="6355080" y="1463040"/>
            <a:ext cx="5074920" cy="4480560"/>
          </a:xfrm>
          <a:prstGeom prst="roundRect">
            <a:avLst/>
          </a:prstGeom>
          <a:solidFill>
            <a:srgbClr val="F3F4F6"/>
          </a:solidFill>
          <a:ln w="12700">
            <a:solidFill>
              <a:srgbClr val="E5E7EB"/>
            </a:solidFill>
            <a:prstDash val="solid"/>
          </a:ln>
        </p:spPr>
        <p:txBody>
          <a:bodyPr/>
          <a:lstStyle/>
          <a:p>
            <a:endParaRPr lang="en-US"/>
          </a:p>
        </p:txBody>
      </p:sp>
      <p:sp>
        <p:nvSpPr>
          <p:cNvPr id="10" name="Text 8"/>
          <p:cNvSpPr/>
          <p:nvPr/>
        </p:nvSpPr>
        <p:spPr>
          <a:xfrm>
            <a:off x="6629400" y="1645920"/>
            <a:ext cx="457200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Asymmetric (public/private keys)</a:t>
            </a:r>
            <a:endParaRPr lang="en-US" sz="1800" dirty="0"/>
          </a:p>
        </p:txBody>
      </p:sp>
      <p:sp>
        <p:nvSpPr>
          <p:cNvPr id="11" name="Text 9"/>
          <p:cNvSpPr/>
          <p:nvPr/>
        </p:nvSpPr>
        <p:spPr>
          <a:xfrm>
            <a:off x="6675120" y="2057400"/>
            <a:ext cx="466344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Solves key exchange at scale</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Enables signatures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Slower; often used to establish symmetric keys</a:t>
            </a:r>
            <a:endParaRPr lang="en-US" sz="1800" dirty="0"/>
          </a:p>
        </p:txBody>
      </p:sp>
      <p:sp>
        <p:nvSpPr>
          <p:cNvPr id="12" name="Shape 10"/>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13" name="Text 11"/>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Reality</a:t>
            </a:r>
            <a:endParaRPr lang="en-US" sz="1400" dirty="0"/>
          </a:p>
        </p:txBody>
      </p:sp>
      <p:sp>
        <p:nvSpPr>
          <p:cNvPr id="14" name="Text 12"/>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Most systems use both: public key to set up, symmetric to communicate.</a:t>
            </a:r>
            <a:endParaRPr lang="en-US" sz="1600" dirty="0"/>
          </a:p>
        </p:txBody>
      </p:sp>
      <p:sp>
        <p:nvSpPr>
          <p:cNvPr id="15" name="Shape 13"/>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6" name="Text 14"/>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Crypto</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19/43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Hashes, MACs, and signatures (don’t blur them)</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Hash: fingerprint of data (no key) — detects accidental or malicious changes (with context)</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MAC: keyed integrity — proves “someone with the key wrote this”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Signature: private-key proof — verifies identity with public key</a:t>
            </a:r>
            <a:endParaRPr lang="en-US" sz="2000" dirty="0"/>
          </a:p>
        </p:txBody>
      </p:sp>
      <p:sp>
        <p:nvSpPr>
          <p:cNvPr id="7" name="Shape 5"/>
          <p:cNvSpPr/>
          <p:nvPr/>
        </p:nvSpPr>
        <p:spPr>
          <a:xfrm>
            <a:off x="822960" y="5532120"/>
            <a:ext cx="10607040" cy="685800"/>
          </a:xfrm>
          <a:prstGeom prst="round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Common misuse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A plain hash does not prove who sent the message.</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Crypto</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20/43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Key management is the real cryptography</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Keys must be generated securely (good randomness)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Keys must be stored securely (HSM/KMS/secrets manager)</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Keys must rotate and be revocable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Access to keys is an access control problem</a:t>
            </a:r>
            <a:endParaRPr lang="en-US" sz="2000" dirty="0"/>
          </a:p>
        </p:txBody>
      </p:sp>
      <p:sp>
        <p:nvSpPr>
          <p:cNvPr id="7" name="Shape 5"/>
          <p:cNvSpPr/>
          <p:nvPr/>
        </p:nvSpPr>
        <p:spPr>
          <a:xfrm>
            <a:off x="822960" y="5532120"/>
            <a:ext cx="10607040" cy="685800"/>
          </a:xfrm>
          <a:prstGeom prst="round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Uncomfortable truth</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If attackers get the keys, encryption becomes decoration.</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Crypto</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21/43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Crypto + privacy: what it helps, what it can’t solve</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Helps: protect data in transit and at rest from outsiders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Doesn’t solve: misuse by insiders or authorized systems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Doesn’t solve: collection/retention harms (you can encrypt too much data)</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Ethical prompt: who controls decryption and under what governance?</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Takeaway</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Privacy is about limits; encryption is about protection within those limits.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Chapter 3</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22/43</a:t>
            </a:r>
            <a:endParaRPr lang="en-US" sz="1200" dirty="0"/>
          </a:p>
        </p:txBody>
      </p:sp>
      <p:sp>
        <p:nvSpPr>
          <p:cNvPr id="5" name="Shape 3"/>
          <p:cNvSpPr/>
          <p:nvPr/>
        </p:nvSpPr>
        <p:spPr>
          <a:xfrm>
            <a:off x="0" y="502920"/>
            <a:ext cx="12191695" cy="6355080"/>
          </a:xfrm>
          <a:prstGeom prst="rect">
            <a:avLst/>
          </a:prstGeom>
          <a:solidFill>
            <a:srgbClr val="F3F4F6"/>
          </a:solidFill>
          <a:ln w="12700">
            <a:solidFill>
              <a:srgbClr val="F3F4F6"/>
            </a:solidFill>
            <a:prstDash val="solid"/>
          </a:ln>
        </p:spPr>
        <p:txBody>
          <a:bodyPr/>
          <a:lstStyle/>
          <a:p>
            <a:endParaRPr lang="en-US"/>
          </a:p>
        </p:txBody>
      </p:sp>
      <p:sp>
        <p:nvSpPr>
          <p:cNvPr id="6" name="Text 4"/>
          <p:cNvSpPr/>
          <p:nvPr/>
        </p:nvSpPr>
        <p:spPr>
          <a:xfrm>
            <a:off x="822960" y="1097280"/>
            <a:ext cx="10515600" cy="365760"/>
          </a:xfrm>
          <a:prstGeom prst="rect">
            <a:avLst/>
          </a:prstGeom>
          <a:noFill/>
          <a:ln/>
        </p:spPr>
        <p:txBody>
          <a:bodyPr wrap="square" rtlCol="0" anchor="ctr"/>
          <a:lstStyle/>
          <a:p>
            <a:pPr marL="0" indent="0">
              <a:buNone/>
            </a:pPr>
            <a:r>
              <a:rPr lang="en-US" sz="1400" b="1" dirty="0">
                <a:solidFill>
                  <a:srgbClr val="1AA6B7"/>
                </a:solidFill>
                <a:latin typeface="Aptos" pitchFamily="34" charset="0"/>
                <a:ea typeface="Aptos" pitchFamily="34" charset="-122"/>
                <a:cs typeface="Aptos" pitchFamily="34" charset="-120"/>
              </a:rPr>
              <a:t>CHAPTER 3</a:t>
            </a:r>
            <a:endParaRPr lang="en-US" sz="1400" dirty="0"/>
          </a:p>
        </p:txBody>
      </p:sp>
      <p:sp>
        <p:nvSpPr>
          <p:cNvPr id="7" name="Text 5"/>
          <p:cNvSpPr/>
          <p:nvPr/>
        </p:nvSpPr>
        <p:spPr>
          <a:xfrm>
            <a:off x="822960" y="1508760"/>
            <a:ext cx="10698480" cy="1097280"/>
          </a:xfrm>
          <a:prstGeom prst="rect">
            <a:avLst/>
          </a:prstGeom>
          <a:noFill/>
          <a:ln/>
        </p:spPr>
        <p:txBody>
          <a:bodyPr wrap="square" rtlCol="0" anchor="ctr"/>
          <a:lstStyle/>
          <a:p>
            <a:pPr marL="0" indent="0">
              <a:buNone/>
            </a:pPr>
            <a:r>
              <a:rPr lang="en-US" sz="4400" b="1" dirty="0">
                <a:solidFill>
                  <a:srgbClr val="111827"/>
                </a:solidFill>
                <a:latin typeface="Aptos Display" pitchFamily="34" charset="0"/>
                <a:ea typeface="Aptos Display" pitchFamily="34" charset="-122"/>
                <a:cs typeface="Aptos Display" pitchFamily="34" charset="-120"/>
              </a:rPr>
              <a:t>Programs &amp; Programming</a:t>
            </a:r>
            <a:endParaRPr lang="en-US" sz="4400" dirty="0"/>
          </a:p>
        </p:txBody>
      </p:sp>
      <p:sp>
        <p:nvSpPr>
          <p:cNvPr id="8" name="Text 6"/>
          <p:cNvSpPr/>
          <p:nvPr/>
        </p:nvSpPr>
        <p:spPr>
          <a:xfrm>
            <a:off x="868680" y="2651760"/>
            <a:ext cx="10515600" cy="731520"/>
          </a:xfrm>
          <a:prstGeom prst="rect">
            <a:avLst/>
          </a:prstGeom>
          <a:noFill/>
          <a:ln/>
        </p:spPr>
        <p:txBody>
          <a:bodyPr wrap="square" rtlCol="0" anchor="ctr"/>
          <a:lstStyle/>
          <a:p>
            <a:pPr marL="0" indent="0">
              <a:buNone/>
            </a:pPr>
            <a:r>
              <a:rPr lang="en-US" sz="1800" dirty="0">
                <a:solidFill>
                  <a:srgbClr val="4B5563"/>
                </a:solidFill>
                <a:latin typeface="Aptos" pitchFamily="34" charset="0"/>
                <a:ea typeface="Aptos" pitchFamily="34" charset="-122"/>
                <a:cs typeface="Aptos" pitchFamily="34" charset="-120"/>
              </a:rPr>
              <a:t>Why code is a security boundary</a:t>
            </a:r>
            <a:endParaRPr lang="en-US" sz="1800" dirty="0"/>
          </a:p>
          <a:p>
            <a:pPr marL="0" indent="0">
              <a:buNone/>
            </a:pPr>
            <a:r>
              <a:rPr lang="en-US" sz="1800" dirty="0">
                <a:solidFill>
                  <a:srgbClr val="4B5563"/>
                </a:solidFill>
                <a:latin typeface="Aptos" pitchFamily="34" charset="0"/>
                <a:ea typeface="Aptos" pitchFamily="34" charset="-122"/>
                <a:cs typeface="Aptos" pitchFamily="34" charset="-120"/>
              </a:rPr>
              <a:t>…and why “normal bugs” become security incidents.</a:t>
            </a:r>
            <a:endParaRPr lang="en-US" sz="1800" dirty="0"/>
          </a:p>
        </p:txBody>
      </p:sp>
      <p:sp>
        <p:nvSpPr>
          <p:cNvPr id="9" name="Shape 7"/>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0" name="Text 8"/>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Core idea</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23/43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Code is where trust meets reality</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Every program enforces assumptions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Attackers search for assumption violations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Trust boundaries: where data crosses from untrusted → trusted</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Security programming is about validating, constraining, and checking</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Mantra</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Be kind to users; be strict with inputs.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Vulnerabilities</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24/43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Vulnerability class: Injection</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Untrusted input changes the meaning of a command or query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Classic: SQL injection, shell injection, template injection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Defense: parameterized queries, strict APIs, least-privileged DB accounts</a:t>
            </a:r>
            <a:endParaRPr lang="en-US" sz="2000" dirty="0"/>
          </a:p>
        </p:txBody>
      </p:sp>
      <p:sp>
        <p:nvSpPr>
          <p:cNvPr id="7" name="Shape 5"/>
          <p:cNvSpPr/>
          <p:nvPr/>
        </p:nvSpPr>
        <p:spPr>
          <a:xfrm>
            <a:off x="822960" y="5532120"/>
            <a:ext cx="10607040" cy="685800"/>
          </a:xfrm>
          <a:prstGeom prst="round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Check</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Sanitizing strings is fragile. Parameterize instead.</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Vulnerabilities</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25/43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Vulnerability class: Broken access control</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The system fails to enforce authorization rules consistently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Common: IDOR (insecure direct object references), missing checks, privilege escalation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Defense: server-side checks everywhere, deny-by-default, test authorization paths</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Ethics note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Access control failures often become privacy incidents (exposed records).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Vulnerabilities</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26/43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Vulnerability class: XSS (and output encoding)</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Attacker-controlled content runs as code in a victim’s browser</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Often from unescaped HTML or unsafe templating</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Defense: output encoding, safe templating, Content Security Policy (CSP)</a:t>
            </a:r>
            <a:endParaRPr lang="en-US" sz="2000" dirty="0"/>
          </a:p>
        </p:txBody>
      </p:sp>
      <p:sp>
        <p:nvSpPr>
          <p:cNvPr id="7" name="Shape 5"/>
          <p:cNvSpPr/>
          <p:nvPr/>
        </p:nvSpPr>
        <p:spPr>
          <a:xfrm>
            <a:off x="822960" y="5532120"/>
            <a:ext cx="10607040" cy="685800"/>
          </a:xfrm>
          <a:prstGeom prst="roundRect">
            <a:avLst/>
          </a:prstGeom>
          <a:solidFill>
            <a:srgbClr val="6D28D9"/>
          </a:solidFill>
          <a:ln w="12700">
            <a:solidFill>
              <a:srgbClr val="6D28D9"/>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Security meets ethics</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XSS can become account takeover → impersonation → targeted harm.</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Vulnerabilities</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27/43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Vulnerability class: Memory safety failures</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Buffer overflows, use-after-free, out-of-bounds reads/writes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Often language/runtime dependent (C/C++ risk, but not only)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Defense: safer languages, compiler hardening, fuzzing, bounds checks</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Teaching note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We focus on prevention patterns—not exploit steps.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Vulnerabilities</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28/43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Vulnerability class: Insecure deserialization / parsing</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Untrusted data becomes objects/commands with side effects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Risky when “constructors” execute logic implicitly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Defense: safe formats, strict schemas, allowlists, avoid eval-like behavior</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Privacy note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Parsers often touch sensitive data—crashes can leak via logs.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Vulnerabilities</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29/43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Vulnerability class: Secrets handling</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API keys in repos, tokens in logs, credentials in screenshots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Defense: secrets managers, short-lived tokens, redaction, least privilege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Ethical angle: incidents often expose user data + developer data</a:t>
            </a:r>
            <a:endParaRPr lang="en-US" sz="2000" dirty="0"/>
          </a:p>
        </p:txBody>
      </p:sp>
      <p:sp>
        <p:nvSpPr>
          <p:cNvPr id="7" name="Shape 5"/>
          <p:cNvSpPr/>
          <p:nvPr/>
        </p:nvSpPr>
        <p:spPr>
          <a:xfrm>
            <a:off x="822960" y="5532120"/>
            <a:ext cx="10607040" cy="685800"/>
          </a:xfrm>
          <a:prstGeom prst="round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Reality check</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If a secret can be copied, it will eventually be copied.</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Secure design</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30/43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Secure design principles (classic set)</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Economy of mechanism: keep it simple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Open design: don’t rely on secrecy of design</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Least privilege: minimize authority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Complete mediation: check every access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Psychological acceptability: usable security people will actually do</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Ethics tie-in</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Usability is not fluff; unusable security shifts burden onto people.</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Ch 3: Practice</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31/43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Secure coding: patterns that scale</a:t>
            </a:r>
            <a:endParaRPr lang="en-US" sz="3400" dirty="0"/>
          </a:p>
        </p:txBody>
      </p:sp>
      <p:sp>
        <p:nvSpPr>
          <p:cNvPr id="6" name="Shape 4"/>
          <p:cNvSpPr/>
          <p:nvPr/>
        </p:nvSpPr>
        <p:spPr>
          <a:xfrm>
            <a:off x="822960" y="1463040"/>
            <a:ext cx="5394960" cy="4480560"/>
          </a:xfrm>
          <a:prstGeom prst="roundRect">
            <a:avLst/>
          </a:prstGeom>
          <a:solidFill>
            <a:srgbClr val="F3F4F6"/>
          </a:solidFill>
          <a:ln w="12700">
            <a:solidFill>
              <a:srgbClr val="E5E7EB"/>
            </a:solidFill>
            <a:prstDash val="solid"/>
          </a:ln>
        </p:spPr>
        <p:txBody>
          <a:bodyPr/>
          <a:lstStyle/>
          <a:p>
            <a:endParaRPr lang="en-US"/>
          </a:p>
        </p:txBody>
      </p:sp>
      <p:sp>
        <p:nvSpPr>
          <p:cNvPr id="7" name="Text 5"/>
          <p:cNvSpPr/>
          <p:nvPr/>
        </p:nvSpPr>
        <p:spPr>
          <a:xfrm>
            <a:off x="1097280" y="1645920"/>
            <a:ext cx="484632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Boundary patterns</a:t>
            </a:r>
            <a:endParaRPr lang="en-US" sz="1800" dirty="0"/>
          </a:p>
        </p:txBody>
      </p:sp>
      <p:sp>
        <p:nvSpPr>
          <p:cNvPr id="8" name="Text 6"/>
          <p:cNvSpPr/>
          <p:nvPr/>
        </p:nvSpPr>
        <p:spPr>
          <a:xfrm>
            <a:off x="1143000" y="2057400"/>
            <a:ext cx="498348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Validate input at trust boundaries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Use allowlists over denylists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Encode output by context</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Parameterize queries/commands</a:t>
            </a:r>
            <a:endParaRPr lang="en-US" sz="1800" dirty="0"/>
          </a:p>
        </p:txBody>
      </p:sp>
      <p:sp>
        <p:nvSpPr>
          <p:cNvPr id="9" name="Shape 7"/>
          <p:cNvSpPr/>
          <p:nvPr/>
        </p:nvSpPr>
        <p:spPr>
          <a:xfrm>
            <a:off x="6355080" y="1463040"/>
            <a:ext cx="5074920" cy="4480560"/>
          </a:xfrm>
          <a:prstGeom prst="roundRect">
            <a:avLst/>
          </a:prstGeom>
          <a:solidFill>
            <a:srgbClr val="F3F4F6"/>
          </a:solidFill>
          <a:ln w="12700">
            <a:solidFill>
              <a:srgbClr val="E5E7EB"/>
            </a:solidFill>
            <a:prstDash val="solid"/>
          </a:ln>
        </p:spPr>
        <p:txBody>
          <a:bodyPr/>
          <a:lstStyle/>
          <a:p>
            <a:endParaRPr lang="en-US"/>
          </a:p>
        </p:txBody>
      </p:sp>
      <p:sp>
        <p:nvSpPr>
          <p:cNvPr id="10" name="Text 8"/>
          <p:cNvSpPr/>
          <p:nvPr/>
        </p:nvSpPr>
        <p:spPr>
          <a:xfrm>
            <a:off x="6629400" y="1645920"/>
            <a:ext cx="457200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Process patterns</a:t>
            </a:r>
            <a:endParaRPr lang="en-US" sz="1800" dirty="0"/>
          </a:p>
        </p:txBody>
      </p:sp>
      <p:sp>
        <p:nvSpPr>
          <p:cNvPr id="11" name="Text 9"/>
          <p:cNvSpPr/>
          <p:nvPr/>
        </p:nvSpPr>
        <p:spPr>
          <a:xfrm>
            <a:off x="6675120" y="2057400"/>
            <a:ext cx="4663440" cy="3749040"/>
          </a:xfrm>
          <a:prstGeom prst="rect">
            <a:avLst/>
          </a:prstGeom>
          <a:noFill/>
          <a:ln/>
        </p:spPr>
        <p:txBody>
          <a:bodyPr wrap="square" rtlCol="0" anchor="t"/>
          <a:lstStyle/>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Code review + threat modeling</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Static analysis + dependency scanning</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Fuzzing for parsers &amp; edge cases</a:t>
            </a:r>
            <a:endParaRPr lang="en-US" sz="1800" dirty="0"/>
          </a:p>
          <a:p>
            <a:pPr marL="254000" indent="-254000">
              <a:spcAft>
                <a:spcPts val="600"/>
              </a:spcAft>
              <a:buSzPct val="100000"/>
              <a:buChar char="•"/>
            </a:pPr>
            <a:r>
              <a:rPr lang="en-US" sz="1800" dirty="0">
                <a:solidFill>
                  <a:srgbClr val="111827"/>
                </a:solidFill>
                <a:latin typeface="Aptos" pitchFamily="34" charset="0"/>
                <a:ea typeface="Aptos" pitchFamily="34" charset="-122"/>
                <a:cs typeface="Aptos" pitchFamily="34" charset="-120"/>
              </a:rPr>
              <a:t>Security tests for authorization</a:t>
            </a:r>
            <a:endParaRPr lang="en-US" sz="1800" dirty="0"/>
          </a:p>
        </p:txBody>
      </p:sp>
      <p:sp>
        <p:nvSpPr>
          <p:cNvPr id="12" name="Shape 10"/>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13" name="Text 11"/>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Takeaway</a:t>
            </a:r>
            <a:endParaRPr lang="en-US" sz="1400" dirty="0"/>
          </a:p>
        </p:txBody>
      </p:sp>
      <p:sp>
        <p:nvSpPr>
          <p:cNvPr id="14" name="Text 12"/>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Security is a system: code + process + culture.</a:t>
            </a:r>
            <a:endParaRPr lang="en-US" sz="1600" dirty="0"/>
          </a:p>
        </p:txBody>
      </p:sp>
      <p:sp>
        <p:nvSpPr>
          <p:cNvPr id="15" name="Shape 13"/>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6" name="Text 14"/>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Bridge</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32/43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Connecting Ch 2 → Ch 3</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Authn without authz → anyone who logs in can see everything</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Authz without complete mediation → bypass through a forgotten endpoint</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Crypto without key governance → “encrypted” data leaks anyway</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Logs without privacy design → security tooling becomes surveillance</a:t>
            </a:r>
            <a:endParaRPr lang="en-US" sz="2000" dirty="0"/>
          </a:p>
        </p:txBody>
      </p:sp>
      <p:sp>
        <p:nvSpPr>
          <p:cNvPr id="7" name="Shape 5"/>
          <p:cNvSpPr/>
          <p:nvPr/>
        </p:nvSpPr>
        <p:spPr>
          <a:xfrm>
            <a:off x="822960" y="5532120"/>
            <a:ext cx="10607040" cy="685800"/>
          </a:xfrm>
          <a:prstGeom prst="roundRect">
            <a:avLst/>
          </a:prstGeom>
          <a:solidFill>
            <a:srgbClr val="6D28D9"/>
          </a:solidFill>
          <a:ln w="12700">
            <a:solidFill>
              <a:srgbClr val="6D28D9"/>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One sentence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Controls fail at boundaries — human boundaries and code boundaries.</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Lab</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33/43</a:t>
            </a:r>
            <a:endParaRPr lang="en-US" sz="1200" dirty="0"/>
          </a:p>
        </p:txBody>
      </p:sp>
      <p:sp>
        <p:nvSpPr>
          <p:cNvPr id="5" name="Shape 3"/>
          <p:cNvSpPr/>
          <p:nvPr/>
        </p:nvSpPr>
        <p:spPr>
          <a:xfrm>
            <a:off x="0" y="502920"/>
            <a:ext cx="12191695" cy="6355080"/>
          </a:xfrm>
          <a:prstGeom prst="rect">
            <a:avLst/>
          </a:prstGeom>
          <a:solidFill>
            <a:srgbClr val="F3F4F6"/>
          </a:solidFill>
          <a:ln w="12700">
            <a:solidFill>
              <a:srgbClr val="F3F4F6"/>
            </a:solidFill>
            <a:prstDash val="solid"/>
          </a:ln>
        </p:spPr>
        <p:txBody>
          <a:bodyPr/>
          <a:lstStyle/>
          <a:p>
            <a:endParaRPr lang="en-US"/>
          </a:p>
        </p:txBody>
      </p:sp>
      <p:sp>
        <p:nvSpPr>
          <p:cNvPr id="6" name="Text 4"/>
          <p:cNvSpPr/>
          <p:nvPr/>
        </p:nvSpPr>
        <p:spPr>
          <a:xfrm>
            <a:off x="822960" y="1097280"/>
            <a:ext cx="10515600" cy="365760"/>
          </a:xfrm>
          <a:prstGeom prst="rect">
            <a:avLst/>
          </a:prstGeom>
          <a:noFill/>
          <a:ln/>
        </p:spPr>
        <p:txBody>
          <a:bodyPr wrap="square" rtlCol="0" anchor="ctr"/>
          <a:lstStyle/>
          <a:p>
            <a:pPr marL="0" indent="0">
              <a:buNone/>
            </a:pPr>
            <a:r>
              <a:rPr lang="en-US" sz="1400" b="1" dirty="0">
                <a:solidFill>
                  <a:srgbClr val="1AA6B7"/>
                </a:solidFill>
                <a:latin typeface="Aptos" pitchFamily="34" charset="0"/>
                <a:ea typeface="Aptos" pitchFamily="34" charset="-122"/>
                <a:cs typeface="Aptos" pitchFamily="34" charset="-120"/>
              </a:rPr>
              <a:t>IN‑CLASS LAB</a:t>
            </a:r>
            <a:endParaRPr lang="en-US" sz="1400" dirty="0"/>
          </a:p>
        </p:txBody>
      </p:sp>
      <p:sp>
        <p:nvSpPr>
          <p:cNvPr id="7" name="Text 5"/>
          <p:cNvSpPr/>
          <p:nvPr/>
        </p:nvSpPr>
        <p:spPr>
          <a:xfrm>
            <a:off x="822960" y="1508760"/>
            <a:ext cx="10698480" cy="1097280"/>
          </a:xfrm>
          <a:prstGeom prst="rect">
            <a:avLst/>
          </a:prstGeom>
          <a:noFill/>
          <a:ln/>
        </p:spPr>
        <p:txBody>
          <a:bodyPr wrap="square" rtlCol="0" anchor="ctr"/>
          <a:lstStyle/>
          <a:p>
            <a:pPr marL="0" indent="0">
              <a:buNone/>
            </a:pPr>
            <a:r>
              <a:rPr lang="en-US" sz="4400" b="1" dirty="0">
                <a:solidFill>
                  <a:srgbClr val="111827"/>
                </a:solidFill>
                <a:latin typeface="Aptos Display" pitchFamily="34" charset="0"/>
                <a:ea typeface="Aptos Display" pitchFamily="34" charset="-122"/>
                <a:cs typeface="Aptos Display" pitchFamily="34" charset="-120"/>
              </a:rPr>
              <a:t>Design + Implement (Defensive)</a:t>
            </a:r>
            <a:endParaRPr lang="en-US" sz="4400" dirty="0"/>
          </a:p>
        </p:txBody>
      </p:sp>
      <p:sp>
        <p:nvSpPr>
          <p:cNvPr id="8" name="Text 6"/>
          <p:cNvSpPr/>
          <p:nvPr/>
        </p:nvSpPr>
        <p:spPr>
          <a:xfrm>
            <a:off x="868680" y="2651760"/>
            <a:ext cx="10515600" cy="731520"/>
          </a:xfrm>
          <a:prstGeom prst="rect">
            <a:avLst/>
          </a:prstGeom>
          <a:noFill/>
          <a:ln/>
        </p:spPr>
        <p:txBody>
          <a:bodyPr wrap="square" rtlCol="0" anchor="ctr"/>
          <a:lstStyle/>
          <a:p>
            <a:pPr marL="0" indent="0">
              <a:buNone/>
            </a:pPr>
            <a:r>
              <a:rPr lang="en-US" sz="1800" dirty="0">
                <a:solidFill>
                  <a:srgbClr val="4B5563"/>
                </a:solidFill>
                <a:latin typeface="Aptos" pitchFamily="34" charset="0"/>
                <a:ea typeface="Aptos" pitchFamily="34" charset="-122"/>
                <a:cs typeface="Aptos" pitchFamily="34" charset="-120"/>
              </a:rPr>
              <a:t>Part A: access control policy</a:t>
            </a:r>
            <a:endParaRPr lang="en-US" sz="1800" dirty="0"/>
          </a:p>
          <a:p>
            <a:pPr marL="0" indent="0">
              <a:buNone/>
            </a:pPr>
            <a:r>
              <a:rPr lang="en-US" sz="1800" dirty="0">
                <a:solidFill>
                  <a:srgbClr val="4B5563"/>
                </a:solidFill>
                <a:latin typeface="Aptos" pitchFamily="34" charset="0"/>
                <a:ea typeface="Aptos" pitchFamily="34" charset="-122"/>
                <a:cs typeface="Aptos" pitchFamily="34" charset="-120"/>
              </a:rPr>
              <a:t>Part B: safe password storage</a:t>
            </a:r>
            <a:endParaRPr lang="en-US" sz="1800" dirty="0"/>
          </a:p>
          <a:p>
            <a:pPr marL="0" indent="0">
              <a:buNone/>
            </a:pPr>
            <a:r>
              <a:rPr lang="en-US" sz="1800" dirty="0">
                <a:solidFill>
                  <a:srgbClr val="4B5563"/>
                </a:solidFill>
                <a:latin typeface="Aptos" pitchFamily="34" charset="0"/>
                <a:ea typeface="Aptos" pitchFamily="34" charset="-122"/>
                <a:cs typeface="Aptos" pitchFamily="34" charset="-120"/>
              </a:rPr>
              <a:t>Part C: privacy-aware logging choices</a:t>
            </a:r>
            <a:endParaRPr lang="en-US" sz="1800" dirty="0"/>
          </a:p>
        </p:txBody>
      </p:sp>
      <p:sp>
        <p:nvSpPr>
          <p:cNvPr id="9" name="Shape 7"/>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0" name="Text 8"/>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Lab A</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34/43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Lab A (10–12 min): Access control design</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Scenario: Student Support Portal (SSP) stores sensitive notes and referrals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Roles: student, counselor, instructor, admin, auditor</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Objects: student_profile, referral, session_notes, appointment, audit_log</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Task: build an access control matrix + choose RBAC or ABAC</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Deliverable: Describe The System</a:t>
            </a:r>
            <a:endParaRPr lang="en-US" sz="2000" dirty="0"/>
          </a:p>
        </p:txBody>
      </p:sp>
      <p:sp>
        <p:nvSpPr>
          <p:cNvPr id="7" name="Shape 5"/>
          <p:cNvSpPr/>
          <p:nvPr/>
        </p:nvSpPr>
        <p:spPr>
          <a:xfrm>
            <a:off x="822960" y="5532120"/>
            <a:ext cx="10607040" cy="685800"/>
          </a:xfrm>
          <a:prstGeom prst="round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Privacy constraint</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Counselor notes are highly sensitive; instructor access is tightly limited.</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Lab A</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35/43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Lab A checklist (use this to sanity-check)</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Least privilege: does anyone have broad read “just because”?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Separation of duties: who approves exports or role changes?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Complete mediation: where will checks live in code?</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Audit design: what gets logged, who can see logs, retention period</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Equity: who gets locked out by your design? (device, time, process)</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Instructor tip</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If your policy is hard to describe, it will be harder to implement securely.</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Writing</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39/43</a:t>
            </a:r>
            <a:endParaRPr lang="en-US" sz="1200" dirty="0"/>
          </a:p>
        </p:txBody>
      </p:sp>
      <p:sp>
        <p:nvSpPr>
          <p:cNvPr id="5" name="Shape 3"/>
          <p:cNvSpPr/>
          <p:nvPr/>
        </p:nvSpPr>
        <p:spPr>
          <a:xfrm>
            <a:off x="0" y="502920"/>
            <a:ext cx="12191695" cy="6355080"/>
          </a:xfrm>
          <a:prstGeom prst="rect">
            <a:avLst/>
          </a:prstGeom>
          <a:solidFill>
            <a:srgbClr val="F3F4F6"/>
          </a:solidFill>
          <a:ln w="12700">
            <a:solidFill>
              <a:srgbClr val="F3F4F6"/>
            </a:solidFill>
            <a:prstDash val="solid"/>
          </a:ln>
        </p:spPr>
        <p:txBody>
          <a:bodyPr/>
          <a:lstStyle/>
          <a:p>
            <a:endParaRPr lang="en-US"/>
          </a:p>
        </p:txBody>
      </p:sp>
      <p:sp>
        <p:nvSpPr>
          <p:cNvPr id="6" name="Text 4"/>
          <p:cNvSpPr/>
          <p:nvPr/>
        </p:nvSpPr>
        <p:spPr>
          <a:xfrm>
            <a:off x="822960" y="1097280"/>
            <a:ext cx="10515600" cy="365760"/>
          </a:xfrm>
          <a:prstGeom prst="rect">
            <a:avLst/>
          </a:prstGeom>
          <a:noFill/>
          <a:ln/>
        </p:spPr>
        <p:txBody>
          <a:bodyPr wrap="square" rtlCol="0" anchor="ctr"/>
          <a:lstStyle/>
          <a:p>
            <a:pPr marL="0" indent="0">
              <a:buNone/>
            </a:pPr>
            <a:r>
              <a:rPr lang="en-US" sz="1400" b="1" dirty="0">
                <a:solidFill>
                  <a:srgbClr val="1AA6B7"/>
                </a:solidFill>
                <a:latin typeface="Aptos" pitchFamily="34" charset="0"/>
                <a:ea typeface="Aptos" pitchFamily="34" charset="-122"/>
                <a:cs typeface="Aptos" pitchFamily="34" charset="-120"/>
              </a:rPr>
              <a:t>IN‑CLASS WRITING</a:t>
            </a:r>
            <a:endParaRPr lang="en-US" sz="1400" dirty="0"/>
          </a:p>
        </p:txBody>
      </p:sp>
      <p:sp>
        <p:nvSpPr>
          <p:cNvPr id="7" name="Text 5"/>
          <p:cNvSpPr/>
          <p:nvPr/>
        </p:nvSpPr>
        <p:spPr>
          <a:xfrm>
            <a:off x="822960" y="1508760"/>
            <a:ext cx="10698480" cy="1097280"/>
          </a:xfrm>
          <a:prstGeom prst="rect">
            <a:avLst/>
          </a:prstGeom>
          <a:noFill/>
          <a:ln/>
        </p:spPr>
        <p:txBody>
          <a:bodyPr wrap="square" rtlCol="0" anchor="ctr"/>
          <a:lstStyle/>
          <a:p>
            <a:pPr marL="0" indent="0">
              <a:buNone/>
            </a:pPr>
            <a:r>
              <a:rPr lang="en-US" sz="4400" b="1" dirty="0">
                <a:solidFill>
                  <a:srgbClr val="111827"/>
                </a:solidFill>
                <a:latin typeface="Aptos Display" pitchFamily="34" charset="0"/>
                <a:ea typeface="Aptos Display" pitchFamily="34" charset="-122"/>
                <a:cs typeface="Aptos Display" pitchFamily="34" charset="-120"/>
              </a:rPr>
              <a:t>Mini-argument (10–12 min)</a:t>
            </a:r>
            <a:endParaRPr lang="en-US" sz="4400" dirty="0"/>
          </a:p>
        </p:txBody>
      </p:sp>
      <p:sp>
        <p:nvSpPr>
          <p:cNvPr id="8" name="Text 6"/>
          <p:cNvSpPr/>
          <p:nvPr/>
        </p:nvSpPr>
        <p:spPr>
          <a:xfrm>
            <a:off x="868680" y="2651760"/>
            <a:ext cx="10515600" cy="731520"/>
          </a:xfrm>
          <a:prstGeom prst="rect">
            <a:avLst/>
          </a:prstGeom>
          <a:noFill/>
          <a:ln/>
        </p:spPr>
        <p:txBody>
          <a:bodyPr wrap="square" rtlCol="0" anchor="ctr"/>
          <a:lstStyle/>
          <a:p>
            <a:pPr marL="0" indent="0">
              <a:buNone/>
            </a:pPr>
            <a:r>
              <a:rPr lang="en-US" sz="1800" dirty="0">
                <a:solidFill>
                  <a:srgbClr val="4B5563"/>
                </a:solidFill>
                <a:latin typeface="Aptos" pitchFamily="34" charset="0"/>
                <a:ea typeface="Aptos" pitchFamily="34" charset="-122"/>
                <a:cs typeface="Aptos" pitchFamily="34" charset="-120"/>
              </a:rPr>
              <a:t>Security decision → privacy impact → ethical justification</a:t>
            </a:r>
            <a:endParaRPr lang="en-US" sz="1800" dirty="0"/>
          </a:p>
        </p:txBody>
      </p:sp>
      <p:sp>
        <p:nvSpPr>
          <p:cNvPr id="9" name="Shape 7"/>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0" name="Text 8"/>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B"/>
          </a:solidFill>
          <a:ln w="12700">
            <a:solidFill>
              <a:srgbClr val="0B1F3B"/>
            </a:solidFill>
            <a:prstDash val="solid"/>
          </a:ln>
        </p:spPr>
        <p:txBody>
          <a:bodyPr/>
          <a:lstStyle/>
          <a:p>
            <a:endParaRPr lang="en-US"/>
          </a:p>
        </p:txBody>
      </p:sp>
      <p:sp>
        <p:nvSpPr>
          <p:cNvPr id="3" name="Text 1"/>
          <p:cNvSpPr/>
          <p:nvPr/>
        </p:nvSpPr>
        <p:spPr>
          <a:xfrm>
            <a:off x="548640" y="109728"/>
            <a:ext cx="8686800" cy="320040"/>
          </a:xfrm>
          <a:prstGeom prst="rect">
            <a:avLst/>
          </a:prstGeom>
          <a:noFill/>
          <a:ln/>
        </p:spPr>
        <p:txBody>
          <a:bodyPr wrap="square"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Writing</a:t>
            </a:r>
            <a:endParaRPr lang="en-US" sz="1600" dirty="0"/>
          </a:p>
        </p:txBody>
      </p:sp>
      <p:sp>
        <p:nvSpPr>
          <p:cNvPr id="4" name="Text 2"/>
          <p:cNvSpPr/>
          <p:nvPr/>
        </p:nvSpPr>
        <p:spPr>
          <a:xfrm>
            <a:off x="10607040" y="128016"/>
            <a:ext cx="1097280" cy="274320"/>
          </a:xfrm>
          <a:prstGeom prst="rect">
            <a:avLst/>
          </a:prstGeom>
          <a:noFill/>
          <a:ln/>
        </p:spPr>
        <p:txBody>
          <a:bodyPr wrap="square" rtlCol="0" anchor="ctr"/>
          <a:lstStyle/>
          <a:p>
            <a:pPr marL="0" indent="0" algn="r">
              <a:buNone/>
            </a:pPr>
            <a:r>
              <a:rPr lang="en-US" sz="1200" dirty="0">
                <a:solidFill>
                  <a:srgbClr val="FFFFFF"/>
                </a:solidFill>
                <a:latin typeface="Aptos" pitchFamily="34" charset="0"/>
                <a:ea typeface="Aptos" pitchFamily="34" charset="-122"/>
                <a:cs typeface="Aptos" pitchFamily="34" charset="-120"/>
              </a:rPr>
              <a:t>40/43</a:t>
            </a:r>
            <a:endParaRPr lang="en-US" sz="1200" dirty="0"/>
          </a:p>
        </p:txBody>
      </p:sp>
      <p:sp>
        <p:nvSpPr>
          <p:cNvPr id="5" name="Text 3"/>
          <p:cNvSpPr/>
          <p:nvPr/>
        </p:nvSpPr>
        <p:spPr>
          <a:xfrm>
            <a:off x="822960" y="777240"/>
            <a:ext cx="10789920" cy="548640"/>
          </a:xfrm>
          <a:prstGeom prst="rect">
            <a:avLst/>
          </a:prstGeom>
          <a:noFill/>
          <a:ln/>
        </p:spPr>
        <p:txBody>
          <a:bodyPr wrap="square" rtlCol="0" anchor="ctr"/>
          <a:lstStyle/>
          <a:p>
            <a:pPr marL="0" indent="0">
              <a:buNone/>
            </a:pPr>
            <a:r>
              <a:rPr lang="en-US" sz="3400" b="1" dirty="0">
                <a:solidFill>
                  <a:srgbClr val="111827"/>
                </a:solidFill>
                <a:latin typeface="Aptos Display" pitchFamily="34" charset="0"/>
                <a:ea typeface="Aptos Display" pitchFamily="34" charset="-122"/>
                <a:cs typeface="Aptos Display" pitchFamily="34" charset="-120"/>
              </a:rPr>
              <a:t>Prompt (choose ONE)</a:t>
            </a:r>
            <a:endParaRPr lang="en-US" sz="3400" dirty="0"/>
          </a:p>
        </p:txBody>
      </p:sp>
      <p:sp>
        <p:nvSpPr>
          <p:cNvPr id="6" name="Text 4"/>
          <p:cNvSpPr/>
          <p:nvPr/>
        </p:nvSpPr>
        <p:spPr>
          <a:xfrm>
            <a:off x="960120" y="1463040"/>
            <a:ext cx="10424160" cy="4663440"/>
          </a:xfrm>
          <a:prstGeom prst="rect">
            <a:avLst/>
          </a:prstGeom>
          <a:noFill/>
          <a:ln/>
        </p:spPr>
        <p:txBody>
          <a:bodyPr wrap="square" rtlCol="0" anchor="t"/>
          <a:lstStyle/>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A) Should SSP require MFA for all users? Argue yes/no with equity impacts.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B) Should SSP keep detailed access logs for 1 year? Argue yes/no with privacy impacts.</a:t>
            </a:r>
            <a:endParaRPr lang="en-US" sz="2000" dirty="0"/>
          </a:p>
          <a:p>
            <a:pPr marL="279400" indent="-279400">
              <a:spcAft>
                <a:spcPts val="800"/>
              </a:spcAft>
              <a:buSzPct val="100000"/>
              <a:buChar char="•"/>
            </a:pPr>
            <a:r>
              <a:rPr lang="en-US" sz="2000" dirty="0">
                <a:solidFill>
                  <a:srgbClr val="111827"/>
                </a:solidFill>
                <a:latin typeface="Aptos" pitchFamily="34" charset="0"/>
                <a:ea typeface="Aptos" pitchFamily="34" charset="-122"/>
                <a:cs typeface="Aptos" pitchFamily="34" charset="-120"/>
              </a:rPr>
              <a:t>C) Should instructors ever see counseling-related flags? Argue policy boundaries and harms.</a:t>
            </a:r>
            <a:endParaRPr lang="en-US" sz="2000" dirty="0"/>
          </a:p>
        </p:txBody>
      </p:sp>
      <p:sp>
        <p:nvSpPr>
          <p:cNvPr id="7" name="Shape 5"/>
          <p:cNvSpPr/>
          <p:nvPr/>
        </p:nvSpPr>
        <p:spPr>
          <a:xfrm>
            <a:off x="822960" y="5532120"/>
            <a:ext cx="10607040" cy="685800"/>
          </a:xfrm>
          <a:prstGeom prst="roundRect">
            <a:avLst/>
          </a:prstGeom>
          <a:solidFill>
            <a:srgbClr val="1AA6B7"/>
          </a:solidFill>
          <a:ln w="12700">
            <a:solidFill>
              <a:srgbClr val="1AA6B7"/>
            </a:solidFill>
            <a:prstDash val="solid"/>
          </a:ln>
        </p:spPr>
        <p:txBody>
          <a:bodyPr/>
          <a:lstStyle/>
          <a:p>
            <a:endParaRPr lang="en-US"/>
          </a:p>
        </p:txBody>
      </p:sp>
      <p:sp>
        <p:nvSpPr>
          <p:cNvPr id="8" name="Text 6"/>
          <p:cNvSpPr/>
          <p:nvPr/>
        </p:nvSpPr>
        <p:spPr>
          <a:xfrm>
            <a:off x="1051560" y="5623560"/>
            <a:ext cx="2194560"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Required structure</a:t>
            </a:r>
            <a:endParaRPr lang="en-US" sz="1400" dirty="0"/>
          </a:p>
        </p:txBody>
      </p:sp>
      <p:sp>
        <p:nvSpPr>
          <p:cNvPr id="9" name="Text 7"/>
          <p:cNvSpPr/>
          <p:nvPr/>
        </p:nvSpPr>
        <p:spPr>
          <a:xfrm>
            <a:off x="2606040" y="5596128"/>
            <a:ext cx="8549640" cy="594360"/>
          </a:xfrm>
          <a:prstGeom prst="rect">
            <a:avLst/>
          </a:prstGeom>
          <a:noFill/>
          <a:ln/>
        </p:spPr>
        <p:txBody>
          <a:bodyPr wrap="square" rtlCol="0" anchor="ctr"/>
          <a:lstStyle/>
          <a:p>
            <a:pPr marL="0" indent="0">
              <a:buNone/>
            </a:pPr>
            <a:r>
              <a:rPr lang="en-US" sz="1600" dirty="0">
                <a:solidFill>
                  <a:srgbClr val="FFFFFF"/>
                </a:solidFill>
                <a:latin typeface="Aptos" pitchFamily="34" charset="0"/>
                <a:ea typeface="Aptos" pitchFamily="34" charset="-122"/>
                <a:cs typeface="Aptos" pitchFamily="34" charset="-120"/>
              </a:rPr>
              <a:t>Claim • Reasons • Stakeholders • Counterargument • Ethical lens • Conclusion</a:t>
            </a:r>
            <a:endParaRPr lang="en-US" sz="1600" dirty="0"/>
          </a:p>
        </p:txBody>
      </p:sp>
      <p:sp>
        <p:nvSpPr>
          <p:cNvPr id="10" name="Shape 8"/>
          <p:cNvSpPr/>
          <p:nvPr/>
        </p:nvSpPr>
        <p:spPr>
          <a:xfrm>
            <a:off x="548640" y="6446520"/>
            <a:ext cx="11064240" cy="0"/>
          </a:xfrm>
          <a:prstGeom prst="line">
            <a:avLst/>
          </a:prstGeom>
          <a:noFill/>
          <a:ln w="12700">
            <a:solidFill>
              <a:srgbClr val="E5E7EB"/>
            </a:solidFill>
            <a:prstDash val="solid"/>
          </a:ln>
        </p:spPr>
        <p:txBody>
          <a:bodyPr/>
          <a:lstStyle/>
          <a:p>
            <a:endParaRPr lang="en-US"/>
          </a:p>
        </p:txBody>
      </p:sp>
      <p:sp>
        <p:nvSpPr>
          <p:cNvPr id="11" name="Text 9"/>
          <p:cNvSpPr/>
          <p:nvPr/>
        </p:nvSpPr>
        <p:spPr>
          <a:xfrm>
            <a:off x="548640" y="6510528"/>
            <a:ext cx="11064240" cy="22860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CST2412 — Data Security / Privacy / Ethics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5951</Words>
  <Application>Microsoft Macintosh PowerPoint</Application>
  <PresentationFormat>Widescreen</PresentationFormat>
  <Paragraphs>436</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CST2412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CST2412 — Ch2 Toolbox + Ch3 Programs &amp; Programming</dc:title>
  <dc:subject>Security, Privacy, Ethics — Ch 2 + Ch 3</dc:subject>
  <dc:creator>CST2412 Instructor</dc:creator>
  <cp:lastModifiedBy>Atilio Barreda</cp:lastModifiedBy>
  <cp:revision>2</cp:revision>
  <dcterms:created xsi:type="dcterms:W3CDTF">2026-02-05T19:52:57Z</dcterms:created>
  <dcterms:modified xsi:type="dcterms:W3CDTF">2026-02-05T22:13:03Z</dcterms:modified>
</cp:coreProperties>
</file>