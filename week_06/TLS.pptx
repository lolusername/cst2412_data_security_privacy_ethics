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49726"/>
  </p:normalViewPr>
  <p:slideViewPr>
    <p:cSldViewPr snapToGrid="0" snapToObjects="1">
      <p:cViewPr varScale="1">
        <p:scale>
          <a:sx n="59" d="100"/>
          <a:sy n="59" d="100"/>
        </p:scale>
        <p:origin x="31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2287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1 — How HTTPS Actually Works (script)</a:t>
            </a:r>
          </a:p>
          <a:p>
            <a:endParaRPr/>
          </a:p>
          <a:p>
            <a:r>
              <a:t>Alright, today we’re going to build a correct, end‑to‑end mental model of HTTPS. By the end of this lesson, you should be able to answer three questions without hand‑waving:</a:t>
            </a:r>
          </a:p>
          <a:p>
            <a:r>
              <a:t>First: what a DV certificate proves and what it does not prove.</a:t>
            </a:r>
          </a:p>
          <a:p>
            <a:r>
              <a:t>Second: what the Certificate Authority actually does versus what TLS does.</a:t>
            </a:r>
          </a:p>
          <a:p>
            <a:r>
              <a:t>Third: where encryption and decryption happen, and why your web framework usually never “decrypts” anything itself.</a:t>
            </a:r>
          </a:p>
          <a:p>
            <a:endParaRPr/>
          </a:p>
          <a:p>
            <a:r>
              <a:t>On this first slide, I want you to notice the three big blocks: Identity, Handshake, and Encrypted records.</a:t>
            </a:r>
          </a:p>
          <a:p>
            <a:endParaRPr/>
          </a:p>
          <a:p>
            <a:r>
              <a:t>Step one is Identity. The certificate binds a public key to a domain name. In plain English: it tells the browser, “this public key belongs to api.example.com,” and it says that in a way the browser can verify.</a:t>
            </a:r>
          </a:p>
          <a:p>
            <a:endParaRPr/>
          </a:p>
          <a:p>
            <a:r>
              <a:t>Step two is the Handshake. During the TLS handshake, the client and server agree on shared session keys. These are not the certificate’s keys. These are fresh keys for this connection.</a:t>
            </a:r>
          </a:p>
          <a:p>
            <a:endParaRPr/>
          </a:p>
          <a:p>
            <a:r>
              <a:t>Step three is Encrypted records. After the handshake, the HTTP request and response bodies travel inside TLS records, protected by symmetric encryption and integrity checks.</a:t>
            </a:r>
          </a:p>
          <a:p>
            <a:endParaRPr/>
          </a:p>
          <a:p>
            <a:r>
              <a:t>Now here’s the framing that prevents confusion: the CA, the TLS library, the proxy, and the application framework all have different jobs. A CA is about identity for a domain. TLS is about negotiating keys and encrypting traffic. A proxy or load balancer often does the TLS. And your FastAPI or Node app usually sees normal HTTP after that termination point.</a:t>
            </a:r>
          </a:p>
          <a:p>
            <a:endParaRPr/>
          </a:p>
          <a:p>
            <a:r>
              <a:t>As we go, I want you to keep asking: “Where does TLS terminate?” Because the answer to that question tells you where decryption happens, and who can see plaintext.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dirty="0"/>
              <a:t>Slide 2 — CA, certificate, TLS, app: separate the roles (script)</a:t>
            </a:r>
          </a:p>
          <a:p>
            <a:endParaRPr dirty="0"/>
          </a:p>
          <a:p>
            <a:r>
              <a:rPr dirty="0"/>
              <a:t>Let’s name the layers clearly, because most confusion comes from mixing these words together.</a:t>
            </a:r>
          </a:p>
          <a:p>
            <a:endParaRPr dirty="0"/>
          </a:p>
          <a:p>
            <a:r>
              <a:rPr dirty="0"/>
              <a:t>First: the CA, the Certificate Authority. A CA is trusted by your browser or operating system because a root certificate is preinstalled in the trust store. The CA’s job is to vouch that a public key belongs to a domain name by signing a certificate chain.</a:t>
            </a:r>
          </a:p>
          <a:p>
            <a:endParaRPr dirty="0"/>
          </a:p>
          <a:p>
            <a:r>
              <a:rPr dirty="0"/>
              <a:t>Second: the certificate itself. A certificate is not “the encrypted tunnel.” It’s an identity document. It contains domain names, a public key, validity dates, an issuer, and a signature. Think of it like a passport for a domain plus a public key stapled to it.</a:t>
            </a:r>
          </a:p>
          <a:p>
            <a:endParaRPr dirty="0"/>
          </a:p>
          <a:p>
            <a:r>
              <a:rPr dirty="0"/>
              <a:t>Third: TLS. TLS is the protocol that uses certificates to authenticate the server, then performs key agreement, and then encrypts application data using symmetric session keys. TLS is where the encryption actually happens.</a:t>
            </a:r>
          </a:p>
          <a:p>
            <a:endParaRPr dirty="0"/>
          </a:p>
          <a:p>
            <a:r>
              <a:rPr dirty="0"/>
              <a:t>Fourth: the application layer. Your framework—FastAPI, Express, Django, Rails—usually receives an already decrypted HTTP request from the TLS terminator. The app layer focuses on routing, business logic, database access, and responses.</a:t>
            </a:r>
          </a:p>
          <a:p>
            <a:endParaRPr dirty="0"/>
          </a:p>
          <a:p>
            <a:r>
              <a:rPr dirty="0"/>
              <a:t>Now walk through the simple flow at the bottom:</a:t>
            </a:r>
          </a:p>
          <a:p>
            <a:r>
              <a:rPr dirty="0"/>
              <a:t>The browser requests https://</a:t>
            </a:r>
            <a:r>
              <a:rPr dirty="0" err="1"/>
              <a:t>api.example.com</a:t>
            </a:r>
            <a:r>
              <a:rPr dirty="0"/>
              <a:t>.</a:t>
            </a:r>
          </a:p>
          <a:p>
            <a:r>
              <a:rPr dirty="0"/>
              <a:t>The browser validates the certificate chain and checks the hostname matches.</a:t>
            </a:r>
          </a:p>
          <a:p>
            <a:r>
              <a:rPr dirty="0"/>
              <a:t>TLS derives traffic keys and encrypts records.</a:t>
            </a:r>
          </a:p>
          <a:p>
            <a:r>
              <a:rPr dirty="0"/>
              <a:t>Then the application reads the HTTP request after termination.</a:t>
            </a:r>
          </a:p>
          <a:p>
            <a:endParaRPr dirty="0"/>
          </a:p>
          <a:p>
            <a:r>
              <a:rPr dirty="0"/>
              <a:t>So if you remember only one sentence from this slide, make it this:</a:t>
            </a:r>
          </a:p>
          <a:p>
            <a:r>
              <a:rPr dirty="0"/>
              <a:t>The CA provides identity assurance for a public key, TLS encrypts transport using session keys, and the application usually only sees plaintext HTTP after TLS termination.</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3 — What a DV certificate actually proves (script)</a:t>
            </a:r>
          </a:p>
          <a:p>
            <a:endParaRPr/>
          </a:p>
          <a:p>
            <a:r>
              <a:t>DV stands for Domain Validation. And that phrase is extremely literal: DV proves control of the domain, not trustworthiness of the organization behind it.</a:t>
            </a:r>
          </a:p>
          <a:p>
            <a:endParaRPr/>
          </a:p>
          <a:p>
            <a:r>
              <a:t>So what does the CA check? The CA checks that the requester can control the DNS zone or web content for the domain and that the certificate request matches the domain names being requested.</a:t>
            </a:r>
          </a:p>
          <a:p>
            <a:endParaRPr/>
          </a:p>
          <a:p>
            <a:r>
              <a:t>There are a few common proof methods.</a:t>
            </a:r>
          </a:p>
          <a:p>
            <a:r>
              <a:t>HTTP‑01: you place a specific token at a well‑known URL on the site. If the CA can fetch it, you’ve proven control of the web server for that domain.</a:t>
            </a:r>
          </a:p>
          <a:p>
            <a:r>
              <a:t>DNS‑01: you add a specific TXT record in DNS. If the CA can look it up, you’ve proven control of DNS for that domain, which is usually even stronger.</a:t>
            </a:r>
          </a:p>
          <a:p>
            <a:r>
              <a:t>TLS‑ALPN‑01: a challenge that happens over a special TLS handshake using ALPN.</a:t>
            </a:r>
          </a:p>
          <a:p>
            <a:endParaRPr/>
          </a:p>
          <a:p>
            <a:r>
              <a:t>Now the most important part is “What DV does not check.”</a:t>
            </a:r>
          </a:p>
          <a:p>
            <a:r>
              <a:t>DV does not check whether the site operator is a legitimate company.</a:t>
            </a:r>
          </a:p>
          <a:p>
            <a:r>
              <a:t>DV does not check whether the server is patched, whether your app is safe, whether you have strong authentication, or whether you store data responsibly.</a:t>
            </a:r>
          </a:p>
          <a:p>
            <a:r>
              <a:t>DV is not a security audit.</a:t>
            </a:r>
          </a:p>
          <a:p>
            <a:endParaRPr/>
          </a:p>
          <a:p>
            <a:r>
              <a:t>This is why phishing sites can and do use HTTPS. They can prove control of a domain they own, get a DV certificate, and run HTTPS perfectly. Encryption in transit can be strong while the site is malicious.</a:t>
            </a:r>
          </a:p>
          <a:p>
            <a:endParaRPr/>
          </a:p>
          <a:p>
            <a:r>
              <a:t>So, DV is about one narrow claim: “the entity requesting this certificate controls this domain name.”</a:t>
            </a:r>
          </a:p>
          <a:p>
            <a:r>
              <a:t>It is not about “this is a good actor,” and it is not “this is a secure application.”</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4 — How the browser goes from a certificate to trust (script)</a:t>
            </a:r>
          </a:p>
          <a:p>
            <a:endParaRPr/>
          </a:p>
          <a:p>
            <a:r>
              <a:t>Now let’s explain what your browser is actually doing when it sees a certificate.</a:t>
            </a:r>
          </a:p>
          <a:p>
            <a:endParaRPr/>
          </a:p>
          <a:p>
            <a:r>
              <a:t>First, the server presents a certificate. The “leaf” certificate includes the domain names in the SAN field, the server’s public key, the issuer, and the validity dates.</a:t>
            </a:r>
          </a:p>
          <a:p>
            <a:endParaRPr/>
          </a:p>
          <a:p>
            <a:r>
              <a:t>Second, the client checks the hostname. The host in the URL must match one of the names listed in the certificate. That’s why certificates can cover multiple subdomains: they list multiple SAN entries.</a:t>
            </a:r>
          </a:p>
          <a:p>
            <a:endParaRPr/>
          </a:p>
          <a:p>
            <a:r>
              <a:t>Third, the client validates the CA chain. The certificate you see is usually not signed directly by a root CA. It is signed by an intermediate CA, which is signed by a root CA. The browser checks the signature chain and ensures it leads back to a trusted root in the local trust store.</a:t>
            </a:r>
          </a:p>
          <a:p>
            <a:endParaRPr/>
          </a:p>
          <a:p>
            <a:r>
              <a:t>Fourth, the server proves it possesses the private key. This is crucial: it’s not enough to show a certificate with a public key. The server must prove it controls the corresponding private key by signing parts of the TLS handshake. If an attacker steals only the certificate but not the private key, they can’t complete the handshake correctly.</a:t>
            </a:r>
          </a:p>
          <a:p>
            <a:endParaRPr/>
          </a:p>
          <a:p>
            <a:r>
              <a:t>If any of these steps fail—hostname mismatch, expired cert, invalid signature chain, or inability to prove possession of the private key—the browser will warn you or block the connection.</a:t>
            </a:r>
          </a:p>
          <a:p>
            <a:endParaRPr/>
          </a:p>
          <a:p>
            <a:r>
              <a:t>So “trust” here means: “I can verify that a trusted CA chain attests this public key belongs to this domain name, and the server I’m talking to can prove it owns the private key.”</a:t>
            </a:r>
          </a:p>
          <a:p>
            <a:r>
              <a:t>That’s the foundation that allows TLS to safely set up encryption without a man‑in‑the‑middle swapping keys.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5 — TLS 1.3 handshake: how encryption is actually established (script)</a:t>
            </a:r>
          </a:p>
          <a:p>
            <a:endParaRPr/>
          </a:p>
          <a:p>
            <a:r>
              <a:t>Now we zoom into TLS 1.3, which is the modern default in most browsers.</a:t>
            </a:r>
          </a:p>
          <a:p>
            <a:endParaRPr/>
          </a:p>
          <a:p>
            <a:r>
              <a:t>The core idea is this: the certificate authenticates the server, but the bulk encryption uses symmetric session keys derived from ephemeral key agreement.</a:t>
            </a:r>
          </a:p>
          <a:p>
            <a:endParaRPr/>
          </a:p>
          <a:p>
            <a:r>
              <a:t>Here’s the flow.</a:t>
            </a:r>
          </a:p>
          <a:p>
            <a:endParaRPr/>
          </a:p>
          <a:p>
            <a:r>
              <a:t>The client sends a ClientHello. It includes the TLS version it supports, cipher suites, SNI—the hostname it’s trying to reach—and a key share for an ephemeral Diffie‑Hellman style exchange.</a:t>
            </a:r>
          </a:p>
          <a:p>
            <a:endParaRPr/>
          </a:p>
          <a:p>
            <a:r>
              <a:t>The server replies with a ServerHello. It chooses the parameters and sends its own key share.</a:t>
            </a:r>
          </a:p>
          <a:p>
            <a:endParaRPr/>
          </a:p>
          <a:p>
            <a:r>
              <a:t>At this point, both sides can derive a shared secret from the key shares. This is the basis for generating symmetric session keys.</a:t>
            </a:r>
          </a:p>
          <a:p>
            <a:endParaRPr/>
          </a:p>
          <a:p>
            <a:r>
              <a:t>Then the server sends its Certificate and a signature. This is where identity enters: the server presents the certificate chain, and signs parts of the handshake to prove it controls the private key.</a:t>
            </a:r>
          </a:p>
          <a:p>
            <a:endParaRPr/>
          </a:p>
          <a:p>
            <a:r>
              <a:t>The client validates the certificate chain, checks the hostname, and verifies the handshake signature.</a:t>
            </a:r>
          </a:p>
          <a:p>
            <a:endParaRPr/>
          </a:p>
          <a:p>
            <a:r>
              <a:t>Once that succeeds, both sides derive traffic keys and switch to encrypted application data. Now HTTP requests and responses are sent inside TLS records, protected with symmetric encryption and integrity checks, typically using AEAD schemes like AES‑GCM or ChaCha20‑Poly1305.</a:t>
            </a:r>
          </a:p>
          <a:p>
            <a:endParaRPr/>
          </a:p>
          <a:p>
            <a:r>
              <a:t>A key point students often miss: in TLS 1.3, the certificate private key is not used to encrypt your HTTP data. It’s used to authenticate the handshake. The data is encrypted with fresh symmetric keys. That gives you performance and, importantly, forward secrecy when ephemeral key agreement is used.</a:t>
            </a:r>
          </a:p>
          <a:p>
            <a:endParaRPr/>
          </a:p>
          <a:p>
            <a:r>
              <a:t>So when you hear “HTTPS encrypts the packets,” what actually happens is: “TLS negotiates symmetric session keys during the handshake, then encrypts application data in TLS records using those keys.”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6 — Where decryption happens: TLS termination (script)</a:t>
            </a:r>
          </a:p>
          <a:p>
            <a:endParaRPr/>
          </a:p>
          <a:p>
            <a:r>
              <a:t>This slide answers the practical question: “Where does the backend decrypt it?”</a:t>
            </a:r>
          </a:p>
          <a:p>
            <a:endParaRPr/>
          </a:p>
          <a:p>
            <a:r>
              <a:t>Decryption happens wherever TLS terminates. TLS termination means: a component receives encrypted TLS records on the wire, performs the handshake, derives keys, and decrypts the records into plaintext HTTP bytes.</a:t>
            </a:r>
          </a:p>
          <a:p>
            <a:endParaRPr/>
          </a:p>
          <a:p>
            <a:r>
              <a:t>The client—your browser or mobile app—always speaks HTTPS when you use an https URL.</a:t>
            </a:r>
          </a:p>
          <a:p>
            <a:endParaRPr/>
          </a:p>
          <a:p>
            <a:r>
              <a:t>Next is the TLS terminator. This might be Nginx, Caddy, an AWS Application Load Balancer, a Cloudflare edge, or sometimes your app process itself. The terminator holds the certificate and private key, performs the TLS handshake, and decrypts incoming traffic.</a:t>
            </a:r>
          </a:p>
          <a:p>
            <a:endParaRPr/>
          </a:p>
          <a:p>
            <a:r>
              <a:t>After termination, the backend application—FastAPI, Express, Django—typically receives plaintext HTTP. That is why your framework routing works normally; it’s not parsing TLS. It’s parsing HTTP.</a:t>
            </a:r>
          </a:p>
          <a:p>
            <a:endParaRPr/>
          </a:p>
          <a:p>
            <a:r>
              <a:t>Then you may talk to a database or downstream services. Those service connections might be plain TCP in a trusted private network, or they might also use TLS again. That’s a separate decision.</a:t>
            </a:r>
          </a:p>
          <a:p>
            <a:endParaRPr/>
          </a:p>
          <a:p>
            <a:r>
              <a:t>So, if you want to know who can see plaintext, you ask: “Where does TLS terminate?”</a:t>
            </a:r>
          </a:p>
          <a:p>
            <a:r>
              <a:t>If TLS terminates at a CDN edge, the edge can see plaintext and then forwards to your origin.</a:t>
            </a:r>
          </a:p>
          <a:p>
            <a:r>
              <a:t>If TLS terminates at your load balancer, the load balancer sees plaintext.</a:t>
            </a:r>
          </a:p>
          <a:p>
            <a:r>
              <a:t>If TLS terminates in your app server, your app process is the TLS endpoint.</a:t>
            </a:r>
          </a:p>
          <a:p>
            <a:endParaRPr/>
          </a:p>
          <a:p>
            <a:r>
              <a:t>This is why people talk about “end‑to‑end encryption” versus “encrypted to the edge.” HTTPS is encrypted client to the TLS endpoint, not magically encrypted everywhere in your architecture.</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7 — Do FastAPI and Node auto-decrypt TLS? (script)</a:t>
            </a:r>
          </a:p>
          <a:p>
            <a:endParaRPr/>
          </a:p>
          <a:p>
            <a:r>
              <a:t>The short answer is no: frameworks do not magically detect a certificate and start decrypting traffic.</a:t>
            </a:r>
          </a:p>
          <a:p>
            <a:endParaRPr/>
          </a:p>
          <a:p>
            <a:r>
              <a:t>You must explicitly run a server or proxy in TLS mode. Once you do, the TLS library handles encryption and decryption automatically, but only because you configured it as the TLS endpoint.</a:t>
            </a:r>
          </a:p>
          <a:p>
            <a:endParaRPr/>
          </a:p>
          <a:p>
            <a:r>
              <a:t>For FastAPI, remember FastAPI is an application framework. TLS is typically handled by your ASGI server or by a reverse proxy.</a:t>
            </a:r>
          </a:p>
          <a:p>
            <a:r>
              <a:t>In production, the most common path is: a proxy or load balancer terminates TLS, then forwards plaintext HTTP to FastAPI over a private network or localhost.</a:t>
            </a:r>
          </a:p>
          <a:p>
            <a:endParaRPr/>
          </a:p>
          <a:p>
            <a:r>
              <a:t>If you choose to terminate TLS directly in the Python server, you start uvicorn with certificate and key files, conceptually like:</a:t>
            </a:r>
          </a:p>
          <a:p>
            <a:r>
              <a:t>uvicorn app:app --ssl-certfile cert.pem --ssl-keyfile key.pem</a:t>
            </a:r>
          </a:p>
          <a:p>
            <a:r>
              <a:t>In that case, uvicorn’s TLS stack is doing the crypto, and FastAPI sees normal requests.</a:t>
            </a:r>
          </a:p>
          <a:p>
            <a:endParaRPr/>
          </a:p>
          <a:p>
            <a:r>
              <a:t>For Node, Node provides separate server types:</a:t>
            </a:r>
          </a:p>
          <a:p>
            <a:r>
              <a:t>http.createServer() creates a plaintext HTTP server.</a:t>
            </a:r>
          </a:p>
          <a:p>
            <a:r>
              <a:t>https.createServer({ key, cert }) creates an HTTPS server that terminates TLS.</a:t>
            </a:r>
          </a:p>
          <a:p>
            <a:r>
              <a:t>When you use the https server, Node’s TLS implementation decrypts the bytes and then your Express or Fastify handlers see normal request objects.</a:t>
            </a:r>
          </a:p>
          <a:p>
            <a:endParaRPr/>
          </a:p>
          <a:p>
            <a:r>
              <a:t>So the mental model is: frameworks do application logic; TLS libraries do cryptography; and proxies or load balancers often do TLS termination in production.</a:t>
            </a:r>
          </a:p>
          <a:p>
            <a:endParaRPr/>
          </a:p>
          <a:p>
            <a:r>
              <a:t>If a student asks, “Is decryption automatic?” the best answer is:</a:t>
            </a:r>
          </a:p>
          <a:p>
            <a:r>
              <a:t>It is automatic inside the TLS stack once you explicitly configure the component that is terminating TLS.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8 — Why a system can have HTTPS and still handle data insecurely (script)</a:t>
            </a:r>
          </a:p>
          <a:p>
            <a:endParaRPr/>
          </a:p>
          <a:p>
            <a:r>
              <a:t>This is the slide that prevents a dangerous misunderstanding: HTTPS is not the same thing as “the whole system is secure.”</a:t>
            </a:r>
          </a:p>
          <a:p>
            <a:endParaRPr/>
          </a:p>
          <a:p>
            <a:r>
              <a:t>HTTPS protects one segment of transport: between the client and the TLS termination point. Security can still fail before, after, or around that segment.</a:t>
            </a:r>
          </a:p>
          <a:p>
            <a:endParaRPr/>
          </a:p>
          <a:p>
            <a:r>
              <a:t>First failure mode: an internal hop is HTTP. For example, browser to CDN edge is HTTPS, but edge to origin is plaintext HTTP, or load balancer to app is plaintext. In that case, traffic is protected on the public internet but can be sniffed or modified on the internal network segment. The fix is re‑encrypt to the origin, or use mTLS between services.</a:t>
            </a:r>
          </a:p>
          <a:p>
            <a:endParaRPr/>
          </a:p>
          <a:p>
            <a:r>
              <a:t>Second failure mode: mixed content. The main page is HTTPS, but an old script, image, or iframe loads over HTTP. If a script loads over HTTP, an attacker can inject JavaScript and steal session tokens or rewrite the page. The fix is to block insecure assets and enforce HTTPS everywhere.</a:t>
            </a:r>
          </a:p>
          <a:p>
            <a:endParaRPr/>
          </a:p>
          <a:p>
            <a:r>
              <a:t>Third failure mode: compromised endpoints. If the client device is infected, or a malicious browser extension is installed, it can read plaintext after decryption, because TLS ends at the endpoint. The same is true if the server is compromised: the server always sees plaintext after decryption.</a:t>
            </a:r>
          </a:p>
          <a:p>
            <a:endParaRPr/>
          </a:p>
          <a:p>
            <a:r>
              <a:t>Fourth failure mode, which is very common in practice: insecure handling of data after it is decrypted. For example, logging sensitive headers or request bodies, storing tokens in plaintext, weak authorization, or SQL injection. TLS cannot fix application security mistakes; it only protects the transport channel.</a:t>
            </a:r>
          </a:p>
          <a:p>
            <a:endParaRPr/>
          </a:p>
          <a:p>
            <a:r>
              <a:t>So the slogan here is: HTTPS makes the network path harder to attack, but it does not guarantee the endpoints are safe or that your application handles data safely after decryption.</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9 — A practical deployment checklist (script)</a:t>
            </a:r>
          </a:p>
          <a:p>
            <a:endParaRPr/>
          </a:p>
          <a:p>
            <a:r>
              <a:t>Now let’s turn this into an actionable checklist you can use when deploying an API.</a:t>
            </a:r>
          </a:p>
          <a:p>
            <a:endParaRPr/>
          </a:p>
          <a:p>
            <a:r>
              <a:t>First: pick the TLS endpoint. For most production systems, terminate TLS at a reverse proxy, load balancer, or CDN. This centralizes certificate management and gives you mature TLS features. Direct app‑level TLS is fine for small deployments, but you must manage renewal and configuration yourself.</a:t>
            </a:r>
          </a:p>
          <a:p>
            <a:endParaRPr/>
          </a:p>
          <a:p>
            <a:r>
              <a:t>Second: manage certificates safely. Automate renewal with ACME when possible. Protect private keys; restrict who can access them. And make sure you serve the full certificate chain so clients can validate it.</a:t>
            </a:r>
          </a:p>
          <a:p>
            <a:endParaRPr/>
          </a:p>
          <a:p>
            <a:r>
              <a:t>Third: close the gaps around HTTPS. Redirect HTTP to HTTPS. Consider HSTS so browsers refuse to downgrade. Decide whether you need TLS on internal hops; if you have multiple services or untrusted networks, consider encrypting service‑to‑service traffic, potentially with mTLS.</a:t>
            </a:r>
          </a:p>
          <a:p>
            <a:endParaRPr/>
          </a:p>
          <a:p>
            <a:r>
              <a:t>Also, teach students to verify reality: use tools like curl -v to see redirects, and openssl s_client to inspect certificate chains and TLS versions. Security is partly about not trusting assumptions.</a:t>
            </a:r>
          </a:p>
          <a:p>
            <a:endParaRPr/>
          </a:p>
          <a:p>
            <a:r>
              <a:t>Finally, here is the one‑sentence policy at the bottom:</a:t>
            </a:r>
          </a:p>
          <a:p>
            <a:r>
              <a:t>Encrypt in transit, know the termination point, and do not confuse “certificate present” with “system secure.”</a:t>
            </a:r>
          </a:p>
          <a:p>
            <a:endParaRPr/>
          </a:p>
          <a:p>
            <a:r>
              <a:t>If students can apply that policy, they will avoid most common “we had HTTPS but…” incidents.</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Slide 10 — Recap: the shortest correct explanation (script)</a:t>
            </a:r>
          </a:p>
          <a:p>
            <a:endParaRPr/>
          </a:p>
          <a:p>
            <a:r>
              <a:t>Let’s close with a 45‑second answer that is actually correct.</a:t>
            </a:r>
          </a:p>
          <a:p>
            <a:endParaRPr/>
          </a:p>
          <a:p>
            <a:r>
              <a:t>A DV certificate proves control of a domain name. It does not prove the organization is legitimate or that the application is safe.</a:t>
            </a:r>
          </a:p>
          <a:p>
            <a:endParaRPr/>
          </a:p>
          <a:p>
            <a:r>
              <a:t>A Certificate Authority is about identity: it signs a certificate chain so the browser can trust that a public key belongs to a domain.</a:t>
            </a:r>
          </a:p>
          <a:p>
            <a:endParaRPr/>
          </a:p>
          <a:p>
            <a:r>
              <a:t>TLS is about encrypted transport: during the TLS handshake, the client validates the certificate and the server proves it has the private key; then both sides derive symmetric session keys and encrypt HTTP inside TLS records.</a:t>
            </a:r>
          </a:p>
          <a:p>
            <a:endParaRPr/>
          </a:p>
          <a:p>
            <a:r>
              <a:t>Decryption happens at the TLS termination point: a reverse proxy, load balancer, CDN edge, or the app server if it terminates TLS directly. Your web framework usually sees plaintext HTTP after termination.</a:t>
            </a:r>
          </a:p>
          <a:p>
            <a:endParaRPr/>
          </a:p>
          <a:p>
            <a:r>
              <a:t>And finally, HTTPS does not mean the whole system is secure. You can still have insecure internal hops, mixed content, compromised endpoints, or application bugs. HTTPS protects the transport segment—nothing more and nothing less.</a:t>
            </a:r>
          </a:p>
          <a:p>
            <a:endParaRPr/>
          </a:p>
          <a:p>
            <a:r>
              <a:t>That’s the model you should carry forward.</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0E2A47"/>
          </a:solidFill>
          <a:ln w="12700">
            <a:solidFill>
              <a:srgbClr val="0E2A47"/>
            </a:solidFill>
            <a:prstDash val="solid"/>
          </a:ln>
        </p:spPr>
        <p:txBody>
          <a:bodyPr/>
          <a:lstStyle/>
          <a:p>
            <a:endParaRPr lang="en-US"/>
          </a:p>
        </p:txBody>
      </p:sp>
      <p:sp>
        <p:nvSpPr>
          <p:cNvPr id="3" name="Text 1"/>
          <p:cNvSpPr/>
          <p:nvPr/>
        </p:nvSpPr>
        <p:spPr>
          <a:xfrm>
            <a:off x="411480" y="73152"/>
            <a:ext cx="4754880" cy="109728"/>
          </a:xfrm>
          <a:prstGeom prst="rect">
            <a:avLst/>
          </a:prstGeom>
          <a:noFill/>
          <a:ln/>
        </p:spPr>
        <p:txBody>
          <a:bodyPr wrap="square" lIns="0" tIns="0" rIns="0" bIns="0" rtlCol="0" anchor="ctr"/>
          <a:lstStyle/>
          <a:p>
            <a:pPr marL="0" indent="0">
              <a:buNone/>
            </a:pPr>
            <a:r>
              <a:rPr lang="en-US" sz="1000" dirty="0">
                <a:solidFill>
                  <a:srgbClr val="D5E4F2"/>
                </a:solidFill>
                <a:latin typeface="Aptos" pitchFamily="34" charset="0"/>
                <a:ea typeface="Aptos" pitchFamily="34" charset="-122"/>
                <a:cs typeface="Aptos" pitchFamily="34" charset="-120"/>
              </a:rPr>
              <a:t>Networking &amp; Web Security Fundamentals</a:t>
            </a:r>
            <a:endParaRPr lang="en-US" sz="1000" dirty="0"/>
          </a:p>
        </p:txBody>
      </p:sp>
      <p:sp>
        <p:nvSpPr>
          <p:cNvPr id="4" name="Text 2"/>
          <p:cNvSpPr/>
          <p:nvPr/>
        </p:nvSpPr>
        <p:spPr>
          <a:xfrm>
            <a:off x="10332720" y="6446520"/>
            <a:ext cx="1463040" cy="182880"/>
          </a:xfrm>
          <a:prstGeom prst="rect">
            <a:avLst/>
          </a:prstGeom>
          <a:noFill/>
          <a:ln/>
        </p:spPr>
        <p:txBody>
          <a:bodyPr wrap="square" lIns="0" tIns="0" rIns="0" bIns="0" rtlCol="0" anchor="ctr"/>
          <a:lstStyle/>
          <a:p>
            <a:pPr marL="0" indent="0" algn="r">
              <a:buNone/>
            </a:pPr>
            <a:r>
              <a:rPr lang="en-US" sz="900" dirty="0">
                <a:solidFill>
                  <a:srgbClr val="62748A"/>
                </a:solidFill>
                <a:latin typeface="Aptos" pitchFamily="34" charset="0"/>
                <a:ea typeface="Aptos" pitchFamily="34" charset="-122"/>
                <a:cs typeface="Aptos" pitchFamily="34" charset="-120"/>
              </a:rPr>
              <a:t>Atilio class deck</a:t>
            </a:r>
            <a:endParaRPr lang="en-US" sz="90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62748A"/>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62748A"/>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237744"/>
            <a:ext cx="12191695" cy="6620256"/>
          </a:xfrm>
          <a:prstGeom prst="rect">
            <a:avLst/>
          </a:prstGeom>
          <a:solidFill>
            <a:srgbClr val="0E2A47"/>
          </a:solidFill>
          <a:ln w="12700">
            <a:solidFill>
              <a:srgbClr val="0E2A47"/>
            </a:solidFill>
            <a:prstDash val="solid"/>
          </a:ln>
        </p:spPr>
        <p:txBody>
          <a:bodyPr/>
          <a:lstStyle/>
          <a:p>
            <a:endParaRPr/>
          </a:p>
        </p:txBody>
      </p:sp>
      <p:sp>
        <p:nvSpPr>
          <p:cNvPr id="3" name="Shape 1"/>
          <p:cNvSpPr/>
          <p:nvPr/>
        </p:nvSpPr>
        <p:spPr>
          <a:xfrm>
            <a:off x="685800" y="1051560"/>
            <a:ext cx="4663440" cy="4434840"/>
          </a:xfrm>
          <a:prstGeom prst="roundRect">
            <a:avLst>
              <a:gd name="adj" fmla="val 2474"/>
            </a:avLst>
          </a:prstGeom>
          <a:solidFill>
            <a:srgbClr val="133659"/>
          </a:solidFill>
          <a:ln w="15240">
            <a:solidFill>
              <a:srgbClr val="234E77"/>
            </a:solidFill>
            <a:prstDash val="solid"/>
          </a:ln>
        </p:spPr>
        <p:txBody>
          <a:bodyPr/>
          <a:lstStyle/>
          <a:p>
            <a:endParaRPr/>
          </a:p>
        </p:txBody>
      </p:sp>
      <p:sp>
        <p:nvSpPr>
          <p:cNvPr id="4" name="Shape 2"/>
          <p:cNvSpPr/>
          <p:nvPr/>
        </p:nvSpPr>
        <p:spPr>
          <a:xfrm>
            <a:off x="5623560" y="1051560"/>
            <a:ext cx="5852160" cy="4434840"/>
          </a:xfrm>
          <a:prstGeom prst="roundRect">
            <a:avLst>
              <a:gd name="adj" fmla="val 2474"/>
            </a:avLst>
          </a:prstGeom>
          <a:solidFill>
            <a:srgbClr val="FFFFFF"/>
          </a:solidFill>
          <a:ln w="15240">
            <a:solidFill>
              <a:srgbClr val="D8E0EA"/>
            </a:solidFill>
            <a:prstDash val="solid"/>
          </a:ln>
        </p:spPr>
        <p:txBody>
          <a:bodyPr/>
          <a:lstStyle/>
          <a:p>
            <a:endParaRPr/>
          </a:p>
        </p:txBody>
      </p:sp>
      <p:sp>
        <p:nvSpPr>
          <p:cNvPr id="5" name="Text 3"/>
          <p:cNvSpPr/>
          <p:nvPr/>
        </p:nvSpPr>
        <p:spPr>
          <a:xfrm>
            <a:off x="914400" y="1417320"/>
            <a:ext cx="3886200" cy="109728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How HTTPS</a:t>
            </a:r>
            <a:endParaRPr lang="en-US" sz="2700" dirty="0"/>
          </a:p>
          <a:p>
            <a:pPr marL="0" indent="0">
              <a:buNone/>
            </a:pPr>
            <a:r>
              <a:rPr lang="en-US" sz="2700" b="1" dirty="0">
                <a:solidFill>
                  <a:srgbClr val="FFFFFF"/>
                </a:solidFill>
                <a:latin typeface="Aptos Display" pitchFamily="34" charset="0"/>
                <a:ea typeface="Aptos Display" pitchFamily="34" charset="-122"/>
                <a:cs typeface="Aptos Display" pitchFamily="34" charset="-120"/>
              </a:rPr>
              <a:t>Actually Works</a:t>
            </a:r>
            <a:endParaRPr lang="en-US" sz="2700" dirty="0"/>
          </a:p>
        </p:txBody>
      </p:sp>
      <p:sp>
        <p:nvSpPr>
          <p:cNvPr id="6" name="Text 4"/>
          <p:cNvSpPr/>
          <p:nvPr/>
        </p:nvSpPr>
        <p:spPr>
          <a:xfrm>
            <a:off x="914400" y="2697480"/>
            <a:ext cx="3794760" cy="1097280"/>
          </a:xfrm>
          <a:prstGeom prst="rect">
            <a:avLst/>
          </a:prstGeom>
          <a:noFill/>
          <a:ln/>
        </p:spPr>
        <p:txBody>
          <a:bodyPr wrap="square" lIns="254" tIns="254" rIns="254" bIns="254" rtlCol="0" anchor="ctr">
            <a:normAutofit/>
          </a:bodyPr>
          <a:lstStyle/>
          <a:p>
            <a:pPr marL="0" indent="0">
              <a:buNone/>
            </a:pPr>
            <a:r>
              <a:rPr lang="en-US" sz="1600" dirty="0">
                <a:solidFill>
                  <a:srgbClr val="DCE8F4"/>
                </a:solidFill>
                <a:latin typeface="Aptos" pitchFamily="34" charset="0"/>
                <a:ea typeface="Aptos" pitchFamily="34" charset="-122"/>
                <a:cs typeface="Aptos" pitchFamily="34" charset="-120"/>
              </a:rPr>
              <a:t>DV certificates, certificate authorities, TLS encryption, decryption, termination, and why “HTTPS” does not automatically mean “secure everywhere.”</a:t>
            </a:r>
            <a:endParaRPr lang="en-US" sz="1600" dirty="0"/>
          </a:p>
        </p:txBody>
      </p:sp>
      <p:sp>
        <p:nvSpPr>
          <p:cNvPr id="7" name="Shape 5"/>
          <p:cNvSpPr/>
          <p:nvPr/>
        </p:nvSpPr>
        <p:spPr>
          <a:xfrm>
            <a:off x="914400" y="4160520"/>
            <a:ext cx="1234440" cy="320040"/>
          </a:xfrm>
          <a:prstGeom prst="roundRect">
            <a:avLst>
              <a:gd name="adj" fmla="val 22857"/>
            </a:avLst>
          </a:prstGeom>
          <a:solidFill>
            <a:srgbClr val="1BA6A6"/>
          </a:solidFill>
          <a:ln w="12700">
            <a:solidFill>
              <a:srgbClr val="1BA6A6"/>
            </a:solidFill>
            <a:prstDash val="solid"/>
          </a:ln>
        </p:spPr>
        <p:txBody>
          <a:bodyPr/>
          <a:lstStyle/>
          <a:p>
            <a:endParaRPr/>
          </a:p>
        </p:txBody>
      </p:sp>
      <p:sp>
        <p:nvSpPr>
          <p:cNvPr id="8" name="Text 6"/>
          <p:cNvSpPr/>
          <p:nvPr/>
        </p:nvSpPr>
        <p:spPr>
          <a:xfrm>
            <a:off x="914400" y="4178808"/>
            <a:ext cx="1234440" cy="28346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Web PKI</a:t>
            </a:r>
            <a:endParaRPr lang="en-US" sz="1300" dirty="0"/>
          </a:p>
        </p:txBody>
      </p:sp>
      <p:sp>
        <p:nvSpPr>
          <p:cNvPr id="9" name="Shape 7"/>
          <p:cNvSpPr/>
          <p:nvPr/>
        </p:nvSpPr>
        <p:spPr>
          <a:xfrm>
            <a:off x="2286000" y="4160520"/>
            <a:ext cx="1143000" cy="320040"/>
          </a:xfrm>
          <a:prstGeom prst="roundRect">
            <a:avLst>
              <a:gd name="adj" fmla="val 22857"/>
            </a:avLst>
          </a:prstGeom>
          <a:solidFill>
            <a:srgbClr val="1F4E79"/>
          </a:solidFill>
          <a:ln w="12700">
            <a:solidFill>
              <a:srgbClr val="1F4E79"/>
            </a:solidFill>
            <a:prstDash val="solid"/>
          </a:ln>
        </p:spPr>
        <p:txBody>
          <a:bodyPr/>
          <a:lstStyle/>
          <a:p>
            <a:endParaRPr/>
          </a:p>
        </p:txBody>
      </p:sp>
      <p:sp>
        <p:nvSpPr>
          <p:cNvPr id="10" name="Text 8"/>
          <p:cNvSpPr/>
          <p:nvPr/>
        </p:nvSpPr>
        <p:spPr>
          <a:xfrm>
            <a:off x="2286000" y="4178808"/>
            <a:ext cx="1143000" cy="28346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TLS 1.3</a:t>
            </a:r>
            <a:endParaRPr lang="en-US" sz="1300" dirty="0"/>
          </a:p>
        </p:txBody>
      </p:sp>
      <p:sp>
        <p:nvSpPr>
          <p:cNvPr id="11" name="Shape 9"/>
          <p:cNvSpPr/>
          <p:nvPr/>
        </p:nvSpPr>
        <p:spPr>
          <a:xfrm>
            <a:off x="3611880" y="4160520"/>
            <a:ext cx="1691640" cy="320040"/>
          </a:xfrm>
          <a:prstGeom prst="roundRect">
            <a:avLst>
              <a:gd name="adj" fmla="val 22857"/>
            </a:avLst>
          </a:prstGeom>
          <a:solidFill>
            <a:srgbClr val="F5B841"/>
          </a:solidFill>
          <a:ln w="12700">
            <a:solidFill>
              <a:srgbClr val="F5B841"/>
            </a:solidFill>
            <a:prstDash val="solid"/>
          </a:ln>
        </p:spPr>
        <p:txBody>
          <a:bodyPr/>
          <a:lstStyle/>
          <a:p>
            <a:endParaRPr/>
          </a:p>
        </p:txBody>
      </p:sp>
      <p:sp>
        <p:nvSpPr>
          <p:cNvPr id="12" name="Text 10"/>
          <p:cNvSpPr/>
          <p:nvPr/>
        </p:nvSpPr>
        <p:spPr>
          <a:xfrm>
            <a:off x="3611880" y="4178808"/>
            <a:ext cx="1691640" cy="283464"/>
          </a:xfrm>
          <a:prstGeom prst="rect">
            <a:avLst/>
          </a:prstGeom>
          <a:noFill/>
          <a:ln/>
        </p:spPr>
        <p:txBody>
          <a:bodyPr wrap="square" lIns="0" tIns="0" rIns="0" bIns="0" rtlCol="0" anchor="ctr">
            <a:normAutofit/>
          </a:bodyPr>
          <a:lstStyle/>
          <a:p>
            <a:pPr marL="0" indent="0" algn="ctr">
              <a:buNone/>
            </a:pPr>
            <a:r>
              <a:rPr lang="en-US" sz="1300" b="1" dirty="0">
                <a:solidFill>
                  <a:srgbClr val="16212F"/>
                </a:solidFill>
                <a:latin typeface="Aptos" pitchFamily="34" charset="0"/>
                <a:ea typeface="Aptos" pitchFamily="34" charset="-122"/>
                <a:cs typeface="Aptos" pitchFamily="34" charset="-120"/>
              </a:rPr>
              <a:t>Transport security</a:t>
            </a:r>
            <a:endParaRPr lang="en-US" sz="1300" dirty="0"/>
          </a:p>
        </p:txBody>
      </p:sp>
      <p:sp>
        <p:nvSpPr>
          <p:cNvPr id="13" name="Shape 11"/>
          <p:cNvSpPr/>
          <p:nvPr/>
        </p:nvSpPr>
        <p:spPr>
          <a:xfrm>
            <a:off x="5897880" y="1371600"/>
            <a:ext cx="2468880" cy="1051560"/>
          </a:xfrm>
          <a:prstGeom prst="roundRect">
            <a:avLst>
              <a:gd name="adj" fmla="val 6957"/>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4" name="Text 12"/>
          <p:cNvSpPr/>
          <p:nvPr/>
        </p:nvSpPr>
        <p:spPr>
          <a:xfrm>
            <a:off x="6062472" y="1481328"/>
            <a:ext cx="213969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1. Identity</a:t>
            </a:r>
            <a:endParaRPr lang="en-US" sz="1500" dirty="0"/>
          </a:p>
        </p:txBody>
      </p:sp>
      <p:sp>
        <p:nvSpPr>
          <p:cNvPr id="15" name="Text 13"/>
          <p:cNvSpPr/>
          <p:nvPr/>
        </p:nvSpPr>
        <p:spPr>
          <a:xfrm>
            <a:off x="6126480" y="1819656"/>
            <a:ext cx="2011680" cy="457200"/>
          </a:xfrm>
          <a:prstGeom prst="rect">
            <a:avLst/>
          </a:prstGeom>
          <a:noFill/>
          <a:ln/>
        </p:spPr>
        <p:txBody>
          <a:bodyPr wrap="square" lIns="0" tIns="0" rIns="0" bIns="0" rtlCol="0" anchor="ctr">
            <a:normAutofit/>
          </a:bodyPr>
          <a:lstStyle/>
          <a:p>
            <a:pPr marL="0" indent="0">
              <a:buNone/>
            </a:pPr>
            <a:r>
              <a:rPr lang="en-US" sz="1550" dirty="0">
                <a:solidFill>
                  <a:srgbClr val="16212F"/>
                </a:solidFill>
              </a:rPr>
              <a:t>Certificate binds a public key to a domain name.</a:t>
            </a:r>
            <a:endParaRPr lang="en-US" sz="1550" dirty="0"/>
          </a:p>
        </p:txBody>
      </p:sp>
      <p:sp>
        <p:nvSpPr>
          <p:cNvPr id="16" name="Shape 14"/>
          <p:cNvSpPr/>
          <p:nvPr/>
        </p:nvSpPr>
        <p:spPr>
          <a:xfrm>
            <a:off x="8732520" y="1371600"/>
            <a:ext cx="2103120" cy="1051560"/>
          </a:xfrm>
          <a:prstGeom prst="roundRect">
            <a:avLst>
              <a:gd name="adj" fmla="val 6957"/>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7" name="Text 15"/>
          <p:cNvSpPr/>
          <p:nvPr/>
        </p:nvSpPr>
        <p:spPr>
          <a:xfrm>
            <a:off x="8897112" y="1481328"/>
            <a:ext cx="177393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2. Handshake</a:t>
            </a:r>
            <a:endParaRPr lang="en-US" sz="1500" dirty="0"/>
          </a:p>
        </p:txBody>
      </p:sp>
      <p:sp>
        <p:nvSpPr>
          <p:cNvPr id="18" name="Text 16"/>
          <p:cNvSpPr/>
          <p:nvPr/>
        </p:nvSpPr>
        <p:spPr>
          <a:xfrm>
            <a:off x="8942832" y="1819656"/>
            <a:ext cx="1691640" cy="457200"/>
          </a:xfrm>
          <a:prstGeom prst="rect">
            <a:avLst/>
          </a:prstGeom>
          <a:noFill/>
          <a:ln/>
        </p:spPr>
        <p:txBody>
          <a:bodyPr wrap="square" lIns="0" tIns="0" rIns="0" bIns="0" rtlCol="0" anchor="ctr">
            <a:normAutofit/>
          </a:bodyPr>
          <a:lstStyle/>
          <a:p>
            <a:pPr marL="0" indent="0">
              <a:buNone/>
            </a:pPr>
            <a:r>
              <a:rPr lang="en-US" sz="1500" dirty="0">
                <a:solidFill>
                  <a:srgbClr val="16212F"/>
                </a:solidFill>
              </a:rPr>
              <a:t>Client and server derive shared session keys.</a:t>
            </a:r>
            <a:endParaRPr lang="en-US" sz="1500" dirty="0"/>
          </a:p>
        </p:txBody>
      </p:sp>
      <p:sp>
        <p:nvSpPr>
          <p:cNvPr id="19" name="Shape 17"/>
          <p:cNvSpPr/>
          <p:nvPr/>
        </p:nvSpPr>
        <p:spPr>
          <a:xfrm>
            <a:off x="5897880" y="2788920"/>
            <a:ext cx="4937760" cy="1234440"/>
          </a:xfrm>
          <a:prstGeom prst="roundRect">
            <a:avLst>
              <a:gd name="adj" fmla="val 5926"/>
            </a:avLst>
          </a:prstGeom>
          <a:solidFill>
            <a:srgbClr val="FFF6E0"/>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0" name="Text 18"/>
          <p:cNvSpPr/>
          <p:nvPr/>
        </p:nvSpPr>
        <p:spPr>
          <a:xfrm>
            <a:off x="6062472" y="2898648"/>
            <a:ext cx="46085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3. Encrypted records</a:t>
            </a:r>
            <a:endParaRPr lang="en-US" sz="1500" dirty="0"/>
          </a:p>
        </p:txBody>
      </p:sp>
      <p:sp>
        <p:nvSpPr>
          <p:cNvPr id="21" name="Text 19"/>
          <p:cNvSpPr/>
          <p:nvPr/>
        </p:nvSpPr>
        <p:spPr>
          <a:xfrm>
            <a:off x="6126480" y="3236976"/>
            <a:ext cx="4434840" cy="502920"/>
          </a:xfrm>
          <a:prstGeom prst="rect">
            <a:avLst/>
          </a:prstGeom>
          <a:noFill/>
          <a:ln/>
        </p:spPr>
        <p:txBody>
          <a:bodyPr wrap="square" lIns="0" tIns="0" rIns="0" bIns="0" rtlCol="0" anchor="ctr">
            <a:normAutofit/>
          </a:bodyPr>
          <a:lstStyle/>
          <a:p>
            <a:pPr marL="0" indent="0">
              <a:buNone/>
            </a:pPr>
            <a:r>
              <a:rPr lang="en-US" sz="1600" dirty="0">
                <a:solidFill>
                  <a:srgbClr val="16212F"/>
                </a:solidFill>
              </a:rPr>
              <a:t>HTTP messages travel inside TLS records protected with symmetric encryption and integrity checks.</a:t>
            </a:r>
            <a:endParaRPr lang="en-US" sz="1600" dirty="0"/>
          </a:p>
        </p:txBody>
      </p:sp>
      <p:sp>
        <p:nvSpPr>
          <p:cNvPr id="22" name="Shape 20"/>
          <p:cNvSpPr/>
          <p:nvPr/>
        </p:nvSpPr>
        <p:spPr>
          <a:xfrm>
            <a:off x="5897880" y="4315968"/>
            <a:ext cx="4937760" cy="896112"/>
          </a:xfrm>
          <a:prstGeom prst="roundRect">
            <a:avLst>
              <a:gd name="adj" fmla="val 8163"/>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3" name="Text 21"/>
          <p:cNvSpPr/>
          <p:nvPr/>
        </p:nvSpPr>
        <p:spPr>
          <a:xfrm>
            <a:off x="6199632" y="4599432"/>
            <a:ext cx="4251960" cy="384048"/>
          </a:xfrm>
          <a:prstGeom prst="rect">
            <a:avLst/>
          </a:prstGeom>
          <a:noFill/>
          <a:ln/>
        </p:spPr>
        <p:txBody>
          <a:bodyPr wrap="square" lIns="0" tIns="0" rIns="0" bIns="0" rtlCol="0" anchor="ctr">
            <a:normAutofit/>
          </a:bodyPr>
          <a:lstStyle/>
          <a:p>
            <a:pPr marL="0" indent="0">
              <a:buNone/>
            </a:pPr>
            <a:r>
              <a:rPr lang="en-US" sz="1750" b="1" dirty="0">
                <a:solidFill>
                  <a:srgbClr val="0E2A47"/>
                </a:solidFill>
              </a:rPr>
              <a:t>Who does what: the CA, the TLS library, the proxy, and the application framework?</a:t>
            </a:r>
            <a:endParaRPr lang="en-US" sz="175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CA, certificate, TLS, app: separate the roles</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Students learn faster if the layers are named clearly before diving into packet flow.</a:t>
            </a:r>
            <a:endParaRPr lang="en-US" sz="1250" dirty="0"/>
          </a:p>
        </p:txBody>
      </p:sp>
      <p:sp>
        <p:nvSpPr>
          <p:cNvPr id="4" name="Shape 2"/>
          <p:cNvSpPr/>
          <p:nvPr/>
        </p:nvSpPr>
        <p:spPr>
          <a:xfrm>
            <a:off x="594360" y="1325880"/>
            <a:ext cx="2743200" cy="4480560"/>
          </a:xfrm>
          <a:prstGeom prst="roundRect">
            <a:avLst>
              <a:gd name="adj" fmla="val 2667"/>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758952" y="1435608"/>
            <a:ext cx="24140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CA</a:t>
            </a:r>
            <a:endParaRPr lang="en-US" sz="1500" dirty="0"/>
          </a:p>
        </p:txBody>
      </p:sp>
      <p:sp>
        <p:nvSpPr>
          <p:cNvPr id="6" name="Shape 4"/>
          <p:cNvSpPr/>
          <p:nvPr/>
        </p:nvSpPr>
        <p:spPr>
          <a:xfrm>
            <a:off x="3611880" y="1325880"/>
            <a:ext cx="2377440" cy="4480560"/>
          </a:xfrm>
          <a:prstGeom prst="roundRect">
            <a:avLst>
              <a:gd name="adj" fmla="val 3077"/>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7" name="Text 5"/>
          <p:cNvSpPr/>
          <p:nvPr/>
        </p:nvSpPr>
        <p:spPr>
          <a:xfrm>
            <a:off x="3776472" y="1435608"/>
            <a:ext cx="20482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Certificate</a:t>
            </a:r>
            <a:endParaRPr lang="en-US" sz="1500" dirty="0"/>
          </a:p>
        </p:txBody>
      </p:sp>
      <p:sp>
        <p:nvSpPr>
          <p:cNvPr id="8" name="Shape 6"/>
          <p:cNvSpPr/>
          <p:nvPr/>
        </p:nvSpPr>
        <p:spPr>
          <a:xfrm>
            <a:off x="6263640" y="1325880"/>
            <a:ext cx="2514600" cy="4480560"/>
          </a:xfrm>
          <a:prstGeom prst="roundRect">
            <a:avLst>
              <a:gd name="adj" fmla="val 2909"/>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9" name="Text 7"/>
          <p:cNvSpPr/>
          <p:nvPr/>
        </p:nvSpPr>
        <p:spPr>
          <a:xfrm>
            <a:off x="6428232" y="1435608"/>
            <a:ext cx="21854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TLS</a:t>
            </a:r>
            <a:endParaRPr lang="en-US" sz="1500" dirty="0"/>
          </a:p>
        </p:txBody>
      </p:sp>
      <p:sp>
        <p:nvSpPr>
          <p:cNvPr id="10" name="Shape 8"/>
          <p:cNvSpPr/>
          <p:nvPr/>
        </p:nvSpPr>
        <p:spPr>
          <a:xfrm>
            <a:off x="9052560" y="1325880"/>
            <a:ext cx="2514600" cy="4480560"/>
          </a:xfrm>
          <a:prstGeom prst="roundRect">
            <a:avLst>
              <a:gd name="adj" fmla="val 2909"/>
            </a:avLst>
          </a:prstGeom>
          <a:solidFill>
            <a:srgbClr val="FFF6E0"/>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1" name="Text 9"/>
          <p:cNvSpPr/>
          <p:nvPr/>
        </p:nvSpPr>
        <p:spPr>
          <a:xfrm>
            <a:off x="9217152" y="1435608"/>
            <a:ext cx="21854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App layer</a:t>
            </a:r>
            <a:endParaRPr lang="en-US" sz="1500" dirty="0"/>
          </a:p>
        </p:txBody>
      </p:sp>
      <p:sp>
        <p:nvSpPr>
          <p:cNvPr id="12" name="Text 10"/>
          <p:cNvSpPr/>
          <p:nvPr/>
        </p:nvSpPr>
        <p:spPr>
          <a:xfrm>
            <a:off x="822960" y="1938528"/>
            <a:ext cx="2240280" cy="960120"/>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Vouches that a public key belongs to a domain by signing a cert chain trusted by browsers and operating systems.</a:t>
            </a:r>
            <a:endParaRPr lang="en-US" sz="1700" dirty="0"/>
          </a:p>
        </p:txBody>
      </p:sp>
      <p:sp>
        <p:nvSpPr>
          <p:cNvPr id="13" name="Text 11"/>
          <p:cNvSpPr/>
          <p:nvPr/>
        </p:nvSpPr>
        <p:spPr>
          <a:xfrm>
            <a:off x="3840480" y="1938528"/>
            <a:ext cx="1920240" cy="960120"/>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Contains domain names, public key, validity dates, issuer, and signature. It is not the encrypted data stream.</a:t>
            </a:r>
            <a:endParaRPr lang="en-US" sz="1700" dirty="0"/>
          </a:p>
        </p:txBody>
      </p:sp>
      <p:sp>
        <p:nvSpPr>
          <p:cNvPr id="14" name="Text 12"/>
          <p:cNvSpPr/>
          <p:nvPr/>
        </p:nvSpPr>
        <p:spPr>
          <a:xfrm>
            <a:off x="6492240" y="1938528"/>
            <a:ext cx="2057400" cy="960120"/>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Authenticates the server, performs key agreement, then encrypts HTTP with symmetric session keys.</a:t>
            </a:r>
            <a:endParaRPr lang="en-US" sz="1700" dirty="0"/>
          </a:p>
        </p:txBody>
      </p:sp>
      <p:sp>
        <p:nvSpPr>
          <p:cNvPr id="15" name="Text 13"/>
          <p:cNvSpPr/>
          <p:nvPr/>
        </p:nvSpPr>
        <p:spPr>
          <a:xfrm>
            <a:off x="9281160" y="1938528"/>
            <a:ext cx="2057400" cy="960120"/>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Usually receives an already-decrypted HTTP request from the TLS terminator and focuses on routing, logic, and data.</a:t>
            </a:r>
            <a:endParaRPr lang="en-US" sz="1700" dirty="0"/>
          </a:p>
        </p:txBody>
      </p:sp>
      <p:sp>
        <p:nvSpPr>
          <p:cNvPr id="16" name="Shape 14"/>
          <p:cNvSpPr/>
          <p:nvPr/>
        </p:nvSpPr>
        <p:spPr>
          <a:xfrm>
            <a:off x="1143000" y="3246120"/>
            <a:ext cx="1645920" cy="347472"/>
          </a:xfrm>
          <a:prstGeom prst="roundRect">
            <a:avLst>
              <a:gd name="adj" fmla="val 21053"/>
            </a:avLst>
          </a:prstGeom>
          <a:solidFill>
            <a:srgbClr val="1F4E79"/>
          </a:solidFill>
          <a:ln w="12700">
            <a:solidFill>
              <a:srgbClr val="1F4E79"/>
            </a:solidFill>
            <a:prstDash val="solid"/>
          </a:ln>
        </p:spPr>
        <p:txBody>
          <a:bodyPr/>
          <a:lstStyle/>
          <a:p>
            <a:endParaRPr/>
          </a:p>
        </p:txBody>
      </p:sp>
      <p:sp>
        <p:nvSpPr>
          <p:cNvPr id="17" name="Text 15"/>
          <p:cNvSpPr/>
          <p:nvPr/>
        </p:nvSpPr>
        <p:spPr>
          <a:xfrm>
            <a:off x="1143000" y="3264408"/>
            <a:ext cx="164592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identity</a:t>
            </a:r>
            <a:endParaRPr lang="en-US" sz="1300" dirty="0"/>
          </a:p>
        </p:txBody>
      </p:sp>
      <p:sp>
        <p:nvSpPr>
          <p:cNvPr id="18" name="Shape 16"/>
          <p:cNvSpPr/>
          <p:nvPr/>
        </p:nvSpPr>
        <p:spPr>
          <a:xfrm>
            <a:off x="4005072" y="3246120"/>
            <a:ext cx="1600200" cy="347472"/>
          </a:xfrm>
          <a:prstGeom prst="roundRect">
            <a:avLst>
              <a:gd name="adj" fmla="val 21053"/>
            </a:avLst>
          </a:prstGeom>
          <a:solidFill>
            <a:srgbClr val="1F4E79"/>
          </a:solidFill>
          <a:ln w="12700">
            <a:solidFill>
              <a:srgbClr val="1F4E79"/>
            </a:solidFill>
            <a:prstDash val="solid"/>
          </a:ln>
        </p:spPr>
        <p:txBody>
          <a:bodyPr/>
          <a:lstStyle/>
          <a:p>
            <a:endParaRPr/>
          </a:p>
        </p:txBody>
      </p:sp>
      <p:sp>
        <p:nvSpPr>
          <p:cNvPr id="19" name="Text 17"/>
          <p:cNvSpPr/>
          <p:nvPr/>
        </p:nvSpPr>
        <p:spPr>
          <a:xfrm>
            <a:off x="4005072" y="3264408"/>
            <a:ext cx="160020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public key + names</a:t>
            </a:r>
            <a:endParaRPr lang="en-US" sz="1300" dirty="0"/>
          </a:p>
        </p:txBody>
      </p:sp>
      <p:sp>
        <p:nvSpPr>
          <p:cNvPr id="20" name="Shape 18"/>
          <p:cNvSpPr/>
          <p:nvPr/>
        </p:nvSpPr>
        <p:spPr>
          <a:xfrm>
            <a:off x="6510528" y="3246120"/>
            <a:ext cx="2011680" cy="347472"/>
          </a:xfrm>
          <a:prstGeom prst="roundRect">
            <a:avLst>
              <a:gd name="adj" fmla="val 21053"/>
            </a:avLst>
          </a:prstGeom>
          <a:solidFill>
            <a:srgbClr val="1BA6A6"/>
          </a:solidFill>
          <a:ln w="12700">
            <a:solidFill>
              <a:srgbClr val="1BA6A6"/>
            </a:solidFill>
            <a:prstDash val="solid"/>
          </a:ln>
        </p:spPr>
        <p:txBody>
          <a:bodyPr/>
          <a:lstStyle/>
          <a:p>
            <a:endParaRPr/>
          </a:p>
        </p:txBody>
      </p:sp>
      <p:sp>
        <p:nvSpPr>
          <p:cNvPr id="21" name="Text 19"/>
          <p:cNvSpPr/>
          <p:nvPr/>
        </p:nvSpPr>
        <p:spPr>
          <a:xfrm>
            <a:off x="6510528" y="3264408"/>
            <a:ext cx="2011680" cy="310896"/>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key exchange + record protection</a:t>
            </a:r>
            <a:endParaRPr lang="en-US" sz="1300" dirty="0"/>
          </a:p>
        </p:txBody>
      </p:sp>
      <p:sp>
        <p:nvSpPr>
          <p:cNvPr id="22" name="Shape 20"/>
          <p:cNvSpPr/>
          <p:nvPr/>
        </p:nvSpPr>
        <p:spPr>
          <a:xfrm>
            <a:off x="9491472" y="3246120"/>
            <a:ext cx="1645920" cy="347472"/>
          </a:xfrm>
          <a:prstGeom prst="roundRect">
            <a:avLst>
              <a:gd name="adj" fmla="val 21053"/>
            </a:avLst>
          </a:prstGeom>
          <a:solidFill>
            <a:srgbClr val="F5B841"/>
          </a:solidFill>
          <a:ln w="12700">
            <a:solidFill>
              <a:srgbClr val="F5B841"/>
            </a:solidFill>
            <a:prstDash val="solid"/>
          </a:ln>
        </p:spPr>
        <p:txBody>
          <a:bodyPr/>
          <a:lstStyle/>
          <a:p>
            <a:endParaRPr/>
          </a:p>
        </p:txBody>
      </p:sp>
      <p:sp>
        <p:nvSpPr>
          <p:cNvPr id="23" name="Text 21"/>
          <p:cNvSpPr/>
          <p:nvPr/>
        </p:nvSpPr>
        <p:spPr>
          <a:xfrm>
            <a:off x="9491472" y="3264408"/>
            <a:ext cx="1645920" cy="310896"/>
          </a:xfrm>
          <a:prstGeom prst="rect">
            <a:avLst/>
          </a:prstGeom>
          <a:noFill/>
          <a:ln/>
        </p:spPr>
        <p:txBody>
          <a:bodyPr wrap="square" lIns="0" tIns="0" rIns="0" bIns="0" rtlCol="0" anchor="ctr">
            <a:normAutofit/>
          </a:bodyPr>
          <a:lstStyle/>
          <a:p>
            <a:pPr marL="0" indent="0" algn="ctr">
              <a:buNone/>
            </a:pPr>
            <a:r>
              <a:rPr lang="en-US" sz="1300" b="1" dirty="0">
                <a:solidFill>
                  <a:srgbClr val="16212F"/>
                </a:solidFill>
                <a:latin typeface="Aptos" pitchFamily="34" charset="0"/>
                <a:ea typeface="Aptos" pitchFamily="34" charset="-122"/>
                <a:cs typeface="Aptos" pitchFamily="34" charset="-120"/>
              </a:rPr>
              <a:t>business logic</a:t>
            </a:r>
            <a:endParaRPr lang="en-US" sz="1300" dirty="0"/>
          </a:p>
        </p:txBody>
      </p:sp>
      <p:sp>
        <p:nvSpPr>
          <p:cNvPr id="24" name="Text 22"/>
          <p:cNvSpPr/>
          <p:nvPr/>
        </p:nvSpPr>
        <p:spPr>
          <a:xfrm>
            <a:off x="914400" y="4617720"/>
            <a:ext cx="2057400" cy="320040"/>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Browser requests https://api.example.com</a:t>
            </a:r>
            <a:endParaRPr lang="en-US" sz="1550" dirty="0"/>
          </a:p>
        </p:txBody>
      </p:sp>
      <p:sp>
        <p:nvSpPr>
          <p:cNvPr id="25" name="Text 23"/>
          <p:cNvSpPr/>
          <p:nvPr/>
        </p:nvSpPr>
        <p:spPr>
          <a:xfrm>
            <a:off x="3657600" y="4617720"/>
            <a:ext cx="2240280" cy="320040"/>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Browser validates cert chain + hostname</a:t>
            </a:r>
            <a:endParaRPr lang="en-US" sz="1550" dirty="0"/>
          </a:p>
        </p:txBody>
      </p:sp>
      <p:sp>
        <p:nvSpPr>
          <p:cNvPr id="26" name="Text 24"/>
          <p:cNvSpPr/>
          <p:nvPr/>
        </p:nvSpPr>
        <p:spPr>
          <a:xfrm>
            <a:off x="6355080" y="4617720"/>
            <a:ext cx="2331720" cy="320040"/>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TLS derives traffic keys and encrypts records</a:t>
            </a:r>
            <a:endParaRPr lang="en-US" sz="1550" dirty="0"/>
          </a:p>
        </p:txBody>
      </p:sp>
      <p:sp>
        <p:nvSpPr>
          <p:cNvPr id="27" name="Text 25"/>
          <p:cNvSpPr/>
          <p:nvPr/>
        </p:nvSpPr>
        <p:spPr>
          <a:xfrm>
            <a:off x="9281160" y="4617720"/>
            <a:ext cx="1965960" cy="320040"/>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App reads HTTP after termination</a:t>
            </a:r>
            <a:endParaRPr lang="en-US" sz="1550" dirty="0"/>
          </a:p>
        </p:txBody>
      </p:sp>
      <p:sp>
        <p:nvSpPr>
          <p:cNvPr id="28" name="Shape 26"/>
          <p:cNvSpPr/>
          <p:nvPr/>
        </p:nvSpPr>
        <p:spPr>
          <a:xfrm>
            <a:off x="2926080" y="4773168"/>
            <a:ext cx="502920" cy="0"/>
          </a:xfrm>
          <a:prstGeom prst="line">
            <a:avLst/>
          </a:prstGeom>
          <a:noFill/>
          <a:ln w="27940">
            <a:solidFill>
              <a:srgbClr val="1F4E79"/>
            </a:solidFill>
            <a:prstDash val="solid"/>
            <a:headEnd type="none"/>
            <a:tailEnd type="triangle"/>
          </a:ln>
        </p:spPr>
        <p:txBody>
          <a:bodyPr/>
          <a:lstStyle/>
          <a:p>
            <a:endParaRPr/>
          </a:p>
        </p:txBody>
      </p:sp>
      <p:sp>
        <p:nvSpPr>
          <p:cNvPr id="29" name="Shape 27"/>
          <p:cNvSpPr/>
          <p:nvPr/>
        </p:nvSpPr>
        <p:spPr>
          <a:xfrm>
            <a:off x="5943600" y="4773168"/>
            <a:ext cx="502920" cy="0"/>
          </a:xfrm>
          <a:prstGeom prst="line">
            <a:avLst/>
          </a:prstGeom>
          <a:noFill/>
          <a:ln w="27940">
            <a:solidFill>
              <a:srgbClr val="1F4E79"/>
            </a:solidFill>
            <a:prstDash val="solid"/>
            <a:headEnd type="none"/>
            <a:tailEnd type="triangle"/>
          </a:ln>
        </p:spPr>
        <p:txBody>
          <a:bodyPr/>
          <a:lstStyle/>
          <a:p>
            <a:endParaRPr/>
          </a:p>
        </p:txBody>
      </p:sp>
      <p:sp>
        <p:nvSpPr>
          <p:cNvPr id="30" name="Shape 28"/>
          <p:cNvSpPr/>
          <p:nvPr/>
        </p:nvSpPr>
        <p:spPr>
          <a:xfrm>
            <a:off x="8823960" y="4773168"/>
            <a:ext cx="274320" cy="0"/>
          </a:xfrm>
          <a:prstGeom prst="line">
            <a:avLst/>
          </a:prstGeom>
          <a:noFill/>
          <a:ln w="27940">
            <a:solidFill>
              <a:srgbClr val="1F4E79"/>
            </a:solidFill>
            <a:prstDash val="solid"/>
            <a:headEnd type="none"/>
            <a:tailEnd type="triangle"/>
          </a:ln>
        </p:spPr>
        <p:txBody>
          <a:bodyPr/>
          <a:lstStyle/>
          <a:p>
            <a:endParaRPr/>
          </a:p>
        </p:txBody>
      </p:sp>
      <p:sp>
        <p:nvSpPr>
          <p:cNvPr id="31"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What a DV certificate actually proves</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DV = domain validation: control of the domain, not validation of the business behind it.</a:t>
            </a:r>
            <a:endParaRPr lang="en-US" sz="1250" dirty="0"/>
          </a:p>
        </p:txBody>
      </p:sp>
      <p:sp>
        <p:nvSpPr>
          <p:cNvPr id="4" name="Shape 2"/>
          <p:cNvSpPr/>
          <p:nvPr/>
        </p:nvSpPr>
        <p:spPr>
          <a:xfrm>
            <a:off x="640080" y="1371600"/>
            <a:ext cx="3657600" cy="4480560"/>
          </a:xfrm>
          <a:prstGeom prst="roundRect">
            <a:avLst>
              <a:gd name="adj" fmla="val 2000"/>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804672" y="1481328"/>
            <a:ext cx="33284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What the CA checks</a:t>
            </a:r>
            <a:endParaRPr lang="en-US" sz="1500" dirty="0"/>
          </a:p>
        </p:txBody>
      </p:sp>
      <p:sp>
        <p:nvSpPr>
          <p:cNvPr id="6" name="Text 4"/>
          <p:cNvSpPr/>
          <p:nvPr/>
        </p:nvSpPr>
        <p:spPr>
          <a:xfrm>
            <a:off x="914400" y="1783080"/>
            <a:ext cx="2971800" cy="2468880"/>
          </a:xfrm>
          <a:prstGeom prst="rect">
            <a:avLst/>
          </a:prstGeom>
          <a:noFill/>
          <a:ln/>
        </p:spPr>
        <p:txBody>
          <a:bodyPr wrap="square" lIns="254" tIns="254" rIns="254" bIns="254" rtlCol="0" anchor="ctr">
            <a:normAutofit/>
          </a:bodyPr>
          <a:lstStyle/>
          <a:p>
            <a:pPr marL="0" indent="0">
              <a:buNone/>
            </a:pPr>
            <a:r>
              <a:rPr lang="en-US" sz="2100" dirty="0">
                <a:solidFill>
                  <a:srgbClr val="16212F"/>
                </a:solidFill>
              </a:rPr>
              <a:t>The requester can control</a:t>
            </a:r>
            <a:endParaRPr lang="en-US" sz="2100" dirty="0"/>
          </a:p>
          <a:p>
            <a:pPr marL="0" indent="0">
              <a:buNone/>
            </a:pPr>
            <a:r>
              <a:rPr lang="en-US" sz="2100" dirty="0">
                <a:solidFill>
                  <a:srgbClr val="16212F"/>
                </a:solidFill>
              </a:rPr>
              <a:t>the DNS zone or web</a:t>
            </a:r>
            <a:endParaRPr lang="en-US" sz="2100" dirty="0"/>
          </a:p>
          <a:p>
            <a:pPr marL="0" indent="0">
              <a:buNone/>
            </a:pPr>
            <a:r>
              <a:rPr lang="en-US" sz="2100" dirty="0">
                <a:solidFill>
                  <a:srgbClr val="16212F"/>
                </a:solidFill>
              </a:rPr>
              <a:t>content for the domain.</a:t>
            </a:r>
            <a:endParaRPr lang="en-US" sz="2100" dirty="0"/>
          </a:p>
          <a:p>
            <a:pPr marL="0" indent="0">
              <a:buNone/>
            </a:pPr>
            <a:endParaRPr lang="en-US" sz="2100" dirty="0"/>
          </a:p>
          <a:p>
            <a:pPr marL="0" indent="0">
              <a:buNone/>
            </a:pPr>
            <a:r>
              <a:rPr lang="en-US" sz="2100" dirty="0">
                <a:solidFill>
                  <a:srgbClr val="16212F"/>
                </a:solidFill>
              </a:rPr>
              <a:t>The certificate request</a:t>
            </a:r>
            <a:endParaRPr lang="en-US" sz="2100" dirty="0"/>
          </a:p>
          <a:p>
            <a:pPr marL="0" indent="0">
              <a:buNone/>
            </a:pPr>
            <a:r>
              <a:rPr lang="en-US" sz="2100" dirty="0">
                <a:solidFill>
                  <a:srgbClr val="16212F"/>
                </a:solidFill>
              </a:rPr>
              <a:t>matches the domain</a:t>
            </a:r>
            <a:endParaRPr lang="en-US" sz="2100" dirty="0"/>
          </a:p>
          <a:p>
            <a:pPr marL="0" indent="0">
              <a:buNone/>
            </a:pPr>
            <a:r>
              <a:rPr lang="en-US" sz="2100" dirty="0">
                <a:solidFill>
                  <a:srgbClr val="16212F"/>
                </a:solidFill>
              </a:rPr>
              <a:t>names being validated.</a:t>
            </a:r>
            <a:endParaRPr lang="en-US" sz="2100" dirty="0"/>
          </a:p>
        </p:txBody>
      </p:sp>
      <p:sp>
        <p:nvSpPr>
          <p:cNvPr id="7" name="Text 5"/>
          <p:cNvSpPr/>
          <p:nvPr/>
        </p:nvSpPr>
        <p:spPr>
          <a:xfrm>
            <a:off x="914400" y="4389120"/>
            <a:ext cx="1645920" cy="228600"/>
          </a:xfrm>
          <a:prstGeom prst="rect">
            <a:avLst/>
          </a:prstGeom>
          <a:noFill/>
          <a:ln/>
        </p:spPr>
        <p:txBody>
          <a:bodyPr wrap="square" lIns="0" tIns="0" rIns="0" bIns="0" rtlCol="0" anchor="ctr">
            <a:normAutofit/>
          </a:bodyPr>
          <a:lstStyle/>
          <a:p>
            <a:pPr marL="0" indent="0">
              <a:buNone/>
            </a:pPr>
            <a:r>
              <a:rPr lang="en-US" sz="1550" b="1" dirty="0">
                <a:solidFill>
                  <a:srgbClr val="5C6B7B"/>
                </a:solidFill>
              </a:rPr>
              <a:t>Typical proof methods</a:t>
            </a:r>
            <a:endParaRPr lang="en-US" sz="1550" dirty="0"/>
          </a:p>
        </p:txBody>
      </p:sp>
      <p:sp>
        <p:nvSpPr>
          <p:cNvPr id="8" name="Shape 6"/>
          <p:cNvSpPr/>
          <p:nvPr/>
        </p:nvSpPr>
        <p:spPr>
          <a:xfrm>
            <a:off x="914400" y="4736592"/>
            <a:ext cx="960120" cy="329184"/>
          </a:xfrm>
          <a:prstGeom prst="roundRect">
            <a:avLst>
              <a:gd name="adj" fmla="val 22222"/>
            </a:avLst>
          </a:prstGeom>
          <a:solidFill>
            <a:srgbClr val="1F4E79"/>
          </a:solidFill>
          <a:ln w="12700">
            <a:solidFill>
              <a:srgbClr val="1F4E79"/>
            </a:solidFill>
            <a:prstDash val="solid"/>
          </a:ln>
        </p:spPr>
        <p:txBody>
          <a:bodyPr/>
          <a:lstStyle/>
          <a:p>
            <a:endParaRPr/>
          </a:p>
        </p:txBody>
      </p:sp>
      <p:sp>
        <p:nvSpPr>
          <p:cNvPr id="9" name="Text 7"/>
          <p:cNvSpPr/>
          <p:nvPr/>
        </p:nvSpPr>
        <p:spPr>
          <a:xfrm>
            <a:off x="914400" y="4754880"/>
            <a:ext cx="960120"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HTTP-01</a:t>
            </a:r>
            <a:endParaRPr lang="en-US" sz="1300" dirty="0"/>
          </a:p>
        </p:txBody>
      </p:sp>
      <p:sp>
        <p:nvSpPr>
          <p:cNvPr id="10" name="Shape 8"/>
          <p:cNvSpPr/>
          <p:nvPr/>
        </p:nvSpPr>
        <p:spPr>
          <a:xfrm>
            <a:off x="2029968" y="4736592"/>
            <a:ext cx="914400" cy="329184"/>
          </a:xfrm>
          <a:prstGeom prst="roundRect">
            <a:avLst>
              <a:gd name="adj" fmla="val 22222"/>
            </a:avLst>
          </a:prstGeom>
          <a:solidFill>
            <a:srgbClr val="1BA6A6"/>
          </a:solidFill>
          <a:ln w="12700">
            <a:solidFill>
              <a:srgbClr val="1BA6A6"/>
            </a:solidFill>
            <a:prstDash val="solid"/>
          </a:ln>
        </p:spPr>
        <p:txBody>
          <a:bodyPr/>
          <a:lstStyle/>
          <a:p>
            <a:endParaRPr/>
          </a:p>
        </p:txBody>
      </p:sp>
      <p:sp>
        <p:nvSpPr>
          <p:cNvPr id="11" name="Text 9"/>
          <p:cNvSpPr/>
          <p:nvPr/>
        </p:nvSpPr>
        <p:spPr>
          <a:xfrm>
            <a:off x="2029968" y="4754880"/>
            <a:ext cx="914400"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DNS-01</a:t>
            </a:r>
            <a:endParaRPr lang="en-US" sz="1300" dirty="0"/>
          </a:p>
        </p:txBody>
      </p:sp>
      <p:sp>
        <p:nvSpPr>
          <p:cNvPr id="12" name="Shape 10"/>
          <p:cNvSpPr/>
          <p:nvPr/>
        </p:nvSpPr>
        <p:spPr>
          <a:xfrm>
            <a:off x="3127248" y="4736592"/>
            <a:ext cx="1024128" cy="329184"/>
          </a:xfrm>
          <a:prstGeom prst="roundRect">
            <a:avLst>
              <a:gd name="adj" fmla="val 22222"/>
            </a:avLst>
          </a:prstGeom>
          <a:solidFill>
            <a:srgbClr val="F5B841"/>
          </a:solidFill>
          <a:ln w="12700">
            <a:solidFill>
              <a:srgbClr val="F5B841"/>
            </a:solidFill>
            <a:prstDash val="solid"/>
          </a:ln>
        </p:spPr>
        <p:txBody>
          <a:bodyPr/>
          <a:lstStyle/>
          <a:p>
            <a:endParaRPr/>
          </a:p>
        </p:txBody>
      </p:sp>
      <p:sp>
        <p:nvSpPr>
          <p:cNvPr id="13" name="Text 11"/>
          <p:cNvSpPr/>
          <p:nvPr/>
        </p:nvSpPr>
        <p:spPr>
          <a:xfrm>
            <a:off x="3127248" y="4754880"/>
            <a:ext cx="1024128" cy="292608"/>
          </a:xfrm>
          <a:prstGeom prst="rect">
            <a:avLst/>
          </a:prstGeom>
          <a:noFill/>
          <a:ln/>
        </p:spPr>
        <p:txBody>
          <a:bodyPr wrap="square" lIns="0" tIns="0" rIns="0" bIns="0" rtlCol="0" anchor="ctr">
            <a:normAutofit/>
          </a:bodyPr>
          <a:lstStyle/>
          <a:p>
            <a:pPr marL="0" indent="0" algn="ctr">
              <a:buNone/>
            </a:pPr>
            <a:r>
              <a:rPr lang="en-US" sz="1300" b="1" dirty="0">
                <a:solidFill>
                  <a:srgbClr val="16212F"/>
                </a:solidFill>
                <a:latin typeface="Aptos" pitchFamily="34" charset="0"/>
                <a:ea typeface="Aptos" pitchFamily="34" charset="-122"/>
                <a:cs typeface="Aptos" pitchFamily="34" charset="-120"/>
              </a:rPr>
              <a:t>TLS-ALPN-01</a:t>
            </a:r>
            <a:endParaRPr lang="en-US" sz="1300" dirty="0"/>
          </a:p>
        </p:txBody>
      </p:sp>
      <p:sp>
        <p:nvSpPr>
          <p:cNvPr id="14" name="Shape 12"/>
          <p:cNvSpPr/>
          <p:nvPr/>
        </p:nvSpPr>
        <p:spPr>
          <a:xfrm>
            <a:off x="4572000" y="1371600"/>
            <a:ext cx="3200400" cy="4480560"/>
          </a:xfrm>
          <a:prstGeom prst="roundRect">
            <a:avLst>
              <a:gd name="adj" fmla="val 2286"/>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5" name="Text 13"/>
          <p:cNvSpPr/>
          <p:nvPr/>
        </p:nvSpPr>
        <p:spPr>
          <a:xfrm>
            <a:off x="4736592" y="1481328"/>
            <a:ext cx="28712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What DV does not check</a:t>
            </a:r>
            <a:endParaRPr lang="en-US" sz="1500" dirty="0"/>
          </a:p>
        </p:txBody>
      </p:sp>
      <p:sp>
        <p:nvSpPr>
          <p:cNvPr id="16" name="Text 14"/>
          <p:cNvSpPr/>
          <p:nvPr/>
        </p:nvSpPr>
        <p:spPr>
          <a:xfrm>
            <a:off x="4873752" y="1783080"/>
            <a:ext cx="2542032" cy="2468880"/>
          </a:xfrm>
          <a:prstGeom prst="rect">
            <a:avLst/>
          </a:prstGeom>
          <a:noFill/>
          <a:ln/>
        </p:spPr>
        <p:txBody>
          <a:bodyPr wrap="square" lIns="254" tIns="254" rIns="254" bIns="254" rtlCol="0" anchor="ctr">
            <a:normAutofit/>
          </a:bodyPr>
          <a:lstStyle/>
          <a:p>
            <a:pPr marL="0" indent="0">
              <a:buNone/>
            </a:pPr>
            <a:r>
              <a:rPr lang="en-US" sz="2100" dirty="0">
                <a:solidFill>
                  <a:srgbClr val="16212F"/>
                </a:solidFill>
              </a:rPr>
              <a:t>Whether the site</a:t>
            </a:r>
            <a:endParaRPr lang="en-US" sz="2100" dirty="0"/>
          </a:p>
          <a:p>
            <a:pPr marL="0" indent="0">
              <a:buNone/>
            </a:pPr>
            <a:r>
              <a:rPr lang="en-US" sz="2100" dirty="0">
                <a:solidFill>
                  <a:srgbClr val="16212F"/>
                </a:solidFill>
              </a:rPr>
              <a:t>operator is a legitimate</a:t>
            </a:r>
            <a:endParaRPr lang="en-US" sz="2100" dirty="0"/>
          </a:p>
          <a:p>
            <a:pPr marL="0" indent="0">
              <a:buNone/>
            </a:pPr>
            <a:r>
              <a:rPr lang="en-US" sz="2100" dirty="0">
                <a:solidFill>
                  <a:srgbClr val="16212F"/>
                </a:solidFill>
              </a:rPr>
              <a:t>company.</a:t>
            </a:r>
            <a:endParaRPr lang="en-US" sz="2100" dirty="0"/>
          </a:p>
          <a:p>
            <a:pPr marL="0" indent="0">
              <a:buNone/>
            </a:pPr>
            <a:endParaRPr lang="en-US" sz="2100" dirty="0"/>
          </a:p>
          <a:p>
            <a:pPr marL="0" indent="0">
              <a:buNone/>
            </a:pPr>
            <a:r>
              <a:rPr lang="en-US" sz="2100" dirty="0">
                <a:solidFill>
                  <a:srgbClr val="16212F"/>
                </a:solidFill>
              </a:rPr>
              <a:t>Whether the server</a:t>
            </a:r>
            <a:endParaRPr lang="en-US" sz="2100" dirty="0"/>
          </a:p>
          <a:p>
            <a:pPr marL="0" indent="0">
              <a:buNone/>
            </a:pPr>
            <a:r>
              <a:rPr lang="en-US" sz="2100" dirty="0">
                <a:solidFill>
                  <a:srgbClr val="16212F"/>
                </a:solidFill>
              </a:rPr>
              <a:t>software is safe or</a:t>
            </a:r>
            <a:endParaRPr lang="en-US" sz="2100" dirty="0"/>
          </a:p>
          <a:p>
            <a:pPr marL="0" indent="0">
              <a:buNone/>
            </a:pPr>
            <a:r>
              <a:rPr lang="en-US" sz="2100" dirty="0">
                <a:solidFill>
                  <a:srgbClr val="16212F"/>
                </a:solidFill>
              </a:rPr>
              <a:t>patched.</a:t>
            </a:r>
            <a:endParaRPr lang="en-US" sz="2100" dirty="0"/>
          </a:p>
        </p:txBody>
      </p:sp>
      <p:sp>
        <p:nvSpPr>
          <p:cNvPr id="17" name="Shape 15"/>
          <p:cNvSpPr/>
          <p:nvPr/>
        </p:nvSpPr>
        <p:spPr>
          <a:xfrm>
            <a:off x="4828032" y="4407408"/>
            <a:ext cx="2670048" cy="914400"/>
          </a:xfrm>
          <a:prstGeom prst="roundRect">
            <a:avLst>
              <a:gd name="adj" fmla="val 5000"/>
            </a:avLst>
          </a:prstGeom>
          <a:solidFill>
            <a:srgbClr val="FFF3F2"/>
          </a:solidFill>
          <a:ln w="12700">
            <a:solidFill>
              <a:srgbClr val="F0B7B7"/>
            </a:solidFill>
            <a:prstDash val="solid"/>
          </a:ln>
        </p:spPr>
        <p:txBody>
          <a:bodyPr/>
          <a:lstStyle/>
          <a:p>
            <a:endParaRPr/>
          </a:p>
        </p:txBody>
      </p:sp>
      <p:sp>
        <p:nvSpPr>
          <p:cNvPr id="18" name="Text 16"/>
          <p:cNvSpPr/>
          <p:nvPr/>
        </p:nvSpPr>
        <p:spPr>
          <a:xfrm>
            <a:off x="5010912" y="4590288"/>
            <a:ext cx="2286000" cy="512064"/>
          </a:xfrm>
          <a:prstGeom prst="rect">
            <a:avLst/>
          </a:prstGeom>
          <a:noFill/>
          <a:ln/>
        </p:spPr>
        <p:txBody>
          <a:bodyPr wrap="square" lIns="127" tIns="127" rIns="127" bIns="127" rtlCol="0" anchor="ctr">
            <a:normAutofit/>
          </a:bodyPr>
          <a:lstStyle/>
          <a:p>
            <a:pPr marL="0" indent="0" algn="ctr">
              <a:buNone/>
            </a:pPr>
            <a:r>
              <a:rPr lang="en-US" sz="1680" b="1" dirty="0">
                <a:solidFill>
                  <a:srgbClr val="C75050"/>
                </a:solidFill>
              </a:rPr>
              <a:t>A DV cert can still be used</a:t>
            </a:r>
            <a:endParaRPr lang="en-US" sz="1680" dirty="0"/>
          </a:p>
          <a:p>
            <a:pPr marL="0" indent="0" algn="ctr">
              <a:buNone/>
            </a:pPr>
            <a:r>
              <a:rPr lang="en-US" sz="1680" b="1" dirty="0">
                <a:solidFill>
                  <a:srgbClr val="C75050"/>
                </a:solidFill>
              </a:rPr>
              <a:t>by a phishing site if the</a:t>
            </a:r>
            <a:endParaRPr lang="en-US" sz="1680" dirty="0"/>
          </a:p>
          <a:p>
            <a:pPr marL="0" indent="0" algn="ctr">
              <a:buNone/>
            </a:pPr>
            <a:r>
              <a:rPr lang="en-US" sz="1680" b="1" dirty="0">
                <a:solidFill>
                  <a:srgbClr val="C75050"/>
                </a:solidFill>
              </a:rPr>
              <a:t>attacker controls the</a:t>
            </a:r>
            <a:endParaRPr lang="en-US" sz="1680" dirty="0"/>
          </a:p>
          <a:p>
            <a:pPr marL="0" indent="0" algn="ctr">
              <a:buNone/>
            </a:pPr>
            <a:r>
              <a:rPr lang="en-US" sz="1680" b="1" dirty="0">
                <a:solidFill>
                  <a:srgbClr val="C75050"/>
                </a:solidFill>
              </a:rPr>
              <a:t>look-alike domain.</a:t>
            </a:r>
            <a:endParaRPr lang="en-US" sz="1680" dirty="0"/>
          </a:p>
        </p:txBody>
      </p:sp>
      <p:sp>
        <p:nvSpPr>
          <p:cNvPr id="19" name="Shape 17"/>
          <p:cNvSpPr/>
          <p:nvPr/>
        </p:nvSpPr>
        <p:spPr>
          <a:xfrm>
            <a:off x="8046720" y="1371600"/>
            <a:ext cx="3566160" cy="4480560"/>
          </a:xfrm>
          <a:prstGeom prst="roundRect">
            <a:avLst>
              <a:gd name="adj" fmla="val 2051"/>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0" name="Text 18"/>
          <p:cNvSpPr/>
          <p:nvPr/>
        </p:nvSpPr>
        <p:spPr>
          <a:xfrm>
            <a:off x="8211312" y="1481328"/>
            <a:ext cx="32369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Common student misconception</a:t>
            </a:r>
            <a:endParaRPr lang="en-US" sz="1500" dirty="0"/>
          </a:p>
        </p:txBody>
      </p:sp>
      <p:sp>
        <p:nvSpPr>
          <p:cNvPr id="21" name="Text 19"/>
          <p:cNvSpPr/>
          <p:nvPr/>
        </p:nvSpPr>
        <p:spPr>
          <a:xfrm>
            <a:off x="8321040" y="1783080"/>
            <a:ext cx="2788920" cy="868680"/>
          </a:xfrm>
          <a:prstGeom prst="rect">
            <a:avLst/>
          </a:prstGeom>
          <a:noFill/>
          <a:ln/>
        </p:spPr>
        <p:txBody>
          <a:bodyPr wrap="square" lIns="0" tIns="0" rIns="0" bIns="0" rtlCol="0" anchor="ctr">
            <a:normAutofit/>
          </a:bodyPr>
          <a:lstStyle/>
          <a:p>
            <a:pPr marL="0" indent="0">
              <a:buNone/>
            </a:pPr>
            <a:r>
              <a:rPr lang="en-US" sz="2300" b="1" dirty="0">
                <a:solidFill>
                  <a:srgbClr val="0E2A47"/>
                </a:solidFill>
              </a:rPr>
              <a:t>“HTTPS means the</a:t>
            </a:r>
            <a:endParaRPr lang="en-US" sz="2300" dirty="0"/>
          </a:p>
          <a:p>
            <a:pPr marL="0" indent="0">
              <a:buNone/>
            </a:pPr>
            <a:r>
              <a:rPr lang="en-US" sz="2300" b="1" dirty="0">
                <a:solidFill>
                  <a:srgbClr val="0E2A47"/>
                </a:solidFill>
              </a:rPr>
              <a:t>site is trustworthy.”</a:t>
            </a:r>
            <a:endParaRPr lang="en-US" sz="2300" dirty="0"/>
          </a:p>
        </p:txBody>
      </p:sp>
      <p:sp>
        <p:nvSpPr>
          <p:cNvPr id="22" name="Text 20"/>
          <p:cNvSpPr/>
          <p:nvPr/>
        </p:nvSpPr>
        <p:spPr>
          <a:xfrm>
            <a:off x="8321040" y="2834640"/>
            <a:ext cx="1828800" cy="228600"/>
          </a:xfrm>
          <a:prstGeom prst="rect">
            <a:avLst/>
          </a:prstGeom>
          <a:noFill/>
          <a:ln/>
        </p:spPr>
        <p:txBody>
          <a:bodyPr wrap="square" lIns="0" tIns="0" rIns="0" bIns="0" rtlCol="0" anchor="ctr">
            <a:normAutofit/>
          </a:bodyPr>
          <a:lstStyle/>
          <a:p>
            <a:pPr marL="0" indent="0">
              <a:buNone/>
            </a:pPr>
            <a:r>
              <a:rPr lang="en-US" sz="1600" b="1" dirty="0">
                <a:solidFill>
                  <a:srgbClr val="5C6B7B"/>
                </a:solidFill>
              </a:rPr>
              <a:t>Better statement</a:t>
            </a:r>
            <a:endParaRPr lang="en-US" sz="1600" dirty="0"/>
          </a:p>
        </p:txBody>
      </p:sp>
      <p:sp>
        <p:nvSpPr>
          <p:cNvPr id="23" name="Text 21"/>
          <p:cNvSpPr/>
          <p:nvPr/>
        </p:nvSpPr>
        <p:spPr>
          <a:xfrm>
            <a:off x="8321040" y="3127248"/>
            <a:ext cx="2697480" cy="1463040"/>
          </a:xfrm>
          <a:prstGeom prst="rect">
            <a:avLst/>
          </a:prstGeom>
          <a:noFill/>
          <a:ln/>
        </p:spPr>
        <p:txBody>
          <a:bodyPr wrap="square" lIns="127" tIns="127" rIns="127" bIns="127" rtlCol="0" anchor="ctr">
            <a:normAutofit/>
          </a:bodyPr>
          <a:lstStyle/>
          <a:p>
            <a:pPr marL="0" indent="0">
              <a:buNone/>
            </a:pPr>
            <a:r>
              <a:rPr lang="en-US" sz="2150" b="1" dirty="0">
                <a:solidFill>
                  <a:srgbClr val="2A8C5B"/>
                </a:solidFill>
              </a:rPr>
              <a:t>HTTPS means the</a:t>
            </a:r>
            <a:endParaRPr lang="en-US" sz="2150" dirty="0"/>
          </a:p>
          <a:p>
            <a:pPr marL="0" indent="0">
              <a:buNone/>
            </a:pPr>
            <a:r>
              <a:rPr lang="en-US" sz="2150" b="1" dirty="0">
                <a:solidFill>
                  <a:srgbClr val="2A8C5B"/>
                </a:solidFill>
              </a:rPr>
              <a:t>connection to the</a:t>
            </a:r>
            <a:endParaRPr lang="en-US" sz="2150" dirty="0"/>
          </a:p>
          <a:p>
            <a:pPr marL="0" indent="0">
              <a:buNone/>
            </a:pPr>
            <a:r>
              <a:rPr lang="en-US" sz="2150" b="1" dirty="0">
                <a:solidFill>
                  <a:srgbClr val="2A8C5B"/>
                </a:solidFill>
              </a:rPr>
              <a:t>TLS endpoint is</a:t>
            </a:r>
            <a:endParaRPr lang="en-US" sz="2150" dirty="0"/>
          </a:p>
          <a:p>
            <a:pPr marL="0" indent="0">
              <a:buNone/>
            </a:pPr>
            <a:r>
              <a:rPr lang="en-US" sz="2150" b="1" dirty="0">
                <a:solidFill>
                  <a:srgbClr val="2A8C5B"/>
                </a:solidFill>
              </a:rPr>
              <a:t>authenticated and</a:t>
            </a:r>
            <a:endParaRPr lang="en-US" sz="2150" dirty="0"/>
          </a:p>
          <a:p>
            <a:pPr marL="0" indent="0">
              <a:buNone/>
            </a:pPr>
            <a:r>
              <a:rPr lang="en-US" sz="2150" b="1" dirty="0">
                <a:solidFill>
                  <a:srgbClr val="2A8C5B"/>
                </a:solidFill>
              </a:rPr>
              <a:t>encrypted.</a:t>
            </a:r>
            <a:endParaRPr lang="en-US" sz="2150" dirty="0"/>
          </a:p>
        </p:txBody>
      </p:sp>
      <p:sp>
        <p:nvSpPr>
          <p:cNvPr id="24" name="Text 22"/>
          <p:cNvSpPr/>
          <p:nvPr/>
        </p:nvSpPr>
        <p:spPr>
          <a:xfrm>
            <a:off x="8321040" y="4864608"/>
            <a:ext cx="2788920" cy="566928"/>
          </a:xfrm>
          <a:prstGeom prst="rect">
            <a:avLst/>
          </a:prstGeom>
          <a:noFill/>
          <a:ln/>
        </p:spPr>
        <p:txBody>
          <a:bodyPr wrap="square" lIns="254" tIns="254" rIns="254" bIns="254" rtlCol="0" anchor="ctr">
            <a:normAutofit/>
          </a:bodyPr>
          <a:lstStyle/>
          <a:p>
            <a:pPr marL="0" indent="0">
              <a:buNone/>
            </a:pPr>
            <a:r>
              <a:rPr lang="en-US" sz="1550" dirty="0">
                <a:solidFill>
                  <a:srgbClr val="16212F"/>
                </a:solidFill>
              </a:rPr>
              <a:t>That says nothing by itself about the quality of the app, its privacy practices, or what happens after decryption.</a:t>
            </a:r>
            <a:endParaRPr lang="en-US" sz="155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How the browser goes from a certificate to trust</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Trust comes from chain validation plus proof that the server possesses the corresponding private key.</a:t>
            </a:r>
            <a:endParaRPr lang="en-US" sz="1250" dirty="0"/>
          </a:p>
        </p:txBody>
      </p:sp>
      <p:sp>
        <p:nvSpPr>
          <p:cNvPr id="4" name="Shape 2"/>
          <p:cNvSpPr/>
          <p:nvPr/>
        </p:nvSpPr>
        <p:spPr>
          <a:xfrm>
            <a:off x="640080" y="1965960"/>
            <a:ext cx="1920240" cy="1097280"/>
          </a:xfrm>
          <a:prstGeom prst="roundRect">
            <a:avLst>
              <a:gd name="adj" fmla="val 6667"/>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804672" y="2075688"/>
            <a:ext cx="15910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Server presents cert</a:t>
            </a:r>
            <a:endParaRPr lang="en-US" sz="1500" dirty="0"/>
          </a:p>
        </p:txBody>
      </p:sp>
      <p:sp>
        <p:nvSpPr>
          <p:cNvPr id="6" name="Text 4"/>
          <p:cNvSpPr/>
          <p:nvPr/>
        </p:nvSpPr>
        <p:spPr>
          <a:xfrm>
            <a:off x="786384" y="2414016"/>
            <a:ext cx="1627632" cy="566928"/>
          </a:xfrm>
          <a:prstGeom prst="rect">
            <a:avLst/>
          </a:prstGeom>
          <a:noFill/>
          <a:ln/>
        </p:spPr>
        <p:txBody>
          <a:bodyPr wrap="square" lIns="127" tIns="127" rIns="127" bIns="127" rtlCol="0" anchor="ctr">
            <a:normAutofit/>
          </a:bodyPr>
          <a:lstStyle/>
          <a:p>
            <a:pPr marL="0" indent="0">
              <a:buNone/>
            </a:pPr>
            <a:r>
              <a:rPr lang="en-US" sz="1550" dirty="0">
                <a:solidFill>
                  <a:srgbClr val="16212F"/>
                </a:solidFill>
              </a:rPr>
              <a:t>Leaf cert includes SANs, public key, issuer, dates.</a:t>
            </a:r>
            <a:endParaRPr lang="en-US" sz="1550" dirty="0"/>
          </a:p>
        </p:txBody>
      </p:sp>
      <p:sp>
        <p:nvSpPr>
          <p:cNvPr id="7" name="Shape 5"/>
          <p:cNvSpPr/>
          <p:nvPr/>
        </p:nvSpPr>
        <p:spPr>
          <a:xfrm>
            <a:off x="2560320" y="2514600"/>
            <a:ext cx="338328" cy="0"/>
          </a:xfrm>
          <a:prstGeom prst="line">
            <a:avLst/>
          </a:prstGeom>
          <a:noFill/>
          <a:ln w="27940">
            <a:solidFill>
              <a:srgbClr val="1F4E79"/>
            </a:solidFill>
            <a:prstDash val="solid"/>
            <a:headEnd type="none"/>
            <a:tailEnd type="triangle"/>
          </a:ln>
        </p:spPr>
        <p:txBody>
          <a:bodyPr/>
          <a:lstStyle/>
          <a:p>
            <a:endParaRPr/>
          </a:p>
        </p:txBody>
      </p:sp>
      <p:sp>
        <p:nvSpPr>
          <p:cNvPr id="8" name="Shape 6"/>
          <p:cNvSpPr/>
          <p:nvPr/>
        </p:nvSpPr>
        <p:spPr>
          <a:xfrm>
            <a:off x="2971800" y="1965960"/>
            <a:ext cx="1920240" cy="1097280"/>
          </a:xfrm>
          <a:prstGeom prst="roundRect">
            <a:avLst>
              <a:gd name="adj" fmla="val 6667"/>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9" name="Text 7"/>
          <p:cNvSpPr/>
          <p:nvPr/>
        </p:nvSpPr>
        <p:spPr>
          <a:xfrm>
            <a:off x="3136392" y="2075688"/>
            <a:ext cx="15910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Client checks hostname</a:t>
            </a:r>
            <a:endParaRPr lang="en-US" sz="1500" dirty="0"/>
          </a:p>
        </p:txBody>
      </p:sp>
      <p:sp>
        <p:nvSpPr>
          <p:cNvPr id="10" name="Text 8"/>
          <p:cNvSpPr/>
          <p:nvPr/>
        </p:nvSpPr>
        <p:spPr>
          <a:xfrm>
            <a:off x="3118104" y="2414016"/>
            <a:ext cx="1627632" cy="566928"/>
          </a:xfrm>
          <a:prstGeom prst="rect">
            <a:avLst/>
          </a:prstGeom>
          <a:noFill/>
          <a:ln/>
        </p:spPr>
        <p:txBody>
          <a:bodyPr wrap="square" lIns="127" tIns="127" rIns="127" bIns="127" rtlCol="0" anchor="ctr">
            <a:normAutofit/>
          </a:bodyPr>
          <a:lstStyle/>
          <a:p>
            <a:pPr marL="0" indent="0">
              <a:buNone/>
            </a:pPr>
            <a:r>
              <a:rPr lang="en-US" sz="1550" dirty="0">
                <a:solidFill>
                  <a:srgbClr val="16212F"/>
                </a:solidFill>
              </a:rPr>
              <a:t>The URL host must match a listed name in the certificate.</a:t>
            </a:r>
            <a:endParaRPr lang="en-US" sz="1550" dirty="0"/>
          </a:p>
        </p:txBody>
      </p:sp>
      <p:sp>
        <p:nvSpPr>
          <p:cNvPr id="11" name="Shape 9"/>
          <p:cNvSpPr/>
          <p:nvPr/>
        </p:nvSpPr>
        <p:spPr>
          <a:xfrm>
            <a:off x="4892040" y="2514600"/>
            <a:ext cx="338328" cy="0"/>
          </a:xfrm>
          <a:prstGeom prst="line">
            <a:avLst/>
          </a:prstGeom>
          <a:noFill/>
          <a:ln w="27940">
            <a:solidFill>
              <a:srgbClr val="1F4E79"/>
            </a:solidFill>
            <a:prstDash val="solid"/>
            <a:headEnd type="none"/>
            <a:tailEnd type="triangle"/>
          </a:ln>
        </p:spPr>
        <p:txBody>
          <a:bodyPr/>
          <a:lstStyle/>
          <a:p>
            <a:endParaRPr/>
          </a:p>
        </p:txBody>
      </p:sp>
      <p:sp>
        <p:nvSpPr>
          <p:cNvPr id="12" name="Shape 10"/>
          <p:cNvSpPr/>
          <p:nvPr/>
        </p:nvSpPr>
        <p:spPr>
          <a:xfrm>
            <a:off x="5303520" y="1965960"/>
            <a:ext cx="1920240" cy="1097280"/>
          </a:xfrm>
          <a:prstGeom prst="roundRect">
            <a:avLst>
              <a:gd name="adj" fmla="val 6667"/>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3" name="Text 11"/>
          <p:cNvSpPr/>
          <p:nvPr/>
        </p:nvSpPr>
        <p:spPr>
          <a:xfrm>
            <a:off x="5468112" y="2075688"/>
            <a:ext cx="15910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Client validates CA chain</a:t>
            </a:r>
            <a:endParaRPr lang="en-US" sz="1500" dirty="0"/>
          </a:p>
        </p:txBody>
      </p:sp>
      <p:sp>
        <p:nvSpPr>
          <p:cNvPr id="14" name="Text 12"/>
          <p:cNvSpPr/>
          <p:nvPr/>
        </p:nvSpPr>
        <p:spPr>
          <a:xfrm>
            <a:off x="5449824" y="2414016"/>
            <a:ext cx="1627632" cy="566928"/>
          </a:xfrm>
          <a:prstGeom prst="rect">
            <a:avLst/>
          </a:prstGeom>
          <a:noFill/>
          <a:ln/>
        </p:spPr>
        <p:txBody>
          <a:bodyPr wrap="square" lIns="127" tIns="127" rIns="127" bIns="127" rtlCol="0" anchor="ctr">
            <a:normAutofit/>
          </a:bodyPr>
          <a:lstStyle/>
          <a:p>
            <a:pPr marL="0" indent="0">
              <a:buNone/>
            </a:pPr>
            <a:r>
              <a:rPr lang="en-US" sz="1550" dirty="0">
                <a:solidFill>
                  <a:srgbClr val="16212F"/>
                </a:solidFill>
              </a:rPr>
              <a:t>Signature chain must lead to a trusted root through intermediates.</a:t>
            </a:r>
            <a:endParaRPr lang="en-US" sz="1550" dirty="0"/>
          </a:p>
        </p:txBody>
      </p:sp>
      <p:sp>
        <p:nvSpPr>
          <p:cNvPr id="15" name="Shape 13"/>
          <p:cNvSpPr/>
          <p:nvPr/>
        </p:nvSpPr>
        <p:spPr>
          <a:xfrm>
            <a:off x="7223760" y="2514600"/>
            <a:ext cx="338328" cy="0"/>
          </a:xfrm>
          <a:prstGeom prst="line">
            <a:avLst/>
          </a:prstGeom>
          <a:noFill/>
          <a:ln w="27940">
            <a:solidFill>
              <a:srgbClr val="1F4E79"/>
            </a:solidFill>
            <a:prstDash val="solid"/>
            <a:headEnd type="none"/>
            <a:tailEnd type="triangle"/>
          </a:ln>
        </p:spPr>
        <p:txBody>
          <a:bodyPr/>
          <a:lstStyle/>
          <a:p>
            <a:endParaRPr/>
          </a:p>
        </p:txBody>
      </p:sp>
      <p:sp>
        <p:nvSpPr>
          <p:cNvPr id="16" name="Shape 14"/>
          <p:cNvSpPr/>
          <p:nvPr/>
        </p:nvSpPr>
        <p:spPr>
          <a:xfrm>
            <a:off x="7635240" y="1965960"/>
            <a:ext cx="1920240" cy="1097280"/>
          </a:xfrm>
          <a:prstGeom prst="roundRect">
            <a:avLst>
              <a:gd name="adj" fmla="val 6667"/>
            </a:avLst>
          </a:prstGeom>
          <a:solidFill>
            <a:srgbClr val="FFF6E0"/>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7" name="Text 15"/>
          <p:cNvSpPr/>
          <p:nvPr/>
        </p:nvSpPr>
        <p:spPr>
          <a:xfrm>
            <a:off x="7799832" y="2075688"/>
            <a:ext cx="15910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Server proves private key</a:t>
            </a:r>
            <a:endParaRPr lang="en-US" sz="1500" dirty="0"/>
          </a:p>
        </p:txBody>
      </p:sp>
      <p:sp>
        <p:nvSpPr>
          <p:cNvPr id="18" name="Text 16"/>
          <p:cNvSpPr/>
          <p:nvPr/>
        </p:nvSpPr>
        <p:spPr>
          <a:xfrm>
            <a:off x="7781544" y="2414016"/>
            <a:ext cx="1627632" cy="566928"/>
          </a:xfrm>
          <a:prstGeom prst="rect">
            <a:avLst/>
          </a:prstGeom>
          <a:noFill/>
          <a:ln/>
        </p:spPr>
        <p:txBody>
          <a:bodyPr wrap="square" lIns="127" tIns="127" rIns="127" bIns="127" rtlCol="0" anchor="ctr">
            <a:normAutofit/>
          </a:bodyPr>
          <a:lstStyle/>
          <a:p>
            <a:pPr marL="0" indent="0">
              <a:buNone/>
            </a:pPr>
            <a:r>
              <a:rPr lang="en-US" sz="1550" dirty="0">
                <a:solidFill>
                  <a:srgbClr val="16212F"/>
                </a:solidFill>
              </a:rPr>
              <a:t>Handshake signatures show the server controls the private key.</a:t>
            </a:r>
            <a:endParaRPr lang="en-US" sz="1550" dirty="0"/>
          </a:p>
        </p:txBody>
      </p:sp>
      <p:sp>
        <p:nvSpPr>
          <p:cNvPr id="19" name="Shape 17"/>
          <p:cNvSpPr/>
          <p:nvPr/>
        </p:nvSpPr>
        <p:spPr>
          <a:xfrm>
            <a:off x="9555480" y="2514600"/>
            <a:ext cx="338328" cy="0"/>
          </a:xfrm>
          <a:prstGeom prst="line">
            <a:avLst/>
          </a:prstGeom>
          <a:noFill/>
          <a:ln w="27940">
            <a:solidFill>
              <a:srgbClr val="1F4E79"/>
            </a:solidFill>
            <a:prstDash val="solid"/>
            <a:headEnd type="none"/>
            <a:tailEnd type="triangle"/>
          </a:ln>
        </p:spPr>
        <p:txBody>
          <a:bodyPr/>
          <a:lstStyle/>
          <a:p>
            <a:endParaRPr/>
          </a:p>
        </p:txBody>
      </p:sp>
      <p:sp>
        <p:nvSpPr>
          <p:cNvPr id="20" name="Shape 18"/>
          <p:cNvSpPr/>
          <p:nvPr/>
        </p:nvSpPr>
        <p:spPr>
          <a:xfrm>
            <a:off x="9966960" y="1965960"/>
            <a:ext cx="1920240" cy="1097280"/>
          </a:xfrm>
          <a:prstGeom prst="roundRect">
            <a:avLst>
              <a:gd name="adj" fmla="val 6667"/>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1" name="Text 19"/>
          <p:cNvSpPr/>
          <p:nvPr/>
        </p:nvSpPr>
        <p:spPr>
          <a:xfrm>
            <a:off x="10131552" y="2075688"/>
            <a:ext cx="15910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Client trusts key for domain</a:t>
            </a:r>
            <a:endParaRPr lang="en-US" sz="1500" dirty="0"/>
          </a:p>
        </p:txBody>
      </p:sp>
      <p:sp>
        <p:nvSpPr>
          <p:cNvPr id="22" name="Text 20"/>
          <p:cNvSpPr/>
          <p:nvPr/>
        </p:nvSpPr>
        <p:spPr>
          <a:xfrm>
            <a:off x="10113264" y="2414016"/>
            <a:ext cx="1627632" cy="566928"/>
          </a:xfrm>
          <a:prstGeom prst="rect">
            <a:avLst/>
          </a:prstGeom>
          <a:noFill/>
          <a:ln/>
        </p:spPr>
        <p:txBody>
          <a:bodyPr wrap="square" lIns="127" tIns="127" rIns="127" bIns="127" rtlCol="0" anchor="ctr">
            <a:normAutofit/>
          </a:bodyPr>
          <a:lstStyle/>
          <a:p>
            <a:pPr marL="0" indent="0">
              <a:buNone/>
            </a:pPr>
            <a:r>
              <a:rPr lang="en-US" sz="1550" dirty="0">
                <a:solidFill>
                  <a:srgbClr val="16212F"/>
                </a:solidFill>
              </a:rPr>
              <a:t>Now the client can use the authenticated key material in TLS.</a:t>
            </a:r>
            <a:endParaRPr lang="en-US" sz="1550" dirty="0"/>
          </a:p>
        </p:txBody>
      </p:sp>
      <p:sp>
        <p:nvSpPr>
          <p:cNvPr id="23" name="Shape 21"/>
          <p:cNvSpPr/>
          <p:nvPr/>
        </p:nvSpPr>
        <p:spPr>
          <a:xfrm>
            <a:off x="777240" y="3840480"/>
            <a:ext cx="5394960" cy="1508760"/>
          </a:xfrm>
          <a:prstGeom prst="roundRect">
            <a:avLst>
              <a:gd name="adj" fmla="val 4848"/>
            </a:avLst>
          </a:prstGeom>
          <a:solidFill>
            <a:srgbClr val="FDEDEC"/>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4" name="Text 22"/>
          <p:cNvSpPr/>
          <p:nvPr/>
        </p:nvSpPr>
        <p:spPr>
          <a:xfrm>
            <a:off x="941832" y="3950208"/>
            <a:ext cx="50657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Failure cases</a:t>
            </a:r>
            <a:endParaRPr lang="en-US" sz="1500" dirty="0"/>
          </a:p>
        </p:txBody>
      </p:sp>
      <p:sp>
        <p:nvSpPr>
          <p:cNvPr id="25" name="Text 23"/>
          <p:cNvSpPr/>
          <p:nvPr/>
        </p:nvSpPr>
        <p:spPr>
          <a:xfrm>
            <a:off x="1051560" y="4288536"/>
            <a:ext cx="2103120" cy="868680"/>
          </a:xfrm>
          <a:prstGeom prst="rect">
            <a:avLst/>
          </a:prstGeom>
          <a:noFill/>
          <a:ln/>
        </p:spPr>
        <p:txBody>
          <a:bodyPr wrap="square" lIns="254" tIns="254" rIns="254" bIns="254" rtlCol="0" anchor="t">
            <a:normAutofit/>
          </a:bodyPr>
          <a:lstStyle/>
          <a:p>
            <a:pPr marL="203200" indent="-203200">
              <a:buSzPct val="100000"/>
              <a:buChar char="•"/>
              <a:defRPr/>
            </a:pPr>
            <a:r>
              <a:t>Expired certificate</a:t>
            </a:r>
            <a:endParaRPr lang="en-US" sz="1700" dirty="0"/>
          </a:p>
          <a:p>
            <a:pPr>
              <a:defRPr/>
            </a:pPr>
            <a:r>
              <a:t>Wrong hostname</a:t>
            </a:r>
          </a:p>
          <a:p>
            <a:pPr>
              <a:defRPr/>
            </a:pPr>
            <a:r>
              <a:t>Untrusted or broken chain</a:t>
            </a:r>
          </a:p>
          <a:p>
            <a:pPr>
              <a:defRPr/>
            </a:pPr>
            <a:r>
              <a:t>Handshake signature does not verify</a:t>
            </a:r>
          </a:p>
        </p:txBody>
      </p:sp>
      <p:sp>
        <p:nvSpPr>
          <p:cNvPr id="26" name="Text 24"/>
          <p:cNvSpPr/>
          <p:nvPr/>
        </p:nvSpPr>
        <p:spPr>
          <a:xfrm>
            <a:off x="3383280" y="4251960"/>
            <a:ext cx="2377440" cy="640080"/>
          </a:xfrm>
          <a:prstGeom prst="rect">
            <a:avLst/>
          </a:prstGeom>
          <a:noFill/>
          <a:ln/>
        </p:spPr>
        <p:txBody>
          <a:bodyPr wrap="square" lIns="254" tIns="254" rIns="254" bIns="254" rtlCol="0" anchor="ctr">
            <a:normAutofit/>
          </a:bodyPr>
          <a:lstStyle/>
          <a:p>
            <a:pPr marL="0" indent="0">
              <a:buNone/>
            </a:pPr>
            <a:r>
              <a:rPr lang="en-US" sz="1750" b="1" dirty="0">
                <a:solidFill>
                  <a:srgbClr val="C75050"/>
                </a:solidFill>
              </a:rPr>
              <a:t>Result: the browser warns or blocks because identity could not be established safely.</a:t>
            </a:r>
            <a:endParaRPr lang="en-US" sz="1750" dirty="0"/>
          </a:p>
        </p:txBody>
      </p:sp>
      <p:sp>
        <p:nvSpPr>
          <p:cNvPr id="27" name="Shape 25"/>
          <p:cNvSpPr/>
          <p:nvPr/>
        </p:nvSpPr>
        <p:spPr>
          <a:xfrm>
            <a:off x="6400800" y="3840480"/>
            <a:ext cx="5166360" cy="1508760"/>
          </a:xfrm>
          <a:prstGeom prst="roundRect">
            <a:avLst>
              <a:gd name="adj" fmla="val 4848"/>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8" name="Text 26"/>
          <p:cNvSpPr/>
          <p:nvPr/>
        </p:nvSpPr>
        <p:spPr>
          <a:xfrm>
            <a:off x="6565392" y="3950208"/>
            <a:ext cx="48371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Vocabulary worth memorizing</a:t>
            </a:r>
            <a:endParaRPr lang="en-US" sz="1500" dirty="0"/>
          </a:p>
        </p:txBody>
      </p:sp>
      <p:sp>
        <p:nvSpPr>
          <p:cNvPr id="29" name="Text 27"/>
          <p:cNvSpPr/>
          <p:nvPr/>
        </p:nvSpPr>
        <p:spPr>
          <a:xfrm>
            <a:off x="6656832" y="4288536"/>
            <a:ext cx="4526280" cy="868680"/>
          </a:xfrm>
          <a:prstGeom prst="rect">
            <a:avLst/>
          </a:prstGeom>
          <a:noFill/>
          <a:ln/>
        </p:spPr>
        <p:txBody>
          <a:bodyPr wrap="square" lIns="254" tIns="254" rIns="254" bIns="254" rtlCol="0" anchor="t">
            <a:normAutofit/>
          </a:bodyPr>
          <a:lstStyle/>
          <a:p>
            <a:pPr marL="203200" indent="-203200">
              <a:buSzPct val="100000"/>
              <a:buChar char="•"/>
              <a:defRPr/>
            </a:pPr>
            <a:r>
              <a:t>Root CA: trust anchor already in the browser or OS.</a:t>
            </a:r>
            <a:endParaRPr lang="en-US" sz="1630" dirty="0"/>
          </a:p>
          <a:p>
            <a:pPr>
              <a:defRPr/>
            </a:pPr>
            <a:r>
              <a:t>Intermediate CA: signs leaf certs so roots stay offline more often.</a:t>
            </a:r>
          </a:p>
          <a:p>
            <a:pPr>
              <a:defRPr/>
            </a:pPr>
            <a:r>
              <a:t>Leaf cert: the domain-specific certificate the server presents.</a:t>
            </a:r>
          </a:p>
        </p:txBody>
      </p:sp>
      <p:sp>
        <p:nvSpPr>
          <p:cNvPr id="30"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TLS 1.3 handshake: how encryption is actually established</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Modern TLS primarily authenticates with the certificate, then protects data with symmetric session keys derived from ephemeral key exchange.</a:t>
            </a:r>
            <a:endParaRPr lang="en-US" sz="1250" dirty="0"/>
          </a:p>
        </p:txBody>
      </p:sp>
      <p:sp>
        <p:nvSpPr>
          <p:cNvPr id="4" name="Text 2"/>
          <p:cNvSpPr/>
          <p:nvPr/>
        </p:nvSpPr>
        <p:spPr>
          <a:xfrm>
            <a:off x="1234440" y="1463040"/>
            <a:ext cx="914400" cy="274320"/>
          </a:xfrm>
          <a:prstGeom prst="rect">
            <a:avLst/>
          </a:prstGeom>
          <a:noFill/>
          <a:ln/>
        </p:spPr>
        <p:txBody>
          <a:bodyPr wrap="square" lIns="0" tIns="0" rIns="0" bIns="0" rtlCol="0" anchor="ctr">
            <a:normAutofit/>
          </a:bodyPr>
          <a:lstStyle/>
          <a:p>
            <a:pPr marL="0" indent="0" algn="ctr">
              <a:buNone/>
            </a:pPr>
            <a:r>
              <a:rPr lang="en-US" sz="2200" b="1" dirty="0">
                <a:solidFill>
                  <a:srgbClr val="0E2A47"/>
                </a:solidFill>
              </a:rPr>
              <a:t>Client</a:t>
            </a:r>
            <a:endParaRPr lang="en-US" sz="2200" dirty="0"/>
          </a:p>
        </p:txBody>
      </p:sp>
      <p:sp>
        <p:nvSpPr>
          <p:cNvPr id="5" name="Text 3"/>
          <p:cNvSpPr/>
          <p:nvPr/>
        </p:nvSpPr>
        <p:spPr>
          <a:xfrm>
            <a:off x="9235440" y="1463040"/>
            <a:ext cx="914400" cy="274320"/>
          </a:xfrm>
          <a:prstGeom prst="rect">
            <a:avLst/>
          </a:prstGeom>
          <a:noFill/>
          <a:ln/>
        </p:spPr>
        <p:txBody>
          <a:bodyPr wrap="square" lIns="0" tIns="0" rIns="0" bIns="0" rtlCol="0" anchor="ctr">
            <a:normAutofit/>
          </a:bodyPr>
          <a:lstStyle/>
          <a:p>
            <a:pPr marL="0" indent="0" algn="ctr">
              <a:buNone/>
            </a:pPr>
            <a:r>
              <a:rPr lang="en-US" sz="2200" b="1" dirty="0">
                <a:solidFill>
                  <a:srgbClr val="0E2A47"/>
                </a:solidFill>
              </a:rPr>
              <a:t>Server</a:t>
            </a:r>
            <a:endParaRPr lang="en-US" sz="2200" dirty="0"/>
          </a:p>
        </p:txBody>
      </p:sp>
      <p:sp>
        <p:nvSpPr>
          <p:cNvPr id="6" name="Shape 4"/>
          <p:cNvSpPr/>
          <p:nvPr/>
        </p:nvSpPr>
        <p:spPr>
          <a:xfrm>
            <a:off x="1691640" y="1828800"/>
            <a:ext cx="0" cy="3383280"/>
          </a:xfrm>
          <a:prstGeom prst="line">
            <a:avLst/>
          </a:prstGeom>
          <a:noFill/>
          <a:ln w="25400">
            <a:solidFill>
              <a:srgbClr val="D8E0EA"/>
            </a:solidFill>
            <a:prstDash val="solid"/>
          </a:ln>
        </p:spPr>
        <p:txBody>
          <a:bodyPr/>
          <a:lstStyle/>
          <a:p>
            <a:endParaRPr/>
          </a:p>
        </p:txBody>
      </p:sp>
      <p:sp>
        <p:nvSpPr>
          <p:cNvPr id="7" name="Shape 5"/>
          <p:cNvSpPr/>
          <p:nvPr/>
        </p:nvSpPr>
        <p:spPr>
          <a:xfrm>
            <a:off x="9692640" y="1828800"/>
            <a:ext cx="0" cy="3383280"/>
          </a:xfrm>
          <a:prstGeom prst="line">
            <a:avLst/>
          </a:prstGeom>
          <a:noFill/>
          <a:ln w="25400">
            <a:solidFill>
              <a:srgbClr val="D8E0EA"/>
            </a:solidFill>
            <a:prstDash val="solid"/>
          </a:ln>
        </p:spPr>
        <p:txBody>
          <a:bodyPr/>
          <a:lstStyle/>
          <a:p>
            <a:endParaRPr/>
          </a:p>
        </p:txBody>
      </p:sp>
      <p:sp>
        <p:nvSpPr>
          <p:cNvPr id="8" name="Shape 6"/>
          <p:cNvSpPr/>
          <p:nvPr/>
        </p:nvSpPr>
        <p:spPr>
          <a:xfrm>
            <a:off x="1828800" y="2011680"/>
            <a:ext cx="7498080" cy="0"/>
          </a:xfrm>
          <a:prstGeom prst="line">
            <a:avLst/>
          </a:prstGeom>
          <a:noFill/>
          <a:ln w="30480">
            <a:solidFill>
              <a:srgbClr val="1F4E79"/>
            </a:solidFill>
            <a:prstDash val="solid"/>
            <a:headEnd type="none"/>
            <a:tailEnd type="triangle"/>
          </a:ln>
        </p:spPr>
        <p:txBody>
          <a:bodyPr/>
          <a:lstStyle/>
          <a:p>
            <a:endParaRPr/>
          </a:p>
        </p:txBody>
      </p:sp>
      <p:sp>
        <p:nvSpPr>
          <p:cNvPr id="9" name="Text 7"/>
          <p:cNvSpPr/>
          <p:nvPr/>
        </p:nvSpPr>
        <p:spPr>
          <a:xfrm>
            <a:off x="4114800" y="1847088"/>
            <a:ext cx="1920240" cy="201168"/>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ClientHello</a:t>
            </a:r>
            <a:endParaRPr lang="en-US" sz="1550" dirty="0"/>
          </a:p>
        </p:txBody>
      </p:sp>
      <p:sp>
        <p:nvSpPr>
          <p:cNvPr id="10" name="Text 8"/>
          <p:cNvSpPr/>
          <p:nvPr/>
        </p:nvSpPr>
        <p:spPr>
          <a:xfrm>
            <a:off x="2926080" y="2157984"/>
            <a:ext cx="4389120" cy="274320"/>
          </a:xfrm>
          <a:prstGeom prst="rect">
            <a:avLst/>
          </a:prstGeom>
          <a:noFill/>
          <a:ln/>
        </p:spPr>
        <p:txBody>
          <a:bodyPr wrap="square" lIns="0" tIns="0" rIns="0" bIns="0" rtlCol="0" anchor="ctr">
            <a:normAutofit/>
          </a:bodyPr>
          <a:lstStyle/>
          <a:p>
            <a:pPr marL="0" indent="0" algn="ctr">
              <a:buNone/>
            </a:pPr>
            <a:r>
              <a:rPr lang="en-US" sz="1450" dirty="0">
                <a:solidFill>
                  <a:srgbClr val="16212F"/>
                </a:solidFill>
              </a:rPr>
              <a:t>Supported versions, ciphers, SNI, key share</a:t>
            </a:r>
            <a:endParaRPr lang="en-US" sz="1450" dirty="0"/>
          </a:p>
        </p:txBody>
      </p:sp>
      <p:sp>
        <p:nvSpPr>
          <p:cNvPr id="11" name="Shape 9"/>
          <p:cNvSpPr/>
          <p:nvPr/>
        </p:nvSpPr>
        <p:spPr>
          <a:xfrm>
            <a:off x="9509760" y="2697480"/>
            <a:ext cx="0" cy="0"/>
          </a:xfrm>
          <a:prstGeom prst="line">
            <a:avLst/>
          </a:prstGeom>
          <a:noFill/>
          <a:ln w="30480">
            <a:solidFill>
              <a:srgbClr val="1BA6A6"/>
            </a:solidFill>
            <a:prstDash val="solid"/>
            <a:tailEnd type="triangle"/>
          </a:ln>
        </p:spPr>
        <p:txBody>
          <a:bodyPr/>
          <a:lstStyle/>
          <a:p>
            <a:endParaRPr/>
          </a:p>
        </p:txBody>
      </p:sp>
      <p:sp>
        <p:nvSpPr>
          <p:cNvPr id="12" name="Text 10"/>
          <p:cNvSpPr/>
          <p:nvPr/>
        </p:nvSpPr>
        <p:spPr>
          <a:xfrm>
            <a:off x="3977640" y="2532888"/>
            <a:ext cx="2103120" cy="201168"/>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ServerHello</a:t>
            </a:r>
            <a:endParaRPr lang="en-US" sz="1550" dirty="0"/>
          </a:p>
        </p:txBody>
      </p:sp>
      <p:sp>
        <p:nvSpPr>
          <p:cNvPr id="13" name="Text 11"/>
          <p:cNvSpPr/>
          <p:nvPr/>
        </p:nvSpPr>
        <p:spPr>
          <a:xfrm>
            <a:off x="2743200" y="2843784"/>
            <a:ext cx="4572000" cy="274320"/>
          </a:xfrm>
          <a:prstGeom prst="rect">
            <a:avLst/>
          </a:prstGeom>
          <a:noFill/>
          <a:ln/>
        </p:spPr>
        <p:txBody>
          <a:bodyPr wrap="square" lIns="0" tIns="0" rIns="0" bIns="0" rtlCol="0" anchor="ctr">
            <a:normAutofit/>
          </a:bodyPr>
          <a:lstStyle/>
          <a:p>
            <a:pPr marL="0" indent="0" algn="ctr">
              <a:buNone/>
            </a:pPr>
            <a:r>
              <a:rPr lang="en-US" sz="1450" dirty="0">
                <a:solidFill>
                  <a:srgbClr val="16212F"/>
                </a:solidFill>
              </a:rPr>
              <a:t>Chosen params, server key share</a:t>
            </a:r>
            <a:endParaRPr lang="en-US" sz="1450" dirty="0"/>
          </a:p>
        </p:txBody>
      </p:sp>
      <p:sp>
        <p:nvSpPr>
          <p:cNvPr id="14" name="Shape 12"/>
          <p:cNvSpPr/>
          <p:nvPr/>
        </p:nvSpPr>
        <p:spPr>
          <a:xfrm>
            <a:off x="9509760" y="3383280"/>
            <a:ext cx="0" cy="0"/>
          </a:xfrm>
          <a:prstGeom prst="line">
            <a:avLst/>
          </a:prstGeom>
          <a:noFill/>
          <a:ln w="30480">
            <a:solidFill>
              <a:srgbClr val="1BA6A6"/>
            </a:solidFill>
            <a:prstDash val="solid"/>
            <a:tailEnd type="triangle"/>
          </a:ln>
        </p:spPr>
        <p:txBody>
          <a:bodyPr/>
          <a:lstStyle/>
          <a:p>
            <a:endParaRPr/>
          </a:p>
        </p:txBody>
      </p:sp>
      <p:sp>
        <p:nvSpPr>
          <p:cNvPr id="15" name="Text 13"/>
          <p:cNvSpPr/>
          <p:nvPr/>
        </p:nvSpPr>
        <p:spPr>
          <a:xfrm>
            <a:off x="3977640" y="3218688"/>
            <a:ext cx="2103120" cy="201168"/>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Certificate + signature</a:t>
            </a:r>
            <a:endParaRPr lang="en-US" sz="1550" dirty="0"/>
          </a:p>
        </p:txBody>
      </p:sp>
      <p:sp>
        <p:nvSpPr>
          <p:cNvPr id="16" name="Text 14"/>
          <p:cNvSpPr/>
          <p:nvPr/>
        </p:nvSpPr>
        <p:spPr>
          <a:xfrm>
            <a:off x="2743200" y="3529584"/>
            <a:ext cx="4572000" cy="274320"/>
          </a:xfrm>
          <a:prstGeom prst="rect">
            <a:avLst/>
          </a:prstGeom>
          <a:noFill/>
          <a:ln/>
        </p:spPr>
        <p:txBody>
          <a:bodyPr wrap="square" lIns="0" tIns="0" rIns="0" bIns="0" rtlCol="0" anchor="ctr">
            <a:normAutofit/>
          </a:bodyPr>
          <a:lstStyle/>
          <a:p>
            <a:pPr marL="0" indent="0" algn="ctr">
              <a:buNone/>
            </a:pPr>
            <a:r>
              <a:rPr lang="en-US" sz="1450" dirty="0">
                <a:solidFill>
                  <a:srgbClr val="16212F"/>
                </a:solidFill>
              </a:rPr>
              <a:t>Server identity and proof of private key</a:t>
            </a:r>
            <a:endParaRPr lang="en-US" sz="1450" dirty="0"/>
          </a:p>
        </p:txBody>
      </p:sp>
      <p:sp>
        <p:nvSpPr>
          <p:cNvPr id="17" name="Shape 15"/>
          <p:cNvSpPr/>
          <p:nvPr/>
        </p:nvSpPr>
        <p:spPr>
          <a:xfrm>
            <a:off x="3703320" y="3867912"/>
            <a:ext cx="3886200" cy="658368"/>
          </a:xfrm>
          <a:prstGeom prst="roundRect">
            <a:avLst>
              <a:gd name="adj" fmla="val 8333"/>
            </a:avLst>
          </a:prstGeom>
          <a:solidFill>
            <a:srgbClr val="FFF6E0"/>
          </a:solidFill>
          <a:ln w="15240">
            <a:solidFill>
              <a:srgbClr val="F5B841"/>
            </a:solidFill>
            <a:prstDash val="solid"/>
          </a:ln>
        </p:spPr>
        <p:txBody>
          <a:bodyPr/>
          <a:lstStyle/>
          <a:p>
            <a:endParaRPr/>
          </a:p>
        </p:txBody>
      </p:sp>
      <p:sp>
        <p:nvSpPr>
          <p:cNvPr id="18" name="Text 16"/>
          <p:cNvSpPr/>
          <p:nvPr/>
        </p:nvSpPr>
        <p:spPr>
          <a:xfrm>
            <a:off x="3886200" y="3977640"/>
            <a:ext cx="3520440" cy="164592"/>
          </a:xfrm>
          <a:prstGeom prst="rect">
            <a:avLst/>
          </a:prstGeom>
          <a:noFill/>
          <a:ln/>
        </p:spPr>
        <p:txBody>
          <a:bodyPr wrap="square" lIns="0" tIns="0" rIns="0" bIns="0" rtlCol="0" anchor="ctr">
            <a:normAutofit/>
          </a:bodyPr>
          <a:lstStyle/>
          <a:p>
            <a:pPr marL="0" indent="0" algn="ctr">
              <a:buNone/>
            </a:pPr>
            <a:r>
              <a:rPr lang="en-US" sz="1650" b="1" dirty="0">
                <a:solidFill>
                  <a:srgbClr val="0E2A47"/>
                </a:solidFill>
              </a:rPr>
              <a:t>Both sides derive shared secret</a:t>
            </a:r>
            <a:endParaRPr lang="en-US" sz="1650" dirty="0"/>
          </a:p>
        </p:txBody>
      </p:sp>
      <p:sp>
        <p:nvSpPr>
          <p:cNvPr id="19" name="Text 17"/>
          <p:cNvSpPr/>
          <p:nvPr/>
        </p:nvSpPr>
        <p:spPr>
          <a:xfrm>
            <a:off x="3886200" y="4251960"/>
            <a:ext cx="3520440" cy="164592"/>
          </a:xfrm>
          <a:prstGeom prst="rect">
            <a:avLst/>
          </a:prstGeom>
          <a:noFill/>
          <a:ln/>
        </p:spPr>
        <p:txBody>
          <a:bodyPr wrap="square" lIns="0" tIns="0" rIns="0" bIns="0" rtlCol="0" anchor="ctr">
            <a:normAutofit/>
          </a:bodyPr>
          <a:lstStyle/>
          <a:p>
            <a:pPr marL="0" indent="0" algn="ctr">
              <a:buNone/>
            </a:pPr>
            <a:r>
              <a:rPr lang="en-US" sz="1500" dirty="0">
                <a:solidFill>
                  <a:srgbClr val="16212F"/>
                </a:solidFill>
              </a:rPr>
              <a:t>ECDHE → traffic keys</a:t>
            </a:r>
            <a:endParaRPr lang="en-US" sz="1500" dirty="0"/>
          </a:p>
        </p:txBody>
      </p:sp>
      <p:sp>
        <p:nvSpPr>
          <p:cNvPr id="20" name="Shape 18"/>
          <p:cNvSpPr/>
          <p:nvPr/>
        </p:nvSpPr>
        <p:spPr>
          <a:xfrm>
            <a:off x="1828800" y="4892040"/>
            <a:ext cx="7498080" cy="0"/>
          </a:xfrm>
          <a:prstGeom prst="line">
            <a:avLst/>
          </a:prstGeom>
          <a:noFill/>
          <a:ln w="30480">
            <a:solidFill>
              <a:srgbClr val="1F4E79"/>
            </a:solidFill>
            <a:prstDash val="solid"/>
            <a:headEnd type="none"/>
            <a:tailEnd type="triangle"/>
          </a:ln>
        </p:spPr>
        <p:txBody>
          <a:bodyPr/>
          <a:lstStyle/>
          <a:p>
            <a:endParaRPr/>
          </a:p>
        </p:txBody>
      </p:sp>
      <p:sp>
        <p:nvSpPr>
          <p:cNvPr id="21" name="Text 19"/>
          <p:cNvSpPr/>
          <p:nvPr/>
        </p:nvSpPr>
        <p:spPr>
          <a:xfrm>
            <a:off x="4114800" y="4727448"/>
            <a:ext cx="1920240" cy="201168"/>
          </a:xfrm>
          <a:prstGeom prst="rect">
            <a:avLst/>
          </a:prstGeom>
          <a:noFill/>
          <a:ln/>
        </p:spPr>
        <p:txBody>
          <a:bodyPr wrap="square" lIns="0" tIns="0" rIns="0" bIns="0" rtlCol="0" anchor="ctr">
            <a:normAutofit/>
          </a:bodyPr>
          <a:lstStyle/>
          <a:p>
            <a:pPr marL="0" indent="0" algn="ctr">
              <a:buNone/>
            </a:pPr>
            <a:r>
              <a:rPr lang="en-US" sz="1550" b="1" dirty="0">
                <a:solidFill>
                  <a:srgbClr val="0E2A47"/>
                </a:solidFill>
              </a:rPr>
              <a:t>Encrypted HTTP</a:t>
            </a:r>
            <a:endParaRPr lang="en-US" sz="1550" dirty="0"/>
          </a:p>
        </p:txBody>
      </p:sp>
      <p:sp>
        <p:nvSpPr>
          <p:cNvPr id="22" name="Text 20"/>
          <p:cNvSpPr/>
          <p:nvPr/>
        </p:nvSpPr>
        <p:spPr>
          <a:xfrm>
            <a:off x="2926080" y="5038344"/>
            <a:ext cx="4389120" cy="274320"/>
          </a:xfrm>
          <a:prstGeom prst="rect">
            <a:avLst/>
          </a:prstGeom>
          <a:noFill/>
          <a:ln/>
        </p:spPr>
        <p:txBody>
          <a:bodyPr wrap="square" lIns="0" tIns="0" rIns="0" bIns="0" rtlCol="0" anchor="ctr">
            <a:normAutofit/>
          </a:bodyPr>
          <a:lstStyle/>
          <a:p>
            <a:pPr marL="0" indent="0" algn="ctr">
              <a:buNone/>
            </a:pPr>
            <a:r>
              <a:rPr lang="en-US" sz="1450" dirty="0">
                <a:solidFill>
                  <a:srgbClr val="16212F"/>
                </a:solidFill>
              </a:rPr>
              <a:t>Requests and responses travel inside TLS records</a:t>
            </a:r>
            <a:endParaRPr lang="en-US" sz="1450" dirty="0"/>
          </a:p>
        </p:txBody>
      </p:sp>
      <p:sp>
        <p:nvSpPr>
          <p:cNvPr id="23" name="Shape 21"/>
          <p:cNvSpPr/>
          <p:nvPr/>
        </p:nvSpPr>
        <p:spPr>
          <a:xfrm>
            <a:off x="731520" y="5486400"/>
            <a:ext cx="5212080" cy="914400"/>
          </a:xfrm>
          <a:prstGeom prst="roundRect">
            <a:avLst>
              <a:gd name="adj" fmla="val 8000"/>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4" name="Text 22"/>
          <p:cNvSpPr/>
          <p:nvPr/>
        </p:nvSpPr>
        <p:spPr>
          <a:xfrm>
            <a:off x="896112" y="5596128"/>
            <a:ext cx="488289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Most important correction</a:t>
            </a:r>
            <a:endParaRPr lang="en-US" sz="1500" dirty="0"/>
          </a:p>
        </p:txBody>
      </p:sp>
      <p:sp>
        <p:nvSpPr>
          <p:cNvPr id="25" name="Text 23"/>
          <p:cNvSpPr/>
          <p:nvPr/>
        </p:nvSpPr>
        <p:spPr>
          <a:xfrm>
            <a:off x="960120" y="5934456"/>
            <a:ext cx="4709160" cy="384048"/>
          </a:xfrm>
          <a:prstGeom prst="rect">
            <a:avLst/>
          </a:prstGeom>
          <a:noFill/>
          <a:ln/>
        </p:spPr>
        <p:txBody>
          <a:bodyPr wrap="square" lIns="0" tIns="0" rIns="0" bIns="0" rtlCol="0" anchor="ctr">
            <a:normAutofit/>
          </a:bodyPr>
          <a:lstStyle/>
          <a:p>
            <a:pPr marL="0" indent="0">
              <a:buNone/>
            </a:pPr>
            <a:r>
              <a:rPr lang="en-US" sz="1620" b="1" dirty="0">
                <a:solidFill>
                  <a:srgbClr val="16212F"/>
                </a:solidFill>
              </a:rPr>
              <a:t>In TLS 1.3, the server private key usually does not decrypt the application data stream. It authenticates the handshake; symmetric traffic keys encrypt the data.</a:t>
            </a:r>
            <a:endParaRPr lang="en-US" sz="1620" dirty="0"/>
          </a:p>
        </p:txBody>
      </p:sp>
      <p:sp>
        <p:nvSpPr>
          <p:cNvPr id="26" name="Shape 24"/>
          <p:cNvSpPr/>
          <p:nvPr/>
        </p:nvSpPr>
        <p:spPr>
          <a:xfrm>
            <a:off x="6217920" y="5486400"/>
            <a:ext cx="5257800" cy="914400"/>
          </a:xfrm>
          <a:prstGeom prst="roundRect">
            <a:avLst>
              <a:gd name="adj" fmla="val 8000"/>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7" name="Text 25"/>
          <p:cNvSpPr/>
          <p:nvPr/>
        </p:nvSpPr>
        <p:spPr>
          <a:xfrm>
            <a:off x="6382512" y="5596128"/>
            <a:ext cx="49286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Why this matters</a:t>
            </a:r>
            <a:endParaRPr lang="en-US" sz="1500" dirty="0"/>
          </a:p>
        </p:txBody>
      </p:sp>
      <p:sp>
        <p:nvSpPr>
          <p:cNvPr id="28" name="Text 26"/>
          <p:cNvSpPr/>
          <p:nvPr/>
        </p:nvSpPr>
        <p:spPr>
          <a:xfrm>
            <a:off x="6446520" y="5934456"/>
            <a:ext cx="4709160" cy="384048"/>
          </a:xfrm>
          <a:prstGeom prst="rect">
            <a:avLst/>
          </a:prstGeom>
          <a:noFill/>
          <a:ln/>
        </p:spPr>
        <p:txBody>
          <a:bodyPr wrap="square" lIns="0" tIns="0" rIns="0" bIns="0" rtlCol="0" anchor="ctr">
            <a:normAutofit/>
          </a:bodyPr>
          <a:lstStyle/>
          <a:p>
            <a:pPr marL="0" indent="0">
              <a:buNone/>
            </a:pPr>
            <a:r>
              <a:rPr lang="en-US" sz="1620" b="1" dirty="0">
                <a:solidFill>
                  <a:srgbClr val="16212F"/>
                </a:solidFill>
              </a:rPr>
              <a:t>Ephemeral key exchange gives forward secrecy: if the certificate private key is stolen later, past sessions are not automatically readable.</a:t>
            </a:r>
            <a:endParaRPr lang="en-US" sz="1620" dirty="0"/>
          </a:p>
        </p:txBody>
      </p:sp>
      <p:sp>
        <p:nvSpPr>
          <p:cNvPr id="29"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Where decryption happens: TLS termination</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The application only sees encrypted bytes if it is itself the TLS endpoint.</a:t>
            </a:r>
            <a:endParaRPr lang="en-US" sz="1250" dirty="0"/>
          </a:p>
        </p:txBody>
      </p:sp>
      <p:sp>
        <p:nvSpPr>
          <p:cNvPr id="4" name="Shape 2"/>
          <p:cNvSpPr/>
          <p:nvPr/>
        </p:nvSpPr>
        <p:spPr>
          <a:xfrm>
            <a:off x="731520" y="1828800"/>
            <a:ext cx="2011680" cy="1097280"/>
          </a:xfrm>
          <a:prstGeom prst="roundRect">
            <a:avLst>
              <a:gd name="adj" fmla="val 6667"/>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896112" y="1938528"/>
            <a:ext cx="168249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Browser / mobile app</a:t>
            </a:r>
            <a:endParaRPr lang="en-US" sz="1500" dirty="0"/>
          </a:p>
        </p:txBody>
      </p:sp>
      <p:sp>
        <p:nvSpPr>
          <p:cNvPr id="6" name="Text 4"/>
          <p:cNvSpPr/>
          <p:nvPr/>
        </p:nvSpPr>
        <p:spPr>
          <a:xfrm>
            <a:off x="1051560" y="2276856"/>
            <a:ext cx="1371600" cy="457200"/>
          </a:xfrm>
          <a:prstGeom prst="rect">
            <a:avLst/>
          </a:prstGeom>
          <a:noFill/>
          <a:ln/>
        </p:spPr>
        <p:txBody>
          <a:bodyPr wrap="square" lIns="0" tIns="0" rIns="0" bIns="0" rtlCol="0" anchor="ctr">
            <a:normAutofit/>
          </a:bodyPr>
          <a:lstStyle/>
          <a:p>
            <a:pPr marL="0" indent="0" algn="ctr">
              <a:buNone/>
            </a:pPr>
            <a:r>
              <a:rPr lang="en-US" sz="1800" dirty="0">
                <a:solidFill>
                  <a:srgbClr val="16212F"/>
                </a:solidFill>
              </a:rPr>
              <a:t>Sends HTTPS requests</a:t>
            </a:r>
            <a:endParaRPr lang="en-US" sz="1800" dirty="0"/>
          </a:p>
          <a:p>
            <a:pPr marL="0" indent="0" algn="ctr">
              <a:buNone/>
            </a:pPr>
            <a:r>
              <a:rPr lang="en-US" sz="1800" dirty="0">
                <a:solidFill>
                  <a:srgbClr val="16212F"/>
                </a:solidFill>
              </a:rPr>
              <a:t>Receives HTTPS responses</a:t>
            </a:r>
            <a:endParaRPr lang="en-US" sz="1800" dirty="0"/>
          </a:p>
        </p:txBody>
      </p:sp>
      <p:sp>
        <p:nvSpPr>
          <p:cNvPr id="7" name="Shape 5"/>
          <p:cNvSpPr/>
          <p:nvPr/>
        </p:nvSpPr>
        <p:spPr>
          <a:xfrm>
            <a:off x="3291840" y="1234440"/>
            <a:ext cx="2331720" cy="2331720"/>
          </a:xfrm>
          <a:prstGeom prst="roundRect">
            <a:avLst>
              <a:gd name="adj" fmla="val 3137"/>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8" name="Text 6"/>
          <p:cNvSpPr/>
          <p:nvPr/>
        </p:nvSpPr>
        <p:spPr>
          <a:xfrm>
            <a:off x="3456432" y="1344168"/>
            <a:ext cx="200253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TLS terminator</a:t>
            </a:r>
            <a:endParaRPr lang="en-US" sz="1500" dirty="0"/>
          </a:p>
        </p:txBody>
      </p:sp>
      <p:sp>
        <p:nvSpPr>
          <p:cNvPr id="9" name="Text 7"/>
          <p:cNvSpPr/>
          <p:nvPr/>
        </p:nvSpPr>
        <p:spPr>
          <a:xfrm>
            <a:off x="3749040" y="1828800"/>
            <a:ext cx="1417320" cy="1097280"/>
          </a:xfrm>
          <a:prstGeom prst="rect">
            <a:avLst/>
          </a:prstGeom>
          <a:noFill/>
          <a:ln/>
        </p:spPr>
        <p:txBody>
          <a:bodyPr wrap="square" lIns="0" tIns="0" rIns="0" bIns="0" rtlCol="0" anchor="ctr">
            <a:normAutofit/>
          </a:bodyPr>
          <a:lstStyle/>
          <a:p>
            <a:pPr marL="0" indent="0" algn="ctr">
              <a:buNone/>
            </a:pPr>
            <a:r>
              <a:rPr lang="en-US" sz="1850" b="1" dirty="0">
                <a:solidFill>
                  <a:srgbClr val="0E2A47"/>
                </a:solidFill>
              </a:rPr>
              <a:t>Nginx</a:t>
            </a:r>
            <a:endParaRPr lang="en-US" sz="1850" dirty="0"/>
          </a:p>
          <a:p>
            <a:pPr marL="0" indent="0" algn="ctr">
              <a:buNone/>
            </a:pPr>
            <a:r>
              <a:rPr lang="en-US" sz="1850" b="1" dirty="0">
                <a:solidFill>
                  <a:srgbClr val="0E2A47"/>
                </a:solidFill>
              </a:rPr>
              <a:t>Caddy</a:t>
            </a:r>
            <a:endParaRPr lang="en-US" sz="1850" dirty="0"/>
          </a:p>
          <a:p>
            <a:pPr marL="0" indent="0" algn="ctr">
              <a:buNone/>
            </a:pPr>
            <a:r>
              <a:rPr lang="en-US" sz="1850" b="1" dirty="0">
                <a:solidFill>
                  <a:srgbClr val="0E2A47"/>
                </a:solidFill>
              </a:rPr>
              <a:t>ALB</a:t>
            </a:r>
            <a:endParaRPr lang="en-US" sz="1850" dirty="0"/>
          </a:p>
          <a:p>
            <a:pPr marL="0" indent="0" algn="ctr">
              <a:buNone/>
            </a:pPr>
            <a:r>
              <a:rPr lang="en-US" sz="1850" b="1" dirty="0">
                <a:solidFill>
                  <a:srgbClr val="0E2A47"/>
                </a:solidFill>
              </a:rPr>
              <a:t>Cloudflare edge</a:t>
            </a:r>
            <a:endParaRPr lang="en-US" sz="1850" dirty="0"/>
          </a:p>
          <a:p>
            <a:pPr marL="0" indent="0" algn="ctr">
              <a:buNone/>
            </a:pPr>
            <a:r>
              <a:rPr lang="en-US" sz="1850" b="1" dirty="0">
                <a:solidFill>
                  <a:srgbClr val="0E2A47"/>
                </a:solidFill>
              </a:rPr>
              <a:t>OR the app itself</a:t>
            </a:r>
            <a:endParaRPr lang="en-US" sz="1850" dirty="0"/>
          </a:p>
        </p:txBody>
      </p:sp>
      <p:sp>
        <p:nvSpPr>
          <p:cNvPr id="10" name="Shape 8"/>
          <p:cNvSpPr/>
          <p:nvPr/>
        </p:nvSpPr>
        <p:spPr>
          <a:xfrm>
            <a:off x="6217920" y="1828800"/>
            <a:ext cx="2057400" cy="1097280"/>
          </a:xfrm>
          <a:prstGeom prst="roundRect">
            <a:avLst>
              <a:gd name="adj" fmla="val 6667"/>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1" name="Text 9"/>
          <p:cNvSpPr/>
          <p:nvPr/>
        </p:nvSpPr>
        <p:spPr>
          <a:xfrm>
            <a:off x="6382512" y="1938528"/>
            <a:ext cx="17282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Backend app</a:t>
            </a:r>
            <a:endParaRPr lang="en-US" sz="1500" dirty="0"/>
          </a:p>
        </p:txBody>
      </p:sp>
      <p:sp>
        <p:nvSpPr>
          <p:cNvPr id="12" name="Text 10"/>
          <p:cNvSpPr/>
          <p:nvPr/>
        </p:nvSpPr>
        <p:spPr>
          <a:xfrm>
            <a:off x="6656832" y="2276856"/>
            <a:ext cx="1143000" cy="502920"/>
          </a:xfrm>
          <a:prstGeom prst="rect">
            <a:avLst/>
          </a:prstGeom>
          <a:noFill/>
          <a:ln/>
        </p:spPr>
        <p:txBody>
          <a:bodyPr wrap="square" lIns="0" tIns="0" rIns="0" bIns="0" rtlCol="0" anchor="ctr">
            <a:normAutofit/>
          </a:bodyPr>
          <a:lstStyle/>
          <a:p>
            <a:pPr marL="0" indent="0" algn="ctr">
              <a:buNone/>
            </a:pPr>
            <a:r>
              <a:rPr lang="en-US" sz="1850" dirty="0">
                <a:solidFill>
                  <a:srgbClr val="16212F"/>
                </a:solidFill>
              </a:rPr>
              <a:t>FastAPI</a:t>
            </a:r>
            <a:endParaRPr lang="en-US" sz="1850" dirty="0"/>
          </a:p>
          <a:p>
            <a:pPr marL="0" indent="0" algn="ctr">
              <a:buNone/>
            </a:pPr>
            <a:r>
              <a:rPr lang="en-US" sz="1850" dirty="0">
                <a:solidFill>
                  <a:srgbClr val="16212F"/>
                </a:solidFill>
              </a:rPr>
              <a:t>Express</a:t>
            </a:r>
            <a:endParaRPr lang="en-US" sz="1850" dirty="0"/>
          </a:p>
          <a:p>
            <a:pPr marL="0" indent="0" algn="ctr">
              <a:buNone/>
            </a:pPr>
            <a:r>
              <a:rPr lang="en-US" sz="1850" dirty="0">
                <a:solidFill>
                  <a:srgbClr val="16212F"/>
                </a:solidFill>
              </a:rPr>
              <a:t>Django</a:t>
            </a:r>
            <a:endParaRPr lang="en-US" sz="1850" dirty="0"/>
          </a:p>
          <a:p>
            <a:pPr marL="0" indent="0" algn="ctr">
              <a:buNone/>
            </a:pPr>
            <a:r>
              <a:rPr lang="en-US" sz="1850" dirty="0">
                <a:solidFill>
                  <a:srgbClr val="16212F"/>
                </a:solidFill>
              </a:rPr>
              <a:t>Rails</a:t>
            </a:r>
            <a:endParaRPr lang="en-US" sz="1850" dirty="0"/>
          </a:p>
        </p:txBody>
      </p:sp>
      <p:sp>
        <p:nvSpPr>
          <p:cNvPr id="13" name="Shape 11"/>
          <p:cNvSpPr/>
          <p:nvPr/>
        </p:nvSpPr>
        <p:spPr>
          <a:xfrm>
            <a:off x="8869680" y="1828800"/>
            <a:ext cx="2468880" cy="1097280"/>
          </a:xfrm>
          <a:prstGeom prst="roundRect">
            <a:avLst>
              <a:gd name="adj" fmla="val 6667"/>
            </a:avLst>
          </a:prstGeom>
          <a:solidFill>
            <a:srgbClr val="FFF6E0"/>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4" name="Text 12"/>
          <p:cNvSpPr/>
          <p:nvPr/>
        </p:nvSpPr>
        <p:spPr>
          <a:xfrm>
            <a:off x="9034272" y="1938528"/>
            <a:ext cx="213969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Database / downstream services</a:t>
            </a:r>
            <a:endParaRPr lang="en-US" sz="1500" dirty="0"/>
          </a:p>
        </p:txBody>
      </p:sp>
      <p:sp>
        <p:nvSpPr>
          <p:cNvPr id="15" name="Text 13"/>
          <p:cNvSpPr/>
          <p:nvPr/>
        </p:nvSpPr>
        <p:spPr>
          <a:xfrm>
            <a:off x="9217152" y="2276856"/>
            <a:ext cx="1783080" cy="457200"/>
          </a:xfrm>
          <a:prstGeom prst="rect">
            <a:avLst/>
          </a:prstGeom>
          <a:noFill/>
          <a:ln/>
        </p:spPr>
        <p:txBody>
          <a:bodyPr wrap="square" lIns="127" tIns="127" rIns="127" bIns="127" rtlCol="0" anchor="ctr">
            <a:normAutofit/>
          </a:bodyPr>
          <a:lstStyle/>
          <a:p>
            <a:pPr marL="0" indent="0" algn="ctr">
              <a:buNone/>
            </a:pPr>
            <a:r>
              <a:rPr lang="en-US" sz="1700" dirty="0">
                <a:solidFill>
                  <a:srgbClr val="16212F"/>
                </a:solidFill>
              </a:rPr>
              <a:t>May be plain TCP or may use TLS again</a:t>
            </a:r>
            <a:endParaRPr lang="en-US" sz="1700" dirty="0"/>
          </a:p>
        </p:txBody>
      </p:sp>
      <p:sp>
        <p:nvSpPr>
          <p:cNvPr id="16" name="Shape 14"/>
          <p:cNvSpPr/>
          <p:nvPr/>
        </p:nvSpPr>
        <p:spPr>
          <a:xfrm>
            <a:off x="2743200" y="2395728"/>
            <a:ext cx="502920" cy="0"/>
          </a:xfrm>
          <a:prstGeom prst="line">
            <a:avLst/>
          </a:prstGeom>
          <a:noFill/>
          <a:ln w="31750">
            <a:solidFill>
              <a:srgbClr val="1F4E79"/>
            </a:solidFill>
            <a:prstDash val="solid"/>
            <a:headEnd type="none"/>
            <a:tailEnd type="triangle"/>
          </a:ln>
        </p:spPr>
        <p:txBody>
          <a:bodyPr/>
          <a:lstStyle/>
          <a:p>
            <a:endParaRPr/>
          </a:p>
        </p:txBody>
      </p:sp>
      <p:sp>
        <p:nvSpPr>
          <p:cNvPr id="17" name="Shape 15"/>
          <p:cNvSpPr/>
          <p:nvPr/>
        </p:nvSpPr>
        <p:spPr>
          <a:xfrm>
            <a:off x="5623560" y="2395728"/>
            <a:ext cx="502920" cy="0"/>
          </a:xfrm>
          <a:prstGeom prst="line">
            <a:avLst/>
          </a:prstGeom>
          <a:noFill/>
          <a:ln w="31750">
            <a:solidFill>
              <a:srgbClr val="C75050"/>
            </a:solidFill>
            <a:prstDash val="solid"/>
            <a:headEnd type="none"/>
            <a:tailEnd type="triangle"/>
          </a:ln>
        </p:spPr>
        <p:txBody>
          <a:bodyPr/>
          <a:lstStyle/>
          <a:p>
            <a:endParaRPr/>
          </a:p>
        </p:txBody>
      </p:sp>
      <p:sp>
        <p:nvSpPr>
          <p:cNvPr id="18" name="Shape 16"/>
          <p:cNvSpPr/>
          <p:nvPr/>
        </p:nvSpPr>
        <p:spPr>
          <a:xfrm>
            <a:off x="8321040" y="2395728"/>
            <a:ext cx="502920" cy="0"/>
          </a:xfrm>
          <a:prstGeom prst="line">
            <a:avLst/>
          </a:prstGeom>
          <a:noFill/>
          <a:ln w="31750">
            <a:solidFill>
              <a:srgbClr val="C75050"/>
            </a:solidFill>
            <a:prstDash val="solid"/>
            <a:headEnd type="none"/>
            <a:tailEnd type="triangle"/>
          </a:ln>
        </p:spPr>
        <p:txBody>
          <a:bodyPr/>
          <a:lstStyle/>
          <a:p>
            <a:endParaRPr/>
          </a:p>
        </p:txBody>
      </p:sp>
      <p:sp>
        <p:nvSpPr>
          <p:cNvPr id="19" name="Shape 17"/>
          <p:cNvSpPr/>
          <p:nvPr/>
        </p:nvSpPr>
        <p:spPr>
          <a:xfrm>
            <a:off x="3246120" y="3730752"/>
            <a:ext cx="365760" cy="0"/>
          </a:xfrm>
          <a:prstGeom prst="line">
            <a:avLst/>
          </a:prstGeom>
          <a:noFill/>
          <a:ln w="38100">
            <a:solidFill>
              <a:srgbClr val="2A8C5B"/>
            </a:solidFill>
            <a:prstDash val="solid"/>
          </a:ln>
        </p:spPr>
        <p:txBody>
          <a:bodyPr/>
          <a:lstStyle/>
          <a:p>
            <a:endParaRPr/>
          </a:p>
        </p:txBody>
      </p:sp>
      <p:sp>
        <p:nvSpPr>
          <p:cNvPr id="20" name="Text 18"/>
          <p:cNvSpPr/>
          <p:nvPr/>
        </p:nvSpPr>
        <p:spPr>
          <a:xfrm>
            <a:off x="3639312" y="3611880"/>
            <a:ext cx="1371600" cy="219456"/>
          </a:xfrm>
          <a:prstGeom prst="rect">
            <a:avLst/>
          </a:prstGeom>
          <a:noFill/>
          <a:ln/>
        </p:spPr>
        <p:txBody>
          <a:bodyPr wrap="square" lIns="0" tIns="0" rIns="0" bIns="0" rtlCol="0" anchor="ctr">
            <a:normAutofit/>
          </a:bodyPr>
          <a:lstStyle/>
          <a:p>
            <a:pPr marL="0" indent="0">
              <a:buNone/>
            </a:pPr>
            <a:r>
              <a:rPr lang="en-US" sz="1520" b="1" dirty="0">
                <a:solidFill>
                  <a:srgbClr val="2A8C5B"/>
                </a:solidFill>
              </a:rPr>
              <a:t>encrypted segment</a:t>
            </a:r>
            <a:endParaRPr lang="en-US" sz="1520" dirty="0"/>
          </a:p>
        </p:txBody>
      </p:sp>
      <p:sp>
        <p:nvSpPr>
          <p:cNvPr id="21" name="Shape 19"/>
          <p:cNvSpPr/>
          <p:nvPr/>
        </p:nvSpPr>
        <p:spPr>
          <a:xfrm>
            <a:off x="5989320" y="3730752"/>
            <a:ext cx="365760" cy="0"/>
          </a:xfrm>
          <a:prstGeom prst="line">
            <a:avLst/>
          </a:prstGeom>
          <a:noFill/>
          <a:ln w="38100">
            <a:solidFill>
              <a:srgbClr val="C75050"/>
            </a:solidFill>
            <a:prstDash val="solid"/>
          </a:ln>
        </p:spPr>
        <p:txBody>
          <a:bodyPr/>
          <a:lstStyle/>
          <a:p>
            <a:endParaRPr/>
          </a:p>
        </p:txBody>
      </p:sp>
      <p:sp>
        <p:nvSpPr>
          <p:cNvPr id="22" name="Text 20"/>
          <p:cNvSpPr/>
          <p:nvPr/>
        </p:nvSpPr>
        <p:spPr>
          <a:xfrm>
            <a:off x="6382512" y="3611880"/>
            <a:ext cx="2377440" cy="219456"/>
          </a:xfrm>
          <a:prstGeom prst="rect">
            <a:avLst/>
          </a:prstGeom>
          <a:noFill/>
          <a:ln/>
        </p:spPr>
        <p:txBody>
          <a:bodyPr wrap="square" lIns="0" tIns="0" rIns="0" bIns="0" rtlCol="0" anchor="ctr">
            <a:normAutofit/>
          </a:bodyPr>
          <a:lstStyle/>
          <a:p>
            <a:pPr marL="0" indent="0">
              <a:buNone/>
            </a:pPr>
            <a:r>
              <a:rPr lang="en-US" sz="1520" b="1" dirty="0">
                <a:solidFill>
                  <a:srgbClr val="C75050"/>
                </a:solidFill>
              </a:rPr>
              <a:t>plaintext unless re-encrypted</a:t>
            </a:r>
            <a:endParaRPr lang="en-US" sz="1520" dirty="0"/>
          </a:p>
        </p:txBody>
      </p:sp>
      <p:sp>
        <p:nvSpPr>
          <p:cNvPr id="23" name="Shape 21"/>
          <p:cNvSpPr/>
          <p:nvPr/>
        </p:nvSpPr>
        <p:spPr>
          <a:xfrm>
            <a:off x="777240" y="4023360"/>
            <a:ext cx="5394960" cy="1325880"/>
          </a:xfrm>
          <a:prstGeom prst="roundRect">
            <a:avLst>
              <a:gd name="adj" fmla="val 5517"/>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4" name="Text 22"/>
          <p:cNvSpPr/>
          <p:nvPr/>
        </p:nvSpPr>
        <p:spPr>
          <a:xfrm>
            <a:off x="941832" y="4133088"/>
            <a:ext cx="50657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If the app terminates TLS itself</a:t>
            </a:r>
            <a:endParaRPr lang="en-US" sz="1500" dirty="0"/>
          </a:p>
        </p:txBody>
      </p:sp>
      <p:sp>
        <p:nvSpPr>
          <p:cNvPr id="25" name="Text 23"/>
          <p:cNvSpPr/>
          <p:nvPr/>
        </p:nvSpPr>
        <p:spPr>
          <a:xfrm>
            <a:off x="1051560" y="4471416"/>
            <a:ext cx="4754880" cy="868680"/>
          </a:xfrm>
          <a:prstGeom prst="rect">
            <a:avLst/>
          </a:prstGeom>
          <a:noFill/>
          <a:ln/>
        </p:spPr>
        <p:txBody>
          <a:bodyPr wrap="square" lIns="254" tIns="254" rIns="254" bIns="254" rtlCol="0" anchor="t">
            <a:normAutofit/>
          </a:bodyPr>
          <a:lstStyle/>
          <a:p>
            <a:pPr marL="203200" indent="-203200">
              <a:buSzPct val="100000"/>
              <a:buChar char="•"/>
              <a:defRPr/>
            </a:pPr>
            <a:r>
              <a:t>The app process receives raw TLS bytes on the socket.</a:t>
            </a:r>
            <a:endParaRPr lang="en-US" sz="1750" dirty="0"/>
          </a:p>
          <a:p>
            <a:pPr>
              <a:defRPr/>
            </a:pPr>
            <a:r>
              <a:t>Its TLS library decrypts records automatically.</a:t>
            </a:r>
          </a:p>
          <a:p>
            <a:pPr>
              <a:defRPr/>
            </a:pPr>
            <a:r>
              <a:t>The framework then handles ordinary HTTP requests.</a:t>
            </a:r>
          </a:p>
        </p:txBody>
      </p:sp>
      <p:sp>
        <p:nvSpPr>
          <p:cNvPr id="26" name="Shape 24"/>
          <p:cNvSpPr/>
          <p:nvPr/>
        </p:nvSpPr>
        <p:spPr>
          <a:xfrm>
            <a:off x="6355080" y="4023360"/>
            <a:ext cx="5166360" cy="1325880"/>
          </a:xfrm>
          <a:prstGeom prst="roundRect">
            <a:avLst>
              <a:gd name="adj" fmla="val 5517"/>
            </a:avLst>
          </a:prstGeom>
          <a:solidFill>
            <a:srgbClr val="FDEDEC"/>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7" name="Text 25"/>
          <p:cNvSpPr/>
          <p:nvPr/>
        </p:nvSpPr>
        <p:spPr>
          <a:xfrm>
            <a:off x="6519672" y="4133088"/>
            <a:ext cx="48371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If a proxy terminates TLS first</a:t>
            </a:r>
            <a:endParaRPr lang="en-US" sz="1500" dirty="0"/>
          </a:p>
        </p:txBody>
      </p:sp>
      <p:sp>
        <p:nvSpPr>
          <p:cNvPr id="28" name="Text 26"/>
          <p:cNvSpPr/>
          <p:nvPr/>
        </p:nvSpPr>
        <p:spPr>
          <a:xfrm>
            <a:off x="6629400" y="4471416"/>
            <a:ext cx="4572000" cy="868680"/>
          </a:xfrm>
          <a:prstGeom prst="rect">
            <a:avLst/>
          </a:prstGeom>
          <a:noFill/>
          <a:ln/>
        </p:spPr>
        <p:txBody>
          <a:bodyPr wrap="square" lIns="254" tIns="254" rIns="254" bIns="254" rtlCol="0" anchor="t">
            <a:normAutofit/>
          </a:bodyPr>
          <a:lstStyle/>
          <a:p>
            <a:pPr marL="203200" indent="-203200">
              <a:buSzPct val="100000"/>
              <a:buChar char="•"/>
              <a:defRPr/>
            </a:pPr>
            <a:r>
              <a:t>The proxy or load balancer decrypts HTTPS.</a:t>
            </a:r>
            <a:endParaRPr lang="en-US" sz="1750" dirty="0"/>
          </a:p>
          <a:p>
            <a:pPr>
              <a:defRPr/>
            </a:pPr>
            <a:r>
              <a:t>The framework usually sees plain HTTP plus forwarding headers.</a:t>
            </a:r>
          </a:p>
          <a:p>
            <a:pPr>
              <a:defRPr/>
            </a:pPr>
            <a:r>
              <a:t>To protect internal hops, re-encrypt or use mTLS.</a:t>
            </a:r>
          </a:p>
        </p:txBody>
      </p:sp>
      <p:sp>
        <p:nvSpPr>
          <p:cNvPr id="29"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Do FastAPI and Node auto-decrypt TLS?</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No. You explicitly run the server or proxy in TLS mode; the TLS library then handles decryption automatically.</a:t>
            </a:r>
            <a:endParaRPr lang="en-US" sz="1250" dirty="0"/>
          </a:p>
        </p:txBody>
      </p:sp>
      <p:sp>
        <p:nvSpPr>
          <p:cNvPr id="4" name="Shape 2"/>
          <p:cNvSpPr/>
          <p:nvPr/>
        </p:nvSpPr>
        <p:spPr>
          <a:xfrm>
            <a:off x="685800" y="1417320"/>
            <a:ext cx="5349240" cy="4480560"/>
          </a:xfrm>
          <a:prstGeom prst="roundRect">
            <a:avLst>
              <a:gd name="adj" fmla="val 1633"/>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850392" y="1527048"/>
            <a:ext cx="502005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FastAPI / Python example</a:t>
            </a:r>
            <a:endParaRPr lang="en-US" sz="1500" dirty="0"/>
          </a:p>
        </p:txBody>
      </p:sp>
      <p:sp>
        <p:nvSpPr>
          <p:cNvPr id="6" name="Text 4"/>
          <p:cNvSpPr/>
          <p:nvPr/>
        </p:nvSpPr>
        <p:spPr>
          <a:xfrm>
            <a:off x="914400" y="1874520"/>
            <a:ext cx="4709160" cy="2286000"/>
          </a:xfrm>
          <a:prstGeom prst="rect">
            <a:avLst/>
          </a:prstGeom>
          <a:noFill/>
          <a:ln/>
        </p:spPr>
        <p:txBody>
          <a:bodyPr wrap="square" lIns="254" tIns="254" rIns="254" bIns="254" rtlCol="0" anchor="ctr">
            <a:normAutofit/>
          </a:bodyPr>
          <a:lstStyle/>
          <a:p>
            <a:pPr marL="0" indent="0">
              <a:buNone/>
            </a:pPr>
            <a:r>
              <a:rPr lang="en-US" sz="1840" dirty="0">
                <a:solidFill>
                  <a:srgbClr val="16212F"/>
                </a:solidFill>
              </a:rPr>
              <a:t>Typical production path</a:t>
            </a:r>
            <a:endParaRPr lang="en-US" sz="1840" dirty="0"/>
          </a:p>
          <a:p>
            <a:pPr marL="0" indent="0">
              <a:buNone/>
            </a:pPr>
            <a:endParaRPr lang="en-US" sz="1840" dirty="0"/>
          </a:p>
          <a:p>
            <a:pPr marL="0" indent="0">
              <a:buNone/>
            </a:pPr>
            <a:r>
              <a:rPr lang="en-US" sz="1840" dirty="0">
                <a:solidFill>
                  <a:srgbClr val="16212F"/>
                </a:solidFill>
              </a:rPr>
              <a:t>Proxy or load balancer terminates TLS.</a:t>
            </a:r>
            <a:endParaRPr lang="en-US" sz="1840" dirty="0"/>
          </a:p>
          <a:p>
            <a:pPr marL="0" indent="0">
              <a:buNone/>
            </a:pPr>
            <a:endParaRPr lang="en-US" sz="1840" dirty="0"/>
          </a:p>
          <a:p>
            <a:pPr marL="0" indent="0">
              <a:buNone/>
            </a:pPr>
            <a:r>
              <a:rPr lang="en-US" sz="1840" dirty="0">
                <a:solidFill>
                  <a:srgbClr val="16212F"/>
                </a:solidFill>
              </a:rPr>
              <a:t>FastAPI usually receives plain HTTP from that component.</a:t>
            </a:r>
            <a:endParaRPr lang="en-US" sz="1840" dirty="0"/>
          </a:p>
          <a:p>
            <a:pPr marL="0" indent="0">
              <a:buNone/>
            </a:pPr>
            <a:endParaRPr lang="en-US" sz="1840" dirty="0"/>
          </a:p>
          <a:p>
            <a:pPr marL="0" indent="0">
              <a:buNone/>
            </a:pPr>
            <a:r>
              <a:rPr lang="en-US" sz="1840" dirty="0">
                <a:solidFill>
                  <a:srgbClr val="16212F"/>
                </a:solidFill>
              </a:rPr>
              <a:t>If you want in-process TLS, start Uvicorn with a cert and key.</a:t>
            </a:r>
            <a:endParaRPr lang="en-US" sz="1840" dirty="0"/>
          </a:p>
        </p:txBody>
      </p:sp>
      <p:sp>
        <p:nvSpPr>
          <p:cNvPr id="7" name="Text 5"/>
          <p:cNvSpPr/>
          <p:nvPr/>
        </p:nvSpPr>
        <p:spPr>
          <a:xfrm>
            <a:off x="914400" y="4572000"/>
            <a:ext cx="4343400" cy="841248"/>
          </a:xfrm>
          <a:prstGeom prst="rect">
            <a:avLst/>
          </a:prstGeom>
          <a:solidFill>
            <a:srgbClr val="F7FAFF"/>
          </a:solidFill>
          <a:ln>
            <a:solidFill>
              <a:srgbClr val="D8E0EA"/>
            </a:solidFill>
          </a:ln>
        </p:spPr>
        <p:txBody>
          <a:bodyPr wrap="square" lIns="508" tIns="508" rIns="508" bIns="508" rtlCol="0" anchor="ctr">
            <a:normAutofit/>
          </a:bodyPr>
          <a:lstStyle/>
          <a:p>
            <a:pPr marL="0" indent="0">
              <a:buNone/>
            </a:pPr>
            <a:r>
              <a:rPr lang="en-US" sz="1520" b="1" dirty="0">
                <a:solidFill>
                  <a:srgbClr val="0E2A47"/>
                </a:solidFill>
              </a:rPr>
              <a:t>Example concept:</a:t>
            </a:r>
            <a:endParaRPr lang="en-US" sz="1520" dirty="0"/>
          </a:p>
          <a:p>
            <a:pPr marL="0" indent="0">
              <a:buNone/>
            </a:pPr>
            <a:r>
              <a:rPr lang="en-US" sz="1520" b="1" dirty="0">
                <a:solidFill>
                  <a:srgbClr val="0E2A47"/>
                </a:solidFill>
              </a:rPr>
              <a:t>uvicorn app:app --ssl-certfile cert.pem --ssl-keyfile key.pem</a:t>
            </a:r>
            <a:endParaRPr lang="en-US" sz="1520" dirty="0"/>
          </a:p>
        </p:txBody>
      </p:sp>
      <p:sp>
        <p:nvSpPr>
          <p:cNvPr id="8" name="Shape 6"/>
          <p:cNvSpPr/>
          <p:nvPr/>
        </p:nvSpPr>
        <p:spPr>
          <a:xfrm>
            <a:off x="6217920" y="1417320"/>
            <a:ext cx="5257800" cy="4480560"/>
          </a:xfrm>
          <a:prstGeom prst="roundRect">
            <a:avLst>
              <a:gd name="adj" fmla="val 1633"/>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9" name="Text 7"/>
          <p:cNvSpPr/>
          <p:nvPr/>
        </p:nvSpPr>
        <p:spPr>
          <a:xfrm>
            <a:off x="6382512" y="1527048"/>
            <a:ext cx="492861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Node example</a:t>
            </a:r>
            <a:endParaRPr lang="en-US" sz="1500" dirty="0"/>
          </a:p>
        </p:txBody>
      </p:sp>
      <p:sp>
        <p:nvSpPr>
          <p:cNvPr id="10" name="Text 8"/>
          <p:cNvSpPr/>
          <p:nvPr/>
        </p:nvSpPr>
        <p:spPr>
          <a:xfrm>
            <a:off x="6473952" y="1874520"/>
            <a:ext cx="4572000" cy="2834640"/>
          </a:xfrm>
          <a:prstGeom prst="rect">
            <a:avLst/>
          </a:prstGeom>
          <a:noFill/>
          <a:ln/>
        </p:spPr>
        <p:txBody>
          <a:bodyPr wrap="square" lIns="254" tIns="254" rIns="254" bIns="254" rtlCol="0" anchor="ctr">
            <a:normAutofit/>
          </a:bodyPr>
          <a:lstStyle/>
          <a:p>
            <a:pPr marL="0" indent="0">
              <a:buNone/>
            </a:pPr>
            <a:r>
              <a:rPr lang="en-US" sz="1820" dirty="0">
                <a:solidFill>
                  <a:srgbClr val="16212F"/>
                </a:solidFill>
              </a:rPr>
              <a:t>Node gives you separate server types</a:t>
            </a:r>
            <a:endParaRPr lang="en-US" sz="1820" dirty="0"/>
          </a:p>
          <a:p>
            <a:pPr marL="0" indent="0">
              <a:buNone/>
            </a:pPr>
            <a:endParaRPr lang="en-US" sz="1820" dirty="0"/>
          </a:p>
          <a:p>
            <a:pPr marL="0" indent="0">
              <a:buNone/>
            </a:pPr>
            <a:r>
              <a:rPr lang="en-US" sz="1820" dirty="0">
                <a:solidFill>
                  <a:srgbClr val="16212F"/>
                </a:solidFill>
              </a:rPr>
              <a:t>http.createServer() → no TLS</a:t>
            </a:r>
            <a:endParaRPr lang="en-US" sz="1820" dirty="0"/>
          </a:p>
          <a:p>
            <a:pPr marL="0" indent="0">
              <a:buNone/>
            </a:pPr>
            <a:endParaRPr lang="en-US" sz="1820" dirty="0"/>
          </a:p>
          <a:p>
            <a:pPr marL="0" indent="0">
              <a:buNone/>
            </a:pPr>
            <a:r>
              <a:rPr lang="en-US" sz="1820" dirty="0">
                <a:solidFill>
                  <a:srgbClr val="16212F"/>
                </a:solidFill>
              </a:rPr>
              <a:t>https.createServer({ key, cert }) → TLS endpoint inside Node</a:t>
            </a:r>
            <a:endParaRPr lang="en-US" sz="1820" dirty="0"/>
          </a:p>
          <a:p>
            <a:pPr marL="0" indent="0">
              <a:buNone/>
            </a:pPr>
            <a:endParaRPr lang="en-US" sz="1820" dirty="0"/>
          </a:p>
          <a:p>
            <a:pPr marL="0" indent="0">
              <a:buNone/>
            </a:pPr>
            <a:r>
              <a:rPr lang="en-US" sz="1820" dirty="0">
                <a:solidFill>
                  <a:srgbClr val="16212F"/>
                </a:solidFill>
              </a:rPr>
              <a:t>Express or Fastify handlers receive ordinary requests after the TLS layer has decrypted the stream.</a:t>
            </a:r>
            <a:endParaRPr lang="en-US" sz="1820" dirty="0"/>
          </a:p>
        </p:txBody>
      </p:sp>
      <p:sp>
        <p:nvSpPr>
          <p:cNvPr id="11" name="Text 9"/>
          <p:cNvSpPr/>
          <p:nvPr/>
        </p:nvSpPr>
        <p:spPr>
          <a:xfrm>
            <a:off x="6473952" y="4956048"/>
            <a:ext cx="4572000" cy="411480"/>
          </a:xfrm>
          <a:prstGeom prst="rect">
            <a:avLst/>
          </a:prstGeom>
          <a:noFill/>
          <a:ln/>
        </p:spPr>
        <p:txBody>
          <a:bodyPr wrap="square" lIns="0" tIns="0" rIns="0" bIns="0" rtlCol="0" anchor="ctr">
            <a:normAutofit/>
          </a:bodyPr>
          <a:lstStyle/>
          <a:p>
            <a:pPr marL="0" indent="0">
              <a:buNone/>
            </a:pPr>
            <a:r>
              <a:rPr lang="en-US" sz="1820" b="1" dirty="0">
                <a:solidFill>
                  <a:srgbClr val="2A8C5B"/>
                </a:solidFill>
              </a:rPr>
              <a:t>Mental model: frameworks do app logic; TLS libraries do the crypto work.</a:t>
            </a:r>
            <a:endParaRPr lang="en-US" sz="182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Why a system can have HTTPS and still handle data insecurely</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HTTPS protects one segment of transport. Security can still fail before, after, or around that segment.</a:t>
            </a:r>
            <a:endParaRPr lang="en-US" sz="1250" dirty="0"/>
          </a:p>
        </p:txBody>
      </p:sp>
      <p:sp>
        <p:nvSpPr>
          <p:cNvPr id="4" name="Shape 2"/>
          <p:cNvSpPr/>
          <p:nvPr/>
        </p:nvSpPr>
        <p:spPr>
          <a:xfrm>
            <a:off x="640080" y="1691640"/>
            <a:ext cx="3566160" cy="1645920"/>
          </a:xfrm>
          <a:prstGeom prst="roundRect">
            <a:avLst>
              <a:gd name="adj" fmla="val 4444"/>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804672" y="1801368"/>
            <a:ext cx="32369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Internal hop in HTTP</a:t>
            </a:r>
            <a:endParaRPr lang="en-US" sz="1500" dirty="0"/>
          </a:p>
        </p:txBody>
      </p:sp>
      <p:sp>
        <p:nvSpPr>
          <p:cNvPr id="6" name="Text 4"/>
          <p:cNvSpPr/>
          <p:nvPr/>
        </p:nvSpPr>
        <p:spPr>
          <a:xfrm>
            <a:off x="804672" y="2112264"/>
            <a:ext cx="3236976" cy="713232"/>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Browser → edge is HTTPS, but edge → origin or load balancer → app is plaintext.</a:t>
            </a:r>
            <a:endParaRPr lang="en-US" sz="1700" dirty="0"/>
          </a:p>
        </p:txBody>
      </p:sp>
      <p:sp>
        <p:nvSpPr>
          <p:cNvPr id="7" name="Text 5"/>
          <p:cNvSpPr/>
          <p:nvPr/>
        </p:nvSpPr>
        <p:spPr>
          <a:xfrm>
            <a:off x="804672" y="2926080"/>
            <a:ext cx="3236976" cy="201168"/>
          </a:xfrm>
          <a:prstGeom prst="rect">
            <a:avLst/>
          </a:prstGeom>
          <a:noFill/>
          <a:ln/>
        </p:spPr>
        <p:txBody>
          <a:bodyPr wrap="square" lIns="0" tIns="0" rIns="0" bIns="0" rtlCol="0" anchor="ctr">
            <a:normAutofit/>
          </a:bodyPr>
          <a:lstStyle/>
          <a:p>
            <a:pPr marL="0" indent="0" algn="ctr">
              <a:buNone/>
            </a:pPr>
            <a:r>
              <a:rPr lang="en-US" sz="1480" b="1" dirty="0">
                <a:solidFill>
                  <a:srgbClr val="2A8C5B"/>
                </a:solidFill>
              </a:rPr>
              <a:t>fix: re-encrypt or use mTLS</a:t>
            </a:r>
            <a:endParaRPr lang="en-US" sz="1480" dirty="0"/>
          </a:p>
        </p:txBody>
      </p:sp>
      <p:sp>
        <p:nvSpPr>
          <p:cNvPr id="8" name="Shape 6"/>
          <p:cNvSpPr/>
          <p:nvPr/>
        </p:nvSpPr>
        <p:spPr>
          <a:xfrm>
            <a:off x="4315968" y="1691640"/>
            <a:ext cx="3566160" cy="1645920"/>
          </a:xfrm>
          <a:prstGeom prst="roundRect">
            <a:avLst>
              <a:gd name="adj" fmla="val 4444"/>
            </a:avLst>
          </a:prstGeom>
          <a:solidFill>
            <a:srgbClr val="FDEDEC"/>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9" name="Text 7"/>
          <p:cNvSpPr/>
          <p:nvPr/>
        </p:nvSpPr>
        <p:spPr>
          <a:xfrm>
            <a:off x="4480560" y="1801368"/>
            <a:ext cx="32369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Mixed content</a:t>
            </a:r>
            <a:endParaRPr lang="en-US" sz="1500" dirty="0"/>
          </a:p>
        </p:txBody>
      </p:sp>
      <p:sp>
        <p:nvSpPr>
          <p:cNvPr id="10" name="Text 8"/>
          <p:cNvSpPr/>
          <p:nvPr/>
        </p:nvSpPr>
        <p:spPr>
          <a:xfrm>
            <a:off x="4480560" y="2112264"/>
            <a:ext cx="3236976" cy="713232"/>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Main page is HTTPS, but an old script, image, or iframe loads over HTTP.</a:t>
            </a:r>
            <a:endParaRPr lang="en-US" sz="1700" dirty="0"/>
          </a:p>
        </p:txBody>
      </p:sp>
      <p:sp>
        <p:nvSpPr>
          <p:cNvPr id="11" name="Text 9"/>
          <p:cNvSpPr/>
          <p:nvPr/>
        </p:nvSpPr>
        <p:spPr>
          <a:xfrm>
            <a:off x="4480560" y="2926080"/>
            <a:ext cx="3236976" cy="201168"/>
          </a:xfrm>
          <a:prstGeom prst="rect">
            <a:avLst/>
          </a:prstGeom>
          <a:noFill/>
          <a:ln/>
        </p:spPr>
        <p:txBody>
          <a:bodyPr wrap="square" lIns="0" tIns="0" rIns="0" bIns="0" rtlCol="0" anchor="ctr">
            <a:normAutofit/>
          </a:bodyPr>
          <a:lstStyle/>
          <a:p>
            <a:pPr marL="0" indent="0" algn="ctr">
              <a:buNone/>
            </a:pPr>
            <a:r>
              <a:rPr lang="en-US" sz="1480" b="1" dirty="0">
                <a:solidFill>
                  <a:srgbClr val="C75050"/>
                </a:solidFill>
              </a:rPr>
              <a:t>fix: block insecure assets</a:t>
            </a:r>
            <a:endParaRPr lang="en-US" sz="1480" dirty="0"/>
          </a:p>
        </p:txBody>
      </p:sp>
      <p:sp>
        <p:nvSpPr>
          <p:cNvPr id="12" name="Shape 10"/>
          <p:cNvSpPr/>
          <p:nvPr/>
        </p:nvSpPr>
        <p:spPr>
          <a:xfrm>
            <a:off x="7991856" y="1691640"/>
            <a:ext cx="3566160" cy="1645920"/>
          </a:xfrm>
          <a:prstGeom prst="roundRect">
            <a:avLst>
              <a:gd name="adj" fmla="val 4444"/>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3" name="Text 11"/>
          <p:cNvSpPr/>
          <p:nvPr/>
        </p:nvSpPr>
        <p:spPr>
          <a:xfrm>
            <a:off x="8156448" y="1801368"/>
            <a:ext cx="32369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Compromised endpoint</a:t>
            </a:r>
            <a:endParaRPr lang="en-US" sz="1500" dirty="0"/>
          </a:p>
        </p:txBody>
      </p:sp>
      <p:sp>
        <p:nvSpPr>
          <p:cNvPr id="14" name="Text 12"/>
          <p:cNvSpPr/>
          <p:nvPr/>
        </p:nvSpPr>
        <p:spPr>
          <a:xfrm>
            <a:off x="8156448" y="2112264"/>
            <a:ext cx="3236976" cy="713232"/>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Malware, extensions, or a rooted device can read plaintext at the endpoint.</a:t>
            </a:r>
            <a:endParaRPr lang="en-US" sz="1700" dirty="0"/>
          </a:p>
        </p:txBody>
      </p:sp>
      <p:sp>
        <p:nvSpPr>
          <p:cNvPr id="15" name="Text 13"/>
          <p:cNvSpPr/>
          <p:nvPr/>
        </p:nvSpPr>
        <p:spPr>
          <a:xfrm>
            <a:off x="8156448" y="2926080"/>
            <a:ext cx="3236976" cy="201168"/>
          </a:xfrm>
          <a:prstGeom prst="rect">
            <a:avLst/>
          </a:prstGeom>
          <a:noFill/>
          <a:ln/>
        </p:spPr>
        <p:txBody>
          <a:bodyPr wrap="square" lIns="0" tIns="0" rIns="0" bIns="0" rtlCol="0" anchor="ctr">
            <a:normAutofit/>
          </a:bodyPr>
          <a:lstStyle/>
          <a:p>
            <a:pPr marL="0" indent="0" algn="ctr">
              <a:buNone/>
            </a:pPr>
            <a:r>
              <a:rPr lang="en-US" sz="1480" b="1" dirty="0">
                <a:solidFill>
                  <a:srgbClr val="2A8C5B"/>
                </a:solidFill>
              </a:rPr>
              <a:t>fix: secure endpoints</a:t>
            </a:r>
            <a:endParaRPr lang="en-US" sz="1480" dirty="0"/>
          </a:p>
        </p:txBody>
      </p:sp>
      <p:sp>
        <p:nvSpPr>
          <p:cNvPr id="16" name="Shape 14"/>
          <p:cNvSpPr/>
          <p:nvPr/>
        </p:nvSpPr>
        <p:spPr>
          <a:xfrm>
            <a:off x="2468880" y="3611880"/>
            <a:ext cx="3566160" cy="1645920"/>
          </a:xfrm>
          <a:prstGeom prst="roundRect">
            <a:avLst>
              <a:gd name="adj" fmla="val 4444"/>
            </a:avLst>
          </a:prstGeom>
          <a:solidFill>
            <a:srgbClr val="FFF6E0"/>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7" name="Text 15"/>
          <p:cNvSpPr/>
          <p:nvPr/>
        </p:nvSpPr>
        <p:spPr>
          <a:xfrm>
            <a:off x="2633472" y="3721608"/>
            <a:ext cx="32369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App-layer bugs</a:t>
            </a:r>
            <a:endParaRPr lang="en-US" sz="1500" dirty="0"/>
          </a:p>
        </p:txBody>
      </p:sp>
      <p:sp>
        <p:nvSpPr>
          <p:cNvPr id="18" name="Text 16"/>
          <p:cNvSpPr/>
          <p:nvPr/>
        </p:nvSpPr>
        <p:spPr>
          <a:xfrm>
            <a:off x="2633472" y="4032504"/>
            <a:ext cx="3236976" cy="713232"/>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TLS does not stop XSS, SQL injection, broken auth, or unsafe logging.</a:t>
            </a:r>
            <a:endParaRPr lang="en-US" sz="1700" dirty="0"/>
          </a:p>
        </p:txBody>
      </p:sp>
      <p:sp>
        <p:nvSpPr>
          <p:cNvPr id="19" name="Text 17"/>
          <p:cNvSpPr/>
          <p:nvPr/>
        </p:nvSpPr>
        <p:spPr>
          <a:xfrm>
            <a:off x="2633472" y="4846320"/>
            <a:ext cx="3236976" cy="201168"/>
          </a:xfrm>
          <a:prstGeom prst="rect">
            <a:avLst/>
          </a:prstGeom>
          <a:noFill/>
          <a:ln/>
        </p:spPr>
        <p:txBody>
          <a:bodyPr wrap="square" lIns="0" tIns="0" rIns="0" bIns="0" rtlCol="0" anchor="ctr">
            <a:normAutofit/>
          </a:bodyPr>
          <a:lstStyle/>
          <a:p>
            <a:pPr marL="0" indent="0" algn="ctr">
              <a:buNone/>
            </a:pPr>
            <a:r>
              <a:rPr lang="en-US" sz="1480" b="1" dirty="0">
                <a:solidFill>
                  <a:srgbClr val="2A8C5B"/>
                </a:solidFill>
              </a:rPr>
              <a:t>fix: secure coding + auth</a:t>
            </a:r>
            <a:endParaRPr lang="en-US" sz="1480" dirty="0"/>
          </a:p>
        </p:txBody>
      </p:sp>
      <p:sp>
        <p:nvSpPr>
          <p:cNvPr id="20" name="Shape 18"/>
          <p:cNvSpPr/>
          <p:nvPr/>
        </p:nvSpPr>
        <p:spPr>
          <a:xfrm>
            <a:off x="6144768" y="3611880"/>
            <a:ext cx="3566160" cy="1645920"/>
          </a:xfrm>
          <a:prstGeom prst="roundRect">
            <a:avLst>
              <a:gd name="adj" fmla="val 4444"/>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21" name="Text 19"/>
          <p:cNvSpPr/>
          <p:nvPr/>
        </p:nvSpPr>
        <p:spPr>
          <a:xfrm>
            <a:off x="6309360" y="3721608"/>
            <a:ext cx="323697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Metadata leakage</a:t>
            </a:r>
            <a:endParaRPr lang="en-US" sz="1500" dirty="0"/>
          </a:p>
        </p:txBody>
      </p:sp>
      <p:sp>
        <p:nvSpPr>
          <p:cNvPr id="22" name="Text 20"/>
          <p:cNvSpPr/>
          <p:nvPr/>
        </p:nvSpPr>
        <p:spPr>
          <a:xfrm>
            <a:off x="6309360" y="4032504"/>
            <a:ext cx="3236976" cy="713232"/>
          </a:xfrm>
          <a:prstGeom prst="rect">
            <a:avLst/>
          </a:prstGeom>
          <a:noFill/>
          <a:ln/>
        </p:spPr>
        <p:txBody>
          <a:bodyPr wrap="square" lIns="254" tIns="254" rIns="254" bIns="254" rtlCol="0" anchor="ctr">
            <a:normAutofit/>
          </a:bodyPr>
          <a:lstStyle/>
          <a:p>
            <a:pPr marL="0" indent="0">
              <a:buNone/>
            </a:pPr>
            <a:r>
              <a:rPr lang="en-US" sz="1700" dirty="0">
                <a:solidFill>
                  <a:srgbClr val="16212F"/>
                </a:solidFill>
              </a:rPr>
              <a:t>Observers may still learn IPs, timing, sizes, and often server name information.</a:t>
            </a:r>
            <a:endParaRPr lang="en-US" sz="1700" dirty="0"/>
          </a:p>
        </p:txBody>
      </p:sp>
      <p:sp>
        <p:nvSpPr>
          <p:cNvPr id="23" name="Text 21"/>
          <p:cNvSpPr/>
          <p:nvPr/>
        </p:nvSpPr>
        <p:spPr>
          <a:xfrm>
            <a:off x="6309360" y="4846320"/>
            <a:ext cx="3236976" cy="201168"/>
          </a:xfrm>
          <a:prstGeom prst="rect">
            <a:avLst/>
          </a:prstGeom>
          <a:noFill/>
          <a:ln/>
        </p:spPr>
        <p:txBody>
          <a:bodyPr wrap="square" lIns="0" tIns="0" rIns="0" bIns="0" rtlCol="0" anchor="ctr">
            <a:normAutofit/>
          </a:bodyPr>
          <a:lstStyle/>
          <a:p>
            <a:pPr marL="0" indent="0" algn="ctr">
              <a:buNone/>
            </a:pPr>
            <a:r>
              <a:rPr lang="en-US" sz="1480" b="1" dirty="0">
                <a:solidFill>
                  <a:srgbClr val="2A8C5B"/>
                </a:solidFill>
              </a:rPr>
              <a:t>fix: minimize exposure</a:t>
            </a:r>
            <a:endParaRPr lang="en-US" sz="1480" dirty="0"/>
          </a:p>
        </p:txBody>
      </p:sp>
      <p:sp>
        <p:nvSpPr>
          <p:cNvPr id="24" name="Text 22"/>
          <p:cNvSpPr/>
          <p:nvPr/>
        </p:nvSpPr>
        <p:spPr>
          <a:xfrm>
            <a:off x="914400" y="5742432"/>
            <a:ext cx="10241280" cy="310896"/>
          </a:xfrm>
          <a:prstGeom prst="rect">
            <a:avLst/>
          </a:prstGeom>
          <a:noFill/>
          <a:ln/>
        </p:spPr>
        <p:txBody>
          <a:bodyPr wrap="square" lIns="0" tIns="0" rIns="0" bIns="0" rtlCol="0" anchor="ctr">
            <a:normAutofit/>
          </a:bodyPr>
          <a:lstStyle/>
          <a:p>
            <a:pPr marL="0" indent="0" algn="ctr">
              <a:buNone/>
            </a:pPr>
            <a:r>
              <a:rPr lang="en-US" sz="2050" b="1" dirty="0">
                <a:solidFill>
                  <a:srgbClr val="0E2A47"/>
                </a:solidFill>
              </a:rPr>
              <a:t>Short version: HTTPS means “protected in transit to a TLS endpoint,” not “secure in every layer of the system.”</a:t>
            </a:r>
            <a:endParaRPr lang="en-US" sz="205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A practical deployment checklist</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If students build an API or web app, these are the first decisions to get right.</a:t>
            </a:r>
            <a:endParaRPr lang="en-US" sz="1250" dirty="0"/>
          </a:p>
        </p:txBody>
      </p:sp>
      <p:sp>
        <p:nvSpPr>
          <p:cNvPr id="4" name="Shape 2"/>
          <p:cNvSpPr/>
          <p:nvPr/>
        </p:nvSpPr>
        <p:spPr>
          <a:xfrm>
            <a:off x="731520" y="1508760"/>
            <a:ext cx="3474720" cy="4297680"/>
          </a:xfrm>
          <a:prstGeom prst="roundRect">
            <a:avLst>
              <a:gd name="adj" fmla="val 2105"/>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896112" y="1618488"/>
            <a:ext cx="314553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1. Pick the TLS endpoint</a:t>
            </a:r>
            <a:endParaRPr lang="en-US" sz="1500" dirty="0"/>
          </a:p>
        </p:txBody>
      </p:sp>
      <p:sp>
        <p:nvSpPr>
          <p:cNvPr id="6" name="Text 4"/>
          <p:cNvSpPr/>
          <p:nvPr/>
        </p:nvSpPr>
        <p:spPr>
          <a:xfrm>
            <a:off x="1005840" y="1965960"/>
            <a:ext cx="2926080" cy="1463040"/>
          </a:xfrm>
          <a:prstGeom prst="rect">
            <a:avLst/>
          </a:prstGeom>
          <a:noFill/>
          <a:ln/>
        </p:spPr>
        <p:txBody>
          <a:bodyPr wrap="square" lIns="254" tIns="254" rIns="254" bIns="254" rtlCol="0" anchor="t">
            <a:normAutofit/>
          </a:bodyPr>
          <a:lstStyle/>
          <a:p>
            <a:pPr marL="203200" indent="-203200">
              <a:buSzPct val="100000"/>
              <a:buChar char="•"/>
              <a:defRPr/>
            </a:pPr>
            <a:r>
              <a:t>Reverse proxy or load balancer for most production systems.</a:t>
            </a:r>
            <a:endParaRPr lang="en-US" sz="1800" dirty="0"/>
          </a:p>
          <a:p>
            <a:pPr>
              <a:defRPr/>
            </a:pPr>
            <a:r>
              <a:t>Direct app-level TLS only when the deployment is small or intentionally simple.</a:t>
            </a:r>
          </a:p>
          <a:p>
            <a:pPr>
              <a:defRPr/>
            </a:pPr>
            <a:r>
              <a:t>Know exactly where plaintext first appears.</a:t>
            </a:r>
          </a:p>
        </p:txBody>
      </p:sp>
      <p:sp>
        <p:nvSpPr>
          <p:cNvPr id="7" name="Shape 5"/>
          <p:cNvSpPr/>
          <p:nvPr/>
        </p:nvSpPr>
        <p:spPr>
          <a:xfrm>
            <a:off x="4389120" y="1508760"/>
            <a:ext cx="3474720" cy="4297680"/>
          </a:xfrm>
          <a:prstGeom prst="roundRect">
            <a:avLst>
              <a:gd name="adj" fmla="val 2105"/>
            </a:avLst>
          </a:prstGeom>
          <a:solidFill>
            <a:srgbClr val="EAF2FB"/>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8" name="Text 6"/>
          <p:cNvSpPr/>
          <p:nvPr/>
        </p:nvSpPr>
        <p:spPr>
          <a:xfrm>
            <a:off x="4553712" y="1618488"/>
            <a:ext cx="314553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2. Manage certificates safely</a:t>
            </a:r>
            <a:endParaRPr lang="en-US" sz="1500" dirty="0"/>
          </a:p>
        </p:txBody>
      </p:sp>
      <p:sp>
        <p:nvSpPr>
          <p:cNvPr id="9" name="Text 7"/>
          <p:cNvSpPr/>
          <p:nvPr/>
        </p:nvSpPr>
        <p:spPr>
          <a:xfrm>
            <a:off x="4663440" y="1965960"/>
            <a:ext cx="2926080" cy="1463040"/>
          </a:xfrm>
          <a:prstGeom prst="rect">
            <a:avLst/>
          </a:prstGeom>
          <a:noFill/>
          <a:ln/>
        </p:spPr>
        <p:txBody>
          <a:bodyPr wrap="square" lIns="254" tIns="254" rIns="254" bIns="254" rtlCol="0" anchor="t">
            <a:normAutofit/>
          </a:bodyPr>
          <a:lstStyle/>
          <a:p>
            <a:pPr marL="203200" indent="-203200">
              <a:buSzPct val="100000"/>
              <a:buChar char="•"/>
              <a:defRPr/>
            </a:pPr>
            <a:r>
              <a:t>Automate renewal with ACME when possible.</a:t>
            </a:r>
            <a:endParaRPr lang="en-US" sz="1800" dirty="0"/>
          </a:p>
          <a:p>
            <a:pPr>
              <a:defRPr/>
            </a:pPr>
            <a:r>
              <a:t>Protect private keys and limit who can access them.</a:t>
            </a:r>
          </a:p>
          <a:p>
            <a:pPr>
              <a:defRPr/>
            </a:pPr>
            <a:r>
              <a:t>Serve the full certificate chain correctly.</a:t>
            </a:r>
          </a:p>
        </p:txBody>
      </p:sp>
      <p:sp>
        <p:nvSpPr>
          <p:cNvPr id="10" name="Shape 8"/>
          <p:cNvSpPr/>
          <p:nvPr/>
        </p:nvSpPr>
        <p:spPr>
          <a:xfrm>
            <a:off x="8046720" y="1508760"/>
            <a:ext cx="3474720" cy="4297680"/>
          </a:xfrm>
          <a:prstGeom prst="roundRect">
            <a:avLst>
              <a:gd name="adj" fmla="val 2105"/>
            </a:avLst>
          </a:prstGeom>
          <a:solidFill>
            <a:srgbClr val="E8F7F6"/>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11" name="Text 9"/>
          <p:cNvSpPr/>
          <p:nvPr/>
        </p:nvSpPr>
        <p:spPr>
          <a:xfrm>
            <a:off x="8211312" y="1618488"/>
            <a:ext cx="3145536" cy="228600"/>
          </a:xfrm>
          <a:prstGeom prst="rect">
            <a:avLst/>
          </a:prstGeom>
          <a:noFill/>
          <a:ln/>
        </p:spPr>
        <p:txBody>
          <a:bodyPr wrap="square" lIns="0" tIns="0" rIns="0" bIns="0" rtlCol="0" anchor="ctr">
            <a:normAutofit/>
          </a:bodyPr>
          <a:lstStyle/>
          <a:p>
            <a:pPr marL="0" indent="0">
              <a:buNone/>
            </a:pPr>
            <a:r>
              <a:rPr lang="en-US" sz="1500" b="1" dirty="0">
                <a:solidFill>
                  <a:srgbClr val="16212F"/>
                </a:solidFill>
                <a:latin typeface="Aptos" pitchFamily="34" charset="0"/>
                <a:ea typeface="Aptos" pitchFamily="34" charset="-122"/>
                <a:cs typeface="Aptos" pitchFamily="34" charset="-120"/>
              </a:rPr>
              <a:t>3. Close the gaps around HTTPS</a:t>
            </a:r>
            <a:endParaRPr lang="en-US" sz="1500" dirty="0"/>
          </a:p>
        </p:txBody>
      </p:sp>
      <p:sp>
        <p:nvSpPr>
          <p:cNvPr id="12" name="Text 10"/>
          <p:cNvSpPr/>
          <p:nvPr/>
        </p:nvSpPr>
        <p:spPr>
          <a:xfrm>
            <a:off x="8321040" y="1965960"/>
            <a:ext cx="2926080" cy="1737360"/>
          </a:xfrm>
          <a:prstGeom prst="rect">
            <a:avLst/>
          </a:prstGeom>
          <a:noFill/>
          <a:ln/>
        </p:spPr>
        <p:txBody>
          <a:bodyPr wrap="square" lIns="254" tIns="254" rIns="254" bIns="254" rtlCol="0" anchor="t">
            <a:normAutofit/>
          </a:bodyPr>
          <a:lstStyle/>
          <a:p>
            <a:pPr marL="203200" indent="-203200">
              <a:buSzPct val="100000"/>
              <a:buChar char="•"/>
              <a:defRPr/>
            </a:pPr>
            <a:r>
              <a:t>Redirect HTTP to HTTPS and consider HSTS.</a:t>
            </a:r>
            <a:endParaRPr lang="en-US" sz="1800" dirty="0"/>
          </a:p>
          <a:p>
            <a:pPr>
              <a:defRPr/>
            </a:pPr>
            <a:r>
              <a:t>Use TLS internally when needed; consider mTLS for service-to-service traffic.</a:t>
            </a:r>
          </a:p>
          <a:p>
            <a:pPr>
              <a:defRPr/>
            </a:pPr>
            <a:r>
              <a:t>Secure the app itself: auth, input validation, logging, storage, and secrets.</a:t>
            </a:r>
          </a:p>
        </p:txBody>
      </p:sp>
      <p:sp>
        <p:nvSpPr>
          <p:cNvPr id="13" name="Text 11"/>
          <p:cNvSpPr/>
          <p:nvPr/>
        </p:nvSpPr>
        <p:spPr>
          <a:xfrm>
            <a:off x="868680" y="5989320"/>
            <a:ext cx="10515600" cy="256032"/>
          </a:xfrm>
          <a:prstGeom prst="rect">
            <a:avLst/>
          </a:prstGeom>
          <a:noFill/>
          <a:ln/>
        </p:spPr>
        <p:txBody>
          <a:bodyPr wrap="square" lIns="0" tIns="0" rIns="0" bIns="0" rtlCol="0" anchor="ctr">
            <a:normAutofit/>
          </a:bodyPr>
          <a:lstStyle/>
          <a:p>
            <a:pPr marL="0" indent="0" algn="ctr">
              <a:buNone/>
            </a:pPr>
            <a:r>
              <a:rPr lang="en-US" sz="1950" b="1" dirty="0">
                <a:solidFill>
                  <a:srgbClr val="0E2A47"/>
                </a:solidFill>
              </a:rPr>
              <a:t>One-sentence policy: encrypt in transit, know the termination point, and do not confuse “certificate present” with “system secure.”</a:t>
            </a:r>
            <a:endParaRPr lang="en-US" sz="195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02920"/>
            <a:ext cx="7863840" cy="411480"/>
          </a:xfrm>
          <a:prstGeom prst="rect">
            <a:avLst/>
          </a:prstGeom>
          <a:noFill/>
          <a:ln/>
        </p:spPr>
        <p:txBody>
          <a:bodyPr wrap="square" lIns="0" tIns="0" rIns="0" bIns="0" rtlCol="0" anchor="ctr"/>
          <a:lstStyle/>
          <a:p>
            <a:pPr marL="0" indent="0">
              <a:buNone/>
            </a:pPr>
            <a:r>
              <a:rPr lang="en-US" sz="2800" b="1" dirty="0">
                <a:solidFill>
                  <a:srgbClr val="0E2A47"/>
                </a:solidFill>
                <a:latin typeface="Aptos Display" pitchFamily="34" charset="0"/>
                <a:ea typeface="Aptos Display" pitchFamily="34" charset="-122"/>
                <a:cs typeface="Aptos Display" pitchFamily="34" charset="-120"/>
              </a:rPr>
              <a:t>Recap: the shortest correct explanation</a:t>
            </a:r>
            <a:endParaRPr lang="en-US" sz="2800" dirty="0"/>
          </a:p>
        </p:txBody>
      </p:sp>
      <p:sp>
        <p:nvSpPr>
          <p:cNvPr id="3" name="Text 1"/>
          <p:cNvSpPr/>
          <p:nvPr/>
        </p:nvSpPr>
        <p:spPr>
          <a:xfrm>
            <a:off x="566928" y="1024128"/>
            <a:ext cx="9875520" cy="256032"/>
          </a:xfrm>
          <a:prstGeom prst="rect">
            <a:avLst/>
          </a:prstGeom>
          <a:noFill/>
          <a:ln/>
        </p:spPr>
        <p:txBody>
          <a:bodyPr wrap="square" lIns="0" tIns="0" rIns="0" bIns="0" rtlCol="0" anchor="ctr">
            <a:normAutofit/>
          </a:bodyPr>
          <a:lstStyle/>
          <a:p>
            <a:pPr marL="0" indent="0">
              <a:buNone/>
            </a:pPr>
            <a:r>
              <a:rPr lang="en-US" sz="1250" dirty="0">
                <a:solidFill>
                  <a:srgbClr val="5C6B7B"/>
                </a:solidFill>
                <a:latin typeface="Aptos" pitchFamily="34" charset="0"/>
                <a:ea typeface="Aptos" pitchFamily="34" charset="-122"/>
                <a:cs typeface="Aptos" pitchFamily="34" charset="-120"/>
              </a:rPr>
              <a:t>A good oral answer to the original question should fit into about 45 seconds.</a:t>
            </a:r>
            <a:endParaRPr lang="en-US" sz="1250" dirty="0"/>
          </a:p>
        </p:txBody>
      </p:sp>
      <p:sp>
        <p:nvSpPr>
          <p:cNvPr id="4" name="Shape 2"/>
          <p:cNvSpPr/>
          <p:nvPr/>
        </p:nvSpPr>
        <p:spPr>
          <a:xfrm>
            <a:off x="868680" y="1600200"/>
            <a:ext cx="10378440" cy="4526280"/>
          </a:xfrm>
          <a:prstGeom prst="roundRect">
            <a:avLst>
              <a:gd name="adj" fmla="val 1616"/>
            </a:avLst>
          </a:prstGeom>
          <a:solidFill>
            <a:srgbClr val="FFFFFF"/>
          </a:solidFill>
          <a:ln w="12700">
            <a:solidFill>
              <a:srgbClr val="D8E0EA"/>
            </a:solidFill>
            <a:prstDash val="solid"/>
          </a:ln>
          <a:effectLst>
            <a:outerShdw blurRad="19050" dist="10160" dir="2700000" algn="bl" rotWithShape="0">
              <a:srgbClr val="000000">
                <a:alpha val="10000"/>
              </a:srgbClr>
            </a:outerShdw>
          </a:effectLst>
        </p:spPr>
        <p:txBody>
          <a:bodyPr/>
          <a:lstStyle/>
          <a:p>
            <a:endParaRPr/>
          </a:p>
        </p:txBody>
      </p:sp>
      <p:sp>
        <p:nvSpPr>
          <p:cNvPr id="5" name="Text 3"/>
          <p:cNvSpPr/>
          <p:nvPr/>
        </p:nvSpPr>
        <p:spPr>
          <a:xfrm>
            <a:off x="1078992" y="1792224"/>
            <a:ext cx="1645920" cy="256032"/>
          </a:xfrm>
          <a:prstGeom prst="rect">
            <a:avLst/>
          </a:prstGeom>
          <a:noFill/>
          <a:ln/>
        </p:spPr>
        <p:txBody>
          <a:bodyPr wrap="square" lIns="0" tIns="0" rIns="0" bIns="0" rtlCol="0" anchor="ctr">
            <a:normAutofit/>
          </a:bodyPr>
          <a:lstStyle/>
          <a:p>
            <a:pPr marL="0" indent="0">
              <a:buNone/>
            </a:pPr>
            <a:r>
              <a:rPr lang="en-US" sz="1750" b="1" dirty="0">
                <a:solidFill>
                  <a:srgbClr val="0E2A47"/>
                </a:solidFill>
              </a:rPr>
              <a:t>Say it like this</a:t>
            </a:r>
            <a:endParaRPr lang="en-US" sz="1750" dirty="0"/>
          </a:p>
        </p:txBody>
      </p:sp>
      <p:sp>
        <p:nvSpPr>
          <p:cNvPr id="6" name="Text 4"/>
          <p:cNvSpPr/>
          <p:nvPr/>
        </p:nvSpPr>
        <p:spPr>
          <a:xfrm>
            <a:off x="1234440" y="2212848"/>
            <a:ext cx="9646920" cy="3063240"/>
          </a:xfrm>
          <a:prstGeom prst="rect">
            <a:avLst/>
          </a:prstGeom>
          <a:noFill/>
          <a:ln/>
        </p:spPr>
        <p:txBody>
          <a:bodyPr wrap="square" lIns="381" tIns="381" rIns="381" bIns="381" rtlCol="0" anchor="ctr">
            <a:normAutofit/>
          </a:bodyPr>
          <a:lstStyle/>
          <a:p>
            <a:pPr marL="0" indent="0">
              <a:buNone/>
            </a:pPr>
            <a:r>
              <a:rPr lang="en-US" sz="1800" dirty="0">
                <a:solidFill>
                  <a:srgbClr val="16212F"/>
                </a:solidFill>
              </a:rPr>
              <a:t>A DV certificate proves control of a domain name, not that the organization or application is trustworthy. The certificate authority signs a certificate that binds the domain to a public key. During the TLS handshake, the browser validates that certificate chain and the server proves it controls the matching private key. Then client and server derive symmetric session keys and use those to encrypt HTTP traffic in transit. Decryption happens automatically inside the TLS stack at the TLS termination point — often a proxy or load balancer, sometimes the app server itself. So a system can still be insecure with HTTPS if plaintext exists on internal hops, if the app is vulnerable, if the endpoint is compromised, or if the site is malicious despite having a valid certificate.</a:t>
            </a:r>
            <a:endParaRPr lang="en-US" sz="1800" dirty="0"/>
          </a:p>
        </p:txBody>
      </p:sp>
      <p:sp>
        <p:nvSpPr>
          <p:cNvPr id="7" name="Shape 5"/>
          <p:cNvSpPr/>
          <p:nvPr/>
        </p:nvSpPr>
        <p:spPr>
          <a:xfrm>
            <a:off x="1828800" y="5440680"/>
            <a:ext cx="1554480" cy="365760"/>
          </a:xfrm>
          <a:prstGeom prst="roundRect">
            <a:avLst>
              <a:gd name="adj" fmla="val 20000"/>
            </a:avLst>
          </a:prstGeom>
          <a:solidFill>
            <a:srgbClr val="1F4E79"/>
          </a:solidFill>
          <a:ln w="12700">
            <a:solidFill>
              <a:srgbClr val="1F4E79"/>
            </a:solidFill>
            <a:prstDash val="solid"/>
          </a:ln>
        </p:spPr>
        <p:txBody>
          <a:bodyPr/>
          <a:lstStyle/>
          <a:p>
            <a:endParaRPr/>
          </a:p>
        </p:txBody>
      </p:sp>
      <p:sp>
        <p:nvSpPr>
          <p:cNvPr id="8" name="Text 6"/>
          <p:cNvSpPr/>
          <p:nvPr/>
        </p:nvSpPr>
        <p:spPr>
          <a:xfrm>
            <a:off x="1828800" y="5458968"/>
            <a:ext cx="1554480" cy="32918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CA = identity</a:t>
            </a:r>
            <a:endParaRPr lang="en-US" sz="1300" dirty="0"/>
          </a:p>
        </p:txBody>
      </p:sp>
      <p:sp>
        <p:nvSpPr>
          <p:cNvPr id="9" name="Shape 7"/>
          <p:cNvSpPr/>
          <p:nvPr/>
        </p:nvSpPr>
        <p:spPr>
          <a:xfrm>
            <a:off x="3794760" y="5440680"/>
            <a:ext cx="2103120" cy="365760"/>
          </a:xfrm>
          <a:prstGeom prst="roundRect">
            <a:avLst>
              <a:gd name="adj" fmla="val 20000"/>
            </a:avLst>
          </a:prstGeom>
          <a:solidFill>
            <a:srgbClr val="1BA6A6"/>
          </a:solidFill>
          <a:ln w="12700">
            <a:solidFill>
              <a:srgbClr val="1BA6A6"/>
            </a:solidFill>
            <a:prstDash val="solid"/>
          </a:ln>
        </p:spPr>
        <p:txBody>
          <a:bodyPr/>
          <a:lstStyle/>
          <a:p>
            <a:endParaRPr/>
          </a:p>
        </p:txBody>
      </p:sp>
      <p:sp>
        <p:nvSpPr>
          <p:cNvPr id="10" name="Text 8"/>
          <p:cNvSpPr/>
          <p:nvPr/>
        </p:nvSpPr>
        <p:spPr>
          <a:xfrm>
            <a:off x="3794760" y="5458968"/>
            <a:ext cx="2103120" cy="32918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TLS = encrypted transport</a:t>
            </a:r>
            <a:endParaRPr lang="en-US" sz="1300" dirty="0"/>
          </a:p>
        </p:txBody>
      </p:sp>
      <p:sp>
        <p:nvSpPr>
          <p:cNvPr id="11" name="Shape 9"/>
          <p:cNvSpPr/>
          <p:nvPr/>
        </p:nvSpPr>
        <p:spPr>
          <a:xfrm>
            <a:off x="6263640" y="5440680"/>
            <a:ext cx="1874520" cy="365760"/>
          </a:xfrm>
          <a:prstGeom prst="roundRect">
            <a:avLst>
              <a:gd name="adj" fmla="val 20000"/>
            </a:avLst>
          </a:prstGeom>
          <a:solidFill>
            <a:srgbClr val="F5B841"/>
          </a:solidFill>
          <a:ln w="12700">
            <a:solidFill>
              <a:srgbClr val="F5B841"/>
            </a:solidFill>
            <a:prstDash val="solid"/>
          </a:ln>
        </p:spPr>
        <p:txBody>
          <a:bodyPr/>
          <a:lstStyle/>
          <a:p>
            <a:endParaRPr/>
          </a:p>
        </p:txBody>
      </p:sp>
      <p:sp>
        <p:nvSpPr>
          <p:cNvPr id="12" name="Text 10"/>
          <p:cNvSpPr/>
          <p:nvPr/>
        </p:nvSpPr>
        <p:spPr>
          <a:xfrm>
            <a:off x="6263640" y="5458968"/>
            <a:ext cx="1874520" cy="329184"/>
          </a:xfrm>
          <a:prstGeom prst="rect">
            <a:avLst/>
          </a:prstGeom>
          <a:noFill/>
          <a:ln/>
        </p:spPr>
        <p:txBody>
          <a:bodyPr wrap="square" lIns="0" tIns="0" rIns="0" bIns="0" rtlCol="0" anchor="ctr">
            <a:normAutofit/>
          </a:bodyPr>
          <a:lstStyle/>
          <a:p>
            <a:pPr marL="0" indent="0" algn="ctr">
              <a:buNone/>
            </a:pPr>
            <a:r>
              <a:rPr lang="en-US" sz="1300" b="1" dirty="0">
                <a:solidFill>
                  <a:srgbClr val="16212F"/>
                </a:solidFill>
                <a:latin typeface="Aptos" pitchFamily="34" charset="0"/>
                <a:ea typeface="Aptos" pitchFamily="34" charset="-122"/>
                <a:cs typeface="Aptos" pitchFamily="34" charset="-120"/>
              </a:rPr>
              <a:t>framework = app logic</a:t>
            </a:r>
            <a:endParaRPr lang="en-US" sz="1300" dirty="0"/>
          </a:p>
        </p:txBody>
      </p:sp>
      <p:sp>
        <p:nvSpPr>
          <p:cNvPr id="13" name="Shape 11"/>
          <p:cNvSpPr/>
          <p:nvPr/>
        </p:nvSpPr>
        <p:spPr>
          <a:xfrm>
            <a:off x="8503920" y="5440680"/>
            <a:ext cx="2011680" cy="365760"/>
          </a:xfrm>
          <a:prstGeom prst="roundRect">
            <a:avLst>
              <a:gd name="adj" fmla="val 20000"/>
            </a:avLst>
          </a:prstGeom>
          <a:solidFill>
            <a:srgbClr val="C75050"/>
          </a:solidFill>
          <a:ln w="12700">
            <a:solidFill>
              <a:srgbClr val="C75050"/>
            </a:solidFill>
            <a:prstDash val="solid"/>
          </a:ln>
        </p:spPr>
        <p:txBody>
          <a:bodyPr/>
          <a:lstStyle/>
          <a:p>
            <a:endParaRPr/>
          </a:p>
        </p:txBody>
      </p:sp>
      <p:sp>
        <p:nvSpPr>
          <p:cNvPr id="14" name="Text 12"/>
          <p:cNvSpPr/>
          <p:nvPr/>
        </p:nvSpPr>
        <p:spPr>
          <a:xfrm>
            <a:off x="8503920" y="5458968"/>
            <a:ext cx="2011680" cy="329184"/>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HTTPS ≠ total security</a:t>
            </a:r>
            <a:endParaRPr lang="en-US" sz="1300" dirty="0"/>
          </a:p>
        </p:txBody>
      </p:sp>
      <p:sp>
        <p:nvSpPr>
          <p:cNvPr id="25" name="Slide Number Placeholder 0"/>
          <p:cNvSpPr>
            <a:spLocks noGrp="1"/>
          </p:cNvSpPr>
          <p:nvPr>
            <p:ph type="sldNum" sz="quarter" idx="4294967295"/>
          </p:nvPr>
        </p:nvSpPr>
        <p:spPr>
          <a:xfrm>
            <a:off x="11686032" y="6419088"/>
            <a:ext cx="274320" cy="18288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900">
                <a:solidFill>
                  <a:srgbClr val="62748A"/>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4580</Words>
  <Application>Microsoft Macintosh PowerPoint</Application>
  <PresentationFormat>Widescreen</PresentationFormat>
  <Paragraphs>402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HTTPS Actually Works</dc:title>
  <dc:subject>DV certificates, CAs, TLS encryption, decryption, and HTTPS security</dc:subject>
  <dc:creator>OpenAI</dc:creator>
  <cp:lastModifiedBy>Atilio Barreda</cp:lastModifiedBy>
  <cp:revision>2</cp:revision>
  <dcterms:created xsi:type="dcterms:W3CDTF">2026-03-05T21:01:00Z</dcterms:created>
  <dcterms:modified xsi:type="dcterms:W3CDTF">2026-03-05T22:38:52Z</dcterms:modified>
</cp:coreProperties>
</file>