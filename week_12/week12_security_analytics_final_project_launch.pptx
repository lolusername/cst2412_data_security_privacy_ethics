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Today has two jobs. First, we are going to finish the syllabus unit on data analytics for security by looking at how simple metrics can support security decisions. Second, we are going to launch the final project. The final project is not meant to be a giant expert-level project. It is meant to show that you can take one security, privacy, or ethics question, use evidence, and explain a responsible recommendation. You will have two paths: a small coding project or a brief research essay. Both paths can earn full credit.</a:t>
            </a:r>
          </a:p>
          <a:p/>
          <a:p>
            <a:r>
              <a:t>Mention:</a:t>
            </a:r>
          </a:p>
          <a:p>
            <a:r>
              <a:t>- Week 12 is a bridge from analytics into final project work.</a:t>
            </a:r>
          </a:p>
          <a:p>
            <a:r>
              <a:t>- Emphasize that the project should be narrow and realistic.</a:t>
            </a:r>
          </a:p>
          <a:p>
            <a:r>
              <a:t>- Students should leave class with a starting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syllabus places this class at an important transition point. We are still in the data analytics for security unit, so we are not skipping the technical topic. But the course is also moving toward final projects. That means today is partly content and partly project launch. The important thing is that these two halves connect. A good final project can grow out of analytics, cloud security, privacy, law, ethics, databases, or any other major course topic.</a:t>
            </a:r>
          </a:p>
          <a:p/>
          <a:p>
            <a:r>
              <a:t>Mention:</a:t>
            </a:r>
          </a:p>
          <a:p>
            <a:r>
              <a:t>- Name the syllabus sequence clearly.</a:t>
            </a:r>
          </a:p>
          <a:p>
            <a:r>
              <a:t>- Explain that Week 12 is not random project time.</a:t>
            </a:r>
          </a:p>
          <a:p>
            <a:r>
              <a:t>- Make the connection between analytics and final project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Security analytics does not have to mean artificial intelligence or advanced math. At the beginner level, it often means reading structured security data and asking good questions. What happened? How often did it happen? Did it happen on an important system? Did it involve sensitive data? Did the pattern change from normal behavior? Once we answer those questions, we can make a better decision. The output is not just a chart. The output is a priority, a next step, and a clear explanation someone else can use.</a:t>
            </a:r>
          </a:p>
          <a:p/>
          <a:p>
            <a:r>
              <a:t>Mention:</a:t>
            </a:r>
          </a:p>
          <a:p>
            <a:r>
              <a:t>- Keep analytics practical.</a:t>
            </a:r>
          </a:p>
          <a:p>
            <a:r>
              <a:t>- Connect simple table skills to real analyst work.</a:t>
            </a:r>
          </a:p>
          <a:p>
            <a:r>
              <a:t>- Do not let students think only machine learning counts as analytics.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practical workflow keeps students from getting lost. Start with collection: what data is relevant? Then clean it enough to read it. Then enrich it with context, because a raw alert does not tell us business impact. Then compare rows and patterns. After that, decide what should happen next. Finally, document the reasoning. Documentation matters because security work is shared work. If another analyst, manager, or instructor cannot understand your reasoning, the analysis is not finished.</a:t>
            </a:r>
          </a:p>
          <a:p/>
          <a:p>
            <a:r>
              <a:t>Mention:</a:t>
            </a:r>
          </a:p>
          <a:p>
            <a:r>
              <a:t>- Walk slowly through each step.</a:t>
            </a:r>
          </a:p>
          <a:p>
            <a:r>
              <a:t>- Stress that context is what changes a number into a risk judgment.</a:t>
            </a:r>
          </a:p>
          <a:p>
            <a:r>
              <a:t>- Documentation is part of the technical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Metrics are useful, but they are not the same thing as truth. A high number can be a warning sign, but it can also be normal in the right context. A low number can look unimportant, but if it happens on a critical backup server or a system with sensitive records, it may matter more than expected. This is why analysts combine numbers with context. The goal is not to worship the score. The goal is to use the score to organize judgment.</a:t>
            </a:r>
          </a:p>
          <a:p/>
          <a:p>
            <a:r>
              <a:t>Mention:</a:t>
            </a:r>
          </a:p>
          <a:p>
            <a:r>
              <a:t>- Use examples from Week 12 CSV.</a:t>
            </a:r>
          </a:p>
          <a:p>
            <a:r>
              <a:t>- Make clear that a score starts thinking, it does not end thinking.</a:t>
            </a:r>
          </a:p>
          <a:p>
            <a:r>
              <a:t>- Invite students to explain priority in plain language.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course is not only about collecting more data. Monitoring can protect people and systems, but monitoring can also create privacy risk. A privacy-aware analyst asks three questions. First, what is the purpose of collecting this data? Second, what limits should exist around access, retention, and reuse? Third, what could go wrong if the data is misread, leaked, or used for a different purpose later? Good security work includes those questions from the beginning.</a:t>
            </a:r>
          </a:p>
          <a:p/>
          <a:p>
            <a:r>
              <a:t>Mention:</a:t>
            </a:r>
          </a:p>
          <a:p>
            <a:r>
              <a:t>- Connect to NIST Privacy Framework and privacy risk assessment.</a:t>
            </a:r>
          </a:p>
          <a:p>
            <a:r>
              <a:t>- Use this to bridge from Week 10 ethics to Week 11 and 12 analytics.</a:t>
            </a:r>
          </a:p>
          <a:p>
            <a:r>
              <a:t>- Make the point that privacy thinking strengthens security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lab is intentionally small. Students are not expected to build a full detection platform. They are reading one table, scoring a few systems, and explaining which system deserves attention first. The most important part is the explanation. A student who says, 'This one has high severity and sensitive data, but this other system has successful logins after failures and many MFA denials,' is doing real analytic reasoning. The writing at the end turns that reasoning into professional communication.</a:t>
            </a:r>
          </a:p>
          <a:p/>
          <a:p>
            <a:r>
              <a:t>Mention:</a:t>
            </a:r>
          </a:p>
          <a:p>
            <a:r>
              <a:t>- The lab should feel doable.</a:t>
            </a:r>
          </a:p>
          <a:p>
            <a:r>
              <a:t>- Students can use spreadsheet tools or code.</a:t>
            </a:r>
          </a:p>
          <a:p>
            <a:r>
              <a:t>- The analyst note is the bridge to career writing.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Now we move into the final project. The most important instruction is scope. A strong project is narrow. It does not try to explain all of cybersecurity, all of AI, or all of privacy. It asks one focused question and answers it using course concepts and evidence. Students should not attack real systems, collect private data, or choose a project so large that it cannot be completed. A small finished project is much better than a giant unfinished idea.</a:t>
            </a:r>
          </a:p>
          <a:p/>
          <a:p>
            <a:r>
              <a:t>Mention:</a:t>
            </a:r>
          </a:p>
          <a:p>
            <a:r>
              <a:t>- Say clearly that this is individual work.</a:t>
            </a:r>
          </a:p>
          <a:p>
            <a:r>
              <a:t>- Keep students away from risky or oversized projects.</a:t>
            </a:r>
          </a:p>
          <a:p>
            <a:r>
              <a:t>- Project quality comes from focus and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There are two equal paths. Students who want to code can build a small analysis in a notebook, script, or simple app. Students who would rather write can produce a brief research essay. The coding path is not automatically better, and the essay path is not automatically easier. Both require a clear question, evidence, course concepts, and a recommendation. The choice should be based on what the student can finish carefully.</a:t>
            </a:r>
          </a:p>
          <a:p/>
          <a:p>
            <a:r>
              <a:t>Mention:</a:t>
            </a:r>
          </a:p>
          <a:p>
            <a:r>
              <a:t>- Both options can earn full credit.</a:t>
            </a:r>
          </a:p>
          <a:p>
            <a:r>
              <a:t>- Students should pick the path that fits their strengths.</a:t>
            </a:r>
          </a:p>
          <a:p>
            <a:r>
              <a:t>- Do not frame coding as the only serious option.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coding option should stay beginner-friendly. A good project might load a CSV, count events, sort systems by risk, make a chart, and explain the result. That is enough if the question is clear and the explanation is strong. Students who already know more can build something more advanced, but they do not have to. The key is that code should support the security or privacy argument. Code by itself is not the project. The project is the question, the analysis, and the recommendation.</a:t>
            </a:r>
          </a:p>
          <a:p/>
          <a:p>
            <a:r>
              <a:t>Mention:</a:t>
            </a:r>
          </a:p>
          <a:p>
            <a:r>
              <a:t>- Point students to Week 11 notebook and Week 12 data.</a:t>
            </a:r>
          </a:p>
          <a:p>
            <a:r>
              <a:t>- Require safe data only.</a:t>
            </a:r>
          </a:p>
          <a:p>
            <a:r>
              <a:t>- Encourage comments and clear outputs over complexity.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research essay option is also a project. Students should not just summarize three articles. They should choose a case or technology and make a focused argument. For example, a student might ask when school monitoring software protects students and when it becomes excessive surveillance. Another might ask why cloud databases get exposed and what basic controls reduce risk. The essay should explain the technology, name one security issue, name one privacy or ethics issue, connect to the course, and recommend something realistic.</a:t>
            </a:r>
          </a:p>
          <a:p/>
          <a:p>
            <a:r>
              <a:t>Mention:</a:t>
            </a:r>
          </a:p>
          <a:p>
            <a:r>
              <a:t>- Research essay means argument with sources, not a loose summary.</a:t>
            </a:r>
          </a:p>
          <a:p>
            <a:r>
              <a:t>- Keep word count brief and manageable.</a:t>
            </a:r>
          </a:p>
          <a:p>
            <a:r>
              <a:t>- At least three credible sources.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Students often pick topics that are too big. The fastest way to improve a project is to narrow it. Instead of asking whether AI is dangerous, ask how one kind of AI system creates one kind of risk. Instead of asking whether cloud computing is secure, ask which controls reduce one common cloud database problem. A narrow topic gives students room to be specific. Specific projects are easier to finish and easier to grade fairly.</a:t>
            </a:r>
          </a:p>
          <a:p/>
          <a:p>
            <a:r>
              <a:t>Mention:</a:t>
            </a:r>
          </a:p>
          <a:p>
            <a:r>
              <a:t>- Give examples of broad versus focused questions.</a:t>
            </a:r>
          </a:p>
          <a:p>
            <a:r>
              <a:t>- Narrowing is not making the project weaker.</a:t>
            </a:r>
          </a:p>
          <a:p>
            <a:r>
              <a:t>- A focused question makes evidence easier to find.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Whether students choose code or research, the project needs evidence. For code projects, evidence can be a chart, count, score, or summary table. For research essays, evidence can come from official documentation, standards organizations, case reports, credible journalism, or academic sources. Course concepts are also evidence in a different sense: they give students the vocabulary to explain what matters. The project should combine outside evidence with course concepts.</a:t>
            </a:r>
          </a:p>
          <a:p/>
          <a:p>
            <a:r>
              <a:t>Mention:</a:t>
            </a:r>
          </a:p>
          <a:p>
            <a:r>
              <a:t>- Evidence depends on the path.</a:t>
            </a:r>
          </a:p>
          <a:p>
            <a:r>
              <a:t>- Require source quality for research essays.</a:t>
            </a:r>
          </a:p>
          <a:p>
            <a:r>
              <a:t>- For code projects, outputs need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Security classes need boundaries. Students can analyze, critique, model, and write. They can use fictional data, class data, public sources, and official documentation. They cannot attack real systems, scan targets without permission, collect private information from people around them, or build tools designed to harm systems. This is not just a rule for the course. It is part of professional security ethics.</a:t>
            </a:r>
          </a:p>
          <a:p/>
          <a:p>
            <a:r>
              <a:t>Mention:</a:t>
            </a:r>
          </a:p>
          <a:p>
            <a:r>
              <a:t>- State boundaries clearly.</a:t>
            </a:r>
          </a:p>
          <a:p>
            <a:r>
              <a:t>- Give students safer alternatives.</a:t>
            </a:r>
          </a:p>
          <a:p>
            <a:r>
              <a:t>- Connect boundaries to professional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in-class lab is not busywork. It prevents students from discovering too late that the topic is too broad or that they do not have evidence. By the end of the lab, students should be able to say their path, their question, their data or sources, the course concepts they will use, and their responsible boundary. If they can do that, the final project becomes much less stressful.</a:t>
            </a:r>
          </a:p>
          <a:p/>
          <a:p>
            <a:r>
              <a:t>Mention:</a:t>
            </a:r>
          </a:p>
          <a:p>
            <a:r>
              <a:t>- Use the final project in-class lab during class.</a:t>
            </a:r>
          </a:p>
          <a:p>
            <a:r>
              <a:t>- Students do not need a perfect project today.</a:t>
            </a:r>
          </a:p>
          <a:p>
            <a:r>
              <a:t>- Specific enough to keep working is the goal.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timeline is short, which is why the project must stay small. This week is for choosing a path and making a plan. Before Week 13, students should gather sources or prepare their dataset. During Week 13, they should build the first version of the analysis or essay. Week 14 is for presentations, and Week 15 is for the final submission and wrap-up. The best way to stay on track is to do one small concrete task at a time.</a:t>
            </a:r>
          </a:p>
          <a:p/>
          <a:p>
            <a:r>
              <a:t>Mention:</a:t>
            </a:r>
          </a:p>
          <a:p>
            <a:r>
              <a:t>- Tie the timeline back to the syllabus.</a:t>
            </a:r>
          </a:p>
          <a:p>
            <a:r>
              <a:t>- Warn against waiting until presentation week.</a:t>
            </a:r>
          </a:p>
          <a:p>
            <a:r>
              <a:t>- Small tasks reduce project stress.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For the second half of class, students should work individually. The first priority is choosing a path and writing a focused question. After that, coding students should identify a dataset and start a notebook or outline the code. Research essay students should find sources and start an outline. Everyone should leave with three next tasks. The goal is not to finish the final project today. The goal is to make the project real enough to continue.</a:t>
            </a:r>
          </a:p>
          <a:p/>
          <a:p>
            <a:r>
              <a:t>Mention:</a:t>
            </a:r>
          </a:p>
          <a:p>
            <a:r>
              <a:t>- Keep the work period structured.</a:t>
            </a:r>
          </a:p>
          <a:p>
            <a:r>
              <a:t>- Circulate for one-on-one topic narrowing.</a:t>
            </a:r>
          </a:p>
          <a:p>
            <a:r>
              <a:t>- Accept imperfect starts if they are specific.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Day 2 should be mostly work time. Start by reminding students of the two paths and the project boundaries. Then move quickly into individual work. Some students will need help narrowing the topic. Some will need help finding credible sources. Some will need help deciding whether the coding path is realistic. The best outcome is that every student leaves Day 2 with a project question, evidence plan, and a first piece of work.</a:t>
            </a:r>
          </a:p>
          <a:p/>
          <a:p>
            <a:r>
              <a:t>Mention:</a:t>
            </a:r>
          </a:p>
          <a:p>
            <a:r>
              <a:t>- Day 2 does not need a long lecture.</a:t>
            </a:r>
          </a:p>
          <a:p>
            <a:r>
              <a:t>- Use the final project in-class lab.</a:t>
            </a:r>
          </a:p>
          <a:p>
            <a:r>
              <a:t>- Focus help on scope, evidence,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By the end of Week 12, students should not be guessing about the final project anymore. They should know whether they are coding or writing, what question they are answering, what evidence they are using, and what their next steps are. The project can still change, but it should have a real starting shape. The course is now moving from learning separate topics to applying those topics in a final piece of work.</a:t>
            </a:r>
          </a:p>
          <a:p/>
          <a:p>
            <a:r>
              <a:t>Mention:</a:t>
            </a:r>
          </a:p>
          <a:p>
            <a:r>
              <a:t>- End with concrete expectations.</a:t>
            </a:r>
          </a:p>
          <a:p>
            <a:r>
              <a:t>- Students need a path, question, evidence, and next steps.</a:t>
            </a:r>
          </a:p>
          <a:p>
            <a:r>
              <a:t>- The project can be small and still be strong.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62635"/>
          </a:solidFill>
          <a:ln>
            <a:solidFill>
              <a:srgbClr val="162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10972800" cy="822960"/>
          </a:xfrm>
          <a:prstGeom prst="rect">
            <a:avLst/>
          </a:prstGeom>
          <a:noFill/>
        </p:spPr>
        <p:txBody>
          <a:bodyPr wrap="none">
            <a:spAutoFit/>
          </a:bodyPr>
          <a:lstStyle/>
          <a:p>
            <a:pPr>
              <a:defRPr sz="2700" b="1">
                <a:solidFill>
                  <a:srgbClr val="FFFFFF"/>
                </a:solidFill>
                <a:latin typeface="Aptos Display"/>
              </a:defRPr>
            </a:pPr>
            <a:r>
              <a:t>Week 12: Security Analytics and Final Project Launch</a:t>
            </a:r>
          </a:p>
        </p:txBody>
      </p:sp>
      <p:sp>
        <p:nvSpPr>
          <p:cNvPr id="4" name="Rounded Rectangle 3"/>
          <p:cNvSpPr/>
          <p:nvPr/>
        </p:nvSpPr>
        <p:spPr>
          <a:xfrm>
            <a:off x="749808" y="1444752"/>
            <a:ext cx="10881360" cy="822960"/>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517904"/>
            <a:ext cx="10625328" cy="676656"/>
          </a:xfrm>
          <a:prstGeom prst="rect">
            <a:avLst/>
          </a:prstGeom>
          <a:noFill/>
        </p:spPr>
        <p:txBody>
          <a:bodyPr wrap="square">
            <a:noAutofit/>
          </a:bodyPr>
          <a:lstStyle/>
          <a:p>
            <a:pPr>
              <a:spcAft>
                <a:spcPts val="600"/>
              </a:spcAft>
              <a:defRPr sz="2100" b="1">
                <a:solidFill>
                  <a:srgbClr val="162635"/>
                </a:solidFill>
                <a:latin typeface="Aptos"/>
              </a:defRPr>
            </a:pPr>
            <a:r>
              <a:t>Today we finish the analytics unit and begin the final project in a structured, manageable way.</a:t>
            </a:r>
          </a:p>
        </p:txBody>
      </p:sp>
      <p:sp>
        <p:nvSpPr>
          <p:cNvPr id="6" name="Rounded Rectangle 5"/>
          <p:cNvSpPr/>
          <p:nvPr/>
        </p:nvSpPr>
        <p:spPr>
          <a:xfrm>
            <a:off x="86868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79806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First half</a:t>
            </a:r>
          </a:p>
        </p:txBody>
      </p:sp>
      <p:sp>
        <p:nvSpPr>
          <p:cNvPr id="8" name="TextBox 7"/>
          <p:cNvSpPr txBox="1"/>
          <p:nvPr/>
        </p:nvSpPr>
        <p:spPr>
          <a:xfrm>
            <a:off x="106984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security analytics</a:t>
            </a:r>
          </a:p>
          <a:p>
            <a:pPr>
              <a:spcAft>
                <a:spcPts val="600"/>
              </a:spcAft>
              <a:defRPr sz="1800" b="0">
                <a:solidFill>
                  <a:srgbClr val="202B32"/>
                </a:solidFill>
                <a:latin typeface="Aptos"/>
              </a:defRPr>
            </a:pPr>
            <a:r>
              <a:t>metrics as evidence</a:t>
            </a:r>
          </a:p>
          <a:p>
            <a:pPr>
              <a:spcAft>
                <a:spcPts val="600"/>
              </a:spcAft>
              <a:defRPr sz="1800" b="0">
                <a:solidFill>
                  <a:srgbClr val="202B32"/>
                </a:solidFill>
                <a:latin typeface="Aptos"/>
              </a:defRPr>
            </a:pPr>
            <a:r>
              <a:t>privacy-aware monitoring</a:t>
            </a:r>
          </a:p>
        </p:txBody>
      </p:sp>
      <p:sp>
        <p:nvSpPr>
          <p:cNvPr id="9" name="Rounded Rectangle 8"/>
          <p:cNvSpPr/>
          <p:nvPr/>
        </p:nvSpPr>
        <p:spPr>
          <a:xfrm>
            <a:off x="443484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79806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Second half</a:t>
            </a:r>
          </a:p>
        </p:txBody>
      </p:sp>
      <p:sp>
        <p:nvSpPr>
          <p:cNvPr id="11" name="TextBox 10"/>
          <p:cNvSpPr txBox="1"/>
          <p:nvPr/>
        </p:nvSpPr>
        <p:spPr>
          <a:xfrm>
            <a:off x="463600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final project choices</a:t>
            </a:r>
          </a:p>
          <a:p>
            <a:pPr>
              <a:spcAft>
                <a:spcPts val="600"/>
              </a:spcAft>
              <a:defRPr sz="1800" b="0">
                <a:solidFill>
                  <a:srgbClr val="202B32"/>
                </a:solidFill>
                <a:latin typeface="Aptos"/>
              </a:defRPr>
            </a:pPr>
            <a:r>
              <a:t>beginner project scope</a:t>
            </a:r>
          </a:p>
          <a:p>
            <a:pPr>
              <a:spcAft>
                <a:spcPts val="600"/>
              </a:spcAft>
              <a:defRPr sz="1800" b="0">
                <a:solidFill>
                  <a:srgbClr val="202B32"/>
                </a:solidFill>
                <a:latin typeface="Aptos"/>
              </a:defRPr>
            </a:pPr>
            <a:r>
              <a:t>in-class lab due today</a:t>
            </a:r>
          </a:p>
        </p:txBody>
      </p:sp>
      <p:sp>
        <p:nvSpPr>
          <p:cNvPr id="12" name="Rounded Rectangle 11"/>
          <p:cNvSpPr/>
          <p:nvPr/>
        </p:nvSpPr>
        <p:spPr>
          <a:xfrm>
            <a:off x="8001000" y="2670048"/>
            <a:ext cx="306324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79806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Work mode</a:t>
            </a:r>
          </a:p>
        </p:txBody>
      </p:sp>
      <p:sp>
        <p:nvSpPr>
          <p:cNvPr id="14" name="TextBox 13"/>
          <p:cNvSpPr txBox="1"/>
          <p:nvPr/>
        </p:nvSpPr>
        <p:spPr>
          <a:xfrm>
            <a:off x="8202168" y="3236976"/>
            <a:ext cx="2660904" cy="1901952"/>
          </a:xfrm>
          <a:prstGeom prst="rect">
            <a:avLst/>
          </a:prstGeom>
          <a:noFill/>
        </p:spPr>
        <p:txBody>
          <a:bodyPr wrap="square">
            <a:noAutofit/>
          </a:bodyPr>
          <a:lstStyle/>
          <a:p>
            <a:pPr>
              <a:spcAft>
                <a:spcPts val="600"/>
              </a:spcAft>
              <a:defRPr sz="1800" b="0">
                <a:solidFill>
                  <a:srgbClr val="202B32"/>
                </a:solidFill>
                <a:latin typeface="Aptos"/>
              </a:defRPr>
            </a:pPr>
            <a:r>
              <a:t>individual work</a:t>
            </a:r>
          </a:p>
          <a:p>
            <a:pPr>
              <a:spcAft>
                <a:spcPts val="600"/>
              </a:spcAft>
              <a:defRPr sz="1800" b="0">
                <a:solidFill>
                  <a:srgbClr val="202B32"/>
                </a:solidFill>
                <a:latin typeface="Aptos"/>
              </a:defRPr>
            </a:pPr>
            <a:r>
              <a:t>specific topic</a:t>
            </a:r>
          </a:p>
          <a:p>
            <a:pPr>
              <a:spcAft>
                <a:spcPts val="600"/>
              </a:spcAft>
              <a:defRPr sz="1800" b="0">
                <a:solidFill>
                  <a:srgbClr val="202B32"/>
                </a:solidFill>
                <a:latin typeface="Aptos"/>
              </a:defRPr>
            </a:pPr>
            <a:r>
              <a:t>clear evidence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Course Map</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Where Week 12 fits in the course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Syllabus sequence</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Week 11-12: Data Analytics for Security</a:t>
            </a:r>
          </a:p>
          <a:p>
            <a:pPr>
              <a:spcAft>
                <a:spcPts val="600"/>
              </a:spcAft>
              <a:defRPr sz="1700" b="0">
                <a:solidFill>
                  <a:srgbClr val="202B32"/>
                </a:solidFill>
                <a:latin typeface="Aptos"/>
              </a:defRPr>
            </a:pPr>
            <a:r>
              <a:t>Week 13: Data Poisoning and Model Evasion</a:t>
            </a:r>
          </a:p>
          <a:p>
            <a:pPr>
              <a:spcAft>
                <a:spcPts val="600"/>
              </a:spcAft>
              <a:defRPr sz="1700" b="0">
                <a:solidFill>
                  <a:srgbClr val="202B32"/>
                </a:solidFill>
                <a:latin typeface="Aptos"/>
              </a:defRPr>
            </a:pPr>
            <a:r>
              <a:t>Week 14: Final Project Presentations</a:t>
            </a:r>
          </a:p>
          <a:p>
            <a:pPr>
              <a:spcAft>
                <a:spcPts val="600"/>
              </a:spcAft>
              <a:defRPr sz="1700" b="0">
                <a:solidFill>
                  <a:srgbClr val="202B32"/>
                </a:solidFill>
                <a:latin typeface="Aptos"/>
              </a:defRPr>
            </a:pPr>
            <a:r>
              <a:t>Week 15: Final Project Due and Wrap-Up</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Why this week matters</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Analytics turns security data into evidence.</a:t>
            </a:r>
          </a:p>
          <a:p>
            <a:pPr>
              <a:spcAft>
                <a:spcPts val="600"/>
              </a:spcAft>
              <a:defRPr sz="1700" b="0">
                <a:solidFill>
                  <a:srgbClr val="202B32"/>
                </a:solidFill>
                <a:latin typeface="Aptos"/>
              </a:defRPr>
            </a:pPr>
            <a:r>
              <a:t>The final project turns one course question into a focused argument.</a:t>
            </a:r>
          </a:p>
          <a:p>
            <a:pPr>
              <a:spcAft>
                <a:spcPts val="600"/>
              </a:spcAft>
              <a:defRPr sz="1700" b="0">
                <a:solidFill>
                  <a:srgbClr val="202B32"/>
                </a:solidFill>
                <a:latin typeface="Aptos"/>
              </a:defRPr>
            </a:pPr>
            <a:r>
              <a:t>This week gives students time to start before presentations.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Analytics</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Security analytics means finding useful security meaning in data</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Input</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logs</a:t>
            </a:r>
          </a:p>
          <a:p>
            <a:pPr>
              <a:spcAft>
                <a:spcPts val="600"/>
              </a:spcAft>
              <a:defRPr sz="1800" b="0">
                <a:solidFill>
                  <a:srgbClr val="202B32"/>
                </a:solidFill>
                <a:latin typeface="Aptos"/>
              </a:defRPr>
            </a:pPr>
            <a:r>
              <a:t>alerts</a:t>
            </a:r>
          </a:p>
          <a:p>
            <a:pPr>
              <a:spcAft>
                <a:spcPts val="600"/>
              </a:spcAft>
              <a:defRPr sz="1800" b="0">
                <a:solidFill>
                  <a:srgbClr val="202B32"/>
                </a:solidFill>
                <a:latin typeface="Aptos"/>
              </a:defRPr>
            </a:pPr>
            <a:r>
              <a:t>asset context</a:t>
            </a:r>
          </a:p>
          <a:p>
            <a:pPr>
              <a:spcAft>
                <a:spcPts val="600"/>
              </a:spcAft>
              <a:defRPr sz="1800" b="0">
                <a:solidFill>
                  <a:srgbClr val="202B32"/>
                </a:solidFill>
                <a:latin typeface="Aptos"/>
              </a:defRPr>
            </a:pPr>
            <a:r>
              <a:t>user activity</a:t>
            </a:r>
          </a:p>
          <a:p>
            <a:pPr>
              <a:spcAft>
                <a:spcPts val="600"/>
              </a:spcAft>
              <a:defRPr sz="1800" b="0">
                <a:solidFill>
                  <a:srgbClr val="202B32"/>
                </a:solidFill>
                <a:latin typeface="Aptos"/>
              </a:defRPr>
            </a:pPr>
            <a:r>
              <a:t>cloud events</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Thinking</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filter</a:t>
            </a:r>
          </a:p>
          <a:p>
            <a:pPr>
              <a:spcAft>
                <a:spcPts val="600"/>
              </a:spcAft>
              <a:defRPr sz="1800" b="0">
                <a:solidFill>
                  <a:srgbClr val="202B32"/>
                </a:solidFill>
                <a:latin typeface="Aptos"/>
              </a:defRPr>
            </a:pPr>
            <a:r>
              <a:t>count</a:t>
            </a:r>
          </a:p>
          <a:p>
            <a:pPr>
              <a:spcAft>
                <a:spcPts val="600"/>
              </a:spcAft>
              <a:defRPr sz="1800" b="0">
                <a:solidFill>
                  <a:srgbClr val="202B32"/>
                </a:solidFill>
                <a:latin typeface="Aptos"/>
              </a:defRPr>
            </a:pPr>
            <a:r>
              <a:t>compare</a:t>
            </a:r>
          </a:p>
          <a:p>
            <a:pPr>
              <a:spcAft>
                <a:spcPts val="600"/>
              </a:spcAft>
              <a:defRPr sz="1800" b="0">
                <a:solidFill>
                  <a:srgbClr val="202B32"/>
                </a:solidFill>
                <a:latin typeface="Aptos"/>
              </a:defRPr>
            </a:pPr>
            <a:r>
              <a:t>join context</a:t>
            </a:r>
          </a:p>
          <a:p>
            <a:pPr>
              <a:spcAft>
                <a:spcPts val="600"/>
              </a:spcAft>
              <a:defRPr sz="1800" b="0">
                <a:solidFill>
                  <a:srgbClr val="202B32"/>
                </a:solidFill>
                <a:latin typeface="Aptos"/>
              </a:defRPr>
            </a:pPr>
            <a:r>
              <a:t>notice patterns</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Output</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priority</a:t>
            </a:r>
          </a:p>
          <a:p>
            <a:pPr>
              <a:spcAft>
                <a:spcPts val="600"/>
              </a:spcAft>
              <a:defRPr sz="1800" b="0">
                <a:solidFill>
                  <a:srgbClr val="202B32"/>
                </a:solidFill>
                <a:latin typeface="Aptos"/>
              </a:defRPr>
            </a:pPr>
            <a:r>
              <a:t>next step</a:t>
            </a:r>
          </a:p>
          <a:p>
            <a:pPr>
              <a:spcAft>
                <a:spcPts val="600"/>
              </a:spcAft>
              <a:defRPr sz="1800" b="0">
                <a:solidFill>
                  <a:srgbClr val="202B32"/>
                </a:solidFill>
                <a:latin typeface="Aptos"/>
              </a:defRPr>
            </a:pPr>
            <a:r>
              <a:t>risk explanation</a:t>
            </a:r>
          </a:p>
          <a:p>
            <a:pPr>
              <a:spcAft>
                <a:spcPts val="600"/>
              </a:spcAft>
              <a:defRPr sz="1800" b="0">
                <a:solidFill>
                  <a:srgbClr val="202B32"/>
                </a:solidFill>
                <a:latin typeface="Aptos"/>
              </a:defRPr>
            </a:pPr>
            <a:r>
              <a:t>short analyst note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Workflow</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A practical analytics workflow</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48132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1554480"/>
            <a:ext cx="10122408" cy="512064"/>
          </a:xfrm>
          <a:prstGeom prst="rect">
            <a:avLst/>
          </a:prstGeom>
          <a:noFill/>
        </p:spPr>
        <p:txBody>
          <a:bodyPr wrap="square">
            <a:noAutofit/>
          </a:bodyPr>
          <a:lstStyle/>
          <a:p>
            <a:pPr>
              <a:spcAft>
                <a:spcPts val="600"/>
              </a:spcAft>
              <a:defRPr sz="1800" b="0">
                <a:solidFill>
                  <a:srgbClr val="162635"/>
                </a:solidFill>
                <a:latin typeface="Aptos"/>
              </a:defRPr>
            </a:pPr>
            <a:r>
              <a:t>1. Collect: decide what security data is relevant.</a:t>
            </a:r>
          </a:p>
        </p:txBody>
      </p:sp>
      <p:sp>
        <p:nvSpPr>
          <p:cNvPr id="7" name="Rounded Rectangle 6"/>
          <p:cNvSpPr/>
          <p:nvPr/>
        </p:nvSpPr>
        <p:spPr>
          <a:xfrm>
            <a:off x="868680" y="2267712"/>
            <a:ext cx="10378440" cy="658368"/>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340864"/>
            <a:ext cx="10122408" cy="512064"/>
          </a:xfrm>
          <a:prstGeom prst="rect">
            <a:avLst/>
          </a:prstGeom>
          <a:noFill/>
        </p:spPr>
        <p:txBody>
          <a:bodyPr wrap="square">
            <a:noAutofit/>
          </a:bodyPr>
          <a:lstStyle/>
          <a:p>
            <a:pPr>
              <a:spcAft>
                <a:spcPts val="600"/>
              </a:spcAft>
              <a:defRPr sz="1800" b="0">
                <a:solidFill>
                  <a:srgbClr val="162635"/>
                </a:solidFill>
                <a:latin typeface="Aptos"/>
              </a:defRPr>
            </a:pPr>
            <a:r>
              <a:t>2. Clean: make the data readable and consistent.</a:t>
            </a:r>
          </a:p>
        </p:txBody>
      </p:sp>
      <p:sp>
        <p:nvSpPr>
          <p:cNvPr id="9" name="Rounded Rectangle 8"/>
          <p:cNvSpPr/>
          <p:nvPr/>
        </p:nvSpPr>
        <p:spPr>
          <a:xfrm>
            <a:off x="868680" y="3054096"/>
            <a:ext cx="10378440" cy="658368"/>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3127248"/>
            <a:ext cx="10122408" cy="512064"/>
          </a:xfrm>
          <a:prstGeom prst="rect">
            <a:avLst/>
          </a:prstGeom>
          <a:noFill/>
        </p:spPr>
        <p:txBody>
          <a:bodyPr wrap="square">
            <a:noAutofit/>
          </a:bodyPr>
          <a:lstStyle/>
          <a:p>
            <a:pPr>
              <a:spcAft>
                <a:spcPts val="600"/>
              </a:spcAft>
              <a:defRPr sz="1800" b="0">
                <a:solidFill>
                  <a:srgbClr val="162635"/>
                </a:solidFill>
                <a:latin typeface="Aptos"/>
              </a:defRPr>
            </a:pPr>
            <a:r>
              <a:t>3. Enrich: add context about assets, users, or sensitivity.</a:t>
            </a:r>
          </a:p>
        </p:txBody>
      </p:sp>
      <p:sp>
        <p:nvSpPr>
          <p:cNvPr id="11" name="Rounded Rectangle 10"/>
          <p:cNvSpPr/>
          <p:nvPr/>
        </p:nvSpPr>
        <p:spPr>
          <a:xfrm>
            <a:off x="868680" y="3840480"/>
            <a:ext cx="10378440" cy="658368"/>
          </a:xfrm>
          <a:prstGeom prst="roundRect">
            <a:avLst/>
          </a:prstGeom>
          <a:solidFill>
            <a:srgbClr val="EDDDD3"/>
          </a:solidFill>
          <a:ln>
            <a:solidFill>
              <a:srgbClr val="ED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913632"/>
            <a:ext cx="10122408" cy="512064"/>
          </a:xfrm>
          <a:prstGeom prst="rect">
            <a:avLst/>
          </a:prstGeom>
          <a:noFill/>
        </p:spPr>
        <p:txBody>
          <a:bodyPr wrap="square">
            <a:noAutofit/>
          </a:bodyPr>
          <a:lstStyle/>
          <a:p>
            <a:pPr>
              <a:spcAft>
                <a:spcPts val="600"/>
              </a:spcAft>
              <a:defRPr sz="1800" b="0">
                <a:solidFill>
                  <a:srgbClr val="162635"/>
                </a:solidFill>
                <a:latin typeface="Aptos"/>
              </a:defRPr>
            </a:pPr>
            <a:r>
              <a:t>4. Compare: look for patterns, changes, and outliers.</a:t>
            </a:r>
          </a:p>
        </p:txBody>
      </p:sp>
      <p:sp>
        <p:nvSpPr>
          <p:cNvPr id="13" name="Rounded Rectangle 12"/>
          <p:cNvSpPr/>
          <p:nvPr/>
        </p:nvSpPr>
        <p:spPr>
          <a:xfrm>
            <a:off x="868680" y="4626864"/>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00016"/>
            <a:ext cx="10122408" cy="512064"/>
          </a:xfrm>
          <a:prstGeom prst="rect">
            <a:avLst/>
          </a:prstGeom>
          <a:noFill/>
        </p:spPr>
        <p:txBody>
          <a:bodyPr wrap="square">
            <a:noAutofit/>
          </a:bodyPr>
          <a:lstStyle/>
          <a:p>
            <a:pPr>
              <a:spcAft>
                <a:spcPts val="600"/>
              </a:spcAft>
              <a:defRPr sz="1800" b="0">
                <a:solidFill>
                  <a:srgbClr val="162635"/>
                </a:solidFill>
                <a:latin typeface="Aptos"/>
              </a:defRPr>
            </a:pPr>
            <a:r>
              <a:t>5. Decide: choose what deserves attention first.</a:t>
            </a:r>
          </a:p>
        </p:txBody>
      </p:sp>
      <p:sp>
        <p:nvSpPr>
          <p:cNvPr id="15" name="Rounded Rectangle 14"/>
          <p:cNvSpPr/>
          <p:nvPr/>
        </p:nvSpPr>
        <p:spPr>
          <a:xfrm>
            <a:off x="868680" y="541324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5486400"/>
            <a:ext cx="10122408" cy="512064"/>
          </a:xfrm>
          <a:prstGeom prst="rect">
            <a:avLst/>
          </a:prstGeom>
          <a:noFill/>
        </p:spPr>
        <p:txBody>
          <a:bodyPr wrap="square">
            <a:noAutofit/>
          </a:bodyPr>
          <a:lstStyle/>
          <a:p>
            <a:pPr>
              <a:spcAft>
                <a:spcPts val="600"/>
              </a:spcAft>
              <a:defRPr sz="1800" b="0">
                <a:solidFill>
                  <a:srgbClr val="162635"/>
                </a:solidFill>
                <a:latin typeface="Aptos"/>
              </a:defRPr>
            </a:pPr>
            <a:r>
              <a:t>6. Document: write what you found and why it matters.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Metrics</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Metrics are signals, not automatic conclusions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A metric can help</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failed logins can suggest attack activity</a:t>
            </a:r>
          </a:p>
          <a:p>
            <a:pPr>
              <a:spcAft>
                <a:spcPts val="600"/>
              </a:spcAft>
              <a:defRPr sz="1700" b="0">
                <a:solidFill>
                  <a:srgbClr val="202B32"/>
                </a:solidFill>
                <a:latin typeface="Aptos"/>
              </a:defRPr>
            </a:pPr>
            <a:r>
              <a:t>MFA denials can suggest account pressure</a:t>
            </a:r>
          </a:p>
          <a:p>
            <a:pPr>
              <a:spcAft>
                <a:spcPts val="600"/>
              </a:spcAft>
              <a:defRPr sz="1700" b="0">
                <a:solidFill>
                  <a:srgbClr val="202B32"/>
                </a:solidFill>
                <a:latin typeface="Aptos"/>
              </a:defRPr>
            </a:pPr>
            <a:r>
              <a:t>malware alerts can suggest system compromise</a:t>
            </a:r>
          </a:p>
          <a:p>
            <a:pPr>
              <a:spcAft>
                <a:spcPts val="600"/>
              </a:spcAft>
              <a:defRPr sz="1700" b="0">
                <a:solidFill>
                  <a:srgbClr val="202B32"/>
                </a:solidFill>
                <a:latin typeface="Aptos"/>
              </a:defRPr>
            </a:pPr>
            <a:r>
              <a:t>sensitive data can raise the priority</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A metric can mislead</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registration week may increase normal login failures</a:t>
            </a:r>
          </a:p>
          <a:p>
            <a:pPr>
              <a:spcAft>
                <a:spcPts val="600"/>
              </a:spcAft>
              <a:defRPr sz="1700" b="0">
                <a:solidFill>
                  <a:srgbClr val="202B32"/>
                </a:solidFill>
                <a:latin typeface="Aptos"/>
              </a:defRPr>
            </a:pPr>
            <a:r>
              <a:t>public systems may create noisy alerts</a:t>
            </a:r>
          </a:p>
          <a:p>
            <a:pPr>
              <a:spcAft>
                <a:spcPts val="600"/>
              </a:spcAft>
              <a:defRPr sz="1700" b="0">
                <a:solidFill>
                  <a:srgbClr val="202B32"/>
                </a:solidFill>
                <a:latin typeface="Aptos"/>
              </a:defRPr>
            </a:pPr>
            <a:r>
              <a:t>one high number may not prove compromise</a:t>
            </a:r>
          </a:p>
          <a:p>
            <a:pPr>
              <a:spcAft>
                <a:spcPts val="600"/>
              </a:spcAft>
              <a:defRPr sz="1700" b="0">
                <a:solidFill>
                  <a:srgbClr val="202B32"/>
                </a:solidFill>
                <a:latin typeface="Aptos"/>
              </a:defRPr>
            </a:pPr>
            <a:r>
              <a:t>missing context can distort priority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Privacy</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Privacy-aware monitoring asks what should be collected, limited, and deleted</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Purpose</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Why are we collecting this?</a:t>
            </a:r>
          </a:p>
          <a:p>
            <a:pPr>
              <a:spcAft>
                <a:spcPts val="600"/>
              </a:spcAft>
              <a:defRPr sz="1700" b="0">
                <a:solidFill>
                  <a:srgbClr val="202B32"/>
                </a:solidFill>
                <a:latin typeface="Aptos"/>
              </a:defRPr>
            </a:pPr>
            <a:r>
              <a:t>What decision will it support?</a:t>
            </a:r>
          </a:p>
          <a:p>
            <a:pPr>
              <a:spcAft>
                <a:spcPts val="600"/>
              </a:spcAft>
              <a:defRPr sz="1700" b="0">
                <a:solidFill>
                  <a:srgbClr val="202B32"/>
                </a:solidFill>
                <a:latin typeface="Aptos"/>
              </a:defRPr>
            </a:pPr>
            <a:r>
              <a:t>Who benefits from the monitoring?</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Limits</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Who can access it?</a:t>
            </a:r>
          </a:p>
          <a:p>
            <a:pPr>
              <a:spcAft>
                <a:spcPts val="600"/>
              </a:spcAft>
              <a:defRPr sz="1700" b="0">
                <a:solidFill>
                  <a:srgbClr val="202B32"/>
                </a:solidFill>
                <a:latin typeface="Aptos"/>
              </a:defRPr>
            </a:pPr>
            <a:r>
              <a:t>How long is it kept?</a:t>
            </a:r>
          </a:p>
          <a:p>
            <a:pPr>
              <a:spcAft>
                <a:spcPts val="600"/>
              </a:spcAft>
              <a:defRPr sz="1700" b="0">
                <a:solidFill>
                  <a:srgbClr val="202B32"/>
                </a:solidFill>
                <a:latin typeface="Aptos"/>
              </a:defRPr>
            </a:pPr>
            <a:r>
              <a:t>Can it be used for another purpose?</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Risk</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Could it expose people?</a:t>
            </a:r>
          </a:p>
          <a:p>
            <a:pPr>
              <a:spcAft>
                <a:spcPts val="600"/>
              </a:spcAft>
              <a:defRPr sz="1700" b="0">
                <a:solidFill>
                  <a:srgbClr val="202B32"/>
                </a:solidFill>
                <a:latin typeface="Aptos"/>
              </a:defRPr>
            </a:pPr>
            <a:r>
              <a:t>Could it be misread?</a:t>
            </a:r>
          </a:p>
          <a:p>
            <a:pPr>
              <a:spcAft>
                <a:spcPts val="600"/>
              </a:spcAft>
              <a:defRPr sz="1700" b="0">
                <a:solidFill>
                  <a:srgbClr val="202B32"/>
                </a:solidFill>
                <a:latin typeface="Aptos"/>
              </a:defRPr>
            </a:pPr>
            <a:r>
              <a:t>Could it become surveillance?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Lab</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Today's lab: read a small security metrics table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What you'll do</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open `week12_security_metrics.csv`</a:t>
            </a:r>
          </a:p>
          <a:p>
            <a:pPr>
              <a:spcAft>
                <a:spcPts val="600"/>
              </a:spcAft>
              <a:defRPr sz="1700" b="0">
                <a:solidFill>
                  <a:srgbClr val="202B32"/>
                </a:solidFill>
                <a:latin typeface="Aptos"/>
              </a:defRPr>
            </a:pPr>
            <a:r>
              <a:t>score at least five systems</a:t>
            </a:r>
          </a:p>
          <a:p>
            <a:pPr>
              <a:spcAft>
                <a:spcPts val="600"/>
              </a:spcAft>
              <a:defRPr sz="1700" b="0">
                <a:solidFill>
                  <a:srgbClr val="202B32"/>
                </a:solidFill>
                <a:latin typeface="Aptos"/>
              </a:defRPr>
            </a:pPr>
            <a:r>
              <a:t>choose one system to review first</a:t>
            </a:r>
          </a:p>
          <a:p>
            <a:pPr>
              <a:spcAft>
                <a:spcPts val="600"/>
              </a:spcAft>
              <a:defRPr sz="1700" b="0">
                <a:solidFill>
                  <a:srgbClr val="202B32"/>
                </a:solidFill>
                <a:latin typeface="Aptos"/>
              </a:defRPr>
            </a:pPr>
            <a:r>
              <a:t>write a short analyst note</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Skills you'll practice</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reading rows and columns</a:t>
            </a:r>
          </a:p>
          <a:p>
            <a:pPr>
              <a:spcAft>
                <a:spcPts val="600"/>
              </a:spcAft>
              <a:defRPr sz="1700" b="0">
                <a:solidFill>
                  <a:srgbClr val="202B32"/>
                </a:solidFill>
                <a:latin typeface="Aptos"/>
              </a:defRPr>
            </a:pPr>
            <a:r>
              <a:t>separating signal from context</a:t>
            </a:r>
          </a:p>
          <a:p>
            <a:pPr>
              <a:spcAft>
                <a:spcPts val="600"/>
              </a:spcAft>
              <a:defRPr sz="1700" b="0">
                <a:solidFill>
                  <a:srgbClr val="202B32"/>
                </a:solidFill>
                <a:latin typeface="Aptos"/>
              </a:defRPr>
            </a:pPr>
            <a:r>
              <a:t>explaining priority</a:t>
            </a:r>
          </a:p>
          <a:p>
            <a:pPr>
              <a:spcAft>
                <a:spcPts val="600"/>
              </a:spcAft>
              <a:defRPr sz="1700" b="0">
                <a:solidFill>
                  <a:srgbClr val="202B32"/>
                </a:solidFill>
                <a:latin typeface="Aptos"/>
              </a:defRPr>
            </a:pPr>
            <a:r>
              <a:t>adding a privacy boundary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Final Project</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The final project is one focused question answered with evidence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The project is not</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a giant expert-level investigation</a:t>
            </a:r>
          </a:p>
          <a:p>
            <a:pPr>
              <a:spcAft>
                <a:spcPts val="600"/>
              </a:spcAft>
              <a:defRPr sz="1700" b="0">
                <a:solidFill>
                  <a:srgbClr val="202B32"/>
                </a:solidFill>
                <a:latin typeface="Aptos"/>
              </a:defRPr>
            </a:pPr>
            <a:r>
              <a:t>a hacking assignment</a:t>
            </a:r>
          </a:p>
          <a:p>
            <a:pPr>
              <a:spcAft>
                <a:spcPts val="600"/>
              </a:spcAft>
              <a:defRPr sz="1700" b="0">
                <a:solidFill>
                  <a:srgbClr val="202B32"/>
                </a:solidFill>
                <a:latin typeface="Aptos"/>
              </a:defRPr>
            </a:pPr>
            <a:r>
              <a:t>a vague opinion paper</a:t>
            </a:r>
          </a:p>
          <a:p>
            <a:pPr>
              <a:spcAft>
                <a:spcPts val="600"/>
              </a:spcAft>
              <a:defRPr sz="1700" b="0">
                <a:solidFill>
                  <a:srgbClr val="202B32"/>
                </a:solidFill>
                <a:latin typeface="Aptos"/>
              </a:defRPr>
            </a:pPr>
            <a:r>
              <a:t>a huge app students cannot finish</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The project is</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one clear question</a:t>
            </a:r>
          </a:p>
          <a:p>
            <a:pPr>
              <a:spcAft>
                <a:spcPts val="600"/>
              </a:spcAft>
              <a:defRPr sz="1700" b="0">
                <a:solidFill>
                  <a:srgbClr val="202B32"/>
                </a:solidFill>
                <a:latin typeface="Aptos"/>
              </a:defRPr>
            </a:pPr>
            <a:r>
              <a:t>course concepts applied carefully</a:t>
            </a:r>
          </a:p>
          <a:p>
            <a:pPr>
              <a:spcAft>
                <a:spcPts val="600"/>
              </a:spcAft>
              <a:defRPr sz="1700" b="0">
                <a:solidFill>
                  <a:srgbClr val="202B32"/>
                </a:solidFill>
                <a:latin typeface="Aptos"/>
              </a:defRPr>
            </a:pPr>
            <a:r>
              <a:t>evidence from data, sources, or a case</a:t>
            </a:r>
          </a:p>
          <a:p>
            <a:pPr>
              <a:spcAft>
                <a:spcPts val="600"/>
              </a:spcAft>
              <a:defRPr sz="1700" b="0">
                <a:solidFill>
                  <a:srgbClr val="202B32"/>
                </a:solidFill>
                <a:latin typeface="Aptos"/>
              </a:defRPr>
            </a:pPr>
            <a:r>
              <a:t>a realistic recommendation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Two Paths</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Students choose one path: code or research essay</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Code path</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small notebook, script, or app</a:t>
            </a:r>
          </a:p>
          <a:p>
            <a:pPr>
              <a:spcAft>
                <a:spcPts val="600"/>
              </a:spcAft>
              <a:defRPr sz="1700" b="0">
                <a:solidFill>
                  <a:srgbClr val="202B32"/>
                </a:solidFill>
                <a:latin typeface="Aptos"/>
              </a:defRPr>
            </a:pPr>
            <a:r>
              <a:t>safe CSV data</a:t>
            </a:r>
          </a:p>
          <a:p>
            <a:pPr>
              <a:spcAft>
                <a:spcPts val="600"/>
              </a:spcAft>
              <a:defRPr sz="1700" b="0">
                <a:solidFill>
                  <a:srgbClr val="202B32"/>
                </a:solidFill>
                <a:latin typeface="Aptos"/>
              </a:defRPr>
            </a:pPr>
            <a:r>
              <a:t>simple findings</a:t>
            </a:r>
          </a:p>
          <a:p>
            <a:pPr>
              <a:spcAft>
                <a:spcPts val="600"/>
              </a:spcAft>
              <a:defRPr sz="1700" b="0">
                <a:solidFill>
                  <a:srgbClr val="202B32"/>
                </a:solidFill>
                <a:latin typeface="Aptos"/>
              </a:defRPr>
            </a:pPr>
            <a:r>
              <a:t>short report</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Essay path</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brief research essay</a:t>
            </a:r>
          </a:p>
          <a:p>
            <a:pPr>
              <a:spcAft>
                <a:spcPts val="600"/>
              </a:spcAft>
              <a:defRPr sz="1700" b="0">
                <a:solidFill>
                  <a:srgbClr val="202B32"/>
                </a:solidFill>
                <a:latin typeface="Aptos"/>
              </a:defRPr>
            </a:pPr>
            <a:r>
              <a:t>credible sources</a:t>
            </a:r>
          </a:p>
          <a:p>
            <a:pPr>
              <a:spcAft>
                <a:spcPts val="600"/>
              </a:spcAft>
              <a:defRPr sz="1700" b="0">
                <a:solidFill>
                  <a:srgbClr val="202B32"/>
                </a:solidFill>
                <a:latin typeface="Aptos"/>
              </a:defRPr>
            </a:pPr>
            <a:r>
              <a:t>case or technology</a:t>
            </a:r>
          </a:p>
          <a:p>
            <a:pPr>
              <a:spcAft>
                <a:spcPts val="600"/>
              </a:spcAft>
              <a:defRPr sz="1700" b="0">
                <a:solidFill>
                  <a:srgbClr val="202B32"/>
                </a:solidFill>
                <a:latin typeface="Aptos"/>
              </a:defRPr>
            </a:pPr>
            <a:r>
              <a:t>recommendation</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Same goal</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clear question</a:t>
            </a:r>
          </a:p>
          <a:p>
            <a:pPr>
              <a:spcAft>
                <a:spcPts val="600"/>
              </a:spcAft>
              <a:defRPr sz="1700" b="0">
                <a:solidFill>
                  <a:srgbClr val="202B32"/>
                </a:solidFill>
                <a:latin typeface="Aptos"/>
              </a:defRPr>
            </a:pPr>
            <a:r>
              <a:t>course concepts</a:t>
            </a:r>
          </a:p>
          <a:p>
            <a:pPr>
              <a:spcAft>
                <a:spcPts val="600"/>
              </a:spcAft>
              <a:defRPr sz="1700" b="0">
                <a:solidFill>
                  <a:srgbClr val="202B32"/>
                </a:solidFill>
                <a:latin typeface="Aptos"/>
              </a:defRPr>
            </a:pPr>
            <a:r>
              <a:t>security and privacy thinking</a:t>
            </a:r>
          </a:p>
          <a:p>
            <a:pPr>
              <a:spcAft>
                <a:spcPts val="600"/>
              </a:spcAft>
              <a:defRPr sz="1700" b="0">
                <a:solidFill>
                  <a:srgbClr val="202B32"/>
                </a:solidFill>
                <a:latin typeface="Aptos"/>
              </a:defRPr>
            </a:pPr>
            <a:r>
              <a:t>short presentation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Code Option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Coding project: build a small security or privacy analysis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Good code projects</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login anomaly notebook</a:t>
            </a:r>
          </a:p>
          <a:p>
            <a:pPr>
              <a:spcAft>
                <a:spcPts val="600"/>
              </a:spcAft>
              <a:defRPr sz="1700" b="0">
                <a:solidFill>
                  <a:srgbClr val="202B32"/>
                </a:solidFill>
                <a:latin typeface="Aptos"/>
              </a:defRPr>
            </a:pPr>
            <a:r>
              <a:t>alert triage scorecard</a:t>
            </a:r>
          </a:p>
          <a:p>
            <a:pPr>
              <a:spcAft>
                <a:spcPts val="600"/>
              </a:spcAft>
              <a:defRPr sz="1700" b="0">
                <a:solidFill>
                  <a:srgbClr val="202B32"/>
                </a:solidFill>
                <a:latin typeface="Aptos"/>
              </a:defRPr>
            </a:pPr>
            <a:r>
              <a:t>privacy-aware data inventory</a:t>
            </a:r>
          </a:p>
          <a:p>
            <a:pPr>
              <a:spcAft>
                <a:spcPts val="600"/>
              </a:spcAft>
              <a:defRPr sz="1700" b="0">
                <a:solidFill>
                  <a:srgbClr val="202B32"/>
                </a:solidFill>
                <a:latin typeface="Aptos"/>
              </a:defRPr>
            </a:pPr>
            <a:r>
              <a:t>cloud database checklist</a:t>
            </a:r>
          </a:p>
          <a:p>
            <a:pPr>
              <a:spcAft>
                <a:spcPts val="600"/>
              </a:spcAft>
              <a:defRPr sz="1700" b="0">
                <a:solidFill>
                  <a:srgbClr val="202B32"/>
                </a:solidFill>
                <a:latin typeface="Aptos"/>
              </a:defRPr>
            </a:pPr>
            <a:r>
              <a:t>monitoring boundary analysis</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Minimum code work</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load a CSV</a:t>
            </a:r>
          </a:p>
          <a:p>
            <a:pPr>
              <a:spcAft>
                <a:spcPts val="600"/>
              </a:spcAft>
              <a:defRPr sz="1700" b="0">
                <a:solidFill>
                  <a:srgbClr val="202B32"/>
                </a:solidFill>
                <a:latin typeface="Aptos"/>
              </a:defRPr>
            </a:pPr>
            <a:r>
              <a:t>filter, group, sort, or score</a:t>
            </a:r>
          </a:p>
          <a:p>
            <a:pPr>
              <a:spcAft>
                <a:spcPts val="600"/>
              </a:spcAft>
              <a:defRPr sz="1700" b="0">
                <a:solidFill>
                  <a:srgbClr val="202B32"/>
                </a:solidFill>
                <a:latin typeface="Aptos"/>
              </a:defRPr>
            </a:pPr>
            <a:r>
              <a:t>make one summary table or chart</a:t>
            </a:r>
          </a:p>
          <a:p>
            <a:pPr>
              <a:spcAft>
                <a:spcPts val="600"/>
              </a:spcAft>
              <a:defRPr sz="1700" b="0">
                <a:solidFill>
                  <a:srgbClr val="202B32"/>
                </a:solidFill>
                <a:latin typeface="Aptos"/>
              </a:defRPr>
            </a:pPr>
            <a:r>
              <a:t>explain what the result means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Essay Option</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Research essay: analyze one security, privacy, or ethics issue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Good essay topics</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student monitoring software</a:t>
            </a:r>
          </a:p>
          <a:p>
            <a:pPr>
              <a:spcAft>
                <a:spcPts val="600"/>
              </a:spcAft>
              <a:defRPr sz="1700" b="0">
                <a:solidFill>
                  <a:srgbClr val="202B32"/>
                </a:solidFill>
                <a:latin typeface="Aptos"/>
              </a:defRPr>
            </a:pPr>
            <a:r>
              <a:t>data brokers and linked datasets</a:t>
            </a:r>
          </a:p>
          <a:p>
            <a:pPr>
              <a:spcAft>
                <a:spcPts val="600"/>
              </a:spcAft>
              <a:defRPr sz="1700" b="0">
                <a:solidFill>
                  <a:srgbClr val="202B32"/>
                </a:solidFill>
                <a:latin typeface="Aptos"/>
              </a:defRPr>
            </a:pPr>
            <a:r>
              <a:t>facial recognition</a:t>
            </a:r>
          </a:p>
          <a:p>
            <a:pPr>
              <a:spcAft>
                <a:spcPts val="600"/>
              </a:spcAft>
              <a:defRPr sz="1700" b="0">
                <a:solidFill>
                  <a:srgbClr val="202B32"/>
                </a:solidFill>
                <a:latin typeface="Aptos"/>
              </a:defRPr>
            </a:pPr>
            <a:r>
              <a:t>cloud database exposure</a:t>
            </a:r>
          </a:p>
          <a:p>
            <a:pPr>
              <a:spcAft>
                <a:spcPts val="600"/>
              </a:spcAft>
              <a:defRPr sz="1700" b="0">
                <a:solidFill>
                  <a:srgbClr val="202B32"/>
                </a:solidFill>
                <a:latin typeface="Aptos"/>
              </a:defRPr>
            </a:pPr>
            <a:r>
              <a:t>security logging and surveillance</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Essay structure</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focused question</a:t>
            </a:r>
          </a:p>
          <a:p>
            <a:pPr>
              <a:spcAft>
                <a:spcPts val="600"/>
              </a:spcAft>
              <a:defRPr sz="1700" b="0">
                <a:solidFill>
                  <a:srgbClr val="202B32"/>
                </a:solidFill>
                <a:latin typeface="Aptos"/>
              </a:defRPr>
            </a:pPr>
            <a:r>
              <a:t>background</a:t>
            </a:r>
          </a:p>
          <a:p>
            <a:pPr>
              <a:spcAft>
                <a:spcPts val="600"/>
              </a:spcAft>
              <a:defRPr sz="1700" b="0">
                <a:solidFill>
                  <a:srgbClr val="202B32"/>
                </a:solidFill>
                <a:latin typeface="Aptos"/>
              </a:defRPr>
            </a:pPr>
            <a:r>
              <a:t>security issue</a:t>
            </a:r>
          </a:p>
          <a:p>
            <a:pPr>
              <a:spcAft>
                <a:spcPts val="600"/>
              </a:spcAft>
              <a:defRPr sz="1700" b="0">
                <a:solidFill>
                  <a:srgbClr val="202B32"/>
                </a:solidFill>
                <a:latin typeface="Aptos"/>
              </a:defRPr>
            </a:pPr>
            <a:r>
              <a:t>privacy or ethics issue</a:t>
            </a:r>
          </a:p>
          <a:p>
            <a:pPr>
              <a:spcAft>
                <a:spcPts val="600"/>
              </a:spcAft>
              <a:defRPr sz="1700" b="0">
                <a:solidFill>
                  <a:srgbClr val="202B32"/>
                </a:solidFill>
                <a:latin typeface="Aptos"/>
              </a:defRPr>
            </a:pPr>
            <a:r>
              <a:t>recommendation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Topic Scope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Beginner projects work best when they are narrow</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48132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1554480"/>
            <a:ext cx="10122408" cy="512064"/>
          </a:xfrm>
          <a:prstGeom prst="rect">
            <a:avLst/>
          </a:prstGeom>
          <a:noFill/>
        </p:spPr>
        <p:txBody>
          <a:bodyPr wrap="square">
            <a:noAutofit/>
          </a:bodyPr>
          <a:lstStyle/>
          <a:p>
            <a:pPr>
              <a:spcAft>
                <a:spcPts val="600"/>
              </a:spcAft>
              <a:defRPr sz="1800" b="0">
                <a:solidFill>
                  <a:srgbClr val="162635"/>
                </a:solidFill>
                <a:latin typeface="Aptos"/>
              </a:defRPr>
            </a:pPr>
            <a:r>
              <a:t>Too broad: Is AI dangerous?</a:t>
            </a:r>
          </a:p>
        </p:txBody>
      </p:sp>
      <p:sp>
        <p:nvSpPr>
          <p:cNvPr id="7" name="Rounded Rectangle 6"/>
          <p:cNvSpPr/>
          <p:nvPr/>
        </p:nvSpPr>
        <p:spPr>
          <a:xfrm>
            <a:off x="868680" y="2267712"/>
            <a:ext cx="10378440" cy="658368"/>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340864"/>
            <a:ext cx="10122408" cy="512064"/>
          </a:xfrm>
          <a:prstGeom prst="rect">
            <a:avLst/>
          </a:prstGeom>
          <a:noFill/>
        </p:spPr>
        <p:txBody>
          <a:bodyPr wrap="square">
            <a:noAutofit/>
          </a:bodyPr>
          <a:lstStyle/>
          <a:p>
            <a:pPr>
              <a:spcAft>
                <a:spcPts val="600"/>
              </a:spcAft>
              <a:defRPr sz="1800" b="0">
                <a:solidFill>
                  <a:srgbClr val="162635"/>
                </a:solidFill>
                <a:latin typeface="Aptos"/>
              </a:defRPr>
            </a:pPr>
            <a:r>
              <a:t>Better: How can AI hiring tools create privacy and bias risks?</a:t>
            </a:r>
          </a:p>
        </p:txBody>
      </p:sp>
      <p:sp>
        <p:nvSpPr>
          <p:cNvPr id="9" name="Rounded Rectangle 8"/>
          <p:cNvSpPr/>
          <p:nvPr/>
        </p:nvSpPr>
        <p:spPr>
          <a:xfrm>
            <a:off x="868680" y="3054096"/>
            <a:ext cx="10378440" cy="658368"/>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3127248"/>
            <a:ext cx="10122408" cy="512064"/>
          </a:xfrm>
          <a:prstGeom prst="rect">
            <a:avLst/>
          </a:prstGeom>
          <a:noFill/>
        </p:spPr>
        <p:txBody>
          <a:bodyPr wrap="square">
            <a:noAutofit/>
          </a:bodyPr>
          <a:lstStyle/>
          <a:p>
            <a:pPr>
              <a:spcAft>
                <a:spcPts val="600"/>
              </a:spcAft>
              <a:defRPr sz="1800" b="0">
                <a:solidFill>
                  <a:srgbClr val="162635"/>
                </a:solidFill>
                <a:latin typeface="Aptos"/>
              </a:defRPr>
            </a:pPr>
            <a:r>
              <a:t>Too broad: What is hacking?</a:t>
            </a:r>
          </a:p>
        </p:txBody>
      </p:sp>
      <p:sp>
        <p:nvSpPr>
          <p:cNvPr id="11" name="Rounded Rectangle 10"/>
          <p:cNvSpPr/>
          <p:nvPr/>
        </p:nvSpPr>
        <p:spPr>
          <a:xfrm>
            <a:off x="868680" y="3840480"/>
            <a:ext cx="10378440" cy="658368"/>
          </a:xfrm>
          <a:prstGeom prst="roundRect">
            <a:avLst/>
          </a:prstGeom>
          <a:solidFill>
            <a:srgbClr val="EDDDD3"/>
          </a:solidFill>
          <a:ln>
            <a:solidFill>
              <a:srgbClr val="ED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913632"/>
            <a:ext cx="10122408" cy="512064"/>
          </a:xfrm>
          <a:prstGeom prst="rect">
            <a:avLst/>
          </a:prstGeom>
          <a:noFill/>
        </p:spPr>
        <p:txBody>
          <a:bodyPr wrap="square">
            <a:noAutofit/>
          </a:bodyPr>
          <a:lstStyle/>
          <a:p>
            <a:pPr>
              <a:spcAft>
                <a:spcPts val="600"/>
              </a:spcAft>
              <a:defRPr sz="1800" b="0">
                <a:solidFill>
                  <a:srgbClr val="162635"/>
                </a:solidFill>
                <a:latin typeface="Aptos"/>
              </a:defRPr>
            </a:pPr>
            <a:r>
              <a:t>Better: How can login logs reveal password-spray behavior?</a:t>
            </a:r>
          </a:p>
        </p:txBody>
      </p:sp>
      <p:sp>
        <p:nvSpPr>
          <p:cNvPr id="13" name="Rounded Rectangle 12"/>
          <p:cNvSpPr/>
          <p:nvPr/>
        </p:nvSpPr>
        <p:spPr>
          <a:xfrm>
            <a:off x="868680" y="4626864"/>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00016"/>
            <a:ext cx="10122408" cy="512064"/>
          </a:xfrm>
          <a:prstGeom prst="rect">
            <a:avLst/>
          </a:prstGeom>
          <a:noFill/>
        </p:spPr>
        <p:txBody>
          <a:bodyPr wrap="square">
            <a:noAutofit/>
          </a:bodyPr>
          <a:lstStyle/>
          <a:p>
            <a:pPr>
              <a:spcAft>
                <a:spcPts val="600"/>
              </a:spcAft>
              <a:defRPr sz="1800" b="0">
                <a:solidFill>
                  <a:srgbClr val="162635"/>
                </a:solidFill>
                <a:latin typeface="Aptos"/>
              </a:defRPr>
            </a:pPr>
            <a:r>
              <a:t>Too broad: Is cloud secure?</a:t>
            </a:r>
          </a:p>
        </p:txBody>
      </p:sp>
      <p:sp>
        <p:nvSpPr>
          <p:cNvPr id="15" name="Rounded Rectangle 14"/>
          <p:cNvSpPr/>
          <p:nvPr/>
        </p:nvSpPr>
        <p:spPr>
          <a:xfrm>
            <a:off x="868680" y="541324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5486400"/>
            <a:ext cx="10122408" cy="512064"/>
          </a:xfrm>
          <a:prstGeom prst="rect">
            <a:avLst/>
          </a:prstGeom>
          <a:noFill/>
        </p:spPr>
        <p:txBody>
          <a:bodyPr wrap="square">
            <a:noAutofit/>
          </a:bodyPr>
          <a:lstStyle/>
          <a:p>
            <a:pPr>
              <a:spcAft>
                <a:spcPts val="600"/>
              </a:spcAft>
              <a:defRPr sz="1800" b="0">
                <a:solidFill>
                  <a:srgbClr val="162635"/>
                </a:solidFill>
                <a:latin typeface="Aptos"/>
              </a:defRPr>
            </a:pPr>
            <a:r>
              <a:t>Better: What controls reduce cloud database exposure?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Evidence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Good final projects use evidence, not just opinion</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Code evidence</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800" b="0">
                <a:solidFill>
                  <a:srgbClr val="202B32"/>
                </a:solidFill>
                <a:latin typeface="Aptos"/>
              </a:defRPr>
            </a:pPr>
            <a:r>
              <a:t>tables</a:t>
            </a:r>
          </a:p>
          <a:p>
            <a:pPr>
              <a:spcAft>
                <a:spcPts val="600"/>
              </a:spcAft>
              <a:defRPr sz="1800" b="0">
                <a:solidFill>
                  <a:srgbClr val="202B32"/>
                </a:solidFill>
                <a:latin typeface="Aptos"/>
              </a:defRPr>
            </a:pPr>
            <a:r>
              <a:t>charts</a:t>
            </a:r>
          </a:p>
          <a:p>
            <a:pPr>
              <a:spcAft>
                <a:spcPts val="600"/>
              </a:spcAft>
              <a:defRPr sz="1800" b="0">
                <a:solidFill>
                  <a:srgbClr val="202B32"/>
                </a:solidFill>
                <a:latin typeface="Aptos"/>
              </a:defRPr>
            </a:pPr>
            <a:r>
              <a:t>counts</a:t>
            </a:r>
          </a:p>
          <a:p>
            <a:pPr>
              <a:spcAft>
                <a:spcPts val="600"/>
              </a:spcAft>
              <a:defRPr sz="1800" b="0">
                <a:solidFill>
                  <a:srgbClr val="202B32"/>
                </a:solidFill>
                <a:latin typeface="Aptos"/>
              </a:defRPr>
            </a:pPr>
            <a:r>
              <a:t>risk scores</a:t>
            </a:r>
          </a:p>
          <a:p>
            <a:pPr>
              <a:spcAft>
                <a:spcPts val="600"/>
              </a:spcAft>
              <a:defRPr sz="1800" b="0">
                <a:solidFill>
                  <a:srgbClr val="202B32"/>
                </a:solidFill>
                <a:latin typeface="Aptos"/>
              </a:defRPr>
            </a:pPr>
            <a:r>
              <a:t>data dictionary</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Research evidence</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official docs</a:t>
            </a:r>
          </a:p>
          <a:p>
            <a:pPr>
              <a:spcAft>
                <a:spcPts val="600"/>
              </a:spcAft>
              <a:defRPr sz="1700" b="0">
                <a:solidFill>
                  <a:srgbClr val="202B32"/>
                </a:solidFill>
                <a:latin typeface="Aptos"/>
              </a:defRPr>
            </a:pPr>
            <a:r>
              <a:t>standards</a:t>
            </a:r>
          </a:p>
          <a:p>
            <a:pPr>
              <a:spcAft>
                <a:spcPts val="600"/>
              </a:spcAft>
              <a:defRPr sz="1700" b="0">
                <a:solidFill>
                  <a:srgbClr val="202B32"/>
                </a:solidFill>
                <a:latin typeface="Aptos"/>
              </a:defRPr>
            </a:pPr>
            <a:r>
              <a:t>case reports</a:t>
            </a:r>
          </a:p>
          <a:p>
            <a:pPr>
              <a:spcAft>
                <a:spcPts val="600"/>
              </a:spcAft>
              <a:defRPr sz="1700" b="0">
                <a:solidFill>
                  <a:srgbClr val="202B32"/>
                </a:solidFill>
                <a:latin typeface="Aptos"/>
              </a:defRPr>
            </a:pPr>
            <a:r>
              <a:t>news investigation</a:t>
            </a:r>
          </a:p>
          <a:p>
            <a:pPr>
              <a:spcAft>
                <a:spcPts val="600"/>
              </a:spcAft>
              <a:defRPr sz="1700" b="0">
                <a:solidFill>
                  <a:srgbClr val="202B32"/>
                </a:solidFill>
                <a:latin typeface="Aptos"/>
              </a:defRPr>
            </a:pPr>
            <a:r>
              <a:t>academic source</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Course evidence</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authentication</a:t>
            </a:r>
          </a:p>
          <a:p>
            <a:pPr>
              <a:spcAft>
                <a:spcPts val="600"/>
              </a:spcAft>
              <a:defRPr sz="1700" b="0">
                <a:solidFill>
                  <a:srgbClr val="202B32"/>
                </a:solidFill>
                <a:latin typeface="Aptos"/>
              </a:defRPr>
            </a:pPr>
            <a:r>
              <a:t>access control</a:t>
            </a:r>
          </a:p>
          <a:p>
            <a:pPr>
              <a:spcAft>
                <a:spcPts val="600"/>
              </a:spcAft>
              <a:defRPr sz="1700" b="0">
                <a:solidFill>
                  <a:srgbClr val="202B32"/>
                </a:solidFill>
                <a:latin typeface="Aptos"/>
              </a:defRPr>
            </a:pPr>
            <a:r>
              <a:t>databases</a:t>
            </a:r>
          </a:p>
          <a:p>
            <a:pPr>
              <a:spcAft>
                <a:spcPts val="600"/>
              </a:spcAft>
              <a:defRPr sz="1700" b="0">
                <a:solidFill>
                  <a:srgbClr val="202B32"/>
                </a:solidFill>
                <a:latin typeface="Aptos"/>
              </a:defRPr>
            </a:pPr>
            <a:r>
              <a:t>cloud</a:t>
            </a:r>
          </a:p>
          <a:p>
            <a:pPr>
              <a:spcAft>
                <a:spcPts val="600"/>
              </a:spcAft>
              <a:defRPr sz="1700" b="0">
                <a:solidFill>
                  <a:srgbClr val="202B32"/>
                </a:solidFill>
                <a:latin typeface="Aptos"/>
              </a:defRPr>
            </a:pPr>
            <a:r>
              <a:t>privacy</a:t>
            </a:r>
          </a:p>
          <a:p>
            <a:pPr>
              <a:spcAft>
                <a:spcPts val="600"/>
              </a:spcAft>
              <a:defRPr sz="1700" b="0">
                <a:solidFill>
                  <a:srgbClr val="202B32"/>
                </a:solidFill>
                <a:latin typeface="Aptos"/>
              </a:defRPr>
            </a:pPr>
            <a:r>
              <a:t>ethics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Responsibility</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Responsible project boundaries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Allowed</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fictional data</a:t>
            </a:r>
          </a:p>
          <a:p>
            <a:pPr>
              <a:spcAft>
                <a:spcPts val="600"/>
              </a:spcAft>
              <a:defRPr sz="1700" b="0">
                <a:solidFill>
                  <a:srgbClr val="202B32"/>
                </a:solidFill>
                <a:latin typeface="Aptos"/>
              </a:defRPr>
            </a:pPr>
            <a:r>
              <a:t>provided class CSVs</a:t>
            </a:r>
          </a:p>
          <a:p>
            <a:pPr>
              <a:spcAft>
                <a:spcPts val="600"/>
              </a:spcAft>
              <a:defRPr sz="1700" b="0">
                <a:solidFill>
                  <a:srgbClr val="202B32"/>
                </a:solidFill>
                <a:latin typeface="Aptos"/>
              </a:defRPr>
            </a:pPr>
            <a:r>
              <a:t>public sources</a:t>
            </a:r>
          </a:p>
          <a:p>
            <a:pPr>
              <a:spcAft>
                <a:spcPts val="600"/>
              </a:spcAft>
              <a:defRPr sz="1700" b="0">
                <a:solidFill>
                  <a:srgbClr val="202B32"/>
                </a:solidFill>
                <a:latin typeface="Aptos"/>
              </a:defRPr>
            </a:pPr>
            <a:r>
              <a:t>official documentation</a:t>
            </a:r>
          </a:p>
          <a:p>
            <a:pPr>
              <a:spcAft>
                <a:spcPts val="600"/>
              </a:spcAft>
              <a:defRPr sz="1700" b="0">
                <a:solidFill>
                  <a:srgbClr val="202B32"/>
                </a:solidFill>
                <a:latin typeface="Aptos"/>
              </a:defRPr>
            </a:pPr>
            <a:r>
              <a:t>safe analysis and critique</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Not allowed</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attacking real systems</a:t>
            </a:r>
          </a:p>
          <a:p>
            <a:pPr>
              <a:spcAft>
                <a:spcPts val="600"/>
              </a:spcAft>
              <a:defRPr sz="1700" b="0">
                <a:solidFill>
                  <a:srgbClr val="202B32"/>
                </a:solidFill>
                <a:latin typeface="Aptos"/>
              </a:defRPr>
            </a:pPr>
            <a:r>
              <a:t>scanning websites without permission</a:t>
            </a:r>
          </a:p>
          <a:p>
            <a:pPr>
              <a:spcAft>
                <a:spcPts val="600"/>
              </a:spcAft>
              <a:defRPr sz="1700" b="0">
                <a:solidFill>
                  <a:srgbClr val="202B32"/>
                </a:solidFill>
                <a:latin typeface="Aptos"/>
              </a:defRPr>
            </a:pPr>
            <a:r>
              <a:t>collecting private data from real people</a:t>
            </a:r>
          </a:p>
          <a:p>
            <a:pPr>
              <a:spcAft>
                <a:spcPts val="600"/>
              </a:spcAft>
              <a:defRPr sz="1700" b="0">
                <a:solidFill>
                  <a:srgbClr val="202B32"/>
                </a:solidFill>
                <a:latin typeface="Aptos"/>
              </a:defRPr>
            </a:pPr>
            <a:r>
              <a:t>building malware or phishing tools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Proposal</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The in-class lab turns a topic into a plan</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Question</a:t>
            </a:r>
          </a:p>
        </p:txBody>
      </p:sp>
      <p:sp>
        <p:nvSpPr>
          <p:cNvPr id="7" name="TextBox 6"/>
          <p:cNvSpPr txBox="1"/>
          <p:nvPr/>
        </p:nvSpPr>
        <p:spPr>
          <a:xfrm>
            <a:off x="978408"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What exactly are you investigating?</a:t>
            </a:r>
          </a:p>
          <a:p>
            <a:pPr>
              <a:spcAft>
                <a:spcPts val="600"/>
              </a:spcAft>
              <a:defRPr sz="1700" b="0">
                <a:solidFill>
                  <a:srgbClr val="202B32"/>
                </a:solidFill>
                <a:latin typeface="Aptos"/>
              </a:defRPr>
            </a:pPr>
            <a:r>
              <a:t>What system, case, or dataset is involved?</a:t>
            </a:r>
          </a:p>
        </p:txBody>
      </p:sp>
      <p:sp>
        <p:nvSpPr>
          <p:cNvPr id="8" name="Rounded Rectangle 7"/>
          <p:cNvSpPr/>
          <p:nvPr/>
        </p:nvSpPr>
        <p:spPr>
          <a:xfrm>
            <a:off x="4315968"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53128"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Evidence</a:t>
            </a:r>
          </a:p>
        </p:txBody>
      </p:sp>
      <p:sp>
        <p:nvSpPr>
          <p:cNvPr id="10" name="TextBox 9"/>
          <p:cNvSpPr txBox="1"/>
          <p:nvPr/>
        </p:nvSpPr>
        <p:spPr>
          <a:xfrm>
            <a:off x="4517136"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What data or sources will you use?</a:t>
            </a:r>
          </a:p>
          <a:p>
            <a:pPr>
              <a:spcAft>
                <a:spcPts val="600"/>
              </a:spcAft>
              <a:defRPr sz="1700" b="0">
                <a:solidFill>
                  <a:srgbClr val="202B32"/>
                </a:solidFill>
                <a:latin typeface="Aptos"/>
              </a:defRPr>
            </a:pPr>
            <a:r>
              <a:t>Are they safe and credible?</a:t>
            </a:r>
          </a:p>
        </p:txBody>
      </p:sp>
      <p:sp>
        <p:nvSpPr>
          <p:cNvPr id="11" name="Rounded Rectangle 10"/>
          <p:cNvSpPr/>
          <p:nvPr/>
        </p:nvSpPr>
        <p:spPr>
          <a:xfrm>
            <a:off x="7854696" y="1572768"/>
            <a:ext cx="324612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91856" y="170078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Plan</a:t>
            </a:r>
          </a:p>
        </p:txBody>
      </p:sp>
      <p:sp>
        <p:nvSpPr>
          <p:cNvPr id="13" name="TextBox 12"/>
          <p:cNvSpPr txBox="1"/>
          <p:nvPr/>
        </p:nvSpPr>
        <p:spPr>
          <a:xfrm>
            <a:off x="8055864" y="2139696"/>
            <a:ext cx="2843784" cy="3776472"/>
          </a:xfrm>
          <a:prstGeom prst="rect">
            <a:avLst/>
          </a:prstGeom>
          <a:noFill/>
        </p:spPr>
        <p:txBody>
          <a:bodyPr wrap="square">
            <a:noAutofit/>
          </a:bodyPr>
          <a:lstStyle/>
          <a:p>
            <a:pPr>
              <a:spcAft>
                <a:spcPts val="600"/>
              </a:spcAft>
              <a:defRPr sz="1700" b="0">
                <a:solidFill>
                  <a:srgbClr val="202B32"/>
                </a:solidFill>
                <a:latin typeface="Aptos"/>
              </a:defRPr>
            </a:pPr>
            <a:r>
              <a:t>What are your next three tasks?</a:t>
            </a:r>
          </a:p>
          <a:p>
            <a:pPr>
              <a:spcAft>
                <a:spcPts val="600"/>
              </a:spcAft>
              <a:defRPr sz="1700" b="0">
                <a:solidFill>
                  <a:srgbClr val="202B32"/>
                </a:solidFill>
                <a:latin typeface="Aptos"/>
              </a:defRPr>
            </a:pPr>
            <a:r>
              <a:t>What help do you need?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Timeline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A manageable timeline from today to presentations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68680" y="1481328"/>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 y="1554480"/>
            <a:ext cx="10122408" cy="512064"/>
          </a:xfrm>
          <a:prstGeom prst="rect">
            <a:avLst/>
          </a:prstGeom>
          <a:noFill/>
        </p:spPr>
        <p:txBody>
          <a:bodyPr wrap="square">
            <a:noAutofit/>
          </a:bodyPr>
          <a:lstStyle/>
          <a:p>
            <a:pPr>
              <a:spcAft>
                <a:spcPts val="600"/>
              </a:spcAft>
              <a:defRPr sz="1800" b="0">
                <a:solidFill>
                  <a:srgbClr val="162635"/>
                </a:solidFill>
                <a:latin typeface="Aptos"/>
              </a:defRPr>
            </a:pPr>
            <a:r>
              <a:t>Week 12: choose path, question, data or sources, and complete the in-class lab.</a:t>
            </a:r>
          </a:p>
        </p:txBody>
      </p:sp>
      <p:sp>
        <p:nvSpPr>
          <p:cNvPr id="7" name="Rounded Rectangle 6"/>
          <p:cNvSpPr/>
          <p:nvPr/>
        </p:nvSpPr>
        <p:spPr>
          <a:xfrm>
            <a:off x="868680" y="2267712"/>
            <a:ext cx="10378440" cy="658368"/>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340864"/>
            <a:ext cx="10122408" cy="512064"/>
          </a:xfrm>
          <a:prstGeom prst="rect">
            <a:avLst/>
          </a:prstGeom>
          <a:noFill/>
        </p:spPr>
        <p:txBody>
          <a:bodyPr wrap="square">
            <a:noAutofit/>
          </a:bodyPr>
          <a:lstStyle/>
          <a:p>
            <a:pPr>
              <a:spcAft>
                <a:spcPts val="600"/>
              </a:spcAft>
              <a:defRPr sz="1800" b="0">
                <a:solidFill>
                  <a:srgbClr val="162635"/>
                </a:solidFill>
                <a:latin typeface="Aptos"/>
              </a:defRPr>
            </a:pPr>
            <a:r>
              <a:t>Before Week 13: collect sources or prepare the dataset.</a:t>
            </a:r>
          </a:p>
        </p:txBody>
      </p:sp>
      <p:sp>
        <p:nvSpPr>
          <p:cNvPr id="9" name="Rounded Rectangle 8"/>
          <p:cNvSpPr/>
          <p:nvPr/>
        </p:nvSpPr>
        <p:spPr>
          <a:xfrm>
            <a:off x="868680" y="3054096"/>
            <a:ext cx="10378440" cy="658368"/>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3127248"/>
            <a:ext cx="10122408" cy="512064"/>
          </a:xfrm>
          <a:prstGeom prst="rect">
            <a:avLst/>
          </a:prstGeom>
          <a:noFill/>
        </p:spPr>
        <p:txBody>
          <a:bodyPr wrap="square">
            <a:noAutofit/>
          </a:bodyPr>
          <a:lstStyle/>
          <a:p>
            <a:pPr>
              <a:spcAft>
                <a:spcPts val="600"/>
              </a:spcAft>
              <a:defRPr sz="1800" b="0">
                <a:solidFill>
                  <a:srgbClr val="162635"/>
                </a:solidFill>
                <a:latin typeface="Aptos"/>
              </a:defRPr>
            </a:pPr>
            <a:r>
              <a:t>Week 13: build the first analysis or draft the essay argument.</a:t>
            </a:r>
          </a:p>
        </p:txBody>
      </p:sp>
      <p:sp>
        <p:nvSpPr>
          <p:cNvPr id="11" name="Rounded Rectangle 10"/>
          <p:cNvSpPr/>
          <p:nvPr/>
        </p:nvSpPr>
        <p:spPr>
          <a:xfrm>
            <a:off x="868680" y="3840480"/>
            <a:ext cx="10378440" cy="658368"/>
          </a:xfrm>
          <a:prstGeom prst="roundRect">
            <a:avLst/>
          </a:prstGeom>
          <a:solidFill>
            <a:srgbClr val="EDDDD3"/>
          </a:solidFill>
          <a:ln>
            <a:solidFill>
              <a:srgbClr val="ED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913632"/>
            <a:ext cx="10122408" cy="512064"/>
          </a:xfrm>
          <a:prstGeom prst="rect">
            <a:avLst/>
          </a:prstGeom>
          <a:noFill/>
        </p:spPr>
        <p:txBody>
          <a:bodyPr wrap="square">
            <a:noAutofit/>
          </a:bodyPr>
          <a:lstStyle/>
          <a:p>
            <a:pPr>
              <a:spcAft>
                <a:spcPts val="600"/>
              </a:spcAft>
              <a:defRPr sz="1800" b="0">
                <a:solidFill>
                  <a:srgbClr val="162635"/>
                </a:solidFill>
                <a:latin typeface="Aptos"/>
              </a:defRPr>
            </a:pPr>
            <a:r>
              <a:t>Week 14: present the project clearly and briefly.</a:t>
            </a:r>
          </a:p>
        </p:txBody>
      </p:sp>
      <p:sp>
        <p:nvSpPr>
          <p:cNvPr id="13" name="Rounded Rectangle 12"/>
          <p:cNvSpPr/>
          <p:nvPr/>
        </p:nvSpPr>
        <p:spPr>
          <a:xfrm>
            <a:off x="868680" y="4626864"/>
            <a:ext cx="10378440" cy="658368"/>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700016"/>
            <a:ext cx="10122408" cy="512064"/>
          </a:xfrm>
          <a:prstGeom prst="rect">
            <a:avLst/>
          </a:prstGeom>
          <a:noFill/>
        </p:spPr>
        <p:txBody>
          <a:bodyPr wrap="square">
            <a:noAutofit/>
          </a:bodyPr>
          <a:lstStyle/>
          <a:p>
            <a:pPr>
              <a:spcAft>
                <a:spcPts val="600"/>
              </a:spcAft>
              <a:defRPr sz="1800" b="0">
                <a:solidFill>
                  <a:srgbClr val="162635"/>
                </a:solidFill>
                <a:latin typeface="Aptos"/>
              </a:defRPr>
            </a:pPr>
            <a:r>
              <a:t>Week 15: submit the final report and wrap 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Work Time</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What to do during the second half of class</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Finish first</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choose code or essay</a:t>
            </a:r>
          </a:p>
          <a:p>
            <a:pPr>
              <a:spcAft>
                <a:spcPts val="600"/>
              </a:spcAft>
              <a:defRPr sz="1700" b="0">
                <a:solidFill>
                  <a:srgbClr val="202B32"/>
                </a:solidFill>
                <a:latin typeface="Aptos"/>
              </a:defRPr>
            </a:pPr>
            <a:r>
              <a:t>write one focused question</a:t>
            </a:r>
          </a:p>
          <a:p>
            <a:pPr>
              <a:spcAft>
                <a:spcPts val="600"/>
              </a:spcAft>
              <a:defRPr sz="1700" b="0">
                <a:solidFill>
                  <a:srgbClr val="202B32"/>
                </a:solidFill>
                <a:latin typeface="Aptos"/>
              </a:defRPr>
            </a:pPr>
            <a:r>
              <a:t>pick data or sources</a:t>
            </a:r>
          </a:p>
          <a:p>
            <a:pPr>
              <a:spcAft>
                <a:spcPts val="600"/>
              </a:spcAft>
              <a:defRPr sz="1700" b="0">
                <a:solidFill>
                  <a:srgbClr val="202B32"/>
                </a:solidFill>
                <a:latin typeface="Aptos"/>
              </a:defRPr>
            </a:pPr>
            <a:r>
              <a:t>name two course concepts</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Then start</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coding path: open a notebook and load data</a:t>
            </a:r>
          </a:p>
          <a:p>
            <a:pPr>
              <a:spcAft>
                <a:spcPts val="600"/>
              </a:spcAft>
              <a:defRPr sz="1700" b="0">
                <a:solidFill>
                  <a:srgbClr val="202B32"/>
                </a:solidFill>
                <a:latin typeface="Aptos"/>
              </a:defRPr>
            </a:pPr>
            <a:r>
              <a:t>essay path: find and evaluate sources</a:t>
            </a:r>
          </a:p>
          <a:p>
            <a:pPr>
              <a:spcAft>
                <a:spcPts val="600"/>
              </a:spcAft>
              <a:defRPr sz="1700" b="0">
                <a:solidFill>
                  <a:srgbClr val="202B32"/>
                </a:solidFill>
                <a:latin typeface="Aptos"/>
              </a:defRPr>
            </a:pPr>
            <a:r>
              <a:t>both paths: write next three tasks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24028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F79"/>
                </a:solidFill>
                <a:latin typeface="Aptos"/>
              </a:defRPr>
            </a:pPr>
            <a:r>
              <a:t>Day 2 Studio</a:t>
            </a:r>
          </a:p>
        </p:txBody>
      </p:sp>
      <p:sp>
        <p:nvSpPr>
          <p:cNvPr id="3" name="TextBox 2"/>
          <p:cNvSpPr txBox="1"/>
          <p:nvPr/>
        </p:nvSpPr>
        <p:spPr>
          <a:xfrm>
            <a:off x="548640" y="493776"/>
            <a:ext cx="10972800" cy="822960"/>
          </a:xfrm>
          <a:prstGeom prst="rect">
            <a:avLst/>
          </a:prstGeom>
          <a:noFill/>
        </p:spPr>
        <p:txBody>
          <a:bodyPr wrap="square">
            <a:spAutoFit/>
          </a:bodyPr>
          <a:lstStyle/>
          <a:p>
            <a:pPr>
              <a:defRPr sz="2200" b="1">
                <a:solidFill>
                  <a:srgbClr val="162635"/>
                </a:solidFill>
                <a:latin typeface="Aptos Display"/>
              </a:defRPr>
            </a:pPr>
            <a:r>
              <a:t>Day 2 is mostly individual final project lab time</a:t>
            </a:r>
          </a:p>
        </p:txBody>
      </p:sp>
      <p:cxnSp>
        <p:nvCxnSpPr>
          <p:cNvPr id="4" name="Connector 3"/>
          <p:cNvCxnSpPr/>
          <p:nvPr/>
        </p:nvCxnSpPr>
        <p:spPr>
          <a:xfrm>
            <a:off x="548640" y="1078992"/>
            <a:ext cx="11064240" cy="0"/>
          </a:xfrm>
          <a:prstGeom prst="line">
            <a:avLst/>
          </a:prstGeom>
          <a:ln w="12700">
            <a:solidFill>
              <a:srgbClr val="9DAD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0078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Short class framing</a:t>
            </a:r>
          </a:p>
        </p:txBody>
      </p:sp>
      <p:sp>
        <p:nvSpPr>
          <p:cNvPr id="7" name="TextBox 6"/>
          <p:cNvSpPr txBox="1"/>
          <p:nvPr/>
        </p:nvSpPr>
        <p:spPr>
          <a:xfrm>
            <a:off x="102412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review the two paths</a:t>
            </a:r>
          </a:p>
          <a:p>
            <a:pPr>
              <a:spcAft>
                <a:spcPts val="600"/>
              </a:spcAft>
              <a:defRPr sz="1700" b="0">
                <a:solidFill>
                  <a:srgbClr val="202B32"/>
                </a:solidFill>
                <a:latin typeface="Aptos"/>
              </a:defRPr>
            </a:pPr>
            <a:r>
              <a:t>check project scope</a:t>
            </a:r>
          </a:p>
          <a:p>
            <a:pPr>
              <a:spcAft>
                <a:spcPts val="600"/>
              </a:spcAft>
              <a:defRPr sz="1700" b="0">
                <a:solidFill>
                  <a:srgbClr val="202B32"/>
                </a:solidFill>
                <a:latin typeface="Aptos"/>
              </a:defRPr>
            </a:pPr>
            <a:r>
              <a:t>answer common questions</a:t>
            </a:r>
          </a:p>
          <a:p>
            <a:pPr>
              <a:spcAft>
                <a:spcPts val="600"/>
              </a:spcAft>
              <a:defRPr sz="1700" b="0">
                <a:solidFill>
                  <a:srgbClr val="202B32"/>
                </a:solidFill>
                <a:latin typeface="Aptos"/>
              </a:defRPr>
            </a:pPr>
            <a:r>
              <a:t>remind students about boundaries</a:t>
            </a:r>
          </a:p>
        </p:txBody>
      </p:sp>
      <p:sp>
        <p:nvSpPr>
          <p:cNvPr id="8" name="Rounded Rectangle 7"/>
          <p:cNvSpPr/>
          <p:nvPr/>
        </p:nvSpPr>
        <p:spPr>
          <a:xfrm>
            <a:off x="6172200" y="1572768"/>
            <a:ext cx="4983480" cy="452628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0078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Most of class</a:t>
            </a:r>
          </a:p>
        </p:txBody>
      </p:sp>
      <p:sp>
        <p:nvSpPr>
          <p:cNvPr id="10" name="TextBox 9"/>
          <p:cNvSpPr txBox="1"/>
          <p:nvPr/>
        </p:nvSpPr>
        <p:spPr>
          <a:xfrm>
            <a:off x="6373368" y="2139696"/>
            <a:ext cx="4581144" cy="3776472"/>
          </a:xfrm>
          <a:prstGeom prst="rect">
            <a:avLst/>
          </a:prstGeom>
          <a:noFill/>
        </p:spPr>
        <p:txBody>
          <a:bodyPr wrap="square">
            <a:noAutofit/>
          </a:bodyPr>
          <a:lstStyle/>
          <a:p>
            <a:pPr>
              <a:spcAft>
                <a:spcPts val="600"/>
              </a:spcAft>
              <a:defRPr sz="1700" b="0">
                <a:solidFill>
                  <a:srgbClr val="202B32"/>
                </a:solidFill>
                <a:latin typeface="Aptos"/>
              </a:defRPr>
            </a:pPr>
            <a:r>
              <a:t>finish the in-class lab</a:t>
            </a:r>
          </a:p>
          <a:p>
            <a:pPr>
              <a:spcAft>
                <a:spcPts val="600"/>
              </a:spcAft>
              <a:defRPr sz="1700" b="0">
                <a:solidFill>
                  <a:srgbClr val="202B32"/>
                </a:solidFill>
                <a:latin typeface="Aptos"/>
              </a:defRPr>
            </a:pPr>
            <a:r>
              <a:t>source or dataset check</a:t>
            </a:r>
          </a:p>
          <a:p>
            <a:pPr>
              <a:spcAft>
                <a:spcPts val="600"/>
              </a:spcAft>
              <a:defRPr sz="1700" b="0">
                <a:solidFill>
                  <a:srgbClr val="202B32"/>
                </a:solidFill>
                <a:latin typeface="Aptos"/>
              </a:defRPr>
            </a:pPr>
            <a:r>
              <a:t>outline building</a:t>
            </a:r>
          </a:p>
          <a:p>
            <a:pPr>
              <a:spcAft>
                <a:spcPts val="600"/>
              </a:spcAft>
              <a:defRPr sz="1700" b="0">
                <a:solidFill>
                  <a:srgbClr val="202B32"/>
                </a:solidFill>
                <a:latin typeface="Aptos"/>
              </a:defRPr>
            </a:pPr>
            <a:r>
              <a:t>first code cell or essay thesis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15568"/>
          </a:xfrm>
          <a:prstGeom prst="rect">
            <a:avLst/>
          </a:prstGeom>
          <a:solidFill>
            <a:srgbClr val="162635"/>
          </a:solidFill>
          <a:ln>
            <a:solidFill>
              <a:srgbClr val="1626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10972800" cy="822960"/>
          </a:xfrm>
          <a:prstGeom prst="rect">
            <a:avLst/>
          </a:prstGeom>
          <a:noFill/>
        </p:spPr>
        <p:txBody>
          <a:bodyPr wrap="none">
            <a:spAutoFit/>
          </a:bodyPr>
          <a:lstStyle/>
          <a:p>
            <a:pPr>
              <a:defRPr sz="2700" b="1">
                <a:solidFill>
                  <a:srgbClr val="FFFFFF"/>
                </a:solidFill>
                <a:latin typeface="Aptos Display"/>
              </a:defRPr>
            </a:pPr>
            <a:r>
              <a:t>End of Week 12</a:t>
            </a:r>
          </a:p>
        </p:txBody>
      </p:sp>
      <p:sp>
        <p:nvSpPr>
          <p:cNvPr id="4" name="Rounded Rectangle 3"/>
          <p:cNvSpPr/>
          <p:nvPr/>
        </p:nvSpPr>
        <p:spPr>
          <a:xfrm>
            <a:off x="749808" y="1444752"/>
            <a:ext cx="10881360" cy="822960"/>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517904"/>
            <a:ext cx="10625328" cy="676656"/>
          </a:xfrm>
          <a:prstGeom prst="rect">
            <a:avLst/>
          </a:prstGeom>
          <a:noFill/>
        </p:spPr>
        <p:txBody>
          <a:bodyPr wrap="square">
            <a:noAutofit/>
          </a:bodyPr>
          <a:lstStyle/>
          <a:p>
            <a:pPr>
              <a:spcAft>
                <a:spcPts val="600"/>
              </a:spcAft>
              <a:defRPr sz="2100" b="1">
                <a:solidFill>
                  <a:srgbClr val="162635"/>
                </a:solidFill>
                <a:latin typeface="Aptos"/>
              </a:defRPr>
            </a:pPr>
            <a:r>
              <a:t>By the end of the week, every student should know what they are making and what evidence they will use.</a:t>
            </a:r>
          </a:p>
        </p:txBody>
      </p:sp>
      <p:sp>
        <p:nvSpPr>
          <p:cNvPr id="6" name="Rounded Rectangle 5"/>
          <p:cNvSpPr/>
          <p:nvPr/>
        </p:nvSpPr>
        <p:spPr>
          <a:xfrm>
            <a:off x="86868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798064"/>
            <a:ext cx="26060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First half</a:t>
            </a:r>
          </a:p>
        </p:txBody>
      </p:sp>
      <p:sp>
        <p:nvSpPr>
          <p:cNvPr id="8" name="TextBox 7"/>
          <p:cNvSpPr txBox="1"/>
          <p:nvPr/>
        </p:nvSpPr>
        <p:spPr>
          <a:xfrm>
            <a:off x="106984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security analytics</a:t>
            </a:r>
          </a:p>
          <a:p>
            <a:pPr>
              <a:spcAft>
                <a:spcPts val="600"/>
              </a:spcAft>
              <a:defRPr sz="1800" b="0">
                <a:solidFill>
                  <a:srgbClr val="202B32"/>
                </a:solidFill>
                <a:latin typeface="Aptos"/>
              </a:defRPr>
            </a:pPr>
            <a:r>
              <a:t>metrics as evidence</a:t>
            </a:r>
          </a:p>
          <a:p>
            <a:pPr>
              <a:spcAft>
                <a:spcPts val="600"/>
              </a:spcAft>
              <a:defRPr sz="1800" b="0">
                <a:solidFill>
                  <a:srgbClr val="202B32"/>
                </a:solidFill>
                <a:latin typeface="Aptos"/>
              </a:defRPr>
            </a:pPr>
            <a:r>
              <a:t>privacy-aware monitoring</a:t>
            </a:r>
          </a:p>
        </p:txBody>
      </p:sp>
      <p:sp>
        <p:nvSpPr>
          <p:cNvPr id="9" name="Rounded Rectangle 8"/>
          <p:cNvSpPr/>
          <p:nvPr/>
        </p:nvSpPr>
        <p:spPr>
          <a:xfrm>
            <a:off x="4434840" y="2670048"/>
            <a:ext cx="333756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798064"/>
            <a:ext cx="2606040" cy="310896"/>
          </a:xfrm>
          <a:prstGeom prst="roundRect">
            <a:avLst/>
          </a:prstGeom>
          <a:solidFill>
            <a:srgbClr val="F7EFE1"/>
          </a:solidFill>
          <a:ln>
            <a:solidFill>
              <a:srgbClr val="F7EF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Second half</a:t>
            </a:r>
          </a:p>
        </p:txBody>
      </p:sp>
      <p:sp>
        <p:nvSpPr>
          <p:cNvPr id="11" name="TextBox 10"/>
          <p:cNvSpPr txBox="1"/>
          <p:nvPr/>
        </p:nvSpPr>
        <p:spPr>
          <a:xfrm>
            <a:off x="4636008" y="3236976"/>
            <a:ext cx="2935224" cy="1901952"/>
          </a:xfrm>
          <a:prstGeom prst="rect">
            <a:avLst/>
          </a:prstGeom>
          <a:noFill/>
        </p:spPr>
        <p:txBody>
          <a:bodyPr wrap="square">
            <a:noAutofit/>
          </a:bodyPr>
          <a:lstStyle/>
          <a:p>
            <a:pPr>
              <a:spcAft>
                <a:spcPts val="600"/>
              </a:spcAft>
              <a:defRPr sz="1800" b="0">
                <a:solidFill>
                  <a:srgbClr val="202B32"/>
                </a:solidFill>
                <a:latin typeface="Aptos"/>
              </a:defRPr>
            </a:pPr>
            <a:r>
              <a:t>final project choices</a:t>
            </a:r>
          </a:p>
          <a:p>
            <a:pPr>
              <a:spcAft>
                <a:spcPts val="600"/>
              </a:spcAft>
              <a:defRPr sz="1800" b="0">
                <a:solidFill>
                  <a:srgbClr val="202B32"/>
                </a:solidFill>
                <a:latin typeface="Aptos"/>
              </a:defRPr>
            </a:pPr>
            <a:r>
              <a:t>beginner project scope</a:t>
            </a:r>
          </a:p>
          <a:p>
            <a:pPr>
              <a:spcAft>
                <a:spcPts val="600"/>
              </a:spcAft>
              <a:defRPr sz="1800" b="0">
                <a:solidFill>
                  <a:srgbClr val="202B32"/>
                </a:solidFill>
                <a:latin typeface="Aptos"/>
              </a:defRPr>
            </a:pPr>
            <a:r>
              <a:t>in-class lab due today</a:t>
            </a:r>
          </a:p>
        </p:txBody>
      </p:sp>
      <p:sp>
        <p:nvSpPr>
          <p:cNvPr id="12" name="Rounded Rectangle 11"/>
          <p:cNvSpPr/>
          <p:nvPr/>
        </p:nvSpPr>
        <p:spPr>
          <a:xfrm>
            <a:off x="8001000" y="2670048"/>
            <a:ext cx="3063240" cy="2651760"/>
          </a:xfrm>
          <a:prstGeom prst="roundRect">
            <a:avLst/>
          </a:prstGeom>
          <a:solidFill>
            <a:srgbClr val="FFFFFF"/>
          </a:solidFill>
          <a:ln>
            <a:solidFill>
              <a:srgbClr val="9DAD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798064"/>
            <a:ext cx="2606040" cy="310896"/>
          </a:xfrm>
          <a:prstGeom prst="roundRect">
            <a:avLst/>
          </a:prstGeom>
          <a:solidFill>
            <a:srgbClr val="E5F0F4"/>
          </a:solidFill>
          <a:ln>
            <a:solidFill>
              <a:srgbClr val="E5F0F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62635"/>
                </a:solidFill>
                <a:latin typeface="Aptos"/>
              </a:defRPr>
            </a:pPr>
            <a:r>
              <a:t>Work mode</a:t>
            </a:r>
          </a:p>
        </p:txBody>
      </p:sp>
      <p:sp>
        <p:nvSpPr>
          <p:cNvPr id="14" name="TextBox 13"/>
          <p:cNvSpPr txBox="1"/>
          <p:nvPr/>
        </p:nvSpPr>
        <p:spPr>
          <a:xfrm>
            <a:off x="8202168" y="3236976"/>
            <a:ext cx="2660904" cy="1901952"/>
          </a:xfrm>
          <a:prstGeom prst="rect">
            <a:avLst/>
          </a:prstGeom>
          <a:noFill/>
        </p:spPr>
        <p:txBody>
          <a:bodyPr wrap="square">
            <a:noAutofit/>
          </a:bodyPr>
          <a:lstStyle/>
          <a:p>
            <a:pPr>
              <a:spcAft>
                <a:spcPts val="600"/>
              </a:spcAft>
              <a:defRPr sz="1800" b="0">
                <a:solidFill>
                  <a:srgbClr val="202B32"/>
                </a:solidFill>
                <a:latin typeface="Aptos"/>
              </a:defRPr>
            </a:pPr>
            <a:r>
              <a:t>individual work</a:t>
            </a:r>
          </a:p>
          <a:p>
            <a:pPr>
              <a:spcAft>
                <a:spcPts val="600"/>
              </a:spcAft>
              <a:defRPr sz="1800" b="0">
                <a:solidFill>
                  <a:srgbClr val="202B32"/>
                </a:solidFill>
                <a:latin typeface="Aptos"/>
              </a:defRPr>
            </a:pPr>
            <a:r>
              <a:t>specific topic</a:t>
            </a:r>
          </a:p>
          <a:p>
            <a:pPr>
              <a:spcAft>
                <a:spcPts val="600"/>
              </a:spcAft>
              <a:defRPr sz="1800" b="0">
                <a:solidFill>
                  <a:srgbClr val="202B32"/>
                </a:solidFill>
                <a:latin typeface="Aptos"/>
              </a:defRPr>
            </a:pPr>
            <a:r>
              <a:t>clear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