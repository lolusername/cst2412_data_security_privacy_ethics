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Today is about continuing the final project in a practical way. We are going to look at several dataset sources: NYC Open Data, CISA's Known Exploited Vulnerabilities Catalog, the National Vulnerability Database, the HHS breach portal, Data.gov, and Kaggle. The main skill is not advanced coding. The main skill is understanding what the dataset means before making claims about it. By the end of class, you should have a dataset choice, a mini data dictionary, notes about security, privacy, and ethics concerns, and a clearer idea of whether that dataset can support your final project.</a:t>
            </a:r>
          </a:p>
          <a:p/>
          <a:p>
            <a:r>
              <a:t>Mention:</a:t>
            </a:r>
          </a:p>
          <a:p>
            <a:r>
              <a:t>- Introduce several sources, not just NYC Open Data.</a:t>
            </a:r>
          </a:p>
          <a:p>
            <a:r>
              <a:t>- The class product is the lab submission.</a:t>
            </a:r>
          </a:p>
          <a:p>
            <a:r>
              <a:t>- Emphasize understanding before analysis.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Last class focused on security metrics and final project options. Today continues that work by moving from a provided class dataset to a dataset students find themselves. This is a realistic step. In many data projects, the hardest first question is not what code to write. It is whether the dataset actually means what you think it means. A data dictionary helps answer that question.</a:t>
            </a:r>
          </a:p>
          <a:p/>
          <a:p>
            <a:r>
              <a:t>Mention:</a:t>
            </a:r>
          </a:p>
          <a:p>
            <a:r>
              <a:t>- This is still Week 12 data analytics.</a:t>
            </a:r>
          </a:p>
          <a:p>
            <a:r>
              <a:t>- The final project connection is practical.</a:t>
            </a:r>
          </a:p>
          <a:p>
            <a:r>
              <a:t>- Students are learning how to inspect evidence.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Students are not limited to NYC Open Data. NYC Open Data is the easiest starter source because it is searchable and browser-friendly, but this is a data security and privacy course, so students should also see more directly security-related sources. CISA's Known Exploited Vulnerabilities Catalog is good for vulnerability and patching questions. NVD is useful for CVE data, though it is more technical. The HHS breach portal is useful for privacy and health data breach questions. Data.gov is broad, and Kaggle is optional if students already have access.</a:t>
            </a:r>
          </a:p>
          <a:p/>
          <a:p>
            <a:r>
              <a:t>Mention:</a:t>
            </a:r>
          </a:p>
          <a:p>
            <a:r>
              <a:t>- NYC Open Data is the easiest default, not the only option.</a:t>
            </a:r>
          </a:p>
          <a:p>
            <a:r>
              <a:t>- CISA KEV and NVD give security-specific datasets.</a:t>
            </a:r>
          </a:p>
          <a:p>
            <a:r>
              <a:t>- HHS breach data connects security directly to privacy.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A good dataset search starts with a course theme. Students should not search randomly and then force a topic later. They can look for public safety, transportation, housing, health, education, inspections, complaints, public infrastructure, or technology access. The best dataset for this assignment is not necessarily the biggest dataset. The best dataset is one where the rows and columns can support a focused final project question.</a:t>
            </a:r>
          </a:p>
          <a:p/>
          <a:p>
            <a:r>
              <a:t>Mention:</a:t>
            </a:r>
          </a:p>
          <a:p>
            <a:r>
              <a:t>- Encourage focused searching.</a:t>
            </a:r>
          </a:p>
          <a:p>
            <a:r>
              <a:t>- A manageable dataset is better than a huge confusing one.</a:t>
            </a:r>
          </a:p>
          <a:p>
            <a:r>
              <a:t>- The dataset should connect to a course concept.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Before we can talk about a data dictionary, we need the basic vocabulary. A row is one record. Depending on the dataset, that might mean one collision, one complaint, one inspection, one system, or one login event. A column is one field or attribute, such as date, location, category, status, or count. A value is the actual cell entry. If students know rows, columns, and values, they can begin reading almost any table.</a:t>
            </a:r>
          </a:p>
          <a:p/>
          <a:p>
            <a:r>
              <a:t>Mention:</a:t>
            </a:r>
          </a:p>
          <a:p>
            <a:r>
              <a:t>- Do not assume students are fully comfortable with table vocabulary.</a:t>
            </a:r>
          </a:p>
          <a:p>
            <a:r>
              <a:t>- Ask what one row means in every dataset.</a:t>
            </a:r>
          </a:p>
          <a:p>
            <a:r>
              <a:t>- One row meaning controls the whole analysis.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A data dictionary is a guide to the dataset. It explains what the columns mean. This matters because column names are often written for databases, not for readers. They may use abbreviations, codes, or assumptions that are not obvious. A data dictionary helps students avoid guessing. It turns a dataset from a pile of columns into evidence that can be explained.</a:t>
            </a:r>
          </a:p>
          <a:p/>
          <a:p>
            <a:r>
              <a:t>Mention:</a:t>
            </a:r>
          </a:p>
          <a:p>
            <a:r>
              <a:t>- Data dictionary equals guide to columns.</a:t>
            </a:r>
          </a:p>
          <a:p>
            <a:r>
              <a:t>- It prevents wrong assumptions.</a:t>
            </a:r>
          </a:p>
          <a:p>
            <a:r>
              <a:t>- It supports both coding projects and MLA essays.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For this class, the data dictionary does not need to be huge. Students should choose six to eight important columns and document them carefully. Each entry should include the exact column name, a plain English meaning, the data type, an example value, whether anything is missing or unclear, and any security, privacy, or ethics concern. This is enough to show that they understand the dataset before using it.</a:t>
            </a:r>
          </a:p>
          <a:p/>
          <a:p>
            <a:r>
              <a:t>Mention:</a:t>
            </a:r>
          </a:p>
          <a:p>
            <a:r>
              <a:t>- Six to eight columns is enough.</a:t>
            </a:r>
          </a:p>
          <a:p>
            <a:r>
              <a:t>- Plain English meaning is the most important part.</a:t>
            </a:r>
          </a:p>
          <a:p>
            <a:r>
              <a:t>- Concerns can be 'none obvious' if appropriate.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A column is not automatically good or bad. The same column can be useful for analysis and risky if used carelessly. Dates help us see patterns over time. Locations help us compare places. Categories help us group records. But time and location can also reveal patterns about people. Categories can reflect bias. Missing values can make the analysis misleading. This is why the data dictionary includes a concern column.</a:t>
            </a:r>
          </a:p>
          <a:p/>
          <a:p>
            <a:r>
              <a:t>Mention:</a:t>
            </a:r>
          </a:p>
          <a:p>
            <a:r>
              <a:t>- Useful does not mean risk-free.</a:t>
            </a:r>
          </a:p>
          <a:p>
            <a:r>
              <a:t>- Students should connect data structure to ethics.</a:t>
            </a:r>
          </a:p>
          <a:p>
            <a:r>
              <a:t>- This supports final project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When looking at a public dataset from a security perspective, students should ask whether the data reveals something about systems, access, infrastructure, or misuse. Many civic datasets are not cybersecurity datasets, but they can still have security dimensions. A dataset about facilities, outages, complaints, or inspections may reveal patterns about infrastructure. The point is not to exaggerate risk. The point is to document what a responsible reader should notice.</a:t>
            </a:r>
          </a:p>
          <a:p/>
          <a:p>
            <a:r>
              <a:t>Mention:</a:t>
            </a:r>
          </a:p>
          <a:p>
            <a:r>
              <a:t>- Security concern does not have to mean hacking.</a:t>
            </a:r>
          </a:p>
          <a:p>
            <a:r>
              <a:t>- Infrastructure and operational patterns can matter.</a:t>
            </a:r>
          </a:p>
          <a:p>
            <a:r>
              <a:t>- Document concerns in plain language.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Privacy is not only about whether a dataset has names. Privacy risk can be direct, indirect, or linked. Direct identifiers are obvious fields like names or IDs. Indirect identifiers include time, location, small groups, or rare categories. Linkability means that columns or datasets can be combined to reveal more than one dataset shows by itself. This connects directly to earlier course conversations about databases, big data, privacy, and linked records.</a:t>
            </a:r>
          </a:p>
          <a:p/>
          <a:p>
            <a:r>
              <a:t>Mention:</a:t>
            </a:r>
          </a:p>
          <a:p>
            <a:r>
              <a:t>- Names are not the only privacy issue.</a:t>
            </a:r>
          </a:p>
          <a:p>
            <a:r>
              <a:t>- Time and location matter.</a:t>
            </a:r>
          </a:p>
          <a:p>
            <a:r>
              <a:t>- Linkability connects to course privacy themes.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Ethics shows up in how we interpret data. A public dataset can be used to improve services, but it can also be used to blame people or places without context. Missing data is not neutral. Reports are not always confirmed facts. A responsible final project should state limitations, avoid overclaiming, explain uncertainty, and connect claims to evidence. This is true for both the coding path and the MLA essay path.</a:t>
            </a:r>
          </a:p>
          <a:p/>
          <a:p>
            <a:r>
              <a:t>Mention:</a:t>
            </a:r>
          </a:p>
          <a:p>
            <a:r>
              <a:t>- Ethics is about interpretation, not just data collection.</a:t>
            </a:r>
          </a:p>
          <a:p>
            <a:r>
              <a:t>- Students should write limitations.</a:t>
            </a:r>
          </a:p>
          <a:p>
            <a:r>
              <a:t>- Avoid overclaiming from one dataset.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The lab is structured so students do not have to guess what to do next. First they choose one dataset source and one dataset. Then they inspect it at a basic level. Then they build a mini data dictionary for six to eight columns. After that, they document concerns and connect the dataset to either the coding project or the MLA essay. Finally, they write a short reflection. The lab is due at the end of class.</a:t>
            </a:r>
          </a:p>
          <a:p/>
          <a:p>
            <a:r>
              <a:t>Mention:</a:t>
            </a:r>
          </a:p>
          <a:p>
            <a:r>
              <a:t>- The lab is individual.</a:t>
            </a:r>
          </a:p>
          <a:p>
            <a:r>
              <a:t>- Due at the end of class.</a:t>
            </a:r>
          </a:p>
          <a:p>
            <a:r>
              <a:t>- Six to eight columns, not the whole dataset.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For students considering the coding path, the dataset should support simple actions we have practiced or discussed. They can filter rows, count values, group by category, sort by date or count, or make a summary table. The job-relevant part is the explanation. What stands out? What should be reviewed? What concern or limitation matters? The code does not need to be complex to be useful.</a:t>
            </a:r>
          </a:p>
          <a:p/>
          <a:p>
            <a:r>
              <a:t>Mention:</a:t>
            </a:r>
          </a:p>
          <a:p>
            <a:r>
              <a:t>- Keep code scope small.</a:t>
            </a:r>
          </a:p>
          <a:p>
            <a:r>
              <a:t>- Use covered CSV-style skills.</a:t>
            </a:r>
          </a:p>
          <a:p>
            <a:r>
              <a:t>- The explanation is as important as the output.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For students considering the MLA essay path, a dataset can still be useful. It can illustrate a real-world pattern, a privacy concern, a public issue, or a limitation in how categories are built. But the dataset should not be the only source. The essay also needs credible sources and MLA citations. The data dictionary helps the student describe the dataset accurately instead of treating it as self-explanatory.</a:t>
            </a:r>
          </a:p>
          <a:p/>
          <a:p>
            <a:r>
              <a:t>Mention:</a:t>
            </a:r>
          </a:p>
          <a:p>
            <a:r>
              <a:t>- The essay path can use data without coding.</a:t>
            </a:r>
          </a:p>
          <a:p>
            <a:r>
              <a:t>- MLA citations still matter.</a:t>
            </a:r>
          </a:p>
          <a:p>
            <a:r>
              <a:t>- Connect data structure to argument.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There is no homework for today. Instead, we are using the last part of class to finish the dataset lab and submit it before leaving. Students should make sure their document includes the dataset choice, a mini data dictionary for six to eight columns, security, privacy, or ethics concerns, and the short reflection. The goal is to leave class with a concrete final project artifact, not with another task to do later. If students finish early, they should use the extra time to improve their final project question or identify one source they still need.</a:t>
            </a:r>
          </a:p>
          <a:p/>
          <a:p>
            <a:r>
              <a:t>Mention:</a:t>
            </a:r>
          </a:p>
          <a:p>
            <a:r>
              <a:t>- No homework today.</a:t>
            </a:r>
          </a:p>
          <a:p>
            <a:r>
              <a:t>- Submission happens before students leave.</a:t>
            </a:r>
          </a:p>
          <a:p>
            <a:r>
              <a:t>- This finish block replaces the video response.</a:t>
            </a:r>
          </a:p>
          <a:p>
            <a:r>
              <a:t>- Early finishers should improve their final project question or evidence plan.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The big takeaway from today is that responsible analysis begins before code and before argument. It begins with understanding the dataset. What does one row mean? What do the columns mean? Which values are missing or unclear? Which columns create security, privacy, or ethics concerns? If students can answer those questions, they are in a much better position to build a final project that is specific, careful, and connected to course concepts. The final step today is to submit the dataset lab before leaving class.</a:t>
            </a:r>
          </a:p>
          <a:p/>
          <a:p>
            <a:r>
              <a:t>Mention:</a:t>
            </a:r>
          </a:p>
          <a:p>
            <a:r>
              <a:t>- End with the core habit: understand before analyzing.</a:t>
            </a:r>
          </a:p>
          <a:p>
            <a:r>
              <a:t>- Students should submit the Day 2 dataset lab in class.</a:t>
            </a:r>
          </a:p>
          <a:p>
            <a:r>
              <a:t>- There is no homework for this class meeting.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15568"/>
          </a:xfrm>
          <a:prstGeom prst="rect">
            <a:avLst/>
          </a:prstGeom>
          <a:solidFill>
            <a:srgbClr val="162635"/>
          </a:solidFill>
          <a:ln>
            <a:solidFill>
              <a:srgbClr val="1626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56032"/>
            <a:ext cx="10972800" cy="822960"/>
          </a:xfrm>
          <a:prstGeom prst="rect">
            <a:avLst/>
          </a:prstGeom>
          <a:noFill/>
        </p:spPr>
        <p:txBody>
          <a:bodyPr wrap="none">
            <a:spAutoFit/>
          </a:bodyPr>
          <a:lstStyle/>
          <a:p>
            <a:pPr>
              <a:defRPr sz="2600" b="1">
                <a:solidFill>
                  <a:srgbClr val="FFFFFF"/>
                </a:solidFill>
                <a:latin typeface="Aptos Display"/>
              </a:defRPr>
            </a:pPr>
            <a:r>
              <a:t>Week 12 Day 2: Dataset Sources and Data Dictionaries</a:t>
            </a:r>
          </a:p>
        </p:txBody>
      </p:sp>
      <p:sp>
        <p:nvSpPr>
          <p:cNvPr id="4" name="Rounded Rectangle 3"/>
          <p:cNvSpPr/>
          <p:nvPr/>
        </p:nvSpPr>
        <p:spPr>
          <a:xfrm>
            <a:off x="749808" y="1444752"/>
            <a:ext cx="10881360" cy="822960"/>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 y="1517904"/>
            <a:ext cx="10625328" cy="676656"/>
          </a:xfrm>
          <a:prstGeom prst="rect">
            <a:avLst/>
          </a:prstGeom>
          <a:noFill/>
        </p:spPr>
        <p:txBody>
          <a:bodyPr wrap="square">
            <a:noAutofit/>
          </a:bodyPr>
          <a:lstStyle/>
          <a:p>
            <a:pPr>
              <a:spcAft>
                <a:spcPts val="600"/>
              </a:spcAft>
              <a:defRPr sz="2100" b="1">
                <a:solidFill>
                  <a:srgbClr val="162635"/>
                </a:solidFill>
                <a:latin typeface="Aptos"/>
              </a:defRPr>
            </a:pPr>
            <a:r>
              <a:t>Today we connect the final project to real public datasets and learn how to document what a dataset means.</a:t>
            </a:r>
          </a:p>
        </p:txBody>
      </p:sp>
      <p:sp>
        <p:nvSpPr>
          <p:cNvPr id="6" name="Rounded Rectangle 5"/>
          <p:cNvSpPr/>
          <p:nvPr/>
        </p:nvSpPr>
        <p:spPr>
          <a:xfrm>
            <a:off x="868680" y="2670048"/>
            <a:ext cx="3337560" cy="265176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5840" y="2798064"/>
            <a:ext cx="2560320" cy="310896"/>
          </a:xfrm>
          <a:prstGeom prst="roundRect">
            <a:avLst/>
          </a:prstGeom>
          <a:solidFill>
            <a:srgbClr val="E8F4ED"/>
          </a:solidFill>
          <a:ln>
            <a:solidFill>
              <a:srgbClr val="E8F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Today</a:t>
            </a:r>
          </a:p>
        </p:txBody>
      </p:sp>
      <p:sp>
        <p:nvSpPr>
          <p:cNvPr id="8" name="TextBox 7"/>
          <p:cNvSpPr txBox="1"/>
          <p:nvPr/>
        </p:nvSpPr>
        <p:spPr>
          <a:xfrm>
            <a:off x="1069848" y="3236976"/>
            <a:ext cx="2935224" cy="1901952"/>
          </a:xfrm>
          <a:prstGeom prst="rect">
            <a:avLst/>
          </a:prstGeom>
          <a:noFill/>
        </p:spPr>
        <p:txBody>
          <a:bodyPr wrap="square">
            <a:noAutofit/>
          </a:bodyPr>
          <a:lstStyle/>
          <a:p>
            <a:pPr>
              <a:spcAft>
                <a:spcPts val="600"/>
              </a:spcAft>
              <a:defRPr sz="1800" b="0">
                <a:solidFill>
                  <a:srgbClr val="202B32"/>
                </a:solidFill>
                <a:latin typeface="Aptos"/>
              </a:defRPr>
            </a:pPr>
            <a:r>
              <a:t>find a dataset</a:t>
            </a:r>
          </a:p>
          <a:p>
            <a:pPr>
              <a:spcAft>
                <a:spcPts val="600"/>
              </a:spcAft>
              <a:defRPr sz="1800" b="0">
                <a:solidFill>
                  <a:srgbClr val="202B32"/>
                </a:solidFill>
                <a:latin typeface="Aptos"/>
              </a:defRPr>
            </a:pPr>
            <a:r>
              <a:t>read its structure</a:t>
            </a:r>
          </a:p>
          <a:p>
            <a:pPr>
              <a:spcAft>
                <a:spcPts val="600"/>
              </a:spcAft>
              <a:defRPr sz="1800" b="0">
                <a:solidFill>
                  <a:srgbClr val="202B32"/>
                </a:solidFill>
                <a:latin typeface="Aptos"/>
              </a:defRPr>
            </a:pPr>
            <a:r>
              <a:t>build a mini data dictionary</a:t>
            </a:r>
          </a:p>
        </p:txBody>
      </p:sp>
      <p:sp>
        <p:nvSpPr>
          <p:cNvPr id="9" name="Rounded Rectangle 8"/>
          <p:cNvSpPr/>
          <p:nvPr/>
        </p:nvSpPr>
        <p:spPr>
          <a:xfrm>
            <a:off x="4434840" y="2670048"/>
            <a:ext cx="3337560" cy="265176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72000" y="2798064"/>
            <a:ext cx="2560320" cy="310896"/>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Why</a:t>
            </a:r>
          </a:p>
        </p:txBody>
      </p:sp>
      <p:sp>
        <p:nvSpPr>
          <p:cNvPr id="11" name="TextBox 10"/>
          <p:cNvSpPr txBox="1"/>
          <p:nvPr/>
        </p:nvSpPr>
        <p:spPr>
          <a:xfrm>
            <a:off x="4636008" y="3236976"/>
            <a:ext cx="2935224" cy="1901952"/>
          </a:xfrm>
          <a:prstGeom prst="rect">
            <a:avLst/>
          </a:prstGeom>
          <a:noFill/>
        </p:spPr>
        <p:txBody>
          <a:bodyPr wrap="square">
            <a:noAutofit/>
          </a:bodyPr>
          <a:lstStyle/>
          <a:p>
            <a:pPr>
              <a:spcAft>
                <a:spcPts val="600"/>
              </a:spcAft>
              <a:defRPr sz="1800" b="0">
                <a:solidFill>
                  <a:srgbClr val="202B32"/>
                </a:solidFill>
                <a:latin typeface="Aptos"/>
              </a:defRPr>
            </a:pPr>
            <a:r>
              <a:t>data analysis starts with understanding columns, rows, and meanings</a:t>
            </a:r>
          </a:p>
        </p:txBody>
      </p:sp>
      <p:sp>
        <p:nvSpPr>
          <p:cNvPr id="12" name="Rounded Rectangle 11"/>
          <p:cNvSpPr/>
          <p:nvPr/>
        </p:nvSpPr>
        <p:spPr>
          <a:xfrm>
            <a:off x="8001000" y="2670048"/>
            <a:ext cx="3063240" cy="265176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38160" y="2798064"/>
            <a:ext cx="256032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Output</a:t>
            </a:r>
          </a:p>
        </p:txBody>
      </p:sp>
      <p:sp>
        <p:nvSpPr>
          <p:cNvPr id="14" name="TextBox 13"/>
          <p:cNvSpPr txBox="1"/>
          <p:nvPr/>
        </p:nvSpPr>
        <p:spPr>
          <a:xfrm>
            <a:off x="8202168" y="3236976"/>
            <a:ext cx="2660904" cy="1901952"/>
          </a:xfrm>
          <a:prstGeom prst="rect">
            <a:avLst/>
          </a:prstGeom>
          <a:noFill/>
        </p:spPr>
        <p:txBody>
          <a:bodyPr wrap="square">
            <a:noAutofit/>
          </a:bodyPr>
          <a:lstStyle/>
          <a:p>
            <a:pPr>
              <a:spcAft>
                <a:spcPts val="600"/>
              </a:spcAft>
              <a:defRPr sz="1800" b="0">
                <a:solidFill>
                  <a:srgbClr val="202B32"/>
                </a:solidFill>
                <a:latin typeface="Aptos"/>
              </a:defRPr>
            </a:pPr>
            <a:r>
              <a:t>a dataset choice</a:t>
            </a:r>
          </a:p>
          <a:p>
            <a:pPr>
              <a:spcAft>
                <a:spcPts val="600"/>
              </a:spcAft>
              <a:defRPr sz="1800" b="0">
                <a:solidFill>
                  <a:srgbClr val="202B32"/>
                </a:solidFill>
                <a:latin typeface="Aptos"/>
              </a:defRPr>
            </a:pPr>
            <a:r>
              <a:t>a data dictionary</a:t>
            </a:r>
          </a:p>
          <a:p>
            <a:pPr>
              <a:spcAft>
                <a:spcPts val="600"/>
              </a:spcAft>
              <a:defRPr sz="1800" b="0">
                <a:solidFill>
                  <a:srgbClr val="202B32"/>
                </a:solidFill>
                <a:latin typeface="Aptos"/>
              </a:defRPr>
            </a:pPr>
            <a:r>
              <a:t>a final project connection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33172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F79"/>
                </a:solidFill>
                <a:latin typeface="Aptos"/>
              </a:defRPr>
            </a:pPr>
            <a:r>
              <a:t>Course Link</a:t>
            </a:r>
          </a:p>
        </p:txBody>
      </p:sp>
      <p:sp>
        <p:nvSpPr>
          <p:cNvPr id="3" name="TextBox 2"/>
          <p:cNvSpPr txBox="1"/>
          <p:nvPr/>
        </p:nvSpPr>
        <p:spPr>
          <a:xfrm>
            <a:off x="548640" y="493776"/>
            <a:ext cx="10972800" cy="841248"/>
          </a:xfrm>
          <a:prstGeom prst="rect">
            <a:avLst/>
          </a:prstGeom>
          <a:noFill/>
        </p:spPr>
        <p:txBody>
          <a:bodyPr wrap="square">
            <a:spAutoFit/>
          </a:bodyPr>
          <a:lstStyle/>
          <a:p>
            <a:pPr>
              <a:defRPr sz="2200" b="1">
                <a:solidFill>
                  <a:srgbClr val="162635"/>
                </a:solidFill>
                <a:latin typeface="Aptos Display"/>
              </a:defRPr>
            </a:pPr>
            <a:r>
              <a:t>Today continues data analytics for security</a:t>
            </a:r>
          </a:p>
        </p:txBody>
      </p:sp>
      <p:cxnSp>
        <p:nvCxnSpPr>
          <p:cNvPr id="4" name="Connector 3"/>
          <p:cNvCxnSpPr/>
          <p:nvPr/>
        </p:nvCxnSpPr>
        <p:spPr>
          <a:xfrm>
            <a:off x="548640" y="1078992"/>
            <a:ext cx="11064240" cy="0"/>
          </a:xfrm>
          <a:prstGeom prst="line">
            <a:avLst/>
          </a:prstGeom>
          <a:ln w="12700">
            <a:solidFill>
              <a:srgbClr val="9DAD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572768"/>
            <a:ext cx="498348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00784"/>
            <a:ext cx="256032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Last class</a:t>
            </a:r>
          </a:p>
        </p:txBody>
      </p:sp>
      <p:sp>
        <p:nvSpPr>
          <p:cNvPr id="7" name="TextBox 6"/>
          <p:cNvSpPr txBox="1"/>
          <p:nvPr/>
        </p:nvSpPr>
        <p:spPr>
          <a:xfrm>
            <a:off x="1024128" y="2139696"/>
            <a:ext cx="4581144" cy="3776472"/>
          </a:xfrm>
          <a:prstGeom prst="rect">
            <a:avLst/>
          </a:prstGeom>
          <a:noFill/>
        </p:spPr>
        <p:txBody>
          <a:bodyPr wrap="square">
            <a:noAutofit/>
          </a:bodyPr>
          <a:lstStyle/>
          <a:p>
            <a:pPr>
              <a:spcAft>
                <a:spcPts val="600"/>
              </a:spcAft>
              <a:defRPr sz="1700" b="0">
                <a:solidFill>
                  <a:srgbClr val="202B32"/>
                </a:solidFill>
                <a:latin typeface="Aptos"/>
              </a:defRPr>
            </a:pPr>
            <a:r>
              <a:t>security metrics</a:t>
            </a:r>
          </a:p>
          <a:p>
            <a:pPr>
              <a:spcAft>
                <a:spcPts val="600"/>
              </a:spcAft>
              <a:defRPr sz="1700" b="0">
                <a:solidFill>
                  <a:srgbClr val="202B32"/>
                </a:solidFill>
                <a:latin typeface="Aptos"/>
              </a:defRPr>
            </a:pPr>
            <a:r>
              <a:t>simple scoring</a:t>
            </a:r>
          </a:p>
          <a:p>
            <a:pPr>
              <a:spcAft>
                <a:spcPts val="600"/>
              </a:spcAft>
              <a:defRPr sz="1700" b="0">
                <a:solidFill>
                  <a:srgbClr val="202B32"/>
                </a:solidFill>
                <a:latin typeface="Aptos"/>
              </a:defRPr>
            </a:pPr>
            <a:r>
              <a:t>final project paths</a:t>
            </a:r>
          </a:p>
          <a:p>
            <a:pPr>
              <a:spcAft>
                <a:spcPts val="600"/>
              </a:spcAft>
              <a:defRPr sz="1700" b="0">
                <a:solidFill>
                  <a:srgbClr val="202B32"/>
                </a:solidFill>
                <a:latin typeface="Aptos"/>
              </a:defRPr>
            </a:pPr>
            <a:r>
              <a:t>coding or MLA essay</a:t>
            </a:r>
          </a:p>
        </p:txBody>
      </p:sp>
      <p:sp>
        <p:nvSpPr>
          <p:cNvPr id="8" name="Rounded Rectangle 7"/>
          <p:cNvSpPr/>
          <p:nvPr/>
        </p:nvSpPr>
        <p:spPr>
          <a:xfrm>
            <a:off x="6172200" y="1572768"/>
            <a:ext cx="498348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700784"/>
            <a:ext cx="2560320" cy="310896"/>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Today</a:t>
            </a:r>
          </a:p>
        </p:txBody>
      </p:sp>
      <p:sp>
        <p:nvSpPr>
          <p:cNvPr id="10" name="TextBox 9"/>
          <p:cNvSpPr txBox="1"/>
          <p:nvPr/>
        </p:nvSpPr>
        <p:spPr>
          <a:xfrm>
            <a:off x="6373368" y="2139696"/>
            <a:ext cx="4581144" cy="3776472"/>
          </a:xfrm>
          <a:prstGeom prst="rect">
            <a:avLst/>
          </a:prstGeom>
          <a:noFill/>
        </p:spPr>
        <p:txBody>
          <a:bodyPr wrap="square">
            <a:noAutofit/>
          </a:bodyPr>
          <a:lstStyle/>
          <a:p>
            <a:pPr>
              <a:spcAft>
                <a:spcPts val="600"/>
              </a:spcAft>
              <a:defRPr sz="1700" b="0">
                <a:solidFill>
                  <a:srgbClr val="202B32"/>
                </a:solidFill>
                <a:latin typeface="Aptos"/>
              </a:defRPr>
            </a:pPr>
            <a:r>
              <a:t>finding a dataset</a:t>
            </a:r>
          </a:p>
          <a:p>
            <a:pPr>
              <a:spcAft>
                <a:spcPts val="600"/>
              </a:spcAft>
              <a:defRPr sz="1700" b="0">
                <a:solidFill>
                  <a:srgbClr val="202B32"/>
                </a:solidFill>
                <a:latin typeface="Aptos"/>
              </a:defRPr>
            </a:pPr>
            <a:r>
              <a:t>reading rows and columns</a:t>
            </a:r>
          </a:p>
          <a:p>
            <a:pPr>
              <a:spcAft>
                <a:spcPts val="600"/>
              </a:spcAft>
              <a:defRPr sz="1700" b="0">
                <a:solidFill>
                  <a:srgbClr val="202B32"/>
                </a:solidFill>
                <a:latin typeface="Aptos"/>
              </a:defRPr>
            </a:pPr>
            <a:r>
              <a:t>building a data dictionary</a:t>
            </a:r>
          </a:p>
          <a:p>
            <a:pPr>
              <a:spcAft>
                <a:spcPts val="600"/>
              </a:spcAft>
              <a:defRPr sz="1700" b="0">
                <a:solidFill>
                  <a:srgbClr val="202B32"/>
                </a:solidFill>
                <a:latin typeface="Aptos"/>
              </a:defRPr>
            </a:pPr>
            <a:r>
              <a:t>documenting concerns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33172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F79"/>
                </a:solidFill>
                <a:latin typeface="Aptos"/>
              </a:defRPr>
            </a:pPr>
            <a:r>
              <a:t>Dataset Sources</a:t>
            </a:r>
          </a:p>
        </p:txBody>
      </p:sp>
      <p:sp>
        <p:nvSpPr>
          <p:cNvPr id="3" name="TextBox 2"/>
          <p:cNvSpPr txBox="1"/>
          <p:nvPr/>
        </p:nvSpPr>
        <p:spPr>
          <a:xfrm>
            <a:off x="548640" y="493776"/>
            <a:ext cx="10972800" cy="841248"/>
          </a:xfrm>
          <a:prstGeom prst="rect">
            <a:avLst/>
          </a:prstGeom>
          <a:noFill/>
        </p:spPr>
        <p:txBody>
          <a:bodyPr wrap="square">
            <a:spAutoFit/>
          </a:bodyPr>
          <a:lstStyle/>
          <a:p>
            <a:pPr>
              <a:defRPr sz="2200" b="1">
                <a:solidFill>
                  <a:srgbClr val="162635"/>
                </a:solidFill>
                <a:latin typeface="Aptos Display"/>
              </a:defRPr>
            </a:pPr>
            <a:r>
              <a:t>Several public dataset sources can work for this lesson</a:t>
            </a:r>
          </a:p>
        </p:txBody>
      </p:sp>
      <p:cxnSp>
        <p:nvCxnSpPr>
          <p:cNvPr id="4" name="Connector 3"/>
          <p:cNvCxnSpPr/>
          <p:nvPr/>
        </p:nvCxnSpPr>
        <p:spPr>
          <a:xfrm>
            <a:off x="548640" y="1078992"/>
            <a:ext cx="11064240" cy="0"/>
          </a:xfrm>
          <a:prstGeom prst="line">
            <a:avLst/>
          </a:prstGeom>
          <a:ln w="12700">
            <a:solidFill>
              <a:srgbClr val="9DAD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572768"/>
            <a:ext cx="324612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1700784"/>
            <a:ext cx="256032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Civic data</a:t>
            </a:r>
          </a:p>
        </p:txBody>
      </p:sp>
      <p:sp>
        <p:nvSpPr>
          <p:cNvPr id="7" name="TextBox 6"/>
          <p:cNvSpPr txBox="1"/>
          <p:nvPr/>
        </p:nvSpPr>
        <p:spPr>
          <a:xfrm>
            <a:off x="978408" y="2139696"/>
            <a:ext cx="2843784" cy="3776472"/>
          </a:xfrm>
          <a:prstGeom prst="rect">
            <a:avLst/>
          </a:prstGeom>
          <a:noFill/>
        </p:spPr>
        <p:txBody>
          <a:bodyPr wrap="square">
            <a:noAutofit/>
          </a:bodyPr>
          <a:lstStyle/>
          <a:p>
            <a:pPr>
              <a:spcAft>
                <a:spcPts val="600"/>
              </a:spcAft>
              <a:defRPr sz="1700" b="0">
                <a:solidFill>
                  <a:srgbClr val="202B32"/>
                </a:solidFill>
                <a:latin typeface="Aptos"/>
              </a:defRPr>
            </a:pPr>
            <a:r>
              <a:t>NYC Open Data</a:t>
            </a:r>
          </a:p>
          <a:p>
            <a:pPr>
              <a:spcAft>
                <a:spcPts val="600"/>
              </a:spcAft>
              <a:defRPr sz="1700" b="0">
                <a:solidFill>
                  <a:srgbClr val="202B32"/>
                </a:solidFill>
                <a:latin typeface="Aptos"/>
              </a:defRPr>
            </a:pPr>
            <a:r>
              <a:t>Data.gov</a:t>
            </a:r>
          </a:p>
          <a:p>
            <a:pPr>
              <a:spcAft>
                <a:spcPts val="600"/>
              </a:spcAft>
              <a:defRPr sz="1700" b="0">
                <a:solidFill>
                  <a:srgbClr val="202B32"/>
                </a:solidFill>
                <a:latin typeface="Aptos"/>
              </a:defRPr>
            </a:pPr>
            <a:r>
              <a:t>complaints, inspections, infrastructure</a:t>
            </a:r>
          </a:p>
        </p:txBody>
      </p:sp>
      <p:sp>
        <p:nvSpPr>
          <p:cNvPr id="8" name="Rounded Rectangle 7"/>
          <p:cNvSpPr/>
          <p:nvPr/>
        </p:nvSpPr>
        <p:spPr>
          <a:xfrm>
            <a:off x="4315968" y="1572768"/>
            <a:ext cx="324612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53128" y="1700784"/>
            <a:ext cx="2560320" cy="310896"/>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Security data</a:t>
            </a:r>
          </a:p>
        </p:txBody>
      </p:sp>
      <p:sp>
        <p:nvSpPr>
          <p:cNvPr id="10" name="TextBox 9"/>
          <p:cNvSpPr txBox="1"/>
          <p:nvPr/>
        </p:nvSpPr>
        <p:spPr>
          <a:xfrm>
            <a:off x="4517136" y="2139696"/>
            <a:ext cx="2843784" cy="3776472"/>
          </a:xfrm>
          <a:prstGeom prst="rect">
            <a:avLst/>
          </a:prstGeom>
          <a:noFill/>
        </p:spPr>
        <p:txBody>
          <a:bodyPr wrap="square">
            <a:noAutofit/>
          </a:bodyPr>
          <a:lstStyle/>
          <a:p>
            <a:pPr>
              <a:spcAft>
                <a:spcPts val="600"/>
              </a:spcAft>
              <a:defRPr sz="1600" b="0">
                <a:solidFill>
                  <a:srgbClr val="202B32"/>
                </a:solidFill>
                <a:latin typeface="Aptos"/>
              </a:defRPr>
            </a:pPr>
            <a:r>
              <a:t>CISA vulnerability catalog</a:t>
            </a:r>
          </a:p>
          <a:p>
            <a:pPr>
              <a:spcAft>
                <a:spcPts val="600"/>
              </a:spcAft>
              <a:defRPr sz="1600" b="0">
                <a:solidFill>
                  <a:srgbClr val="202B32"/>
                </a:solidFill>
                <a:latin typeface="Aptos"/>
              </a:defRPr>
            </a:pPr>
            <a:r>
              <a:t>NIST vulnerability database</a:t>
            </a:r>
          </a:p>
          <a:p>
            <a:pPr>
              <a:spcAft>
                <a:spcPts val="600"/>
              </a:spcAft>
              <a:defRPr sz="1600" b="0">
                <a:solidFill>
                  <a:srgbClr val="202B32"/>
                </a:solidFill>
                <a:latin typeface="Aptos"/>
              </a:defRPr>
            </a:pPr>
            <a:r>
              <a:t>vendors, products, software flaws</a:t>
            </a:r>
          </a:p>
        </p:txBody>
      </p:sp>
      <p:sp>
        <p:nvSpPr>
          <p:cNvPr id="11" name="Rounded Rectangle 10"/>
          <p:cNvSpPr/>
          <p:nvPr/>
        </p:nvSpPr>
        <p:spPr>
          <a:xfrm>
            <a:off x="7854696" y="1572768"/>
            <a:ext cx="324612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991856" y="1700784"/>
            <a:ext cx="2560320" cy="310896"/>
          </a:xfrm>
          <a:prstGeom prst="roundRect">
            <a:avLst/>
          </a:prstGeom>
          <a:solidFill>
            <a:srgbClr val="E8F4ED"/>
          </a:solidFill>
          <a:ln>
            <a:solidFill>
              <a:srgbClr val="E8F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Privacy data</a:t>
            </a:r>
          </a:p>
        </p:txBody>
      </p:sp>
      <p:sp>
        <p:nvSpPr>
          <p:cNvPr id="13" name="TextBox 12"/>
          <p:cNvSpPr txBox="1"/>
          <p:nvPr/>
        </p:nvSpPr>
        <p:spPr>
          <a:xfrm>
            <a:off x="8055864" y="2139696"/>
            <a:ext cx="2843784" cy="3776472"/>
          </a:xfrm>
          <a:prstGeom prst="rect">
            <a:avLst/>
          </a:prstGeom>
          <a:noFill/>
        </p:spPr>
        <p:txBody>
          <a:bodyPr wrap="square">
            <a:noAutofit/>
          </a:bodyPr>
          <a:lstStyle/>
          <a:p>
            <a:pPr>
              <a:spcAft>
                <a:spcPts val="600"/>
              </a:spcAft>
              <a:defRPr sz="1600" b="0">
                <a:solidFill>
                  <a:srgbClr val="202B32"/>
                </a:solidFill>
                <a:latin typeface="Aptos"/>
              </a:defRPr>
            </a:pPr>
            <a:r>
              <a:t>HHS health breach portal</a:t>
            </a:r>
          </a:p>
          <a:p>
            <a:pPr>
              <a:spcAft>
                <a:spcPts val="600"/>
              </a:spcAft>
              <a:defRPr sz="1600" b="0">
                <a:solidFill>
                  <a:srgbClr val="202B32"/>
                </a:solidFill>
                <a:latin typeface="Aptos"/>
              </a:defRPr>
            </a:pPr>
            <a:r>
              <a:t>Kaggle optional</a:t>
            </a:r>
          </a:p>
          <a:p>
            <a:pPr>
              <a:spcAft>
                <a:spcPts val="600"/>
              </a:spcAft>
              <a:defRPr sz="1600" b="0">
                <a:solidFill>
                  <a:srgbClr val="202B32"/>
                </a:solidFill>
                <a:latin typeface="Aptos"/>
              </a:defRPr>
            </a:pPr>
            <a:r>
              <a:t>breaches, sensitive data, public datasets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33172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F79"/>
                </a:solidFill>
                <a:latin typeface="Aptos"/>
              </a:defRPr>
            </a:pPr>
            <a:r>
              <a:t>Search</a:t>
            </a:r>
          </a:p>
        </p:txBody>
      </p:sp>
      <p:sp>
        <p:nvSpPr>
          <p:cNvPr id="3" name="TextBox 2"/>
          <p:cNvSpPr txBox="1"/>
          <p:nvPr/>
        </p:nvSpPr>
        <p:spPr>
          <a:xfrm>
            <a:off x="548640" y="493776"/>
            <a:ext cx="10972800" cy="841248"/>
          </a:xfrm>
          <a:prstGeom prst="rect">
            <a:avLst/>
          </a:prstGeom>
          <a:noFill/>
        </p:spPr>
        <p:txBody>
          <a:bodyPr wrap="square">
            <a:spAutoFit/>
          </a:bodyPr>
          <a:lstStyle/>
          <a:p>
            <a:pPr>
              <a:defRPr sz="2200" b="1">
                <a:solidFill>
                  <a:srgbClr val="162635"/>
                </a:solidFill>
                <a:latin typeface="Aptos Display"/>
              </a:defRPr>
            </a:pPr>
            <a:r>
              <a:t>Good dataset searches start with course themes</a:t>
            </a:r>
          </a:p>
        </p:txBody>
      </p:sp>
      <p:cxnSp>
        <p:nvCxnSpPr>
          <p:cNvPr id="4" name="Connector 3"/>
          <p:cNvCxnSpPr/>
          <p:nvPr/>
        </p:nvCxnSpPr>
        <p:spPr>
          <a:xfrm>
            <a:off x="548640" y="1078992"/>
            <a:ext cx="11064240" cy="0"/>
          </a:xfrm>
          <a:prstGeom prst="line">
            <a:avLst/>
          </a:prstGeom>
          <a:ln w="12700">
            <a:solidFill>
              <a:srgbClr val="9DAD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68680" y="1389888"/>
            <a:ext cx="10378440" cy="658368"/>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6696" y="1463040"/>
            <a:ext cx="10122408" cy="512064"/>
          </a:xfrm>
          <a:prstGeom prst="rect">
            <a:avLst/>
          </a:prstGeom>
          <a:noFill/>
        </p:spPr>
        <p:txBody>
          <a:bodyPr wrap="square">
            <a:noAutofit/>
          </a:bodyPr>
          <a:lstStyle/>
          <a:p>
            <a:pPr>
              <a:spcAft>
                <a:spcPts val="600"/>
              </a:spcAft>
              <a:defRPr sz="1800" b="0">
                <a:solidFill>
                  <a:srgbClr val="162635"/>
                </a:solidFill>
                <a:latin typeface="Aptos"/>
              </a:defRPr>
            </a:pPr>
            <a:r>
              <a:t>security: alerts, systems, infrastructure, inspections</a:t>
            </a:r>
          </a:p>
        </p:txBody>
      </p:sp>
      <p:sp>
        <p:nvSpPr>
          <p:cNvPr id="7" name="Rounded Rectangle 6"/>
          <p:cNvSpPr/>
          <p:nvPr/>
        </p:nvSpPr>
        <p:spPr>
          <a:xfrm>
            <a:off x="868680" y="2139696"/>
            <a:ext cx="10378440" cy="658368"/>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96696" y="2212848"/>
            <a:ext cx="10122408" cy="512064"/>
          </a:xfrm>
          <a:prstGeom prst="rect">
            <a:avLst/>
          </a:prstGeom>
          <a:noFill/>
        </p:spPr>
        <p:txBody>
          <a:bodyPr wrap="square">
            <a:noAutofit/>
          </a:bodyPr>
          <a:lstStyle/>
          <a:p>
            <a:pPr>
              <a:spcAft>
                <a:spcPts val="600"/>
              </a:spcAft>
              <a:defRPr sz="1800" b="0">
                <a:solidFill>
                  <a:srgbClr val="162635"/>
                </a:solidFill>
                <a:latin typeface="Aptos"/>
              </a:defRPr>
            </a:pPr>
            <a:r>
              <a:t>privacy: location, time, identity, sensitive categories</a:t>
            </a:r>
          </a:p>
        </p:txBody>
      </p:sp>
      <p:sp>
        <p:nvSpPr>
          <p:cNvPr id="9" name="Rounded Rectangle 8"/>
          <p:cNvSpPr/>
          <p:nvPr/>
        </p:nvSpPr>
        <p:spPr>
          <a:xfrm>
            <a:off x="868680" y="2889503"/>
            <a:ext cx="10378440" cy="658368"/>
          </a:xfrm>
          <a:prstGeom prst="roundRect">
            <a:avLst/>
          </a:prstGeom>
          <a:solidFill>
            <a:srgbClr val="E8F4ED"/>
          </a:solidFill>
          <a:ln>
            <a:solidFill>
              <a:srgbClr val="E8F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962655"/>
            <a:ext cx="10122408" cy="512064"/>
          </a:xfrm>
          <a:prstGeom prst="rect">
            <a:avLst/>
          </a:prstGeom>
          <a:noFill/>
        </p:spPr>
        <p:txBody>
          <a:bodyPr wrap="square">
            <a:noAutofit/>
          </a:bodyPr>
          <a:lstStyle/>
          <a:p>
            <a:pPr>
              <a:spcAft>
                <a:spcPts val="600"/>
              </a:spcAft>
              <a:defRPr sz="1800" b="0">
                <a:solidFill>
                  <a:srgbClr val="162635"/>
                </a:solidFill>
                <a:latin typeface="Aptos"/>
              </a:defRPr>
            </a:pPr>
            <a:r>
              <a:t>ethics: fairness, missing data, public impact</a:t>
            </a:r>
          </a:p>
        </p:txBody>
      </p:sp>
      <p:sp>
        <p:nvSpPr>
          <p:cNvPr id="11" name="Rounded Rectangle 10"/>
          <p:cNvSpPr/>
          <p:nvPr/>
        </p:nvSpPr>
        <p:spPr>
          <a:xfrm>
            <a:off x="868680" y="3639311"/>
            <a:ext cx="10378440" cy="658368"/>
          </a:xfrm>
          <a:prstGeom prst="roundRect">
            <a:avLst/>
          </a:prstGeom>
          <a:solidFill>
            <a:srgbClr val="EDDDD3"/>
          </a:solidFill>
          <a:ln>
            <a:solidFill>
              <a:srgbClr val="ED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96696" y="3712463"/>
            <a:ext cx="10122408" cy="512064"/>
          </a:xfrm>
          <a:prstGeom prst="rect">
            <a:avLst/>
          </a:prstGeom>
          <a:noFill/>
        </p:spPr>
        <p:txBody>
          <a:bodyPr wrap="square">
            <a:noAutofit/>
          </a:bodyPr>
          <a:lstStyle/>
          <a:p>
            <a:pPr>
              <a:spcAft>
                <a:spcPts val="600"/>
              </a:spcAft>
              <a:defRPr sz="1800" b="0">
                <a:solidFill>
                  <a:srgbClr val="162635"/>
                </a:solidFill>
                <a:latin typeface="Aptos"/>
              </a:defRPr>
            </a:pPr>
            <a:r>
              <a:t>cloud and databases: records, fields, access, retention</a:t>
            </a:r>
          </a:p>
        </p:txBody>
      </p:sp>
      <p:sp>
        <p:nvSpPr>
          <p:cNvPr id="13" name="Rounded Rectangle 12"/>
          <p:cNvSpPr/>
          <p:nvPr/>
        </p:nvSpPr>
        <p:spPr>
          <a:xfrm>
            <a:off x="868680" y="4389120"/>
            <a:ext cx="10378440" cy="658368"/>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62272"/>
            <a:ext cx="10122408" cy="512064"/>
          </a:xfrm>
          <a:prstGeom prst="rect">
            <a:avLst/>
          </a:prstGeom>
          <a:noFill/>
        </p:spPr>
        <p:txBody>
          <a:bodyPr wrap="square">
            <a:noAutofit/>
          </a:bodyPr>
          <a:lstStyle/>
          <a:p>
            <a:pPr>
              <a:spcAft>
                <a:spcPts val="600"/>
              </a:spcAft>
              <a:defRPr sz="1800" b="0">
                <a:solidFill>
                  <a:srgbClr val="162635"/>
                </a:solidFill>
                <a:latin typeface="Aptos"/>
              </a:defRPr>
            </a:pPr>
            <a:r>
              <a:t>analytics: counts, categories, trends, comparisons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33172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F79"/>
                </a:solidFill>
                <a:latin typeface="Aptos"/>
              </a:defRPr>
            </a:pPr>
            <a:r>
              <a:t>Ground Up</a:t>
            </a:r>
          </a:p>
        </p:txBody>
      </p:sp>
      <p:sp>
        <p:nvSpPr>
          <p:cNvPr id="3" name="TextBox 2"/>
          <p:cNvSpPr txBox="1"/>
          <p:nvPr/>
        </p:nvSpPr>
        <p:spPr>
          <a:xfrm>
            <a:off x="548640" y="493776"/>
            <a:ext cx="10972800" cy="841248"/>
          </a:xfrm>
          <a:prstGeom prst="rect">
            <a:avLst/>
          </a:prstGeom>
          <a:noFill/>
        </p:spPr>
        <p:txBody>
          <a:bodyPr wrap="square">
            <a:spAutoFit/>
          </a:bodyPr>
          <a:lstStyle/>
          <a:p>
            <a:pPr>
              <a:defRPr sz="2200" b="1">
                <a:solidFill>
                  <a:srgbClr val="162635"/>
                </a:solidFill>
                <a:latin typeface="Aptos Display"/>
              </a:defRPr>
            </a:pPr>
            <a:r>
              <a:t>A dataset is usually a table of rows, columns, and values</a:t>
            </a:r>
          </a:p>
        </p:txBody>
      </p:sp>
      <p:cxnSp>
        <p:nvCxnSpPr>
          <p:cNvPr id="4" name="Connector 3"/>
          <p:cNvCxnSpPr/>
          <p:nvPr/>
        </p:nvCxnSpPr>
        <p:spPr>
          <a:xfrm>
            <a:off x="548640" y="1078992"/>
            <a:ext cx="11064240" cy="0"/>
          </a:xfrm>
          <a:prstGeom prst="line">
            <a:avLst/>
          </a:prstGeom>
          <a:ln w="12700">
            <a:solidFill>
              <a:srgbClr val="9DAD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572768"/>
            <a:ext cx="324612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1700784"/>
            <a:ext cx="256032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Row</a:t>
            </a:r>
          </a:p>
        </p:txBody>
      </p:sp>
      <p:sp>
        <p:nvSpPr>
          <p:cNvPr id="7" name="TextBox 6"/>
          <p:cNvSpPr txBox="1"/>
          <p:nvPr/>
        </p:nvSpPr>
        <p:spPr>
          <a:xfrm>
            <a:off x="978408" y="2139696"/>
            <a:ext cx="2843784" cy="3776472"/>
          </a:xfrm>
          <a:prstGeom prst="rect">
            <a:avLst/>
          </a:prstGeom>
          <a:noFill/>
        </p:spPr>
        <p:txBody>
          <a:bodyPr wrap="square">
            <a:noAutofit/>
          </a:bodyPr>
          <a:lstStyle/>
          <a:p>
            <a:pPr>
              <a:spcAft>
                <a:spcPts val="600"/>
              </a:spcAft>
              <a:defRPr sz="1800" b="0">
                <a:solidFill>
                  <a:srgbClr val="202B32"/>
                </a:solidFill>
                <a:latin typeface="Aptos"/>
              </a:defRPr>
            </a:pPr>
            <a:r>
              <a:t>one record</a:t>
            </a:r>
          </a:p>
          <a:p>
            <a:pPr>
              <a:spcAft>
                <a:spcPts val="600"/>
              </a:spcAft>
              <a:defRPr sz="1800" b="0">
                <a:solidFill>
                  <a:srgbClr val="202B32"/>
                </a:solidFill>
                <a:latin typeface="Aptos"/>
              </a:defRPr>
            </a:pPr>
            <a:r>
              <a:t>one event</a:t>
            </a:r>
          </a:p>
          <a:p>
            <a:pPr>
              <a:spcAft>
                <a:spcPts val="600"/>
              </a:spcAft>
              <a:defRPr sz="1800" b="0">
                <a:solidFill>
                  <a:srgbClr val="202B32"/>
                </a:solidFill>
                <a:latin typeface="Aptos"/>
              </a:defRPr>
            </a:pPr>
            <a:r>
              <a:t>one system</a:t>
            </a:r>
          </a:p>
          <a:p>
            <a:pPr>
              <a:spcAft>
                <a:spcPts val="600"/>
              </a:spcAft>
              <a:defRPr sz="1800" b="0">
                <a:solidFill>
                  <a:srgbClr val="202B32"/>
                </a:solidFill>
                <a:latin typeface="Aptos"/>
              </a:defRPr>
            </a:pPr>
            <a:r>
              <a:t>one complaint</a:t>
            </a:r>
          </a:p>
          <a:p>
            <a:pPr>
              <a:spcAft>
                <a:spcPts val="600"/>
              </a:spcAft>
              <a:defRPr sz="1800" b="0">
                <a:solidFill>
                  <a:srgbClr val="202B32"/>
                </a:solidFill>
                <a:latin typeface="Aptos"/>
              </a:defRPr>
            </a:pPr>
            <a:r>
              <a:t>one inspection</a:t>
            </a:r>
          </a:p>
        </p:txBody>
      </p:sp>
      <p:sp>
        <p:nvSpPr>
          <p:cNvPr id="8" name="Rounded Rectangle 7"/>
          <p:cNvSpPr/>
          <p:nvPr/>
        </p:nvSpPr>
        <p:spPr>
          <a:xfrm>
            <a:off x="4315968" y="1572768"/>
            <a:ext cx="324612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53128" y="1700784"/>
            <a:ext cx="2560320" cy="310896"/>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Column</a:t>
            </a:r>
          </a:p>
        </p:txBody>
      </p:sp>
      <p:sp>
        <p:nvSpPr>
          <p:cNvPr id="10" name="TextBox 9"/>
          <p:cNvSpPr txBox="1"/>
          <p:nvPr/>
        </p:nvSpPr>
        <p:spPr>
          <a:xfrm>
            <a:off x="4517136" y="2139696"/>
            <a:ext cx="2843784" cy="3776472"/>
          </a:xfrm>
          <a:prstGeom prst="rect">
            <a:avLst/>
          </a:prstGeom>
          <a:noFill/>
        </p:spPr>
        <p:txBody>
          <a:bodyPr wrap="square">
            <a:noAutofit/>
          </a:bodyPr>
          <a:lstStyle/>
          <a:p>
            <a:pPr>
              <a:spcAft>
                <a:spcPts val="600"/>
              </a:spcAft>
              <a:defRPr sz="1800" b="0">
                <a:solidFill>
                  <a:srgbClr val="202B32"/>
                </a:solidFill>
                <a:latin typeface="Aptos"/>
              </a:defRPr>
            </a:pPr>
            <a:r>
              <a:t>one field</a:t>
            </a:r>
          </a:p>
          <a:p>
            <a:pPr>
              <a:spcAft>
                <a:spcPts val="600"/>
              </a:spcAft>
              <a:defRPr sz="1800" b="0">
                <a:solidFill>
                  <a:srgbClr val="202B32"/>
                </a:solidFill>
                <a:latin typeface="Aptos"/>
              </a:defRPr>
            </a:pPr>
            <a:r>
              <a:t>one attribute</a:t>
            </a:r>
          </a:p>
          <a:p>
            <a:pPr>
              <a:spcAft>
                <a:spcPts val="600"/>
              </a:spcAft>
              <a:defRPr sz="1800" b="0">
                <a:solidFill>
                  <a:srgbClr val="202B32"/>
                </a:solidFill>
                <a:latin typeface="Aptos"/>
              </a:defRPr>
            </a:pPr>
            <a:r>
              <a:t>same kind of information for every row</a:t>
            </a:r>
          </a:p>
        </p:txBody>
      </p:sp>
      <p:sp>
        <p:nvSpPr>
          <p:cNvPr id="11" name="Rounded Rectangle 10"/>
          <p:cNvSpPr/>
          <p:nvPr/>
        </p:nvSpPr>
        <p:spPr>
          <a:xfrm>
            <a:off x="7854696" y="1572768"/>
            <a:ext cx="324612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991856" y="1700784"/>
            <a:ext cx="2560320" cy="310896"/>
          </a:xfrm>
          <a:prstGeom prst="roundRect">
            <a:avLst/>
          </a:prstGeom>
          <a:solidFill>
            <a:srgbClr val="E8F4ED"/>
          </a:solidFill>
          <a:ln>
            <a:solidFill>
              <a:srgbClr val="E8F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Value</a:t>
            </a:r>
          </a:p>
        </p:txBody>
      </p:sp>
      <p:sp>
        <p:nvSpPr>
          <p:cNvPr id="13" name="TextBox 12"/>
          <p:cNvSpPr txBox="1"/>
          <p:nvPr/>
        </p:nvSpPr>
        <p:spPr>
          <a:xfrm>
            <a:off x="8055864" y="2139696"/>
            <a:ext cx="2843784" cy="3776472"/>
          </a:xfrm>
          <a:prstGeom prst="rect">
            <a:avLst/>
          </a:prstGeom>
          <a:noFill/>
        </p:spPr>
        <p:txBody>
          <a:bodyPr wrap="square">
            <a:noAutofit/>
          </a:bodyPr>
          <a:lstStyle/>
          <a:p>
            <a:pPr>
              <a:spcAft>
                <a:spcPts val="600"/>
              </a:spcAft>
              <a:defRPr sz="1800" b="0">
                <a:solidFill>
                  <a:srgbClr val="202B32"/>
                </a:solidFill>
                <a:latin typeface="Aptos"/>
              </a:defRPr>
            </a:pPr>
            <a:r>
              <a:t>one cell entry</a:t>
            </a:r>
          </a:p>
          <a:p>
            <a:pPr>
              <a:spcAft>
                <a:spcPts val="600"/>
              </a:spcAft>
              <a:defRPr sz="1800" b="0">
                <a:solidFill>
                  <a:srgbClr val="202B32"/>
                </a:solidFill>
                <a:latin typeface="Aptos"/>
              </a:defRPr>
            </a:pPr>
            <a:r>
              <a:t>text, number, date, category, location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33172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F79"/>
                </a:solidFill>
                <a:latin typeface="Aptos"/>
              </a:defRPr>
            </a:pPr>
            <a:r>
              <a:t>Data Dictionary</a:t>
            </a:r>
          </a:p>
        </p:txBody>
      </p:sp>
      <p:sp>
        <p:nvSpPr>
          <p:cNvPr id="3" name="TextBox 2"/>
          <p:cNvSpPr txBox="1"/>
          <p:nvPr/>
        </p:nvSpPr>
        <p:spPr>
          <a:xfrm>
            <a:off x="548640" y="493776"/>
            <a:ext cx="10972800" cy="841248"/>
          </a:xfrm>
          <a:prstGeom prst="rect">
            <a:avLst/>
          </a:prstGeom>
          <a:noFill/>
        </p:spPr>
        <p:txBody>
          <a:bodyPr wrap="square">
            <a:spAutoFit/>
          </a:bodyPr>
          <a:lstStyle/>
          <a:p>
            <a:pPr>
              <a:defRPr sz="2200" b="1">
                <a:solidFill>
                  <a:srgbClr val="162635"/>
                </a:solidFill>
                <a:latin typeface="Aptos Display"/>
              </a:defRPr>
            </a:pPr>
            <a:r>
              <a:t>A data dictionary explains what the columns mean</a:t>
            </a:r>
          </a:p>
        </p:txBody>
      </p:sp>
      <p:cxnSp>
        <p:nvCxnSpPr>
          <p:cNvPr id="4" name="Connector 3"/>
          <p:cNvCxnSpPr/>
          <p:nvPr/>
        </p:nvCxnSpPr>
        <p:spPr>
          <a:xfrm>
            <a:off x="548640" y="1078992"/>
            <a:ext cx="11064240" cy="0"/>
          </a:xfrm>
          <a:prstGeom prst="line">
            <a:avLst/>
          </a:prstGeom>
          <a:ln w="12700">
            <a:solidFill>
              <a:srgbClr val="9DAD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572768"/>
            <a:ext cx="498348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00784"/>
            <a:ext cx="256032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Without one</a:t>
            </a:r>
          </a:p>
        </p:txBody>
      </p:sp>
      <p:sp>
        <p:nvSpPr>
          <p:cNvPr id="7" name="TextBox 6"/>
          <p:cNvSpPr txBox="1"/>
          <p:nvPr/>
        </p:nvSpPr>
        <p:spPr>
          <a:xfrm>
            <a:off x="1024128" y="2139696"/>
            <a:ext cx="4581144" cy="3776472"/>
          </a:xfrm>
          <a:prstGeom prst="rect">
            <a:avLst/>
          </a:prstGeom>
          <a:noFill/>
        </p:spPr>
        <p:txBody>
          <a:bodyPr wrap="square">
            <a:noAutofit/>
          </a:bodyPr>
          <a:lstStyle/>
          <a:p>
            <a:pPr>
              <a:spcAft>
                <a:spcPts val="600"/>
              </a:spcAft>
              <a:defRPr sz="1700" b="0">
                <a:solidFill>
                  <a:srgbClr val="202B32"/>
                </a:solidFill>
                <a:latin typeface="Aptos"/>
              </a:defRPr>
            </a:pPr>
            <a:r>
              <a:t>column names can be abbreviated</a:t>
            </a:r>
          </a:p>
          <a:p>
            <a:pPr>
              <a:spcAft>
                <a:spcPts val="600"/>
              </a:spcAft>
              <a:defRPr sz="1700" b="0">
                <a:solidFill>
                  <a:srgbClr val="202B32"/>
                </a:solidFill>
                <a:latin typeface="Aptos"/>
              </a:defRPr>
            </a:pPr>
            <a:r>
              <a:t>codes may be unclear</a:t>
            </a:r>
          </a:p>
          <a:p>
            <a:pPr>
              <a:spcAft>
                <a:spcPts val="600"/>
              </a:spcAft>
              <a:defRPr sz="1700" b="0">
                <a:solidFill>
                  <a:srgbClr val="202B32"/>
                </a:solidFill>
                <a:latin typeface="Aptos"/>
              </a:defRPr>
            </a:pPr>
            <a:r>
              <a:t>missing values may be invisible</a:t>
            </a:r>
          </a:p>
          <a:p>
            <a:pPr>
              <a:spcAft>
                <a:spcPts val="600"/>
              </a:spcAft>
              <a:defRPr sz="1700" b="0">
                <a:solidFill>
                  <a:srgbClr val="202B32"/>
                </a:solidFill>
                <a:latin typeface="Aptos"/>
              </a:defRPr>
            </a:pPr>
            <a:r>
              <a:t>students may guess wrong</a:t>
            </a:r>
          </a:p>
        </p:txBody>
      </p:sp>
      <p:sp>
        <p:nvSpPr>
          <p:cNvPr id="8" name="Rounded Rectangle 7"/>
          <p:cNvSpPr/>
          <p:nvPr/>
        </p:nvSpPr>
        <p:spPr>
          <a:xfrm>
            <a:off x="6172200" y="1572768"/>
            <a:ext cx="498348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700784"/>
            <a:ext cx="2560320" cy="310896"/>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With one</a:t>
            </a:r>
          </a:p>
        </p:txBody>
      </p:sp>
      <p:sp>
        <p:nvSpPr>
          <p:cNvPr id="10" name="TextBox 9"/>
          <p:cNvSpPr txBox="1"/>
          <p:nvPr/>
        </p:nvSpPr>
        <p:spPr>
          <a:xfrm>
            <a:off x="6373368" y="2139696"/>
            <a:ext cx="4581144" cy="3776472"/>
          </a:xfrm>
          <a:prstGeom prst="rect">
            <a:avLst/>
          </a:prstGeom>
          <a:noFill/>
        </p:spPr>
        <p:txBody>
          <a:bodyPr wrap="square">
            <a:noAutofit/>
          </a:bodyPr>
          <a:lstStyle/>
          <a:p>
            <a:pPr>
              <a:spcAft>
                <a:spcPts val="600"/>
              </a:spcAft>
              <a:defRPr sz="1700" b="0">
                <a:solidFill>
                  <a:srgbClr val="202B32"/>
                </a:solidFill>
                <a:latin typeface="Aptos"/>
              </a:defRPr>
            </a:pPr>
            <a:r>
              <a:t>columns have plain English meanings</a:t>
            </a:r>
          </a:p>
          <a:p>
            <a:pPr>
              <a:spcAft>
                <a:spcPts val="600"/>
              </a:spcAft>
              <a:defRPr sz="1700" b="0">
                <a:solidFill>
                  <a:srgbClr val="202B32"/>
                </a:solidFill>
                <a:latin typeface="Aptos"/>
              </a:defRPr>
            </a:pPr>
            <a:r>
              <a:t>data types are clearer</a:t>
            </a:r>
          </a:p>
          <a:p>
            <a:pPr>
              <a:spcAft>
                <a:spcPts val="600"/>
              </a:spcAft>
              <a:defRPr sz="1700" b="0">
                <a:solidFill>
                  <a:srgbClr val="202B32"/>
                </a:solidFill>
                <a:latin typeface="Aptos"/>
              </a:defRPr>
            </a:pPr>
            <a:r>
              <a:t>example values make sense</a:t>
            </a:r>
          </a:p>
          <a:p>
            <a:pPr>
              <a:spcAft>
                <a:spcPts val="600"/>
              </a:spcAft>
              <a:defRPr sz="1700" b="0">
                <a:solidFill>
                  <a:srgbClr val="202B32"/>
                </a:solidFill>
                <a:latin typeface="Aptos"/>
              </a:defRPr>
            </a:pPr>
            <a:r>
              <a:t>concerns become visible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33172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F79"/>
                </a:solidFill>
                <a:latin typeface="Aptos"/>
              </a:defRPr>
            </a:pPr>
            <a:r>
              <a:t>Dictionary Fields</a:t>
            </a:r>
          </a:p>
        </p:txBody>
      </p:sp>
      <p:sp>
        <p:nvSpPr>
          <p:cNvPr id="3" name="TextBox 2"/>
          <p:cNvSpPr txBox="1"/>
          <p:nvPr/>
        </p:nvSpPr>
        <p:spPr>
          <a:xfrm>
            <a:off x="548640" y="493776"/>
            <a:ext cx="10972800" cy="841248"/>
          </a:xfrm>
          <a:prstGeom prst="rect">
            <a:avLst/>
          </a:prstGeom>
          <a:noFill/>
        </p:spPr>
        <p:txBody>
          <a:bodyPr wrap="square">
            <a:spAutoFit/>
          </a:bodyPr>
          <a:lstStyle/>
          <a:p>
            <a:pPr>
              <a:defRPr sz="2200" b="1">
                <a:solidFill>
                  <a:srgbClr val="162635"/>
                </a:solidFill>
                <a:latin typeface="Aptos Display"/>
              </a:defRPr>
            </a:pPr>
            <a:r>
              <a:t>A useful mini data dictionary has six parts</a:t>
            </a:r>
          </a:p>
        </p:txBody>
      </p:sp>
      <p:cxnSp>
        <p:nvCxnSpPr>
          <p:cNvPr id="4" name="Connector 3"/>
          <p:cNvCxnSpPr/>
          <p:nvPr/>
        </p:nvCxnSpPr>
        <p:spPr>
          <a:xfrm>
            <a:off x="548640" y="1078992"/>
            <a:ext cx="11064240" cy="0"/>
          </a:xfrm>
          <a:prstGeom prst="line">
            <a:avLst/>
          </a:prstGeom>
          <a:ln w="12700">
            <a:solidFill>
              <a:srgbClr val="9DAD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68680" y="1389888"/>
            <a:ext cx="10378440" cy="658368"/>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6696" y="1463040"/>
            <a:ext cx="10122408" cy="512064"/>
          </a:xfrm>
          <a:prstGeom prst="rect">
            <a:avLst/>
          </a:prstGeom>
          <a:noFill/>
        </p:spPr>
        <p:txBody>
          <a:bodyPr wrap="square">
            <a:noAutofit/>
          </a:bodyPr>
          <a:lstStyle/>
          <a:p>
            <a:pPr>
              <a:spcAft>
                <a:spcPts val="600"/>
              </a:spcAft>
              <a:defRPr sz="1800" b="0">
                <a:solidFill>
                  <a:srgbClr val="162635"/>
                </a:solidFill>
                <a:latin typeface="Aptos"/>
              </a:defRPr>
            </a:pPr>
            <a:r>
              <a:t>Column name: copy the exact field name.</a:t>
            </a:r>
          </a:p>
        </p:txBody>
      </p:sp>
      <p:sp>
        <p:nvSpPr>
          <p:cNvPr id="7" name="Rounded Rectangle 6"/>
          <p:cNvSpPr/>
          <p:nvPr/>
        </p:nvSpPr>
        <p:spPr>
          <a:xfrm>
            <a:off x="868680" y="2139696"/>
            <a:ext cx="10378440" cy="658368"/>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96696" y="2212848"/>
            <a:ext cx="10122408" cy="512064"/>
          </a:xfrm>
          <a:prstGeom prst="rect">
            <a:avLst/>
          </a:prstGeom>
          <a:noFill/>
        </p:spPr>
        <p:txBody>
          <a:bodyPr wrap="square">
            <a:noAutofit/>
          </a:bodyPr>
          <a:lstStyle/>
          <a:p>
            <a:pPr>
              <a:spcAft>
                <a:spcPts val="600"/>
              </a:spcAft>
              <a:defRPr sz="1800" b="0">
                <a:solidFill>
                  <a:srgbClr val="162635"/>
                </a:solidFill>
                <a:latin typeface="Aptos"/>
              </a:defRPr>
            </a:pPr>
            <a:r>
              <a:t>Plain English meaning: explain the field normally.</a:t>
            </a:r>
          </a:p>
        </p:txBody>
      </p:sp>
      <p:sp>
        <p:nvSpPr>
          <p:cNvPr id="9" name="Rounded Rectangle 8"/>
          <p:cNvSpPr/>
          <p:nvPr/>
        </p:nvSpPr>
        <p:spPr>
          <a:xfrm>
            <a:off x="868680" y="2889503"/>
            <a:ext cx="10378440" cy="658368"/>
          </a:xfrm>
          <a:prstGeom prst="roundRect">
            <a:avLst/>
          </a:prstGeom>
          <a:solidFill>
            <a:srgbClr val="E8F4ED"/>
          </a:solidFill>
          <a:ln>
            <a:solidFill>
              <a:srgbClr val="E8F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962655"/>
            <a:ext cx="10122408" cy="512064"/>
          </a:xfrm>
          <a:prstGeom prst="rect">
            <a:avLst/>
          </a:prstGeom>
          <a:noFill/>
        </p:spPr>
        <p:txBody>
          <a:bodyPr wrap="square">
            <a:noAutofit/>
          </a:bodyPr>
          <a:lstStyle/>
          <a:p>
            <a:pPr>
              <a:spcAft>
                <a:spcPts val="600"/>
              </a:spcAft>
              <a:defRPr sz="1800" b="0">
                <a:solidFill>
                  <a:srgbClr val="162635"/>
                </a:solidFill>
                <a:latin typeface="Aptos"/>
              </a:defRPr>
            </a:pPr>
            <a:r>
              <a:t>Data type: text, number, date, category, location, yes/no.</a:t>
            </a:r>
          </a:p>
        </p:txBody>
      </p:sp>
      <p:sp>
        <p:nvSpPr>
          <p:cNvPr id="11" name="Rounded Rectangle 10"/>
          <p:cNvSpPr/>
          <p:nvPr/>
        </p:nvSpPr>
        <p:spPr>
          <a:xfrm>
            <a:off x="868680" y="3639311"/>
            <a:ext cx="10378440" cy="658368"/>
          </a:xfrm>
          <a:prstGeom prst="roundRect">
            <a:avLst/>
          </a:prstGeom>
          <a:solidFill>
            <a:srgbClr val="EDDDD3"/>
          </a:solidFill>
          <a:ln>
            <a:solidFill>
              <a:srgbClr val="ED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96696" y="3712463"/>
            <a:ext cx="10122408" cy="512064"/>
          </a:xfrm>
          <a:prstGeom prst="rect">
            <a:avLst/>
          </a:prstGeom>
          <a:noFill/>
        </p:spPr>
        <p:txBody>
          <a:bodyPr wrap="square">
            <a:noAutofit/>
          </a:bodyPr>
          <a:lstStyle/>
          <a:p>
            <a:pPr>
              <a:spcAft>
                <a:spcPts val="600"/>
              </a:spcAft>
              <a:defRPr sz="1800" b="0">
                <a:solidFill>
                  <a:srgbClr val="162635"/>
                </a:solidFill>
                <a:latin typeface="Aptos"/>
              </a:defRPr>
            </a:pPr>
            <a:r>
              <a:t>Example value: copy one realistic value.</a:t>
            </a:r>
          </a:p>
        </p:txBody>
      </p:sp>
      <p:sp>
        <p:nvSpPr>
          <p:cNvPr id="13" name="Rounded Rectangle 12"/>
          <p:cNvSpPr/>
          <p:nvPr/>
        </p:nvSpPr>
        <p:spPr>
          <a:xfrm>
            <a:off x="868680" y="4389120"/>
            <a:ext cx="10378440" cy="658368"/>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62272"/>
            <a:ext cx="10122408" cy="512064"/>
          </a:xfrm>
          <a:prstGeom prst="rect">
            <a:avLst/>
          </a:prstGeom>
          <a:noFill/>
        </p:spPr>
        <p:txBody>
          <a:bodyPr wrap="square">
            <a:noAutofit/>
          </a:bodyPr>
          <a:lstStyle/>
          <a:p>
            <a:pPr>
              <a:spcAft>
                <a:spcPts val="600"/>
              </a:spcAft>
              <a:defRPr sz="1800" b="0">
                <a:solidFill>
                  <a:srgbClr val="162635"/>
                </a:solidFill>
                <a:latin typeface="Aptos"/>
              </a:defRPr>
            </a:pPr>
            <a:r>
              <a:t>Missing or unclear: note blanks, codes, or confusion.</a:t>
            </a:r>
          </a:p>
        </p:txBody>
      </p:sp>
      <p:sp>
        <p:nvSpPr>
          <p:cNvPr id="15" name="Rounded Rectangle 14"/>
          <p:cNvSpPr/>
          <p:nvPr/>
        </p:nvSpPr>
        <p:spPr>
          <a:xfrm>
            <a:off x="868680" y="5138928"/>
            <a:ext cx="10378440" cy="658368"/>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6696" y="5212080"/>
            <a:ext cx="10122408" cy="512064"/>
          </a:xfrm>
          <a:prstGeom prst="rect">
            <a:avLst/>
          </a:prstGeom>
          <a:noFill/>
        </p:spPr>
        <p:txBody>
          <a:bodyPr wrap="square">
            <a:noAutofit/>
          </a:bodyPr>
          <a:lstStyle/>
          <a:p>
            <a:pPr>
              <a:spcAft>
                <a:spcPts val="600"/>
              </a:spcAft>
              <a:defRPr sz="1800" b="0">
                <a:solidFill>
                  <a:srgbClr val="162635"/>
                </a:solidFill>
                <a:latin typeface="Aptos"/>
              </a:defRPr>
            </a:pPr>
            <a:r>
              <a:t>Concern: name a security, privacy, or ethics issue.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33172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F79"/>
                </a:solidFill>
                <a:latin typeface="Aptos"/>
              </a:defRPr>
            </a:pPr>
            <a:r>
              <a:t>Example</a:t>
            </a:r>
          </a:p>
        </p:txBody>
      </p:sp>
      <p:sp>
        <p:nvSpPr>
          <p:cNvPr id="3" name="TextBox 2"/>
          <p:cNvSpPr txBox="1"/>
          <p:nvPr/>
        </p:nvSpPr>
        <p:spPr>
          <a:xfrm>
            <a:off x="548640" y="493776"/>
            <a:ext cx="10972800" cy="841248"/>
          </a:xfrm>
          <a:prstGeom prst="rect">
            <a:avLst/>
          </a:prstGeom>
          <a:noFill/>
        </p:spPr>
        <p:txBody>
          <a:bodyPr wrap="square">
            <a:spAutoFit/>
          </a:bodyPr>
          <a:lstStyle/>
          <a:p>
            <a:pPr>
              <a:defRPr sz="2200" b="1">
                <a:solidFill>
                  <a:srgbClr val="162635"/>
                </a:solidFill>
                <a:latin typeface="Aptos Display"/>
              </a:defRPr>
            </a:pPr>
            <a:r>
              <a:t>The same column can be useful and risky</a:t>
            </a:r>
          </a:p>
        </p:txBody>
      </p:sp>
      <p:cxnSp>
        <p:nvCxnSpPr>
          <p:cNvPr id="4" name="Connector 3"/>
          <p:cNvCxnSpPr/>
          <p:nvPr/>
        </p:nvCxnSpPr>
        <p:spPr>
          <a:xfrm>
            <a:off x="548640" y="1078992"/>
            <a:ext cx="11064240" cy="0"/>
          </a:xfrm>
          <a:prstGeom prst="line">
            <a:avLst/>
          </a:prstGeom>
          <a:ln w="12700">
            <a:solidFill>
              <a:srgbClr val="9DAD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572768"/>
            <a:ext cx="498348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00784"/>
            <a:ext cx="256032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Useful for analysis</a:t>
            </a:r>
          </a:p>
        </p:txBody>
      </p:sp>
      <p:sp>
        <p:nvSpPr>
          <p:cNvPr id="7" name="TextBox 6"/>
          <p:cNvSpPr txBox="1"/>
          <p:nvPr/>
        </p:nvSpPr>
        <p:spPr>
          <a:xfrm>
            <a:off x="1024128" y="2139696"/>
            <a:ext cx="4581144" cy="3776472"/>
          </a:xfrm>
          <a:prstGeom prst="rect">
            <a:avLst/>
          </a:prstGeom>
          <a:noFill/>
        </p:spPr>
        <p:txBody>
          <a:bodyPr wrap="square">
            <a:noAutofit/>
          </a:bodyPr>
          <a:lstStyle/>
          <a:p>
            <a:pPr>
              <a:spcAft>
                <a:spcPts val="600"/>
              </a:spcAft>
              <a:defRPr sz="1700" b="0">
                <a:solidFill>
                  <a:srgbClr val="202B32"/>
                </a:solidFill>
                <a:latin typeface="Aptos"/>
              </a:defRPr>
            </a:pPr>
            <a:r>
              <a:t>`incident_date` can show patterns over time.</a:t>
            </a:r>
          </a:p>
          <a:p>
            <a:pPr>
              <a:spcAft>
                <a:spcPts val="600"/>
              </a:spcAft>
              <a:defRPr sz="1700" b="0">
                <a:solidFill>
                  <a:srgbClr val="202B32"/>
                </a:solidFill>
                <a:latin typeface="Aptos"/>
              </a:defRPr>
            </a:pPr>
            <a:r>
              <a:t>`borough` can support geographic comparison.</a:t>
            </a:r>
          </a:p>
          <a:p>
            <a:pPr>
              <a:spcAft>
                <a:spcPts val="600"/>
              </a:spcAft>
              <a:defRPr sz="1700" b="0">
                <a:solidFill>
                  <a:srgbClr val="202B32"/>
                </a:solidFill>
                <a:latin typeface="Aptos"/>
              </a:defRPr>
            </a:pPr>
            <a:r>
              <a:t>`status` can show unresolved records.</a:t>
            </a:r>
          </a:p>
          <a:p>
            <a:pPr>
              <a:spcAft>
                <a:spcPts val="600"/>
              </a:spcAft>
              <a:defRPr sz="1700" b="0">
                <a:solidFill>
                  <a:srgbClr val="202B32"/>
                </a:solidFill>
                <a:latin typeface="Aptos"/>
              </a:defRPr>
            </a:pPr>
            <a:r>
              <a:t>`category` can group similar records.</a:t>
            </a:r>
          </a:p>
        </p:txBody>
      </p:sp>
      <p:sp>
        <p:nvSpPr>
          <p:cNvPr id="8" name="Rounded Rectangle 7"/>
          <p:cNvSpPr/>
          <p:nvPr/>
        </p:nvSpPr>
        <p:spPr>
          <a:xfrm>
            <a:off x="6172200" y="1572768"/>
            <a:ext cx="498348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700784"/>
            <a:ext cx="2560320" cy="310896"/>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Possible concerns</a:t>
            </a:r>
          </a:p>
        </p:txBody>
      </p:sp>
      <p:sp>
        <p:nvSpPr>
          <p:cNvPr id="10" name="TextBox 9"/>
          <p:cNvSpPr txBox="1"/>
          <p:nvPr/>
        </p:nvSpPr>
        <p:spPr>
          <a:xfrm>
            <a:off x="6373368" y="2139696"/>
            <a:ext cx="4581144" cy="3776472"/>
          </a:xfrm>
          <a:prstGeom prst="rect">
            <a:avLst/>
          </a:prstGeom>
          <a:noFill/>
        </p:spPr>
        <p:txBody>
          <a:bodyPr wrap="square">
            <a:noAutofit/>
          </a:bodyPr>
          <a:lstStyle/>
          <a:p>
            <a:pPr>
              <a:spcAft>
                <a:spcPts val="600"/>
              </a:spcAft>
              <a:defRPr sz="1700" b="0">
                <a:solidFill>
                  <a:srgbClr val="202B32"/>
                </a:solidFill>
                <a:latin typeface="Aptos"/>
              </a:defRPr>
            </a:pPr>
            <a:r>
              <a:t>time plus location can reveal patterns</a:t>
            </a:r>
          </a:p>
          <a:p>
            <a:pPr>
              <a:spcAft>
                <a:spcPts val="600"/>
              </a:spcAft>
              <a:defRPr sz="1700" b="0">
                <a:solidFill>
                  <a:srgbClr val="202B32"/>
                </a:solidFill>
                <a:latin typeface="Aptos"/>
              </a:defRPr>
            </a:pPr>
            <a:r>
              <a:t>categories may be biased or unclear</a:t>
            </a:r>
          </a:p>
          <a:p>
            <a:pPr>
              <a:spcAft>
                <a:spcPts val="600"/>
              </a:spcAft>
              <a:defRPr sz="1700" b="0">
                <a:solidFill>
                  <a:srgbClr val="202B32"/>
                </a:solidFill>
                <a:latin typeface="Aptos"/>
              </a:defRPr>
            </a:pPr>
            <a:r>
              <a:t>missing values can distort conclusions</a:t>
            </a:r>
          </a:p>
          <a:p>
            <a:pPr>
              <a:spcAft>
                <a:spcPts val="600"/>
              </a:spcAft>
              <a:defRPr sz="1700" b="0">
                <a:solidFill>
                  <a:srgbClr val="202B32"/>
                </a:solidFill>
                <a:latin typeface="Aptos"/>
              </a:defRPr>
            </a:pPr>
            <a:r>
              <a:t>neighborhood comparisons can be misused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33172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F79"/>
                </a:solidFill>
                <a:latin typeface="Aptos"/>
              </a:defRPr>
            </a:pPr>
            <a:r>
              <a:t>Security</a:t>
            </a:r>
          </a:p>
        </p:txBody>
      </p:sp>
      <p:sp>
        <p:nvSpPr>
          <p:cNvPr id="3" name="TextBox 2"/>
          <p:cNvSpPr txBox="1"/>
          <p:nvPr/>
        </p:nvSpPr>
        <p:spPr>
          <a:xfrm>
            <a:off x="548640" y="493776"/>
            <a:ext cx="10972800" cy="841248"/>
          </a:xfrm>
          <a:prstGeom prst="rect">
            <a:avLst/>
          </a:prstGeom>
          <a:noFill/>
        </p:spPr>
        <p:txBody>
          <a:bodyPr wrap="square">
            <a:spAutoFit/>
          </a:bodyPr>
          <a:lstStyle/>
          <a:p>
            <a:pPr>
              <a:defRPr sz="2200" b="1">
                <a:solidFill>
                  <a:srgbClr val="162635"/>
                </a:solidFill>
                <a:latin typeface="Aptos Display"/>
              </a:defRPr>
            </a:pPr>
            <a:r>
              <a:t>Security questions focus on systems, access, and misuse</a:t>
            </a:r>
          </a:p>
        </p:txBody>
      </p:sp>
      <p:cxnSp>
        <p:nvCxnSpPr>
          <p:cNvPr id="4" name="Connector 3"/>
          <p:cNvCxnSpPr/>
          <p:nvPr/>
        </p:nvCxnSpPr>
        <p:spPr>
          <a:xfrm>
            <a:off x="548640" y="1078992"/>
            <a:ext cx="11064240" cy="0"/>
          </a:xfrm>
          <a:prstGeom prst="line">
            <a:avLst/>
          </a:prstGeom>
          <a:ln w="12700">
            <a:solidFill>
              <a:srgbClr val="9DAD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572768"/>
            <a:ext cx="324612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1700784"/>
            <a:ext cx="256032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Ask</a:t>
            </a:r>
          </a:p>
        </p:txBody>
      </p:sp>
      <p:sp>
        <p:nvSpPr>
          <p:cNvPr id="7" name="TextBox 6"/>
          <p:cNvSpPr txBox="1"/>
          <p:nvPr/>
        </p:nvSpPr>
        <p:spPr>
          <a:xfrm>
            <a:off x="978408" y="2139696"/>
            <a:ext cx="2843784" cy="3776472"/>
          </a:xfrm>
          <a:prstGeom prst="rect">
            <a:avLst/>
          </a:prstGeom>
          <a:noFill/>
        </p:spPr>
        <p:txBody>
          <a:bodyPr wrap="square">
            <a:noAutofit/>
          </a:bodyPr>
          <a:lstStyle/>
          <a:p>
            <a:pPr>
              <a:spcAft>
                <a:spcPts val="600"/>
              </a:spcAft>
              <a:defRPr sz="1700" b="0">
                <a:solidFill>
                  <a:srgbClr val="202B32"/>
                </a:solidFill>
                <a:latin typeface="Aptos"/>
              </a:defRPr>
            </a:pPr>
            <a:r>
              <a:t>Could this reveal system weakness?</a:t>
            </a:r>
          </a:p>
          <a:p>
            <a:pPr>
              <a:spcAft>
                <a:spcPts val="600"/>
              </a:spcAft>
              <a:defRPr sz="1700" b="0">
                <a:solidFill>
                  <a:srgbClr val="202B32"/>
                </a:solidFill>
                <a:latin typeface="Aptos"/>
              </a:defRPr>
            </a:pPr>
            <a:r>
              <a:t>Could it expose infrastructure?</a:t>
            </a:r>
          </a:p>
          <a:p>
            <a:pPr>
              <a:spcAft>
                <a:spcPts val="600"/>
              </a:spcAft>
              <a:defRPr sz="1700" b="0">
                <a:solidFill>
                  <a:srgbClr val="202B32"/>
                </a:solidFill>
                <a:latin typeface="Aptos"/>
              </a:defRPr>
            </a:pPr>
            <a:r>
              <a:t>Could it guide misuse?</a:t>
            </a:r>
          </a:p>
        </p:txBody>
      </p:sp>
      <p:sp>
        <p:nvSpPr>
          <p:cNvPr id="8" name="Rounded Rectangle 7"/>
          <p:cNvSpPr/>
          <p:nvPr/>
        </p:nvSpPr>
        <p:spPr>
          <a:xfrm>
            <a:off x="4315968" y="1572768"/>
            <a:ext cx="324612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53128" y="1700784"/>
            <a:ext cx="2560320" cy="310896"/>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Look for</a:t>
            </a:r>
          </a:p>
        </p:txBody>
      </p:sp>
      <p:sp>
        <p:nvSpPr>
          <p:cNvPr id="10" name="TextBox 9"/>
          <p:cNvSpPr txBox="1"/>
          <p:nvPr/>
        </p:nvSpPr>
        <p:spPr>
          <a:xfrm>
            <a:off x="4517136" y="2139696"/>
            <a:ext cx="2843784" cy="3776472"/>
          </a:xfrm>
          <a:prstGeom prst="rect">
            <a:avLst/>
          </a:prstGeom>
          <a:noFill/>
        </p:spPr>
        <p:txBody>
          <a:bodyPr wrap="square">
            <a:noAutofit/>
          </a:bodyPr>
          <a:lstStyle/>
          <a:p>
            <a:pPr>
              <a:spcAft>
                <a:spcPts val="600"/>
              </a:spcAft>
              <a:defRPr sz="1700" b="0">
                <a:solidFill>
                  <a:srgbClr val="202B32"/>
                </a:solidFill>
                <a:latin typeface="Aptos"/>
              </a:defRPr>
            </a:pPr>
            <a:r>
              <a:t>system names</a:t>
            </a:r>
          </a:p>
          <a:p>
            <a:pPr>
              <a:spcAft>
                <a:spcPts val="600"/>
              </a:spcAft>
              <a:defRPr sz="1700" b="0">
                <a:solidFill>
                  <a:srgbClr val="202B32"/>
                </a:solidFill>
                <a:latin typeface="Aptos"/>
              </a:defRPr>
            </a:pPr>
            <a:r>
              <a:t>locations</a:t>
            </a:r>
          </a:p>
          <a:p>
            <a:pPr>
              <a:spcAft>
                <a:spcPts val="600"/>
              </a:spcAft>
              <a:defRPr sz="1700" b="0">
                <a:solidFill>
                  <a:srgbClr val="202B32"/>
                </a:solidFill>
                <a:latin typeface="Aptos"/>
              </a:defRPr>
            </a:pPr>
            <a:r>
              <a:t>status fields</a:t>
            </a:r>
          </a:p>
          <a:p>
            <a:pPr>
              <a:spcAft>
                <a:spcPts val="600"/>
              </a:spcAft>
              <a:defRPr sz="1700" b="0">
                <a:solidFill>
                  <a:srgbClr val="202B32"/>
                </a:solidFill>
                <a:latin typeface="Aptos"/>
              </a:defRPr>
            </a:pPr>
            <a:r>
              <a:t>incident details</a:t>
            </a:r>
          </a:p>
        </p:txBody>
      </p:sp>
      <p:sp>
        <p:nvSpPr>
          <p:cNvPr id="11" name="Rounded Rectangle 10"/>
          <p:cNvSpPr/>
          <p:nvPr/>
        </p:nvSpPr>
        <p:spPr>
          <a:xfrm>
            <a:off x="7854696" y="1572768"/>
            <a:ext cx="324612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991856" y="1700784"/>
            <a:ext cx="2560320" cy="310896"/>
          </a:xfrm>
          <a:prstGeom prst="roundRect">
            <a:avLst/>
          </a:prstGeom>
          <a:solidFill>
            <a:srgbClr val="E8F4ED"/>
          </a:solidFill>
          <a:ln>
            <a:solidFill>
              <a:srgbClr val="E8F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Document</a:t>
            </a:r>
          </a:p>
        </p:txBody>
      </p:sp>
      <p:sp>
        <p:nvSpPr>
          <p:cNvPr id="13" name="TextBox 12"/>
          <p:cNvSpPr txBox="1"/>
          <p:nvPr/>
        </p:nvSpPr>
        <p:spPr>
          <a:xfrm>
            <a:off x="8055864" y="2139696"/>
            <a:ext cx="2843784" cy="3776472"/>
          </a:xfrm>
          <a:prstGeom prst="rect">
            <a:avLst/>
          </a:prstGeom>
          <a:noFill/>
        </p:spPr>
        <p:txBody>
          <a:bodyPr wrap="square">
            <a:noAutofit/>
          </a:bodyPr>
          <a:lstStyle/>
          <a:p>
            <a:pPr>
              <a:spcAft>
                <a:spcPts val="600"/>
              </a:spcAft>
              <a:defRPr sz="1700" b="0">
                <a:solidFill>
                  <a:srgbClr val="202B32"/>
                </a:solidFill>
                <a:latin typeface="Aptos"/>
              </a:defRPr>
            </a:pPr>
            <a:r>
              <a:t>what is useful</a:t>
            </a:r>
          </a:p>
          <a:p>
            <a:pPr>
              <a:spcAft>
                <a:spcPts val="600"/>
              </a:spcAft>
              <a:defRPr sz="1700" b="0">
                <a:solidFill>
                  <a:srgbClr val="202B32"/>
                </a:solidFill>
                <a:latin typeface="Aptos"/>
              </a:defRPr>
            </a:pPr>
            <a:r>
              <a:t>what is sensitive</a:t>
            </a:r>
          </a:p>
          <a:p>
            <a:pPr>
              <a:spcAft>
                <a:spcPts val="600"/>
              </a:spcAft>
              <a:defRPr sz="1700" b="0">
                <a:solidFill>
                  <a:srgbClr val="202B32"/>
                </a:solidFill>
                <a:latin typeface="Aptos"/>
              </a:defRPr>
            </a:pPr>
            <a:r>
              <a:t>what should be handled carefully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33172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F79"/>
                </a:solidFill>
                <a:latin typeface="Aptos"/>
              </a:defRPr>
            </a:pPr>
            <a:r>
              <a:t>Privacy</a:t>
            </a:r>
          </a:p>
        </p:txBody>
      </p:sp>
      <p:sp>
        <p:nvSpPr>
          <p:cNvPr id="3" name="TextBox 2"/>
          <p:cNvSpPr txBox="1"/>
          <p:nvPr/>
        </p:nvSpPr>
        <p:spPr>
          <a:xfrm>
            <a:off x="548640" y="493776"/>
            <a:ext cx="10972800" cy="841248"/>
          </a:xfrm>
          <a:prstGeom prst="rect">
            <a:avLst/>
          </a:prstGeom>
          <a:noFill/>
        </p:spPr>
        <p:txBody>
          <a:bodyPr wrap="square">
            <a:spAutoFit/>
          </a:bodyPr>
          <a:lstStyle/>
          <a:p>
            <a:pPr>
              <a:defRPr sz="2200" b="1">
                <a:solidFill>
                  <a:srgbClr val="162635"/>
                </a:solidFill>
                <a:latin typeface="Aptos Display"/>
              </a:defRPr>
            </a:pPr>
            <a:r>
              <a:t>Privacy questions focus on people and linkability</a:t>
            </a:r>
          </a:p>
        </p:txBody>
      </p:sp>
      <p:cxnSp>
        <p:nvCxnSpPr>
          <p:cNvPr id="4" name="Connector 3"/>
          <p:cNvCxnSpPr/>
          <p:nvPr/>
        </p:nvCxnSpPr>
        <p:spPr>
          <a:xfrm>
            <a:off x="548640" y="1078992"/>
            <a:ext cx="11064240" cy="0"/>
          </a:xfrm>
          <a:prstGeom prst="line">
            <a:avLst/>
          </a:prstGeom>
          <a:ln w="12700">
            <a:solidFill>
              <a:srgbClr val="9DAD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572768"/>
            <a:ext cx="324612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1700784"/>
            <a:ext cx="256032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Direct</a:t>
            </a:r>
          </a:p>
        </p:txBody>
      </p:sp>
      <p:sp>
        <p:nvSpPr>
          <p:cNvPr id="7" name="TextBox 6"/>
          <p:cNvSpPr txBox="1"/>
          <p:nvPr/>
        </p:nvSpPr>
        <p:spPr>
          <a:xfrm>
            <a:off x="978408" y="2139696"/>
            <a:ext cx="2843784" cy="3776472"/>
          </a:xfrm>
          <a:prstGeom prst="rect">
            <a:avLst/>
          </a:prstGeom>
          <a:noFill/>
        </p:spPr>
        <p:txBody>
          <a:bodyPr wrap="square">
            <a:noAutofit/>
          </a:bodyPr>
          <a:lstStyle/>
          <a:p>
            <a:pPr>
              <a:spcAft>
                <a:spcPts val="600"/>
              </a:spcAft>
              <a:defRPr sz="1800" b="0">
                <a:solidFill>
                  <a:srgbClr val="202B32"/>
                </a:solidFill>
                <a:latin typeface="Aptos"/>
              </a:defRPr>
            </a:pPr>
            <a:r>
              <a:t>names</a:t>
            </a:r>
          </a:p>
          <a:p>
            <a:pPr>
              <a:spcAft>
                <a:spcPts val="600"/>
              </a:spcAft>
              <a:defRPr sz="1800" b="0">
                <a:solidFill>
                  <a:srgbClr val="202B32"/>
                </a:solidFill>
                <a:latin typeface="Aptos"/>
              </a:defRPr>
            </a:pPr>
            <a:r>
              <a:t>addresses</a:t>
            </a:r>
          </a:p>
          <a:p>
            <a:pPr>
              <a:spcAft>
                <a:spcPts val="600"/>
              </a:spcAft>
              <a:defRPr sz="1800" b="0">
                <a:solidFill>
                  <a:srgbClr val="202B32"/>
                </a:solidFill>
                <a:latin typeface="Aptos"/>
              </a:defRPr>
            </a:pPr>
            <a:r>
              <a:t>IDs</a:t>
            </a:r>
          </a:p>
          <a:p>
            <a:pPr>
              <a:spcAft>
                <a:spcPts val="600"/>
              </a:spcAft>
              <a:defRPr sz="1800" b="0">
                <a:solidFill>
                  <a:srgbClr val="202B32"/>
                </a:solidFill>
                <a:latin typeface="Aptos"/>
              </a:defRPr>
            </a:pPr>
            <a:r>
              <a:t>contact fields</a:t>
            </a:r>
          </a:p>
        </p:txBody>
      </p:sp>
      <p:sp>
        <p:nvSpPr>
          <p:cNvPr id="8" name="Rounded Rectangle 7"/>
          <p:cNvSpPr/>
          <p:nvPr/>
        </p:nvSpPr>
        <p:spPr>
          <a:xfrm>
            <a:off x="4315968" y="1572768"/>
            <a:ext cx="324612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53128" y="1700784"/>
            <a:ext cx="2560320" cy="310896"/>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Indirect</a:t>
            </a:r>
          </a:p>
        </p:txBody>
      </p:sp>
      <p:sp>
        <p:nvSpPr>
          <p:cNvPr id="10" name="TextBox 9"/>
          <p:cNvSpPr txBox="1"/>
          <p:nvPr/>
        </p:nvSpPr>
        <p:spPr>
          <a:xfrm>
            <a:off x="4517136" y="2139696"/>
            <a:ext cx="2843784" cy="3776472"/>
          </a:xfrm>
          <a:prstGeom prst="rect">
            <a:avLst/>
          </a:prstGeom>
          <a:noFill/>
        </p:spPr>
        <p:txBody>
          <a:bodyPr wrap="square">
            <a:noAutofit/>
          </a:bodyPr>
          <a:lstStyle/>
          <a:p>
            <a:pPr>
              <a:spcAft>
                <a:spcPts val="600"/>
              </a:spcAft>
              <a:defRPr sz="1800" b="0">
                <a:solidFill>
                  <a:srgbClr val="202B32"/>
                </a:solidFill>
                <a:latin typeface="Aptos"/>
              </a:defRPr>
            </a:pPr>
            <a:r>
              <a:t>time</a:t>
            </a:r>
          </a:p>
          <a:p>
            <a:pPr>
              <a:spcAft>
                <a:spcPts val="600"/>
              </a:spcAft>
              <a:defRPr sz="1800" b="0">
                <a:solidFill>
                  <a:srgbClr val="202B32"/>
                </a:solidFill>
                <a:latin typeface="Aptos"/>
              </a:defRPr>
            </a:pPr>
            <a:r>
              <a:t>location</a:t>
            </a:r>
          </a:p>
          <a:p>
            <a:pPr>
              <a:spcAft>
                <a:spcPts val="600"/>
              </a:spcAft>
              <a:defRPr sz="1800" b="0">
                <a:solidFill>
                  <a:srgbClr val="202B32"/>
                </a:solidFill>
                <a:latin typeface="Aptos"/>
              </a:defRPr>
            </a:pPr>
            <a:r>
              <a:t>small groups</a:t>
            </a:r>
          </a:p>
          <a:p>
            <a:pPr>
              <a:spcAft>
                <a:spcPts val="600"/>
              </a:spcAft>
              <a:defRPr sz="1800" b="0">
                <a:solidFill>
                  <a:srgbClr val="202B32"/>
                </a:solidFill>
                <a:latin typeface="Aptos"/>
              </a:defRPr>
            </a:pPr>
            <a:r>
              <a:t>rare categories</a:t>
            </a:r>
          </a:p>
        </p:txBody>
      </p:sp>
      <p:sp>
        <p:nvSpPr>
          <p:cNvPr id="11" name="Rounded Rectangle 10"/>
          <p:cNvSpPr/>
          <p:nvPr/>
        </p:nvSpPr>
        <p:spPr>
          <a:xfrm>
            <a:off x="7854696" y="1572768"/>
            <a:ext cx="324612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991856" y="1700784"/>
            <a:ext cx="2560320" cy="310896"/>
          </a:xfrm>
          <a:prstGeom prst="roundRect">
            <a:avLst/>
          </a:prstGeom>
          <a:solidFill>
            <a:srgbClr val="E8F4ED"/>
          </a:solidFill>
          <a:ln>
            <a:solidFill>
              <a:srgbClr val="E8F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Linked</a:t>
            </a:r>
          </a:p>
        </p:txBody>
      </p:sp>
      <p:sp>
        <p:nvSpPr>
          <p:cNvPr id="13" name="TextBox 12"/>
          <p:cNvSpPr txBox="1"/>
          <p:nvPr/>
        </p:nvSpPr>
        <p:spPr>
          <a:xfrm>
            <a:off x="8055864" y="2139696"/>
            <a:ext cx="2843784" cy="3776472"/>
          </a:xfrm>
          <a:prstGeom prst="rect">
            <a:avLst/>
          </a:prstGeom>
          <a:noFill/>
        </p:spPr>
        <p:txBody>
          <a:bodyPr wrap="square">
            <a:noAutofit/>
          </a:bodyPr>
          <a:lstStyle/>
          <a:p>
            <a:pPr>
              <a:spcAft>
                <a:spcPts val="600"/>
              </a:spcAft>
              <a:defRPr sz="1800" b="0">
                <a:solidFill>
                  <a:srgbClr val="202B32"/>
                </a:solidFill>
                <a:latin typeface="Aptos"/>
              </a:defRPr>
            </a:pPr>
            <a:r>
              <a:t>combined columns</a:t>
            </a:r>
          </a:p>
          <a:p>
            <a:pPr>
              <a:spcAft>
                <a:spcPts val="600"/>
              </a:spcAft>
              <a:defRPr sz="1800" b="0">
                <a:solidFill>
                  <a:srgbClr val="202B32"/>
                </a:solidFill>
                <a:latin typeface="Aptos"/>
              </a:defRPr>
            </a:pPr>
            <a:r>
              <a:t>merged datasets</a:t>
            </a:r>
          </a:p>
          <a:p>
            <a:pPr>
              <a:spcAft>
                <a:spcPts val="600"/>
              </a:spcAft>
              <a:defRPr sz="1800" b="0">
                <a:solidFill>
                  <a:srgbClr val="202B32"/>
                </a:solidFill>
                <a:latin typeface="Aptos"/>
              </a:defRPr>
            </a:pPr>
            <a:r>
              <a:t>patterns across records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33172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F79"/>
                </a:solidFill>
                <a:latin typeface="Aptos"/>
              </a:defRPr>
            </a:pPr>
            <a:r>
              <a:t>Ethics</a:t>
            </a:r>
          </a:p>
        </p:txBody>
      </p:sp>
      <p:sp>
        <p:nvSpPr>
          <p:cNvPr id="3" name="TextBox 2"/>
          <p:cNvSpPr txBox="1"/>
          <p:nvPr/>
        </p:nvSpPr>
        <p:spPr>
          <a:xfrm>
            <a:off x="548640" y="493776"/>
            <a:ext cx="10972800" cy="841248"/>
          </a:xfrm>
          <a:prstGeom prst="rect">
            <a:avLst/>
          </a:prstGeom>
          <a:noFill/>
        </p:spPr>
        <p:txBody>
          <a:bodyPr wrap="square">
            <a:spAutoFit/>
          </a:bodyPr>
          <a:lstStyle/>
          <a:p>
            <a:pPr>
              <a:defRPr sz="2200" b="1">
                <a:solidFill>
                  <a:srgbClr val="162635"/>
                </a:solidFill>
                <a:latin typeface="Aptos Display"/>
              </a:defRPr>
            </a:pPr>
            <a:r>
              <a:t>Ethics questions focus on interpretation and harm</a:t>
            </a:r>
          </a:p>
        </p:txBody>
      </p:sp>
      <p:cxnSp>
        <p:nvCxnSpPr>
          <p:cNvPr id="4" name="Connector 3"/>
          <p:cNvCxnSpPr/>
          <p:nvPr/>
        </p:nvCxnSpPr>
        <p:spPr>
          <a:xfrm>
            <a:off x="548640" y="1078992"/>
            <a:ext cx="11064240" cy="0"/>
          </a:xfrm>
          <a:prstGeom prst="line">
            <a:avLst/>
          </a:prstGeom>
          <a:ln w="12700">
            <a:solidFill>
              <a:srgbClr val="9DAD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572768"/>
            <a:ext cx="498348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00784"/>
            <a:ext cx="256032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Common risks</a:t>
            </a:r>
          </a:p>
        </p:txBody>
      </p:sp>
      <p:sp>
        <p:nvSpPr>
          <p:cNvPr id="7" name="TextBox 6"/>
          <p:cNvSpPr txBox="1"/>
          <p:nvPr/>
        </p:nvSpPr>
        <p:spPr>
          <a:xfrm>
            <a:off x="1024128" y="2139696"/>
            <a:ext cx="4581144" cy="3776472"/>
          </a:xfrm>
          <a:prstGeom prst="rect">
            <a:avLst/>
          </a:prstGeom>
          <a:noFill/>
        </p:spPr>
        <p:txBody>
          <a:bodyPr wrap="square">
            <a:noAutofit/>
          </a:bodyPr>
          <a:lstStyle/>
          <a:p>
            <a:pPr>
              <a:spcAft>
                <a:spcPts val="600"/>
              </a:spcAft>
              <a:defRPr sz="1700" b="0">
                <a:solidFill>
                  <a:srgbClr val="202B32"/>
                </a:solidFill>
                <a:latin typeface="Aptos"/>
              </a:defRPr>
            </a:pPr>
            <a:r>
              <a:t>blaming neighborhoods without context</a:t>
            </a:r>
          </a:p>
          <a:p>
            <a:pPr>
              <a:spcAft>
                <a:spcPts val="600"/>
              </a:spcAft>
              <a:defRPr sz="1700" b="0">
                <a:solidFill>
                  <a:srgbClr val="202B32"/>
                </a:solidFill>
                <a:latin typeface="Aptos"/>
              </a:defRPr>
            </a:pPr>
            <a:r>
              <a:t>treating missing data as neutral</a:t>
            </a:r>
          </a:p>
          <a:p>
            <a:pPr>
              <a:spcAft>
                <a:spcPts val="600"/>
              </a:spcAft>
              <a:defRPr sz="1700" b="0">
                <a:solidFill>
                  <a:srgbClr val="202B32"/>
                </a:solidFill>
                <a:latin typeface="Aptos"/>
              </a:defRPr>
            </a:pPr>
            <a:r>
              <a:t>confusing reports with confirmed facts</a:t>
            </a:r>
          </a:p>
          <a:p>
            <a:pPr>
              <a:spcAft>
                <a:spcPts val="600"/>
              </a:spcAft>
              <a:defRPr sz="1700" b="0">
                <a:solidFill>
                  <a:srgbClr val="202B32"/>
                </a:solidFill>
                <a:latin typeface="Aptos"/>
              </a:defRPr>
            </a:pPr>
            <a:r>
              <a:t>ignoring who benefits from the analysis</a:t>
            </a:r>
          </a:p>
        </p:txBody>
      </p:sp>
      <p:sp>
        <p:nvSpPr>
          <p:cNvPr id="8" name="Rounded Rectangle 7"/>
          <p:cNvSpPr/>
          <p:nvPr/>
        </p:nvSpPr>
        <p:spPr>
          <a:xfrm>
            <a:off x="6172200" y="1572768"/>
            <a:ext cx="498348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700784"/>
            <a:ext cx="2560320" cy="310896"/>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Responsible habits</a:t>
            </a:r>
          </a:p>
        </p:txBody>
      </p:sp>
      <p:sp>
        <p:nvSpPr>
          <p:cNvPr id="10" name="TextBox 9"/>
          <p:cNvSpPr txBox="1"/>
          <p:nvPr/>
        </p:nvSpPr>
        <p:spPr>
          <a:xfrm>
            <a:off x="6373368" y="2139696"/>
            <a:ext cx="4581144" cy="3776472"/>
          </a:xfrm>
          <a:prstGeom prst="rect">
            <a:avLst/>
          </a:prstGeom>
          <a:noFill/>
        </p:spPr>
        <p:txBody>
          <a:bodyPr wrap="square">
            <a:noAutofit/>
          </a:bodyPr>
          <a:lstStyle/>
          <a:p>
            <a:pPr>
              <a:spcAft>
                <a:spcPts val="600"/>
              </a:spcAft>
              <a:defRPr sz="1700" b="0">
                <a:solidFill>
                  <a:srgbClr val="202B32"/>
                </a:solidFill>
                <a:latin typeface="Aptos"/>
              </a:defRPr>
            </a:pPr>
            <a:r>
              <a:t>state limitations</a:t>
            </a:r>
          </a:p>
          <a:p>
            <a:pPr>
              <a:spcAft>
                <a:spcPts val="600"/>
              </a:spcAft>
              <a:defRPr sz="1700" b="0">
                <a:solidFill>
                  <a:srgbClr val="202B32"/>
                </a:solidFill>
                <a:latin typeface="Aptos"/>
              </a:defRPr>
            </a:pPr>
            <a:r>
              <a:t>avoid overclaiming</a:t>
            </a:r>
          </a:p>
          <a:p>
            <a:pPr>
              <a:spcAft>
                <a:spcPts val="600"/>
              </a:spcAft>
              <a:defRPr sz="1700" b="0">
                <a:solidFill>
                  <a:srgbClr val="202B32"/>
                </a:solidFill>
                <a:latin typeface="Aptos"/>
              </a:defRPr>
            </a:pPr>
            <a:r>
              <a:t>explain uncertainty</a:t>
            </a:r>
          </a:p>
          <a:p>
            <a:pPr>
              <a:spcAft>
                <a:spcPts val="600"/>
              </a:spcAft>
              <a:defRPr sz="1700" b="0">
                <a:solidFill>
                  <a:srgbClr val="202B32"/>
                </a:solidFill>
                <a:latin typeface="Aptos"/>
              </a:defRPr>
            </a:pPr>
            <a:r>
              <a:t>connect claims to evidence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33172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F79"/>
                </a:solidFill>
                <a:latin typeface="Aptos"/>
              </a:defRPr>
            </a:pPr>
            <a:r>
              <a:t>Lab Steps</a:t>
            </a:r>
          </a:p>
        </p:txBody>
      </p:sp>
      <p:sp>
        <p:nvSpPr>
          <p:cNvPr id="3" name="TextBox 2"/>
          <p:cNvSpPr txBox="1"/>
          <p:nvPr/>
        </p:nvSpPr>
        <p:spPr>
          <a:xfrm>
            <a:off x="548640" y="493776"/>
            <a:ext cx="10972800" cy="841248"/>
          </a:xfrm>
          <a:prstGeom prst="rect">
            <a:avLst/>
          </a:prstGeom>
          <a:noFill/>
        </p:spPr>
        <p:txBody>
          <a:bodyPr wrap="square">
            <a:spAutoFit/>
          </a:bodyPr>
          <a:lstStyle/>
          <a:p>
            <a:pPr>
              <a:defRPr sz="2200" b="1">
                <a:solidFill>
                  <a:srgbClr val="162635"/>
                </a:solidFill>
                <a:latin typeface="Aptos Display"/>
              </a:defRPr>
            </a:pPr>
            <a:r>
              <a:t>Today's in-class lab has six parts</a:t>
            </a:r>
          </a:p>
        </p:txBody>
      </p:sp>
      <p:cxnSp>
        <p:nvCxnSpPr>
          <p:cNvPr id="4" name="Connector 3"/>
          <p:cNvCxnSpPr/>
          <p:nvPr/>
        </p:nvCxnSpPr>
        <p:spPr>
          <a:xfrm>
            <a:off x="548640" y="1078992"/>
            <a:ext cx="11064240" cy="0"/>
          </a:xfrm>
          <a:prstGeom prst="line">
            <a:avLst/>
          </a:prstGeom>
          <a:ln w="12700">
            <a:solidFill>
              <a:srgbClr val="9DAD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68680" y="1389888"/>
            <a:ext cx="10378440" cy="658368"/>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6696" y="1463040"/>
            <a:ext cx="10122408" cy="512064"/>
          </a:xfrm>
          <a:prstGeom prst="rect">
            <a:avLst/>
          </a:prstGeom>
          <a:noFill/>
        </p:spPr>
        <p:txBody>
          <a:bodyPr wrap="square">
            <a:noAutofit/>
          </a:bodyPr>
          <a:lstStyle/>
          <a:p>
            <a:pPr>
              <a:spcAft>
                <a:spcPts val="600"/>
              </a:spcAft>
              <a:defRPr sz="1800" b="0">
                <a:solidFill>
                  <a:srgbClr val="162635"/>
                </a:solidFill>
                <a:latin typeface="Aptos"/>
              </a:defRPr>
            </a:pPr>
            <a:r>
              <a:t>1. Choose one dataset source and one dataset.</a:t>
            </a:r>
          </a:p>
        </p:txBody>
      </p:sp>
      <p:sp>
        <p:nvSpPr>
          <p:cNvPr id="7" name="Rounded Rectangle 6"/>
          <p:cNvSpPr/>
          <p:nvPr/>
        </p:nvSpPr>
        <p:spPr>
          <a:xfrm>
            <a:off x="868680" y="2139696"/>
            <a:ext cx="10378440" cy="658368"/>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96696" y="2212848"/>
            <a:ext cx="10122408" cy="512064"/>
          </a:xfrm>
          <a:prstGeom prst="rect">
            <a:avLst/>
          </a:prstGeom>
          <a:noFill/>
        </p:spPr>
        <p:txBody>
          <a:bodyPr wrap="square">
            <a:noAutofit/>
          </a:bodyPr>
          <a:lstStyle/>
          <a:p>
            <a:pPr>
              <a:spcAft>
                <a:spcPts val="600"/>
              </a:spcAft>
              <a:defRPr sz="1800" b="0">
                <a:solidFill>
                  <a:srgbClr val="162635"/>
                </a:solidFill>
                <a:latin typeface="Aptos"/>
              </a:defRPr>
            </a:pPr>
            <a:r>
              <a:t>2. Take a first look at rows, columns, dates, and locations.</a:t>
            </a:r>
          </a:p>
        </p:txBody>
      </p:sp>
      <p:sp>
        <p:nvSpPr>
          <p:cNvPr id="9" name="Rounded Rectangle 8"/>
          <p:cNvSpPr/>
          <p:nvPr/>
        </p:nvSpPr>
        <p:spPr>
          <a:xfrm>
            <a:off x="868680" y="2889503"/>
            <a:ext cx="10378440" cy="658368"/>
          </a:xfrm>
          <a:prstGeom prst="roundRect">
            <a:avLst/>
          </a:prstGeom>
          <a:solidFill>
            <a:srgbClr val="E8F4ED"/>
          </a:solidFill>
          <a:ln>
            <a:solidFill>
              <a:srgbClr val="E8F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962655"/>
            <a:ext cx="10122408" cy="512064"/>
          </a:xfrm>
          <a:prstGeom prst="rect">
            <a:avLst/>
          </a:prstGeom>
          <a:noFill/>
        </p:spPr>
        <p:txBody>
          <a:bodyPr wrap="square">
            <a:noAutofit/>
          </a:bodyPr>
          <a:lstStyle/>
          <a:p>
            <a:pPr>
              <a:spcAft>
                <a:spcPts val="600"/>
              </a:spcAft>
              <a:defRPr sz="1800" b="0">
                <a:solidFill>
                  <a:srgbClr val="162635"/>
                </a:solidFill>
                <a:latin typeface="Aptos"/>
              </a:defRPr>
            </a:pPr>
            <a:r>
              <a:t>3. Build a mini data dictionary for 6-8 columns.</a:t>
            </a:r>
          </a:p>
        </p:txBody>
      </p:sp>
      <p:sp>
        <p:nvSpPr>
          <p:cNvPr id="11" name="Rounded Rectangle 10"/>
          <p:cNvSpPr/>
          <p:nvPr/>
        </p:nvSpPr>
        <p:spPr>
          <a:xfrm>
            <a:off x="868680" y="3639311"/>
            <a:ext cx="10378440" cy="658368"/>
          </a:xfrm>
          <a:prstGeom prst="roundRect">
            <a:avLst/>
          </a:prstGeom>
          <a:solidFill>
            <a:srgbClr val="EDDDD3"/>
          </a:solidFill>
          <a:ln>
            <a:solidFill>
              <a:srgbClr val="ED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96696" y="3712463"/>
            <a:ext cx="10122408" cy="512064"/>
          </a:xfrm>
          <a:prstGeom prst="rect">
            <a:avLst/>
          </a:prstGeom>
          <a:noFill/>
        </p:spPr>
        <p:txBody>
          <a:bodyPr wrap="square">
            <a:noAutofit/>
          </a:bodyPr>
          <a:lstStyle/>
          <a:p>
            <a:pPr>
              <a:spcAft>
                <a:spcPts val="600"/>
              </a:spcAft>
              <a:defRPr sz="1800" b="0">
                <a:solidFill>
                  <a:srgbClr val="162635"/>
                </a:solidFill>
                <a:latin typeface="Aptos"/>
              </a:defRPr>
            </a:pPr>
            <a:r>
              <a:t>4. Document security, privacy, and ethics concerns.</a:t>
            </a:r>
          </a:p>
        </p:txBody>
      </p:sp>
      <p:sp>
        <p:nvSpPr>
          <p:cNvPr id="13" name="Rounded Rectangle 12"/>
          <p:cNvSpPr/>
          <p:nvPr/>
        </p:nvSpPr>
        <p:spPr>
          <a:xfrm>
            <a:off x="868680" y="4389120"/>
            <a:ext cx="10378440" cy="658368"/>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62272"/>
            <a:ext cx="10122408" cy="512064"/>
          </a:xfrm>
          <a:prstGeom prst="rect">
            <a:avLst/>
          </a:prstGeom>
          <a:noFill/>
        </p:spPr>
        <p:txBody>
          <a:bodyPr wrap="square">
            <a:noAutofit/>
          </a:bodyPr>
          <a:lstStyle/>
          <a:p>
            <a:pPr>
              <a:spcAft>
                <a:spcPts val="600"/>
              </a:spcAft>
              <a:defRPr sz="1800" b="0">
                <a:solidFill>
                  <a:srgbClr val="162635"/>
                </a:solidFill>
                <a:latin typeface="Aptos"/>
              </a:defRPr>
            </a:pPr>
            <a:r>
              <a:t>5. Connect the dataset to your final project path.</a:t>
            </a:r>
          </a:p>
        </p:txBody>
      </p:sp>
      <p:sp>
        <p:nvSpPr>
          <p:cNvPr id="15" name="Rounded Rectangle 14"/>
          <p:cNvSpPr/>
          <p:nvPr/>
        </p:nvSpPr>
        <p:spPr>
          <a:xfrm>
            <a:off x="868680" y="5138928"/>
            <a:ext cx="10378440" cy="658368"/>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6696" y="5212080"/>
            <a:ext cx="10122408" cy="512064"/>
          </a:xfrm>
          <a:prstGeom prst="rect">
            <a:avLst/>
          </a:prstGeom>
          <a:noFill/>
        </p:spPr>
        <p:txBody>
          <a:bodyPr wrap="square">
            <a:noAutofit/>
          </a:bodyPr>
          <a:lstStyle/>
          <a:p>
            <a:pPr>
              <a:spcAft>
                <a:spcPts val="600"/>
              </a:spcAft>
              <a:defRPr sz="1800" b="0">
                <a:solidFill>
                  <a:srgbClr val="162635"/>
                </a:solidFill>
                <a:latin typeface="Aptos"/>
              </a:defRPr>
            </a:pPr>
            <a:r>
              <a:t>6. Write a short reflection before submitting.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33172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F79"/>
                </a:solidFill>
                <a:latin typeface="Aptos"/>
              </a:defRPr>
            </a:pPr>
            <a:r>
              <a:t>Coding Path</a:t>
            </a:r>
          </a:p>
        </p:txBody>
      </p:sp>
      <p:sp>
        <p:nvSpPr>
          <p:cNvPr id="3" name="TextBox 2"/>
          <p:cNvSpPr txBox="1"/>
          <p:nvPr/>
        </p:nvSpPr>
        <p:spPr>
          <a:xfrm>
            <a:off x="548640" y="493776"/>
            <a:ext cx="10972800" cy="841248"/>
          </a:xfrm>
          <a:prstGeom prst="rect">
            <a:avLst/>
          </a:prstGeom>
          <a:noFill/>
        </p:spPr>
        <p:txBody>
          <a:bodyPr wrap="square">
            <a:spAutoFit/>
          </a:bodyPr>
          <a:lstStyle/>
          <a:p>
            <a:pPr>
              <a:defRPr sz="2200" b="1">
                <a:solidFill>
                  <a:srgbClr val="162635"/>
                </a:solidFill>
                <a:latin typeface="Aptos Display"/>
              </a:defRPr>
            </a:pPr>
            <a:r>
              <a:t>How a dataset can support the coding project</a:t>
            </a:r>
          </a:p>
        </p:txBody>
      </p:sp>
      <p:cxnSp>
        <p:nvCxnSpPr>
          <p:cNvPr id="4" name="Connector 3"/>
          <p:cNvCxnSpPr/>
          <p:nvPr/>
        </p:nvCxnSpPr>
        <p:spPr>
          <a:xfrm>
            <a:off x="548640" y="1078992"/>
            <a:ext cx="11064240" cy="0"/>
          </a:xfrm>
          <a:prstGeom prst="line">
            <a:avLst/>
          </a:prstGeom>
          <a:ln w="12700">
            <a:solidFill>
              <a:srgbClr val="9DAD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572768"/>
            <a:ext cx="498348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00784"/>
            <a:ext cx="256032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Simple code actions</a:t>
            </a:r>
          </a:p>
        </p:txBody>
      </p:sp>
      <p:sp>
        <p:nvSpPr>
          <p:cNvPr id="7" name="TextBox 6"/>
          <p:cNvSpPr txBox="1"/>
          <p:nvPr/>
        </p:nvSpPr>
        <p:spPr>
          <a:xfrm>
            <a:off x="1024128" y="2139696"/>
            <a:ext cx="4581144" cy="3776472"/>
          </a:xfrm>
          <a:prstGeom prst="rect">
            <a:avLst/>
          </a:prstGeom>
          <a:noFill/>
        </p:spPr>
        <p:txBody>
          <a:bodyPr wrap="square">
            <a:noAutofit/>
          </a:bodyPr>
          <a:lstStyle/>
          <a:p>
            <a:pPr>
              <a:spcAft>
                <a:spcPts val="600"/>
              </a:spcAft>
              <a:defRPr sz="1700" b="0">
                <a:solidFill>
                  <a:srgbClr val="202B32"/>
                </a:solidFill>
                <a:latin typeface="Aptos"/>
              </a:defRPr>
            </a:pPr>
            <a:r>
              <a:t>filter rows</a:t>
            </a:r>
          </a:p>
          <a:p>
            <a:pPr>
              <a:spcAft>
                <a:spcPts val="600"/>
              </a:spcAft>
              <a:defRPr sz="1700" b="0">
                <a:solidFill>
                  <a:srgbClr val="202B32"/>
                </a:solidFill>
                <a:latin typeface="Aptos"/>
              </a:defRPr>
            </a:pPr>
            <a:r>
              <a:t>count values</a:t>
            </a:r>
          </a:p>
          <a:p>
            <a:pPr>
              <a:spcAft>
                <a:spcPts val="600"/>
              </a:spcAft>
              <a:defRPr sz="1700" b="0">
                <a:solidFill>
                  <a:srgbClr val="202B32"/>
                </a:solidFill>
                <a:latin typeface="Aptos"/>
              </a:defRPr>
            </a:pPr>
            <a:r>
              <a:t>group by category</a:t>
            </a:r>
          </a:p>
          <a:p>
            <a:pPr>
              <a:spcAft>
                <a:spcPts val="600"/>
              </a:spcAft>
              <a:defRPr sz="1700" b="0">
                <a:solidFill>
                  <a:srgbClr val="202B32"/>
                </a:solidFill>
                <a:latin typeface="Aptos"/>
              </a:defRPr>
            </a:pPr>
            <a:r>
              <a:t>sort by date or count</a:t>
            </a:r>
          </a:p>
          <a:p>
            <a:pPr>
              <a:spcAft>
                <a:spcPts val="600"/>
              </a:spcAft>
              <a:defRPr sz="1700" b="0">
                <a:solidFill>
                  <a:srgbClr val="202B32"/>
                </a:solidFill>
                <a:latin typeface="Aptos"/>
              </a:defRPr>
            </a:pPr>
            <a:r>
              <a:t>make a summary table</a:t>
            </a:r>
          </a:p>
        </p:txBody>
      </p:sp>
      <p:sp>
        <p:nvSpPr>
          <p:cNvPr id="8" name="Rounded Rectangle 7"/>
          <p:cNvSpPr/>
          <p:nvPr/>
        </p:nvSpPr>
        <p:spPr>
          <a:xfrm>
            <a:off x="6172200" y="1572768"/>
            <a:ext cx="498348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700784"/>
            <a:ext cx="2560320" cy="310896"/>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Analyst-style output</a:t>
            </a:r>
          </a:p>
        </p:txBody>
      </p:sp>
      <p:sp>
        <p:nvSpPr>
          <p:cNvPr id="10" name="TextBox 9"/>
          <p:cNvSpPr txBox="1"/>
          <p:nvPr/>
        </p:nvSpPr>
        <p:spPr>
          <a:xfrm>
            <a:off x="6373368" y="2139696"/>
            <a:ext cx="4581144" cy="3776472"/>
          </a:xfrm>
          <a:prstGeom prst="rect">
            <a:avLst/>
          </a:prstGeom>
          <a:noFill/>
        </p:spPr>
        <p:txBody>
          <a:bodyPr wrap="square">
            <a:noAutofit/>
          </a:bodyPr>
          <a:lstStyle/>
          <a:p>
            <a:pPr>
              <a:spcAft>
                <a:spcPts val="600"/>
              </a:spcAft>
              <a:defRPr sz="1700" b="0">
                <a:solidFill>
                  <a:srgbClr val="202B32"/>
                </a:solidFill>
                <a:latin typeface="Aptos"/>
              </a:defRPr>
            </a:pPr>
            <a:r>
              <a:t>what changed?</a:t>
            </a:r>
          </a:p>
          <a:p>
            <a:pPr>
              <a:spcAft>
                <a:spcPts val="600"/>
              </a:spcAft>
              <a:defRPr sz="1700" b="0">
                <a:solidFill>
                  <a:srgbClr val="202B32"/>
                </a:solidFill>
                <a:latin typeface="Aptos"/>
              </a:defRPr>
            </a:pPr>
            <a:r>
              <a:t>what stands out?</a:t>
            </a:r>
          </a:p>
          <a:p>
            <a:pPr>
              <a:spcAft>
                <a:spcPts val="600"/>
              </a:spcAft>
              <a:defRPr sz="1700" b="0">
                <a:solidFill>
                  <a:srgbClr val="202B32"/>
                </a:solidFill>
                <a:latin typeface="Aptos"/>
              </a:defRPr>
            </a:pPr>
            <a:r>
              <a:t>what should be reviewed?</a:t>
            </a:r>
          </a:p>
          <a:p>
            <a:pPr>
              <a:spcAft>
                <a:spcPts val="600"/>
              </a:spcAft>
              <a:defRPr sz="1700" b="0">
                <a:solidFill>
                  <a:srgbClr val="202B32"/>
                </a:solidFill>
                <a:latin typeface="Aptos"/>
              </a:defRPr>
            </a:pPr>
            <a:r>
              <a:t>what concern or limitation matters?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33172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F79"/>
                </a:solidFill>
                <a:latin typeface="Aptos"/>
              </a:defRPr>
            </a:pPr>
            <a:r>
              <a:t>MLA Essay Path</a:t>
            </a:r>
          </a:p>
        </p:txBody>
      </p:sp>
      <p:sp>
        <p:nvSpPr>
          <p:cNvPr id="3" name="TextBox 2"/>
          <p:cNvSpPr txBox="1"/>
          <p:nvPr/>
        </p:nvSpPr>
        <p:spPr>
          <a:xfrm>
            <a:off x="548640" y="493776"/>
            <a:ext cx="10972800" cy="841248"/>
          </a:xfrm>
          <a:prstGeom prst="rect">
            <a:avLst/>
          </a:prstGeom>
          <a:noFill/>
        </p:spPr>
        <p:txBody>
          <a:bodyPr wrap="square">
            <a:spAutoFit/>
          </a:bodyPr>
          <a:lstStyle/>
          <a:p>
            <a:pPr>
              <a:defRPr sz="2200" b="1">
                <a:solidFill>
                  <a:srgbClr val="162635"/>
                </a:solidFill>
                <a:latin typeface="Aptos Display"/>
              </a:defRPr>
            </a:pPr>
            <a:r>
              <a:t>How a dataset can support the research essay</a:t>
            </a:r>
          </a:p>
        </p:txBody>
      </p:sp>
      <p:cxnSp>
        <p:nvCxnSpPr>
          <p:cNvPr id="4" name="Connector 3"/>
          <p:cNvCxnSpPr/>
          <p:nvPr/>
        </p:nvCxnSpPr>
        <p:spPr>
          <a:xfrm>
            <a:off x="548640" y="1078992"/>
            <a:ext cx="11064240" cy="0"/>
          </a:xfrm>
          <a:prstGeom prst="line">
            <a:avLst/>
          </a:prstGeom>
          <a:ln w="12700">
            <a:solidFill>
              <a:srgbClr val="9DAD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572768"/>
            <a:ext cx="498348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00784"/>
            <a:ext cx="256032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Dataset as evidence</a:t>
            </a:r>
          </a:p>
        </p:txBody>
      </p:sp>
      <p:sp>
        <p:nvSpPr>
          <p:cNvPr id="7" name="TextBox 6"/>
          <p:cNvSpPr txBox="1"/>
          <p:nvPr/>
        </p:nvSpPr>
        <p:spPr>
          <a:xfrm>
            <a:off x="1024128" y="2139696"/>
            <a:ext cx="4581144" cy="3776472"/>
          </a:xfrm>
          <a:prstGeom prst="rect">
            <a:avLst/>
          </a:prstGeom>
          <a:noFill/>
        </p:spPr>
        <p:txBody>
          <a:bodyPr wrap="square">
            <a:noAutofit/>
          </a:bodyPr>
          <a:lstStyle/>
          <a:p>
            <a:pPr>
              <a:spcAft>
                <a:spcPts val="600"/>
              </a:spcAft>
              <a:defRPr sz="1700" b="0">
                <a:solidFill>
                  <a:srgbClr val="202B32"/>
                </a:solidFill>
                <a:latin typeface="Aptos"/>
              </a:defRPr>
            </a:pPr>
            <a:r>
              <a:t>shows a real-world pattern</a:t>
            </a:r>
          </a:p>
          <a:p>
            <a:pPr>
              <a:spcAft>
                <a:spcPts val="600"/>
              </a:spcAft>
              <a:defRPr sz="1700" b="0">
                <a:solidFill>
                  <a:srgbClr val="202B32"/>
                </a:solidFill>
                <a:latin typeface="Aptos"/>
              </a:defRPr>
            </a:pPr>
            <a:r>
              <a:t>illustrates a public issue</a:t>
            </a:r>
          </a:p>
          <a:p>
            <a:pPr>
              <a:spcAft>
                <a:spcPts val="600"/>
              </a:spcAft>
              <a:defRPr sz="1700" b="0">
                <a:solidFill>
                  <a:srgbClr val="202B32"/>
                </a:solidFill>
                <a:latin typeface="Aptos"/>
              </a:defRPr>
            </a:pPr>
            <a:r>
              <a:t>raises a privacy question</a:t>
            </a:r>
          </a:p>
          <a:p>
            <a:pPr>
              <a:spcAft>
                <a:spcPts val="600"/>
              </a:spcAft>
              <a:defRPr sz="1700" b="0">
                <a:solidFill>
                  <a:srgbClr val="202B32"/>
                </a:solidFill>
                <a:latin typeface="Aptos"/>
              </a:defRPr>
            </a:pPr>
            <a:r>
              <a:t>shows limits of categories</a:t>
            </a:r>
          </a:p>
        </p:txBody>
      </p:sp>
      <p:sp>
        <p:nvSpPr>
          <p:cNvPr id="8" name="Rounded Rectangle 7"/>
          <p:cNvSpPr/>
          <p:nvPr/>
        </p:nvSpPr>
        <p:spPr>
          <a:xfrm>
            <a:off x="6172200" y="1572768"/>
            <a:ext cx="498348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700784"/>
            <a:ext cx="2560320" cy="310896"/>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Other sources</a:t>
            </a:r>
          </a:p>
        </p:txBody>
      </p:sp>
      <p:sp>
        <p:nvSpPr>
          <p:cNvPr id="10" name="TextBox 9"/>
          <p:cNvSpPr txBox="1"/>
          <p:nvPr/>
        </p:nvSpPr>
        <p:spPr>
          <a:xfrm>
            <a:off x="6373368" y="2139696"/>
            <a:ext cx="4581144" cy="3776472"/>
          </a:xfrm>
          <a:prstGeom prst="rect">
            <a:avLst/>
          </a:prstGeom>
          <a:noFill/>
        </p:spPr>
        <p:txBody>
          <a:bodyPr wrap="square">
            <a:noAutofit/>
          </a:bodyPr>
          <a:lstStyle/>
          <a:p>
            <a:pPr>
              <a:spcAft>
                <a:spcPts val="600"/>
              </a:spcAft>
              <a:defRPr sz="1700" b="0">
                <a:solidFill>
                  <a:srgbClr val="202B32"/>
                </a:solidFill>
                <a:latin typeface="Aptos"/>
              </a:defRPr>
            </a:pPr>
            <a:r>
              <a:t>course reading</a:t>
            </a:r>
          </a:p>
          <a:p>
            <a:pPr>
              <a:spcAft>
                <a:spcPts val="600"/>
              </a:spcAft>
              <a:defRPr sz="1700" b="0">
                <a:solidFill>
                  <a:srgbClr val="202B32"/>
                </a:solidFill>
                <a:latin typeface="Aptos"/>
              </a:defRPr>
            </a:pPr>
            <a:r>
              <a:t>official documentation</a:t>
            </a:r>
          </a:p>
          <a:p>
            <a:pPr>
              <a:spcAft>
                <a:spcPts val="600"/>
              </a:spcAft>
              <a:defRPr sz="1700" b="0">
                <a:solidFill>
                  <a:srgbClr val="202B32"/>
                </a:solidFill>
                <a:latin typeface="Aptos"/>
              </a:defRPr>
            </a:pPr>
            <a:r>
              <a:t>credible reporting</a:t>
            </a:r>
          </a:p>
          <a:p>
            <a:pPr>
              <a:spcAft>
                <a:spcPts val="600"/>
              </a:spcAft>
              <a:defRPr sz="1700" b="0">
                <a:solidFill>
                  <a:srgbClr val="202B32"/>
                </a:solidFill>
                <a:latin typeface="Aptos"/>
              </a:defRPr>
            </a:pPr>
            <a:r>
              <a:t>government or standards source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33172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r>
              <a:t>In-Class Finish</a:t>
            </a:r>
          </a:p>
        </p:txBody>
      </p:sp>
      <p:sp>
        <p:nvSpPr>
          <p:cNvPr id="3" name="TextBox 2"/>
          <p:cNvSpPr txBox="1"/>
          <p:nvPr/>
        </p:nvSpPr>
        <p:spPr>
          <a:xfrm>
            <a:off x="548640" y="493776"/>
            <a:ext cx="10972800" cy="841248"/>
          </a:xfrm>
          <a:prstGeom prst="rect">
            <a:avLst/>
          </a:prstGeom>
          <a:noFill/>
        </p:spPr>
        <p:txBody>
          <a:bodyPr wrap="square">
            <a:spAutoFit/>
          </a:bodyPr>
          <a:lstStyle/>
          <a:p>
            <a:r>
              <a:t>Use the last block to complete and submit the dataset lab</a:t>
            </a:r>
          </a:p>
        </p:txBody>
      </p:sp>
      <p:cxnSp>
        <p:nvCxnSpPr>
          <p:cNvPr id="4" name="Connector 3"/>
          <p:cNvCxnSpPr/>
          <p:nvPr/>
        </p:nvCxnSpPr>
        <p:spPr>
          <a:xfrm>
            <a:off x="548640" y="1078992"/>
            <a:ext cx="11064240" cy="0"/>
          </a:xfrm>
          <a:prstGeom prst="line">
            <a:avLst/>
          </a:prstGeom>
          <a:ln w="12700">
            <a:solidFill>
              <a:srgbClr val="9DAD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572768"/>
            <a:ext cx="324612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1700784"/>
            <a:ext cx="256032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r>
              <a:t>Finish</a:t>
            </a:r>
          </a:p>
        </p:txBody>
      </p:sp>
      <p:sp>
        <p:nvSpPr>
          <p:cNvPr id="7" name="TextBox 6"/>
          <p:cNvSpPr txBox="1"/>
          <p:nvPr/>
        </p:nvSpPr>
        <p:spPr>
          <a:xfrm>
            <a:off x="978408" y="2139696"/>
            <a:ext cx="2843784" cy="3776472"/>
          </a:xfrm>
          <a:prstGeom prst="rect">
            <a:avLst/>
          </a:prstGeom>
          <a:noFill/>
        </p:spPr>
        <p:txBody>
          <a:bodyPr wrap="square">
            <a:noAutofit/>
          </a:bodyPr>
          <a:lstStyle/>
          <a:p>
            <a:r>
              <a:t>dataset choice</a:t>
            </a:r>
          </a:p>
          <a:p>
            <a:r>
              <a:t>6-8 column data dictionary</a:t>
            </a:r>
          </a:p>
          <a:p>
            <a:r>
              <a:t>security/privacy/ethics concerns</a:t>
            </a:r>
          </a:p>
        </p:txBody>
      </p:sp>
      <p:sp>
        <p:nvSpPr>
          <p:cNvPr id="8" name="Rounded Rectangle 7"/>
          <p:cNvSpPr/>
          <p:nvPr/>
        </p:nvSpPr>
        <p:spPr>
          <a:xfrm>
            <a:off x="4315968" y="1572768"/>
            <a:ext cx="324612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53128" y="1700784"/>
            <a:ext cx="2560320" cy="310896"/>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r>
              <a:t>Write</a:t>
            </a:r>
          </a:p>
        </p:txBody>
      </p:sp>
      <p:sp>
        <p:nvSpPr>
          <p:cNvPr id="10" name="TextBox 9"/>
          <p:cNvSpPr txBox="1"/>
          <p:nvPr/>
        </p:nvSpPr>
        <p:spPr>
          <a:xfrm>
            <a:off x="4517136" y="2139696"/>
            <a:ext cx="2843784" cy="3776472"/>
          </a:xfrm>
          <a:prstGeom prst="rect">
            <a:avLst/>
          </a:prstGeom>
          <a:noFill/>
        </p:spPr>
        <p:txBody>
          <a:bodyPr wrap="square">
            <a:noAutofit/>
          </a:bodyPr>
          <a:lstStyle/>
          <a:p>
            <a:r>
              <a:t>120-180 word reflection</a:t>
            </a:r>
          </a:p>
          <a:p>
            <a:r>
              <a:t>what you understand better</a:t>
            </a:r>
          </a:p>
          <a:p>
            <a:r>
              <a:t>one concern you noticed</a:t>
            </a:r>
          </a:p>
        </p:txBody>
      </p:sp>
      <p:sp>
        <p:nvSpPr>
          <p:cNvPr id="11" name="Rounded Rectangle 10"/>
          <p:cNvSpPr/>
          <p:nvPr/>
        </p:nvSpPr>
        <p:spPr>
          <a:xfrm>
            <a:off x="7854696" y="1572768"/>
            <a:ext cx="324612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991856" y="1700784"/>
            <a:ext cx="2560320" cy="310896"/>
          </a:xfrm>
          <a:prstGeom prst="roundRect">
            <a:avLst/>
          </a:prstGeom>
          <a:solidFill>
            <a:srgbClr val="E8F4ED"/>
          </a:solidFill>
          <a:ln>
            <a:solidFill>
              <a:srgbClr val="E8F4ED"/>
            </a:solidFill>
          </a:ln>
        </p:spPr>
        <p:style>
          <a:lnRef idx="1">
            <a:schemeClr val="accent1"/>
          </a:lnRef>
          <a:fillRef idx="3">
            <a:schemeClr val="accent1"/>
          </a:fillRef>
          <a:effectRef idx="2">
            <a:schemeClr val="accent1"/>
          </a:effectRef>
          <a:fontRef idx="minor">
            <a:schemeClr val="lt1"/>
          </a:fontRef>
        </p:style>
        <p:txBody>
          <a:bodyPr rtlCol="0" anchor="ctr"/>
          <a:lstStyle/>
          <a:p>
            <a:r>
              <a:t>Submit</a:t>
            </a:r>
          </a:p>
        </p:txBody>
      </p:sp>
      <p:sp>
        <p:nvSpPr>
          <p:cNvPr id="13" name="TextBox 12"/>
          <p:cNvSpPr txBox="1"/>
          <p:nvPr/>
        </p:nvSpPr>
        <p:spPr>
          <a:xfrm>
            <a:off x="8055864" y="2139696"/>
            <a:ext cx="2843784" cy="3776472"/>
          </a:xfrm>
          <a:prstGeom prst="rect">
            <a:avLst/>
          </a:prstGeom>
          <a:noFill/>
        </p:spPr>
        <p:txBody>
          <a:bodyPr wrap="square">
            <a:noAutofit/>
          </a:bodyPr>
          <a:lstStyle/>
          <a:p>
            <a:r>
              <a:t>one document</a:t>
            </a:r>
          </a:p>
          <a:p>
            <a:r>
              <a:t>before leaving class</a:t>
            </a:r>
          </a:p>
          <a:p>
            <a:r>
              <a:t>no homework today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15568"/>
          </a:xfrm>
          <a:prstGeom prst="rect">
            <a:avLst/>
          </a:prstGeom>
          <a:solidFill>
            <a:srgbClr val="162635"/>
          </a:solidFill>
          <a:ln>
            <a:solidFill>
              <a:srgbClr val="1626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56032"/>
            <a:ext cx="10972800" cy="822960"/>
          </a:xfrm>
          <a:prstGeom prst="rect">
            <a:avLst/>
          </a:prstGeom>
          <a:noFill/>
        </p:spPr>
        <p:txBody>
          <a:bodyPr wrap="none">
            <a:spAutoFit/>
          </a:bodyPr>
          <a:lstStyle/>
          <a:p>
            <a:pPr>
              <a:defRPr sz="2600" b="1">
                <a:solidFill>
                  <a:srgbClr val="FFFFFF"/>
                </a:solidFill>
                <a:latin typeface="Aptos Display"/>
              </a:defRPr>
            </a:pPr>
            <a:r>
              <a:t>End of Day 2</a:t>
            </a:r>
          </a:p>
        </p:txBody>
      </p:sp>
      <p:sp>
        <p:nvSpPr>
          <p:cNvPr id="4" name="Rounded Rectangle 3"/>
          <p:cNvSpPr/>
          <p:nvPr/>
        </p:nvSpPr>
        <p:spPr>
          <a:xfrm>
            <a:off x="749808" y="1444752"/>
            <a:ext cx="10881360" cy="822960"/>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 y="1517904"/>
            <a:ext cx="10625328" cy="676656"/>
          </a:xfrm>
          <a:prstGeom prst="rect">
            <a:avLst/>
          </a:prstGeom>
          <a:noFill/>
        </p:spPr>
        <p:txBody>
          <a:bodyPr wrap="square">
            <a:noAutofit/>
          </a:bodyPr>
          <a:lstStyle/>
          <a:p>
            <a:pPr>
              <a:spcAft>
                <a:spcPts val="600"/>
              </a:spcAft>
              <a:defRPr sz="2100" b="1">
                <a:solidFill>
                  <a:srgbClr val="162635"/>
                </a:solidFill>
                <a:latin typeface="Aptos"/>
              </a:defRPr>
            </a:pPr>
            <a:r>
              <a:t>A dataset is not just something you download. It is something you have to understand before you use.</a:t>
            </a:r>
          </a:p>
        </p:txBody>
      </p:sp>
      <p:sp>
        <p:nvSpPr>
          <p:cNvPr id="6" name="Rounded Rectangle 5"/>
          <p:cNvSpPr/>
          <p:nvPr/>
        </p:nvSpPr>
        <p:spPr>
          <a:xfrm>
            <a:off x="868680" y="2670048"/>
            <a:ext cx="3337560" cy="265176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5840" y="2798064"/>
            <a:ext cx="2560320" cy="310896"/>
          </a:xfrm>
          <a:prstGeom prst="roundRect">
            <a:avLst/>
          </a:prstGeom>
          <a:solidFill>
            <a:srgbClr val="E8F4ED"/>
          </a:solidFill>
          <a:ln>
            <a:solidFill>
              <a:srgbClr val="E8F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Today</a:t>
            </a:r>
          </a:p>
        </p:txBody>
      </p:sp>
      <p:sp>
        <p:nvSpPr>
          <p:cNvPr id="8" name="TextBox 7"/>
          <p:cNvSpPr txBox="1"/>
          <p:nvPr/>
        </p:nvSpPr>
        <p:spPr>
          <a:xfrm>
            <a:off x="1069848" y="3236976"/>
            <a:ext cx="2935224" cy="1901952"/>
          </a:xfrm>
          <a:prstGeom prst="rect">
            <a:avLst/>
          </a:prstGeom>
          <a:noFill/>
        </p:spPr>
        <p:txBody>
          <a:bodyPr wrap="square">
            <a:noAutofit/>
          </a:bodyPr>
          <a:lstStyle/>
          <a:p>
            <a:pPr>
              <a:spcAft>
                <a:spcPts val="600"/>
              </a:spcAft>
              <a:defRPr sz="1800" b="0">
                <a:solidFill>
                  <a:srgbClr val="202B32"/>
                </a:solidFill>
                <a:latin typeface="Aptos"/>
              </a:defRPr>
            </a:pPr>
            <a:r>
              <a:t>find a dataset</a:t>
            </a:r>
          </a:p>
          <a:p>
            <a:pPr>
              <a:spcAft>
                <a:spcPts val="600"/>
              </a:spcAft>
              <a:defRPr sz="1800" b="0">
                <a:solidFill>
                  <a:srgbClr val="202B32"/>
                </a:solidFill>
                <a:latin typeface="Aptos"/>
              </a:defRPr>
            </a:pPr>
            <a:r>
              <a:t>read its structure</a:t>
            </a:r>
          </a:p>
          <a:p>
            <a:pPr>
              <a:spcAft>
                <a:spcPts val="600"/>
              </a:spcAft>
              <a:defRPr sz="1800" b="0">
                <a:solidFill>
                  <a:srgbClr val="202B32"/>
                </a:solidFill>
                <a:latin typeface="Aptos"/>
              </a:defRPr>
            </a:pPr>
            <a:r>
              <a:t>build a mini data dictionary</a:t>
            </a:r>
          </a:p>
        </p:txBody>
      </p:sp>
      <p:sp>
        <p:nvSpPr>
          <p:cNvPr id="9" name="Rounded Rectangle 8"/>
          <p:cNvSpPr/>
          <p:nvPr/>
        </p:nvSpPr>
        <p:spPr>
          <a:xfrm>
            <a:off x="4434840" y="2670048"/>
            <a:ext cx="3337560" cy="265176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72000" y="2798064"/>
            <a:ext cx="2560320" cy="310896"/>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Why</a:t>
            </a:r>
          </a:p>
        </p:txBody>
      </p:sp>
      <p:sp>
        <p:nvSpPr>
          <p:cNvPr id="11" name="TextBox 10"/>
          <p:cNvSpPr txBox="1"/>
          <p:nvPr/>
        </p:nvSpPr>
        <p:spPr>
          <a:xfrm>
            <a:off x="4636008" y="3236976"/>
            <a:ext cx="2935224" cy="1901952"/>
          </a:xfrm>
          <a:prstGeom prst="rect">
            <a:avLst/>
          </a:prstGeom>
          <a:noFill/>
        </p:spPr>
        <p:txBody>
          <a:bodyPr wrap="square">
            <a:noAutofit/>
          </a:bodyPr>
          <a:lstStyle/>
          <a:p>
            <a:pPr>
              <a:spcAft>
                <a:spcPts val="600"/>
              </a:spcAft>
              <a:defRPr sz="1800" b="0">
                <a:solidFill>
                  <a:srgbClr val="202B32"/>
                </a:solidFill>
                <a:latin typeface="Aptos"/>
              </a:defRPr>
            </a:pPr>
            <a:r>
              <a:t>data analysis starts with understanding columns, rows, and meanings</a:t>
            </a:r>
          </a:p>
        </p:txBody>
      </p:sp>
      <p:sp>
        <p:nvSpPr>
          <p:cNvPr id="12" name="Rounded Rectangle 11"/>
          <p:cNvSpPr/>
          <p:nvPr/>
        </p:nvSpPr>
        <p:spPr>
          <a:xfrm>
            <a:off x="8001000" y="2670048"/>
            <a:ext cx="3063240" cy="265176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38160" y="2798064"/>
            <a:ext cx="256032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Output</a:t>
            </a:r>
          </a:p>
        </p:txBody>
      </p:sp>
      <p:sp>
        <p:nvSpPr>
          <p:cNvPr id="14" name="TextBox 13"/>
          <p:cNvSpPr txBox="1"/>
          <p:nvPr/>
        </p:nvSpPr>
        <p:spPr>
          <a:xfrm>
            <a:off x="8202168" y="3236976"/>
            <a:ext cx="2660904" cy="1901952"/>
          </a:xfrm>
          <a:prstGeom prst="rect">
            <a:avLst/>
          </a:prstGeom>
          <a:noFill/>
        </p:spPr>
        <p:txBody>
          <a:bodyPr wrap="square">
            <a:noAutofit/>
          </a:bodyPr>
          <a:lstStyle/>
          <a:p>
            <a:pPr>
              <a:spcAft>
                <a:spcPts val="600"/>
              </a:spcAft>
              <a:defRPr sz="1800" b="0">
                <a:solidFill>
                  <a:srgbClr val="202B32"/>
                </a:solidFill>
                <a:latin typeface="Aptos"/>
              </a:defRPr>
            </a:pPr>
            <a:r>
              <a:t>a dataset choice</a:t>
            </a:r>
          </a:p>
          <a:p>
            <a:pPr>
              <a:spcAft>
                <a:spcPts val="600"/>
              </a:spcAft>
              <a:defRPr sz="1800" b="0">
                <a:solidFill>
                  <a:srgbClr val="202B32"/>
                </a:solidFill>
                <a:latin typeface="Aptos"/>
              </a:defRPr>
            </a:pPr>
            <a:r>
              <a:t>a data dictionary</a:t>
            </a:r>
          </a:p>
          <a:p>
            <a:pPr>
              <a:spcAft>
                <a:spcPts val="600"/>
              </a:spcAft>
              <a:defRPr sz="1800" b="0">
                <a:solidFill>
                  <a:srgbClr val="202B32"/>
                </a:solidFill>
                <a:latin typeface="Aptos"/>
              </a:defRPr>
            </a:pPr>
            <a:r>
              <a:t>a final project connection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