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9" r:id="rId4"/>
    <p:sldId id="260" r:id="rId5"/>
    <p:sldId id="262" r:id="rId6"/>
    <p:sldId id="265" r:id="rId7"/>
    <p:sldId id="268" r:id="rId8"/>
    <p:sldId id="269" r:id="rId9"/>
    <p:sldId id="272" r:id="rId10"/>
    <p:sldId id="273" r:id="rId11"/>
    <p:sldId id="274" r:id="rId12"/>
    <p:sldId id="275" r:id="rId13"/>
    <p:sldId id="276" r:id="rId14"/>
    <p:sldId id="277" r:id="rId15"/>
    <p:sldId id="279" r:id="rId16"/>
    <p:sldId id="280" r:id="rId17"/>
    <p:sldId id="283" r:id="rId18"/>
    <p:sldId id="284" r:id="rId19"/>
    <p:sldId id="285" r:id="rId20"/>
    <p:sldId id="286" r:id="rId21"/>
    <p:sldId id="301" r:id="rId22"/>
    <p:sldId id="288" r:id="rId23"/>
    <p:sldId id="289" r:id="rId24"/>
    <p:sldId id="290" r:id="rId25"/>
    <p:sldId id="291" r:id="rId26"/>
    <p:sldId id="292" r:id="rId27"/>
    <p:sldId id="29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70419"/>
  </p:normalViewPr>
  <p:slideViewPr>
    <p:cSldViewPr snapToGrid="0" snapToObjects="1">
      <p:cViewPr varScale="1">
        <p:scale>
          <a:sx n="110" d="100"/>
          <a:sy n="110" d="100"/>
        </p:scale>
        <p:origin x="168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378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part sets the frame for the class. Week 4 Module: Operating System and Network Security in Practice is here to establish the method we will use repeatedly: identify where trust fails, map immediate impact, and choose the first defensible control action.</a:t>
            </a:r>
          </a:p>
          <a:p>
            <a:endParaRPr/>
          </a:p>
          <a:p>
            <a:r>
              <a:t>Primary textbook focus: Chapter 5 advanced concepts and Chapter 6 network defenses. The practical move here is to connect risk to one concrete control and one accountable owner.</a:t>
            </a:r>
          </a:p>
          <a:p>
            <a:endParaRPr/>
          </a:p>
          <a:p>
            <a:r>
              <a:t>Theme: keep systems trustworthy when endpoints and networks are under active pressure. The practical move here is to connect risk to one concrete control and one accountable owner.</a:t>
            </a:r>
          </a:p>
          <a:p>
            <a:endParaRPr/>
          </a:p>
          <a:p>
            <a:r>
              <a:t>Deliverables: quick lab, in-class reading response, and operational decision making. This is here to make high-quality answers reproducible under time constraints.</a:t>
            </a:r>
          </a:p>
          <a:p>
            <a:endParaRPr/>
          </a:p>
          <a:p>
            <a:r>
              <a:t>The operational takeaway is to choose the first control action that reduces immediate harm and can be executed quickly by a clear owner.</a:t>
            </a:r>
          </a:p>
          <a:p>
            <a:endParaRPr/>
          </a:p>
          <a:p>
            <a:r>
              <a:t>That framing is the baseline for the rest of class.</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part sets the frame for the class. How Week 4 Builds on Week 3 is here to establish the method we will use repeatedly: identify where trust fails, map immediate impact, and choose the first defensible control action.</a:t>
            </a:r>
          </a:p>
          <a:p>
            <a:endParaRPr/>
          </a:p>
          <a:p>
            <a:r>
              <a:t>Week 3 covered programming flaws, web attacks, and operating-system fundamentals. The practical move here is to connect risk to one concrete control and one accountable owner.</a:t>
            </a:r>
          </a:p>
          <a:p>
            <a:endParaRPr/>
          </a:p>
          <a:p>
            <a:r>
              <a:t>Week 4 extends to hardening, monitoring, containment, and recovery workflows. Hardening removes easy attacker paths before incidents start and improves signal quality when incidents occur.</a:t>
            </a:r>
          </a:p>
          <a:p>
            <a:endParaRPr/>
          </a:p>
          <a:p>
            <a:r>
              <a:t>Main shift: from naming vulnerabilities to prioritizing controls and ownership. The practical move here is to connect risk to one concrete control and one accountable owner.</a:t>
            </a:r>
          </a:p>
          <a:p>
            <a:endParaRPr/>
          </a:p>
          <a:p>
            <a:r>
              <a:t>The operational takeaway is to choose the first control action that reduces immediate harm and can be executed quickly by a clear owner.</a:t>
            </a:r>
          </a:p>
          <a:p>
            <a:endParaRPr/>
          </a:p>
          <a:p>
            <a:r>
              <a:t>That framing is the baseline for the rest of class.</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part sets the frame for the class. Learning Objectives is here to establish the method we will use repeatedly: identify where trust fails, map immediate impact, and choose the first defensible control action.</a:t>
            </a:r>
          </a:p>
          <a:p>
            <a:endParaRPr/>
          </a:p>
          <a:p>
            <a:r>
              <a:t>Explain how host-level controls enforce trust at runtime. The practical move here is to connect risk to one concrete control and one accountable owner.</a:t>
            </a:r>
          </a:p>
          <a:p>
            <a:endParaRPr/>
          </a:p>
          <a:p>
            <a:r>
              <a:t>Analyze network attack paths and map layered defenses. The practical move here is to connect risk to one concrete control and one accountable owner.</a:t>
            </a:r>
          </a:p>
          <a:p>
            <a:endParaRPr/>
          </a:p>
          <a:p>
            <a:r>
              <a:t>Prioritize containment actions using impact and feasibility. The practical move here is to connect risk to one concrete control and one accountable owner.</a:t>
            </a:r>
          </a:p>
          <a:p>
            <a:endParaRPr/>
          </a:p>
          <a:p>
            <a:r>
              <a:t>Evaluate privacy and ethics tradeoffs in security monitoring. Monitoring should be proportional, purposeful, and bounded to avoid preventable privacy harm.</a:t>
            </a:r>
          </a:p>
          <a:p>
            <a:endParaRPr/>
          </a:p>
          <a:p>
            <a:r>
              <a:t>Produce concise, professional security analysis artifacts. These outputs matter because they become visible evidence of capability outside class.</a:t>
            </a:r>
          </a:p>
          <a:p>
            <a:endParaRPr/>
          </a:p>
          <a:p>
            <a:r>
              <a:t>The operational takeaway is to choose the first control action that reduces immediate harm and can be executed quickly by a clear owner.</a:t>
            </a:r>
          </a:p>
          <a:p>
            <a:endParaRPr/>
          </a:p>
          <a:p>
            <a:r>
              <a:t>That framing is the baseline for the rest of class.</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part sets the frame for the class. Essential Questions is here to establish the method we will use repeatedly: identify where trust fails, map immediate impact, and choose the first defensible control action.</a:t>
            </a:r>
          </a:p>
          <a:p>
            <a:endParaRPr/>
          </a:p>
          <a:p>
            <a:r>
              <a:t>What makes a host control trustworthy in adversarial conditions?. The practical move here is to connect risk to one concrete control and one accountable owner.</a:t>
            </a:r>
          </a:p>
          <a:p>
            <a:endParaRPr/>
          </a:p>
          <a:p>
            <a:r>
              <a:t>Why do network attacks often succeed despite multiple tools?. The practical move here is to connect risk to one concrete control and one accountable owner.</a:t>
            </a:r>
          </a:p>
          <a:p>
            <a:endParaRPr/>
          </a:p>
          <a:p>
            <a:r>
              <a:t>How should teams prioritize containment in the first 30 minutes?. The practical move here is to connect risk to one concrete control and one accountable owner.</a:t>
            </a:r>
          </a:p>
          <a:p>
            <a:endParaRPr/>
          </a:p>
          <a:p>
            <a:r>
              <a:t>When does security monitoring become a privacy risk?. Monitoring should be proportional, purposeful, and bounded to avoid preventable privacy harm.</a:t>
            </a:r>
          </a:p>
          <a:p>
            <a:endParaRPr/>
          </a:p>
          <a:p>
            <a:r>
              <a:t>The operational takeaway is to choose the first control action that reduces immediate harm and can be executed quickly by a clear owner.</a:t>
            </a:r>
          </a:p>
          <a:p>
            <a:endParaRPr/>
          </a:p>
          <a:p>
            <a:r>
              <a:t>That framing is the baseline for the rest of class.</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Chapter 5 Advanced Focus: Host Trust Under Attack is part of the host-security core. The priority here is enforceability and evidence quality under adversarial conditions.</a:t>
            </a:r>
          </a:p>
          <a:p>
            <a:endParaRPr/>
          </a:p>
          <a:p>
            <a:r>
              <a:t>Operating system controls are foundational to all upper-layer security. The practical move here is to connect risk to one concrete control and one accountable owner.</a:t>
            </a:r>
          </a:p>
          <a:p>
            <a:endParaRPr/>
          </a:p>
          <a:p>
            <a:r>
              <a:t>Host compromise can neutralize detections, logs, and policy enforcement. The practical move here is to connect risk to one concrete control and one accountable owner.</a:t>
            </a:r>
          </a:p>
          <a:p>
            <a:endParaRPr/>
          </a:p>
          <a:p>
            <a:r>
              <a:t>Design goal: preserve mediation, visibility, and recovery options. The practical move here is to connect risk to one concrete control and one accountable owner.</a:t>
            </a:r>
          </a:p>
          <a:p>
            <a:endParaRPr/>
          </a:p>
          <a:p>
            <a:r>
              <a:t>The operational takeaway is to choose the first control action that reduces immediate harm and can be executed quickly by a clear owner.</a:t>
            </a:r>
          </a:p>
          <a:p>
            <a:endParaRPr/>
          </a:p>
          <a:p>
            <a:r>
              <a:t>Keep the host-security test simple: can controls be bypassed, and can evidence still be trusted during response.</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Privilege Escalation Mechanics is part of the host-security core. The priority here is enforceability and evidence quality under adversarial conditions.</a:t>
            </a:r>
          </a:p>
          <a:p>
            <a:endParaRPr/>
          </a:p>
          <a:p>
            <a:r>
              <a:t>Escalation converts limited footholds into broad control. The practical move here is to connect risk to one concrete control and one accountable owner.</a:t>
            </a:r>
          </a:p>
          <a:p>
            <a:endParaRPr/>
          </a:p>
          <a:p>
            <a:r>
              <a:t>Common paths include weak service permissions and token abuse. The practical move here is to connect risk to one concrete control and one accountable owner.</a:t>
            </a:r>
          </a:p>
          <a:p>
            <a:endParaRPr/>
          </a:p>
          <a:p>
            <a:r>
              <a:t>Least privilege and separation of duties reduce blast radius. Privilege boundaries are containment boundaries. Narrow rights keep compromise scope smaller.</a:t>
            </a:r>
          </a:p>
          <a:p>
            <a:endParaRPr/>
          </a:p>
          <a:p>
            <a:r>
              <a:t>The operational takeaway is to choose the first control action that reduces immediate harm and can be executed quickly by a clear owner.</a:t>
            </a:r>
          </a:p>
          <a:p>
            <a:endParaRPr/>
          </a:p>
          <a:p>
            <a:r>
              <a:t>Keep the host-security test simple: can controls be bypassed, and can evidence still be trusted during response.</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Host Hardening Baseline is part of the host-security core. The priority here is enforceability and evidence quality under adversarial conditions.</a:t>
            </a:r>
          </a:p>
          <a:p>
            <a:endParaRPr dirty="0"/>
          </a:p>
          <a:p>
            <a:r>
              <a:rPr dirty="0"/>
              <a:t>Patch discipline, service minimization, and secure configuration baselines. Hardening removes easy attacker paths before incidents start and improves signal quality when incidents occur.</a:t>
            </a:r>
          </a:p>
          <a:p>
            <a:endParaRPr dirty="0"/>
          </a:p>
          <a:p>
            <a:r>
              <a:rPr dirty="0"/>
              <a:t>Application allowlisting and execution policy constraints. Hardening removes easy attacker paths before incidents start and improves signal quality when incidents occur.</a:t>
            </a:r>
          </a:p>
          <a:p>
            <a:endParaRPr dirty="0"/>
          </a:p>
          <a:p>
            <a:r>
              <a:rPr dirty="0"/>
              <a:t>Administrative access controls with strong authentication. The practical move here is to connect risk to one concrete control and one accountable owner.</a:t>
            </a:r>
          </a:p>
          <a:p>
            <a:endParaRPr dirty="0"/>
          </a:p>
          <a:p>
            <a:r>
              <a:rPr dirty="0"/>
              <a:t>Documented exceptions with expiration and review. The practical move here is to connect risk to one concrete control and one accountable owner.</a:t>
            </a:r>
          </a:p>
          <a:p>
            <a:endParaRPr dirty="0"/>
          </a:p>
          <a:p>
            <a:r>
              <a:rPr dirty="0"/>
              <a:t>The operational takeaway is to choose the first control action that reduces immediate harm and can be executed quickly by a clear owner.</a:t>
            </a:r>
          </a:p>
          <a:p>
            <a:endParaRPr dirty="0"/>
          </a:p>
          <a:p>
            <a:r>
              <a:rPr dirty="0"/>
              <a:t>Keep the host-security test simple: can controls be bypassed, and can evidence still be trusted during response.</a:t>
            </a:r>
          </a:p>
          <a:p>
            <a:endParaRPr dirty="0"/>
          </a:p>
          <a:p>
            <a:r>
              <a:rPr dirty="0"/>
              <a:t>Focus on concrete sequence: what happened, what impact is active now, and what single action should happen first.</a:t>
            </a:r>
          </a:p>
          <a:p>
            <a:endParaRPr dirty="0"/>
          </a:p>
          <a:p>
            <a:r>
              <a:rPr dirty="0"/>
              <a:t>Focus on concrete sequence: what happened, what impact is active now, and what single action should happen first.</a:t>
            </a:r>
          </a:p>
          <a:p>
            <a:endParaRPr dirty="0"/>
          </a:p>
          <a:p>
            <a:r>
              <a:rPr dirty="0"/>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Endpoint Telemetry: Logging, Alerts, and Signal Quality is part of the host-security core. The priority here is enforceability and evidence quality under adversarial conditions.</a:t>
            </a:r>
          </a:p>
          <a:p>
            <a:endParaRPr/>
          </a:p>
          <a:p>
            <a:r>
              <a:t>Collect process, authentication, integrity, and network telemetry. Signal quality is operational leverage. Better telemetry design leads to faster, safer decisions.</a:t>
            </a:r>
          </a:p>
          <a:p>
            <a:endParaRPr/>
          </a:p>
          <a:p>
            <a:r>
              <a:t>Prioritize high-confidence alerts to reduce fatigue. Signal quality is operational leverage. Better telemetry design leads to faster, safer decisions.</a:t>
            </a:r>
          </a:p>
          <a:p>
            <a:endParaRPr/>
          </a:p>
          <a:p>
            <a:r>
              <a:t>Preserve forensic value through integrity and retention controls. Manipulated data can appear legitimate, so integrity controls and behavioral detection must reinforce each other.</a:t>
            </a:r>
          </a:p>
          <a:p>
            <a:endParaRPr/>
          </a:p>
          <a:p>
            <a:r>
              <a:t>The operational takeaway is to choose the first control action that reduces immediate harm and can be executed quickly by a clear owner.</a:t>
            </a:r>
          </a:p>
          <a:p>
            <a:endParaRPr/>
          </a:p>
          <a:p>
            <a:r>
              <a:t>Keep the host-security test simple: can controls be bypassed, and can evidence still be trusted during response.</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Chapter 6 Focus: Network Security as Systemic Resilience moves to network resilience. The focus is how attacks spread, how controls interrupt that spread, and how teams keep service usable.</a:t>
            </a:r>
          </a:p>
          <a:p>
            <a:endParaRPr/>
          </a:p>
          <a:p>
            <a:r>
              <a:t>Networks carry both business value and attack opportunity. The practical move here is to connect risk to one concrete control and one accountable owner.</a:t>
            </a:r>
          </a:p>
          <a:p>
            <a:endParaRPr/>
          </a:p>
          <a:p>
            <a:r>
              <a:t>Remote attacks can scale faster than host-local attacks. The practical move here is to connect risk to one concrete control and one accountable owner.</a:t>
            </a:r>
          </a:p>
          <a:p>
            <a:endParaRPr/>
          </a:p>
          <a:p>
            <a:r>
              <a:t>Design objective: preserve service, trust, and detection visibility. The practical move here is to connect risk to one concrete control and one accountable owner.</a:t>
            </a:r>
          </a:p>
          <a:p>
            <a:endParaRPr/>
          </a:p>
          <a:p>
            <a:r>
              <a:t>The operational takeaway is to choose the first control action that reduces immediate harm and can be executed quickly by a clear owner.</a:t>
            </a:r>
          </a:p>
          <a:p>
            <a:endParaRPr/>
          </a:p>
          <a:p>
            <a:r>
              <a:t>Keep the network-security test simple: how can impact spread, and which boundary stops spread fastest.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Network Model and Trust Boundaries moves to network resilience. The focus is how attacks spread, how controls interrupt that spread, and how teams keep service usable.</a:t>
            </a:r>
          </a:p>
          <a:p>
            <a:endParaRPr/>
          </a:p>
          <a:p>
            <a:r>
              <a:t>Data flows through layered protocols with different control responsibilities. The practical move here is to connect risk to one concrete control and one accountable owner.</a:t>
            </a:r>
          </a:p>
          <a:p>
            <a:endParaRPr/>
          </a:p>
          <a:p>
            <a:r>
              <a:t>Every boundary crossing needs identity, integrity, and policy checks. Manipulated data can appear legitimate, so integrity controls and behavioral detection must reinforce each other.</a:t>
            </a:r>
          </a:p>
          <a:p>
            <a:endParaRPr/>
          </a:p>
          <a:p>
            <a:r>
              <a:t>Routing and addressing decisions influence exposure paths. The practical move here is to connect risk to one concrete control and one accountable owner.</a:t>
            </a:r>
          </a:p>
          <a:p>
            <a:endParaRPr/>
          </a:p>
          <a:p>
            <a:r>
              <a:t>The operational takeaway is to choose the first control action that reduces immediate harm and can be executed quickly by a clear owner.</a:t>
            </a:r>
          </a:p>
          <a:p>
            <a:endParaRPr/>
          </a:p>
          <a:p>
            <a:r>
              <a:t>Keep the network-security test simple: how can impact spread, and which boundary stops spread fastest.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Threat Class 1: Interception and Eavesdropping moves to network resilience. The focus is how attacks spread, how controls interrupt that spread, and how teams keep service usable.</a:t>
            </a:r>
          </a:p>
          <a:p>
            <a:endParaRPr dirty="0"/>
          </a:p>
          <a:p>
            <a:r>
              <a:rPr dirty="0"/>
              <a:t>Attackers capture traffic to extract credentials or sensitive data. The practical move here is to connect risk to one concrete control and one accountable owner.</a:t>
            </a:r>
          </a:p>
          <a:p>
            <a:endParaRPr dirty="0"/>
          </a:p>
          <a:p>
            <a:r>
              <a:rPr dirty="0"/>
              <a:t>Insecure links and weak encryption increase interception risk. This is primarily a confidentiality threat, so channel protection and certificate discipline are decisive.</a:t>
            </a:r>
          </a:p>
          <a:p>
            <a:endParaRPr dirty="0"/>
          </a:p>
          <a:p>
            <a:r>
              <a:rPr dirty="0"/>
              <a:t>Mitigations include strong transport encryption and key hygiene. The practical move here is to connect risk to one concrete control and one accountable owner.</a:t>
            </a:r>
          </a:p>
          <a:p>
            <a:endParaRPr dirty="0"/>
          </a:p>
          <a:p>
            <a:r>
              <a:rPr dirty="0"/>
              <a:t>The operational takeaway is to choose the first control action that reduces immediate harm and can be executed quickly by a clear owner.</a:t>
            </a:r>
          </a:p>
          <a:p>
            <a:endParaRPr dirty="0"/>
          </a:p>
          <a:p>
            <a:r>
              <a:rPr dirty="0"/>
              <a:t>Keep the network-security test simple: how can impact spread, and which boundary stops spread fastest.</a:t>
            </a:r>
          </a:p>
          <a:p>
            <a:endParaRPr dirty="0"/>
          </a:p>
          <a:p>
            <a:r>
              <a:rPr dirty="0"/>
              <a:t>Focus on concrete sequence: what happened, what impact is active now, and what single action should happen first.</a:t>
            </a:r>
          </a:p>
          <a:p>
            <a:endParaRPr dirty="0"/>
          </a:p>
          <a:p>
            <a:r>
              <a:rPr dirty="0"/>
              <a:t>Focus on concrete sequence: what happened, what impact is active now, and what single action should happen first.</a:t>
            </a:r>
          </a:p>
          <a:p>
            <a:endParaRPr dirty="0"/>
          </a:p>
          <a:p>
            <a:r>
              <a:rPr dirty="0"/>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Threat Class 2: Modification and Fabrication moves to network resilience. The focus is how attacks spread, how controls interrupt that spread, and how teams keep service usable.</a:t>
            </a:r>
          </a:p>
          <a:p>
            <a:endParaRPr/>
          </a:p>
          <a:p>
            <a:r>
              <a:t>Adversaries alter packets, commands, or responses in transit. The practical move here is to connect risk to one concrete control and one accountable owner.</a:t>
            </a:r>
          </a:p>
          <a:p>
            <a:endParaRPr/>
          </a:p>
          <a:p>
            <a:r>
              <a:t>Forgery can produce unauthorized actions while appearing legitimate. The practical move here is to connect risk to one concrete control and one accountable owner.</a:t>
            </a:r>
          </a:p>
          <a:p>
            <a:endParaRPr/>
          </a:p>
          <a:p>
            <a:r>
              <a:t>Integrity controls and authentication reduce manipulation risk. Manipulated data can appear legitimate, so integrity controls and behavioral detection must reinforce each other.</a:t>
            </a:r>
          </a:p>
          <a:p>
            <a:endParaRPr/>
          </a:p>
          <a:p>
            <a:r>
              <a:t>The operational takeaway is to choose the first control action that reduces immediate harm and can be executed quickly by a clear owner.</a:t>
            </a:r>
          </a:p>
          <a:p>
            <a:endParaRPr/>
          </a:p>
          <a:p>
            <a:r>
              <a:t>Keep the network-security test simple: how can impact spread, and which boundary stops spread fastest.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Threat Class 3: Interruption and Denial of Service moves to network resilience. The focus is how attacks spread, how controls interrupt that spread, and how teams keep service usable.</a:t>
            </a:r>
          </a:p>
          <a:p>
            <a:endParaRPr/>
          </a:p>
          <a:p>
            <a:r>
              <a:t>Goal is to degrade or stop service delivery. The practical move here is to connect risk to one concrete control and one accountable owner.</a:t>
            </a:r>
          </a:p>
          <a:p>
            <a:endParaRPr/>
          </a:p>
          <a:p>
            <a:r>
              <a:t>DoS and DDoS exploit capacity limits and dependency fragility. Availability protection is a resilience architecture problem, not just a filtering problem.</a:t>
            </a:r>
          </a:p>
          <a:p>
            <a:endParaRPr/>
          </a:p>
          <a:p>
            <a:r>
              <a:t>Resilience requires architecture, not only edge filtering. The practical move here is to connect risk to one concrete control and one accountable owner.</a:t>
            </a:r>
          </a:p>
          <a:p>
            <a:endParaRPr/>
          </a:p>
          <a:p>
            <a:r>
              <a:t>The operational takeaway is to choose the first control action that reduces immediate harm and can be executed quickly by a clear owner.</a:t>
            </a:r>
          </a:p>
          <a:p>
            <a:endParaRPr/>
          </a:p>
          <a:p>
            <a:r>
              <a:t>Keep the network-security test simple: how can impact spread, and which boundary stops spread fastest.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Reconnaissance: Port Scanning and Service Discovery moves to network resilience. The focus is how attacks spread, how controls interrupt that spread, and how teams keep service usable.</a:t>
            </a:r>
          </a:p>
          <a:p>
            <a:endParaRPr/>
          </a:p>
          <a:p>
            <a:r>
              <a:t>Scanning maps reachable hosts, services, and likely weaknesses. The practical move here is to connect risk to one concrete control and one accountable owner.</a:t>
            </a:r>
          </a:p>
          <a:p>
            <a:endParaRPr/>
          </a:p>
          <a:p>
            <a:r>
              <a:t>Unnecessary exposed services increase attack options. The practical move here is to connect risk to one concrete control and one accountable owner.</a:t>
            </a:r>
          </a:p>
          <a:p>
            <a:endParaRPr/>
          </a:p>
          <a:p>
            <a:r>
              <a:t>Rate limits, segmentation, and monitoring reduce reconnaissance value. Segmentation is one of the highest-value containment controls because it limits lateral movement.</a:t>
            </a:r>
          </a:p>
          <a:p>
            <a:endParaRPr/>
          </a:p>
          <a:p>
            <a:r>
              <a:t>The operational takeaway is to choose the first control action that reduces immediate harm and can be executed quickly by a clear owner.</a:t>
            </a:r>
          </a:p>
          <a:p>
            <a:endParaRPr/>
          </a:p>
          <a:p>
            <a:r>
              <a:t>Keep the network-security test simple: how can impact spread, and which boundary stops spread fastest.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Segmentation and Network Access Control moves to network resilience. The focus is how attacks spread, how controls interrupt that spread, and how teams keep service usable.</a:t>
            </a:r>
          </a:p>
          <a:p>
            <a:endParaRPr/>
          </a:p>
          <a:p>
            <a:r>
              <a:t>Segment by business function and sensitivity, not just by convenience. The practical move here is to connect risk to one concrete control and one accountable owner.</a:t>
            </a:r>
          </a:p>
          <a:p>
            <a:endParaRPr/>
          </a:p>
          <a:p>
            <a:r>
              <a:t>Use least-privilege connectivity between zones. The practical move here is to connect risk to one concrete control and one accountable owner.</a:t>
            </a:r>
          </a:p>
          <a:p>
            <a:endParaRPr/>
          </a:p>
          <a:p>
            <a:r>
              <a:t>NAC policies can enforce device and identity posture before access. Segmentation is one of the highest-value containment controls because it limits lateral movement.</a:t>
            </a:r>
          </a:p>
          <a:p>
            <a:endParaRPr/>
          </a:p>
          <a:p>
            <a:r>
              <a:t>A practical design example is preventing student-facing systems from reaching sensitive internal administration paths by default.</a:t>
            </a:r>
          </a:p>
          <a:p>
            <a:endParaRPr/>
          </a:p>
          <a:p>
            <a:r>
              <a:t>Keep the network-security test simple: how can impact spread, and which boundary stops spread fastest.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Cryptographic Protection for Network Traffic moves to network resilience. The focus is how attacks spread, how controls interrupt that spread, and how teams keep service usable.</a:t>
            </a:r>
          </a:p>
          <a:p>
            <a:endParaRPr dirty="0"/>
          </a:p>
          <a:p>
            <a:r>
              <a:rPr dirty="0"/>
              <a:t>Use modern TLS configurations for in-transit confidentiality and integrity. Manipulated data can appear legitimate, so integrity controls and behavioral detection must reinforce each other.</a:t>
            </a:r>
          </a:p>
          <a:p>
            <a:endParaRPr dirty="0"/>
          </a:p>
          <a:p>
            <a:r>
              <a:rPr dirty="0"/>
              <a:t>Use VPN or tunnel protections where network trust is low. The practical move here is to connect risk to one concrete control and one accountable owner.</a:t>
            </a:r>
          </a:p>
          <a:p>
            <a:endParaRPr dirty="0"/>
          </a:p>
          <a:p>
            <a:r>
              <a:rPr dirty="0"/>
              <a:t>Certificate lifecycle and key management are critical dependencies. The practical move here is to connect risk to one concrete control and one accountable owner.</a:t>
            </a:r>
          </a:p>
          <a:p>
            <a:endParaRPr dirty="0"/>
          </a:p>
          <a:p>
            <a:r>
              <a:rPr dirty="0"/>
              <a:t>The operational takeaway is to choose the first control action that reduces immediate harm and can be executed quickly by a clear owner.</a:t>
            </a:r>
          </a:p>
          <a:p>
            <a:endParaRPr dirty="0"/>
          </a:p>
          <a:p>
            <a:r>
              <a:rPr dirty="0"/>
              <a:t>Keep the network-security test simple: how can impact spread, and which boundary stops spread fastest.</a:t>
            </a:r>
          </a:p>
          <a:p>
            <a:endParaRPr dirty="0"/>
          </a:p>
          <a:p>
            <a:r>
              <a:rPr dirty="0"/>
              <a:t>Focus on concrete sequence: what happened, what impact is active now, and what single action should happen first.</a:t>
            </a:r>
          </a:p>
          <a:p>
            <a:endParaRPr dirty="0"/>
          </a:p>
          <a:p>
            <a:r>
              <a:rPr dirty="0"/>
              <a:t>Focus on concrete sequence: what happened, what impact is active now, and what single action should happen first.</a:t>
            </a:r>
          </a:p>
          <a:p>
            <a:endParaRPr dirty="0"/>
          </a:p>
          <a:p>
            <a:r>
              <a:rPr dirty="0"/>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Zero Trust Network Access (ZTNA) moves to network resilience. The focus is how attacks spread, how controls interrupt that spread, and how teams keep service usable.</a:t>
            </a:r>
          </a:p>
          <a:p>
            <a:endParaRPr/>
          </a:p>
          <a:p>
            <a:r>
              <a:t>Never assume trust based only on network location. The practical move here is to connect risk to one concrete control and one accountable owner.</a:t>
            </a:r>
          </a:p>
          <a:p>
            <a:endParaRPr/>
          </a:p>
          <a:p>
            <a:r>
              <a:t>Continuously verify identity, device posture, and request context. The practical move here is to connect risk to one concrete control and one accountable owner.</a:t>
            </a:r>
          </a:p>
          <a:p>
            <a:endParaRPr/>
          </a:p>
          <a:p>
            <a:r>
              <a:t>Limit access to specific resources rather than broad network segments. The practical move here is to connect risk to one concrete control and one accountable owner.</a:t>
            </a:r>
          </a:p>
          <a:p>
            <a:endParaRPr/>
          </a:p>
          <a:p>
            <a:r>
              <a:t>A plain example is this: a correct password alone does not grant full access. Identity, device health, and request context all have to pass before access is granted.</a:t>
            </a:r>
          </a:p>
          <a:p>
            <a:endParaRPr/>
          </a:p>
          <a:p>
            <a:r>
              <a:t>Keep the network-security test simple: how can impact spread, and which boundary stops spread fastest.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DDoS Readiness Strategy moves to network resilience. The focus is how attacks spread, how controls interrupt that spread, and how teams keep service usable.</a:t>
            </a:r>
          </a:p>
          <a:p>
            <a:endParaRPr/>
          </a:p>
          <a:p>
            <a:r>
              <a:t>Plan capacity, upstream support, and traffic filtering before incidents. The practical move here is to connect risk to one concrete control and one accountable owner.</a:t>
            </a:r>
          </a:p>
          <a:p>
            <a:endParaRPr/>
          </a:p>
          <a:p>
            <a:r>
              <a:t>Define critical services and graceful-degradation priorities. The practical move here is to connect risk to one concrete control and one accountable owner.</a:t>
            </a:r>
          </a:p>
          <a:p>
            <a:endParaRPr/>
          </a:p>
          <a:p>
            <a:r>
              <a:t>Practice communication and escalation for fast coordinated response. The practical move here is to connect risk to one concrete control and one accountable owner.</a:t>
            </a:r>
          </a:p>
          <a:p>
            <a:endParaRPr/>
          </a:p>
          <a:p>
            <a:r>
              <a:t>A practical resilience example is preserving essential functions while mitigation stabilizes higher-volume attack traffic.</a:t>
            </a:r>
          </a:p>
          <a:p>
            <a:endParaRPr/>
          </a:p>
          <a:p>
            <a:r>
              <a:t>Keep the network-security test simple: how can impact spread, and which boundary stops spread fastest.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Network Management and Change Governance moves to network resilience. The focus is how attacks spread, how controls interrupt that spread, and how teams keep service usable.</a:t>
            </a:r>
          </a:p>
          <a:p>
            <a:endParaRPr/>
          </a:p>
          <a:p>
            <a:r>
              <a:t>Maintain accurate inventories for assets, dependencies, and routes. The practical move here is to connect risk to one concrete control and one accountable owner.</a:t>
            </a:r>
          </a:p>
          <a:p>
            <a:endParaRPr/>
          </a:p>
          <a:p>
            <a:r>
              <a:t>Review security impact for every meaningful network change. The practical move here is to connect risk to one concrete control and one accountable owner.</a:t>
            </a:r>
          </a:p>
          <a:p>
            <a:endParaRPr/>
          </a:p>
          <a:p>
            <a:r>
              <a:t>Use post-change validation to confirm policy behavior. The practical move here is to connect risk to one concrete control and one accountable owner.</a:t>
            </a:r>
          </a:p>
          <a:p>
            <a:endParaRPr/>
          </a:p>
          <a:p>
            <a:r>
              <a:t>The operational takeaway is to choose the first control action that reduces immediate harm and can be executed quickly by a clear owner.</a:t>
            </a:r>
          </a:p>
          <a:p>
            <a:endParaRPr/>
          </a:p>
          <a:p>
            <a:r>
              <a:t>Keep the network-security test simple: how can impact spread, and which boundary stops spread fastest.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Privacy and Ethics in Network Monitoring moves to network resilience. The focus is how attacks spread, how controls interrupt that spread, and how teams keep service usable.</a:t>
            </a:r>
          </a:p>
          <a:p>
            <a:endParaRPr/>
          </a:p>
          <a:p>
            <a:r>
              <a:t>Monitoring improves detection but can over-collect user data. The practical move here is to connect risk to one concrete control and one accountable owner.</a:t>
            </a:r>
          </a:p>
          <a:p>
            <a:endParaRPr/>
          </a:p>
          <a:p>
            <a:r>
              <a:t>Data minimization and purpose limitation reduce privacy harm. Monitoring should be proportional, purposeful, and bounded to avoid preventable privacy harm.</a:t>
            </a:r>
          </a:p>
          <a:p>
            <a:endParaRPr/>
          </a:p>
          <a:p>
            <a:r>
              <a:t>Transparent policy and access controls preserve institutional trust. The practical move here is to connect risk to one concrete control and one accountable owner.</a:t>
            </a:r>
          </a:p>
          <a:p>
            <a:endParaRPr/>
          </a:p>
          <a:p>
            <a:r>
              <a:t>The operational takeaway is to choose the first control action that reduces immediate harm and can be executed quickly by a clear owner.</a:t>
            </a:r>
          </a:p>
          <a:p>
            <a:endParaRPr/>
          </a:p>
          <a:p>
            <a:r>
              <a:t>Keep the network-security test simple: how can impact spread, and which boundary stops spread fastest.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In-Class Reading Response (10-12 Minutes) closes the loop between technical judgment, communication quality, and next-step readiness.</a:t>
            </a:r>
          </a:p>
          <a:p>
            <a:endParaRPr/>
          </a:p>
          <a:p>
            <a:r>
              <a:t>Read the provided excerpt on zero trust and monitoring ethics. Zero trust means access is verified continuously, not assumed from network location.</a:t>
            </a:r>
          </a:p>
          <a:p>
            <a:endParaRPr/>
          </a:p>
          <a:p>
            <a:r>
              <a:t>Write a 250-300 word response using claim, evidence, and counterargument. The writing task measures whether decisions can be justified clearly, not just named.</a:t>
            </a:r>
          </a:p>
          <a:p>
            <a:endParaRPr/>
          </a:p>
          <a:p>
            <a:r>
              <a:t>Connect one technical control choice to one ethical principle. The practical move here is to connect risk to one concrete control and one accountable owner.</a:t>
            </a:r>
          </a:p>
          <a:p>
            <a:endParaRPr/>
          </a:p>
          <a:p>
            <a:r>
              <a:t>A strong response names one first control, supports it with excerpt evidence, addresses one objection, and links the decision to one ethical principle.</a:t>
            </a:r>
          </a:p>
          <a:p>
            <a:endParaRPr/>
          </a:p>
          <a:p>
            <a:r>
              <a:t>Carry that same clarity into reflection, communication, and next-step preparation.</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All right, here is the incident we are working with. A likely phishing event led to credential theft on a payroll-support account. After that account was abused, we saw an unsigned privileged process on host ADV-WS-14, and outbound HTTPS traffic from the affected subnet jumped to about seven times baseline. At the same time, the student-facing portal slowed down, latency rose by roughly forty-eight percent, and transactions began to fail.</a:t>
            </a:r>
          </a:p>
          <a:p>
            <a:endParaRPr dirty="0"/>
          </a:p>
          <a:p>
            <a:r>
              <a:rPr dirty="0"/>
              <a:t>So this is the core problem: we have a combined identity, host, and network event happening at the same time. We are not looking at one isolated alert. We are looking at an active incident chain with real user impact and possible data risk.</a:t>
            </a:r>
          </a:p>
          <a:p>
            <a:endParaRPr dirty="0"/>
          </a:p>
          <a:p>
            <a:r>
              <a:rPr dirty="0"/>
              <a:t>Our decision challenge is to contain fast without destroying critical evidence and without causing unnecessary service collapse. If we act too slowly, attacker dwell time grows. If we act too broadly without discipline, we can create avoidable operational harm.</a:t>
            </a:r>
          </a:p>
          <a:p>
            <a:endParaRPr dirty="0"/>
          </a:p>
          <a:p>
            <a:r>
              <a:rPr dirty="0"/>
              <a:t>For this walkthrough, we will make decisions in this order. First, reduce active harm. Second, preserve trustworthy evidence. Third, stabilize essential service continuity.</a:t>
            </a:r>
          </a:p>
          <a:p>
            <a:endParaRPr dirty="0"/>
          </a:p>
          <a:p>
            <a:r>
              <a:rPr dirty="0"/>
              <a:t>Keep that order in mind as we move forward, because every later decision will be judged against these three priorities. Next, we will walk the timeline minute by minute so we can see exactly where trust failed first, where escalation should have happened, and which action had the highest leverage at each point in time.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let’s walk the timeline in sequence.</a:t>
            </a:r>
          </a:p>
          <a:p>
            <a:endParaRPr dirty="0"/>
          </a:p>
          <a:p>
            <a:r>
              <a:rPr dirty="0"/>
              <a:t>At 08:57, a phishing email is sent to a payroll-support user. By 09:02, credentials are entered into a look-alike page. That is the first trust break: user identity is compromised.</a:t>
            </a:r>
          </a:p>
          <a:p>
            <a:endParaRPr dirty="0"/>
          </a:p>
          <a:p>
            <a:r>
              <a:rPr dirty="0"/>
              <a:t>At 09:06, an unauthorized VPN session succeeds with those credentials. At this moment, this is no longer just a phishing awareness issue. It has become an active access-control incident.</a:t>
            </a:r>
          </a:p>
          <a:p>
            <a:endParaRPr dirty="0"/>
          </a:p>
          <a:p>
            <a:r>
              <a:rPr dirty="0"/>
              <a:t>At 09:14, an unsigned privileged process appears on ADV-WS-14. That strongly suggests escalation beyond simple login misuse. The attacker is likely trying to establish persistence or execute follow-on actions.</a:t>
            </a:r>
          </a:p>
          <a:p>
            <a:endParaRPr dirty="0"/>
          </a:p>
          <a:p>
            <a:r>
              <a:rPr dirty="0"/>
              <a:t>Between 09:20 and 09:28, outbound encrypted traffic rises to around seven times baseline and reaches unfamiliar destinations. Now we have dual concern: possible exfiltration and active service disruption.</a:t>
            </a:r>
          </a:p>
          <a:p>
            <a:endParaRPr dirty="0"/>
          </a:p>
          <a:p>
            <a:r>
              <a:rPr dirty="0"/>
              <a:t>By 09:30 and after, portal latency climbs and transaction failures start affecting users directly. Availability harm is now visible.</a:t>
            </a:r>
          </a:p>
          <a:p>
            <a:endParaRPr dirty="0"/>
          </a:p>
          <a:p>
            <a:r>
              <a:rPr dirty="0"/>
              <a:t>The key lesson from this timeline is that each stage raises urgency and narrows the safe action window. Good teams do not wait for perfect certainty. They escalate when evidence crosses a defensible threshold.</a:t>
            </a:r>
          </a:p>
          <a:p>
            <a:endParaRPr dirty="0"/>
          </a:p>
          <a:p>
            <a:r>
              <a:rPr dirty="0"/>
              <a:t>In the next step, we evaluate which signals were high-confidence, which were noisy, and where faster correlation would have shortened the incident.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Detection quality determines whether response is early or late.</a:t>
            </a:r>
          </a:p>
          <a:p>
            <a:endParaRPr/>
          </a:p>
          <a:p>
            <a:r>
              <a:t>High-confidence signals should trigger immediate analyst review. In this incident, the most meaningful combination is unauthorized VPN behavior, privileged unsigned process activity, and abnormal outbound traffic in the same operating window. Any one signal alone might be explainable. Together, they are escalation-worthy.</a:t>
            </a:r>
          </a:p>
          <a:p>
            <a:endParaRPr/>
          </a:p>
          <a:p>
            <a:r>
              <a:t>Weakly tuned alerts create the opposite effect. They flood analysts with low-value noise and delay decisions on high-impact events. That delay is expensive. Every extra minute can increase dwell time, increase user harm, and increase recovery cost.</a:t>
            </a:r>
          </a:p>
          <a:p>
            <a:endParaRPr/>
          </a:p>
          <a:p>
            <a:r>
              <a:t>Correlation is the multiplier. When host telemetry, identity telemetry, and network telemetry are reviewed together, confidence rises quickly and response quality improves.</a:t>
            </a:r>
          </a:p>
          <a:p>
            <a:endParaRPr/>
          </a:p>
          <a:p>
            <a:r>
              <a:t>So the operational rule is simple: prioritize signal sets that indicate both compromise and consequence. The question is not only "could this be malicious." The real question is "is harm already underway, and what should happen now." </a:t>
            </a:r>
          </a:p>
          <a:p>
            <a:endParaRPr/>
          </a:p>
          <a:p>
            <a:r>
              <a:t>For this incident, harm is underway. That means the next conversation is containment sequence: what to isolate first, what to block first, and what to rotate first, in an order that reduces risk without creating preventable service failure.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Containment decisions work best in layers, not as one isolated action.</a:t>
            </a:r>
          </a:p>
          <a:p>
            <a:endParaRPr dirty="0"/>
          </a:p>
          <a:p>
            <a:r>
              <a:rPr dirty="0"/>
              <a:t>Endpoint isolation can quickly reduce attacker movement from compromised hosts, but if done too broadly it can disrupt legitimate operations. Targeted network blocking can reduce suspicious outbound activity while preserving core services, but only if rules are precise enough to avoid collateral outage. Identity containment, including session revocation and rapid credential reset, is often the fastest way to cut attacker continuity.</a:t>
            </a:r>
          </a:p>
          <a:p>
            <a:endParaRPr dirty="0"/>
          </a:p>
          <a:p>
            <a:r>
              <a:rPr dirty="0"/>
              <a:t>In this scenario, the strongest approach is coordinated sequencing. Start with identity containment to cut active unauthorized access. Then isolate affected endpoint scope to limit local execution risk. Then apply targeted network restrictions based on observed destinations and behavior. Throughout all three steps, preserve forensic evidence and record action timestamps.</a:t>
            </a:r>
          </a:p>
          <a:p>
            <a:endParaRPr dirty="0"/>
          </a:p>
          <a:p>
            <a:r>
              <a:rPr dirty="0"/>
              <a:t>That order works because it follows leverage. Identity controls reduce broad access quickly. Endpoint controls reduce host-level risk. Network controls reduce possible exfiltration and disruption paths.</a:t>
            </a:r>
          </a:p>
          <a:p>
            <a:endParaRPr dirty="0"/>
          </a:p>
          <a:p>
            <a:r>
              <a:rPr dirty="0"/>
              <a:t>Next, we move from containment to recovery, where the focus shifts from stopping harm to re-establishing trustworthy system state.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Recovery begins only after containment is stable enough to control active risk.</a:t>
            </a:r>
          </a:p>
          <a:p>
            <a:endParaRPr/>
          </a:p>
          <a:p>
            <a:r>
              <a:t>First, validate integrity before full restoration. If host state is not trustworthy, bringing systems back online too early can reintroduce compromised conditions. Second, document root cause and control gaps with named owners. Vague lessons do not prevent repeat incidents. Specific gaps with accountable owners do.</a:t>
            </a:r>
          </a:p>
          <a:p>
            <a:endParaRPr/>
          </a:p>
          <a:p>
            <a:r>
              <a:t>Third, update policy and playbooks based on what actually failed. If escalation thresholds were unclear, fix them. If telemetry correlation was weak, tune it. If privileges were too broad, narrow them.</a:t>
            </a:r>
          </a:p>
          <a:p>
            <a:endParaRPr/>
          </a:p>
          <a:p>
            <a:r>
              <a:t>Fourth, communicate clearly with affected stakeholders. Communication is part of security quality. People need actionable guidance about what happened, what changed, and what they should do now.</a:t>
            </a:r>
          </a:p>
          <a:p>
            <a:endParaRPr/>
          </a:p>
          <a:p>
            <a:r>
              <a:t>The practical test for recovery is not "systems are back." The practical test is "trust is evidence-based, decisions are documented, and recurrence risk has been reduced." </a:t>
            </a:r>
          </a:p>
          <a:p>
            <a:endParaRPr/>
          </a:p>
          <a:p>
            <a:r>
              <a:t>That closes the walkthrough and transitions directly into the lab, where the same reasoning pattern is applied in concise written form.</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Lab: Overview is part of the practical exercise sequence. The objective is concise, defensible analysis that can be executed by real owners.</a:t>
            </a:r>
          </a:p>
          <a:p>
            <a:endParaRPr/>
          </a:p>
          <a:p>
            <a:r>
              <a:t>Duration: 20-25 minutes, individual work. The practical move here is to keep the answer short and specific: concern, impact, first action, verification, owner, urgency.</a:t>
            </a:r>
          </a:p>
          <a:p>
            <a:endParaRPr/>
          </a:p>
          <a:p>
            <a:r>
              <a:t>Task: classify evidence, map CIA impact, and prioritize controls. The writing task measures whether decisions can be justified clearly, not just named.</a:t>
            </a:r>
          </a:p>
          <a:p>
            <a:endParaRPr/>
          </a:p>
          <a:p>
            <a:r>
              <a:t>Output: one-page mitigation brief with named owners. The practical move here is to keep the answer short and specific: concern, impact, first action, verification, owner, urgency.</a:t>
            </a:r>
          </a:p>
          <a:p>
            <a:endParaRPr/>
          </a:p>
          <a:p>
            <a:r>
              <a:t>The operational takeaway is to choose the first control action that reduces immediate harm and can be executed quickly by a clear owner.</a:t>
            </a:r>
          </a:p>
          <a:p>
            <a:endParaRPr/>
          </a:p>
          <a:p>
            <a:r>
              <a:t>Use the same answer structure consistently and your analysis will stay clear under time pressure.</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a:p>
            <a:endParaRPr/>
          </a:p>
          <a:p>
            <a:r>
              <a:t>Focus on concrete sequence: what happened, what impact is active now, and what single action should happen first.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34C8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34C8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Week 4 Foundation</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Week 4 Module: Operating System and Network Security in Practice</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Primary textbook focus: Chapter 5 advanced concepts and Chapter 6 network defenses</a:t>
            </a:r>
          </a:p>
          <a:p>
            <a:pPr>
              <a:lnSpc>
                <a:spcPct val="118000"/>
              </a:lnSpc>
              <a:spcAft>
                <a:spcPts val="1400"/>
              </a:spcAft>
              <a:defRPr sz="2400">
                <a:solidFill>
                  <a:srgbClr val="EEF4FF"/>
                </a:solidFill>
                <a:latin typeface="Calibri"/>
              </a:defRPr>
            </a:pPr>
            <a:r>
              <a:t>Theme: keep systems trustworthy when endpoints and networks are under active pressure</a:t>
            </a:r>
          </a:p>
          <a:p>
            <a:pPr>
              <a:lnSpc>
                <a:spcPct val="118000"/>
              </a:lnSpc>
              <a:spcAft>
                <a:spcPts val="1400"/>
              </a:spcAft>
              <a:defRPr sz="2400">
                <a:solidFill>
                  <a:srgbClr val="EEF4FF"/>
                </a:solidFill>
                <a:latin typeface="Calibri"/>
              </a:defRPr>
            </a:pPr>
            <a:r>
              <a:t>Deliverables: quick lab, in-class reading response, and operational decision making</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34C8B7"/>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1/50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34C8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34C8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Week 4 Foundation</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How Week 4 Builds on Week 3</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Week 3 covered programming flaws, web attacks, and operating-system fundamentals</a:t>
            </a:r>
          </a:p>
          <a:p>
            <a:pPr>
              <a:lnSpc>
                <a:spcPct val="118000"/>
              </a:lnSpc>
              <a:spcAft>
                <a:spcPts val="1400"/>
              </a:spcAft>
              <a:defRPr sz="2400">
                <a:solidFill>
                  <a:srgbClr val="EEF4FF"/>
                </a:solidFill>
                <a:latin typeface="Calibri"/>
              </a:defRPr>
            </a:pPr>
            <a:r>
              <a:t>Week 4 extends to hardening, monitoring, containment, and recovery workflows</a:t>
            </a:r>
          </a:p>
          <a:p>
            <a:pPr>
              <a:lnSpc>
                <a:spcPct val="118000"/>
              </a:lnSpc>
              <a:spcAft>
                <a:spcPts val="1400"/>
              </a:spcAft>
              <a:defRPr sz="2400">
                <a:solidFill>
                  <a:srgbClr val="EEF4FF"/>
                </a:solidFill>
                <a:latin typeface="Calibri"/>
              </a:defRPr>
            </a:pPr>
            <a:r>
              <a:t>Main shift: from naming vulnerabilities to prioritizing controls and ownership</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34C8B7"/>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2/50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34C8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34C8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Week 4 Foundation</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Learning Objectives</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Explain how host-level controls enforce trust at runtime</a:t>
            </a:r>
          </a:p>
          <a:p>
            <a:pPr>
              <a:lnSpc>
                <a:spcPct val="118000"/>
              </a:lnSpc>
              <a:spcAft>
                <a:spcPts val="1400"/>
              </a:spcAft>
              <a:defRPr sz="2400">
                <a:solidFill>
                  <a:srgbClr val="EEF4FF"/>
                </a:solidFill>
                <a:latin typeface="Calibri"/>
              </a:defRPr>
            </a:pPr>
            <a:r>
              <a:t>Analyze network attack paths and map layered defenses</a:t>
            </a:r>
          </a:p>
          <a:p>
            <a:pPr>
              <a:lnSpc>
                <a:spcPct val="118000"/>
              </a:lnSpc>
              <a:spcAft>
                <a:spcPts val="1400"/>
              </a:spcAft>
              <a:defRPr sz="2400">
                <a:solidFill>
                  <a:srgbClr val="EEF4FF"/>
                </a:solidFill>
                <a:latin typeface="Calibri"/>
              </a:defRPr>
            </a:pPr>
            <a:r>
              <a:t>Prioritize containment actions using impact and feasibility</a:t>
            </a:r>
          </a:p>
          <a:p>
            <a:pPr>
              <a:lnSpc>
                <a:spcPct val="118000"/>
              </a:lnSpc>
              <a:spcAft>
                <a:spcPts val="1400"/>
              </a:spcAft>
              <a:defRPr sz="2400">
                <a:solidFill>
                  <a:srgbClr val="EEF4FF"/>
                </a:solidFill>
                <a:latin typeface="Calibri"/>
              </a:defRPr>
            </a:pPr>
            <a:r>
              <a:t>Evaluate privacy and ethics tradeoffs in security monitoring</a:t>
            </a:r>
          </a:p>
          <a:p>
            <a:pPr>
              <a:lnSpc>
                <a:spcPct val="118000"/>
              </a:lnSpc>
              <a:spcAft>
                <a:spcPts val="1400"/>
              </a:spcAft>
              <a:defRPr sz="2400">
                <a:solidFill>
                  <a:srgbClr val="EEF4FF"/>
                </a:solidFill>
                <a:latin typeface="Calibri"/>
              </a:defRPr>
            </a:pPr>
            <a:r>
              <a:t>Produce concise, professional security analysis artifacts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34C8B7"/>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4/50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34C8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34C8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Week 4 Foundation</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Essential Questions</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What makes a host control trustworthy in adversarial conditions?</a:t>
            </a:r>
          </a:p>
          <a:p>
            <a:pPr>
              <a:lnSpc>
                <a:spcPct val="118000"/>
              </a:lnSpc>
              <a:spcAft>
                <a:spcPts val="1400"/>
              </a:spcAft>
              <a:defRPr sz="2400">
                <a:solidFill>
                  <a:srgbClr val="EEF4FF"/>
                </a:solidFill>
                <a:latin typeface="Calibri"/>
              </a:defRPr>
            </a:pPr>
            <a:r>
              <a:t>Why do network attacks often succeed despite multiple tools?</a:t>
            </a:r>
          </a:p>
          <a:p>
            <a:pPr>
              <a:lnSpc>
                <a:spcPct val="118000"/>
              </a:lnSpc>
              <a:spcAft>
                <a:spcPts val="1400"/>
              </a:spcAft>
              <a:defRPr sz="2400">
                <a:solidFill>
                  <a:srgbClr val="EEF4FF"/>
                </a:solidFill>
                <a:latin typeface="Calibri"/>
              </a:defRPr>
            </a:pPr>
            <a:r>
              <a:t>How should teams prioritize containment in the first 30 minutes?</a:t>
            </a:r>
          </a:p>
          <a:p>
            <a:pPr>
              <a:lnSpc>
                <a:spcPct val="118000"/>
              </a:lnSpc>
              <a:spcAft>
                <a:spcPts val="1400"/>
              </a:spcAft>
              <a:defRPr sz="2400">
                <a:solidFill>
                  <a:srgbClr val="EEF4FF"/>
                </a:solidFill>
                <a:latin typeface="Calibri"/>
              </a:defRPr>
            </a:pPr>
            <a:r>
              <a:t>When does security monitoring become a privacy risk?</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34C8B7"/>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5/50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9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5D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5D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5 Applied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Chapter 5 Advanced Focus: Host Trust Under Attack</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Operating system controls are foundational to all upper-layer security</a:t>
            </a:r>
          </a:p>
          <a:p>
            <a:pPr>
              <a:lnSpc>
                <a:spcPct val="118000"/>
              </a:lnSpc>
              <a:spcAft>
                <a:spcPts val="1400"/>
              </a:spcAft>
              <a:defRPr sz="2400">
                <a:solidFill>
                  <a:srgbClr val="EEF4FF"/>
                </a:solidFill>
                <a:latin typeface="Calibri"/>
              </a:defRPr>
            </a:pPr>
            <a:r>
              <a:t>Host compromise can neutralize detections, logs, and policy enforcement</a:t>
            </a:r>
          </a:p>
          <a:p>
            <a:pPr>
              <a:lnSpc>
                <a:spcPct val="118000"/>
              </a:lnSpc>
              <a:spcAft>
                <a:spcPts val="1400"/>
              </a:spcAft>
              <a:defRPr sz="2400">
                <a:solidFill>
                  <a:srgbClr val="EEF4FF"/>
                </a:solidFill>
                <a:latin typeface="Calibri"/>
              </a:defRPr>
            </a:pPr>
            <a:r>
              <a:t>Design goal: preserve mediation, visibility, and recovery options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5DB7FF"/>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7/50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9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5D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5D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5 Applied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Privilege Escalation Mechanics</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Escalation converts limited footholds into broad control</a:t>
            </a:r>
          </a:p>
          <a:p>
            <a:pPr>
              <a:lnSpc>
                <a:spcPct val="118000"/>
              </a:lnSpc>
              <a:spcAft>
                <a:spcPts val="1400"/>
              </a:spcAft>
              <a:defRPr sz="2400">
                <a:solidFill>
                  <a:srgbClr val="EEF4FF"/>
                </a:solidFill>
                <a:latin typeface="Calibri"/>
              </a:defRPr>
            </a:pPr>
            <a:r>
              <a:t>Common paths include weak service permissions and token abuse</a:t>
            </a:r>
          </a:p>
          <a:p>
            <a:pPr>
              <a:lnSpc>
                <a:spcPct val="118000"/>
              </a:lnSpc>
              <a:spcAft>
                <a:spcPts val="1400"/>
              </a:spcAft>
              <a:defRPr sz="2400">
                <a:solidFill>
                  <a:srgbClr val="EEF4FF"/>
                </a:solidFill>
                <a:latin typeface="Calibri"/>
              </a:defRPr>
            </a:pPr>
            <a:r>
              <a:t>Least privilege and separation of duties reduce blast radius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5DB7FF"/>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10/50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9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5D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5D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5 Applied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Host Hardening Baseline</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Patch discipline, service minimization, and secure configuration baselines</a:t>
            </a:r>
          </a:p>
          <a:p>
            <a:pPr>
              <a:lnSpc>
                <a:spcPct val="118000"/>
              </a:lnSpc>
              <a:spcAft>
                <a:spcPts val="1400"/>
              </a:spcAft>
              <a:defRPr sz="2400">
                <a:solidFill>
                  <a:srgbClr val="EEF4FF"/>
                </a:solidFill>
                <a:latin typeface="Calibri"/>
              </a:defRPr>
            </a:pPr>
            <a:r>
              <a:t>Application allowlisting and execution policy constraints</a:t>
            </a:r>
          </a:p>
          <a:p>
            <a:pPr>
              <a:lnSpc>
                <a:spcPct val="118000"/>
              </a:lnSpc>
              <a:spcAft>
                <a:spcPts val="1400"/>
              </a:spcAft>
              <a:defRPr sz="2400">
                <a:solidFill>
                  <a:srgbClr val="EEF4FF"/>
                </a:solidFill>
                <a:latin typeface="Calibri"/>
              </a:defRPr>
            </a:pPr>
            <a:r>
              <a:t>Administrative access controls with strong authentication</a:t>
            </a:r>
          </a:p>
          <a:p>
            <a:pPr>
              <a:lnSpc>
                <a:spcPct val="118000"/>
              </a:lnSpc>
              <a:spcAft>
                <a:spcPts val="1400"/>
              </a:spcAft>
              <a:defRPr sz="2400">
                <a:solidFill>
                  <a:srgbClr val="EEF4FF"/>
                </a:solidFill>
                <a:latin typeface="Calibri"/>
              </a:defRPr>
            </a:pPr>
            <a:r>
              <a:t>Documented exceptions with expiration and review</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5DB7FF"/>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13/50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9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5D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5D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5 Applied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Endpoint Telemetry: Logging, Alerts, and Signal Quality</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Collect process, authentication, integrity, and network telemetry</a:t>
            </a:r>
          </a:p>
          <a:p>
            <a:pPr>
              <a:lnSpc>
                <a:spcPct val="118000"/>
              </a:lnSpc>
              <a:spcAft>
                <a:spcPts val="1400"/>
              </a:spcAft>
              <a:defRPr sz="2400">
                <a:solidFill>
                  <a:srgbClr val="EEF4FF"/>
                </a:solidFill>
                <a:latin typeface="Calibri"/>
              </a:defRPr>
            </a:pPr>
            <a:r>
              <a:t>Prioritize high-confidence alerts to reduce fatigue</a:t>
            </a:r>
          </a:p>
          <a:p>
            <a:pPr>
              <a:lnSpc>
                <a:spcPct val="118000"/>
              </a:lnSpc>
              <a:spcAft>
                <a:spcPts val="1400"/>
              </a:spcAft>
              <a:defRPr sz="2400">
                <a:solidFill>
                  <a:srgbClr val="EEF4FF"/>
                </a:solidFill>
                <a:latin typeface="Calibri"/>
              </a:defRPr>
            </a:pPr>
            <a:r>
              <a:t>Preserve forensic value through integrity and retention controls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5DB7FF"/>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14/50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6 Networks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Chapter 6 Focus: Network Security as Systemic Resilience</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Networks carry both business value and attack opportunity</a:t>
            </a:r>
          </a:p>
          <a:p>
            <a:pPr>
              <a:lnSpc>
                <a:spcPct val="118000"/>
              </a:lnSpc>
              <a:spcAft>
                <a:spcPts val="1400"/>
              </a:spcAft>
              <a:defRPr sz="2400">
                <a:solidFill>
                  <a:srgbClr val="EEF4FF"/>
                </a:solidFill>
                <a:latin typeface="Calibri"/>
              </a:defRPr>
            </a:pPr>
            <a:r>
              <a:t>Remote attacks can scale faster than host-local attacks</a:t>
            </a:r>
          </a:p>
          <a:p>
            <a:pPr>
              <a:lnSpc>
                <a:spcPct val="118000"/>
              </a:lnSpc>
              <a:spcAft>
                <a:spcPts val="1400"/>
              </a:spcAft>
              <a:defRPr sz="2400">
                <a:solidFill>
                  <a:srgbClr val="EEF4FF"/>
                </a:solidFill>
                <a:latin typeface="Calibri"/>
              </a:defRPr>
            </a:pPr>
            <a:r>
              <a:t>Design objective: preserve service, trust, and detection visibility</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7DE6B2"/>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17/50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6 Networks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Network Model and Trust Boundaries</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Data flows through layered protocols with different control responsibilities</a:t>
            </a:r>
          </a:p>
          <a:p>
            <a:pPr>
              <a:lnSpc>
                <a:spcPct val="118000"/>
              </a:lnSpc>
              <a:spcAft>
                <a:spcPts val="1400"/>
              </a:spcAft>
              <a:defRPr sz="2400">
                <a:solidFill>
                  <a:srgbClr val="EEF4FF"/>
                </a:solidFill>
                <a:latin typeface="Calibri"/>
              </a:defRPr>
            </a:pPr>
            <a:r>
              <a:t>Every boundary crossing needs identity, integrity, and policy checks</a:t>
            </a:r>
          </a:p>
          <a:p>
            <a:pPr>
              <a:lnSpc>
                <a:spcPct val="118000"/>
              </a:lnSpc>
              <a:spcAft>
                <a:spcPts val="1400"/>
              </a:spcAft>
              <a:defRPr sz="2400">
                <a:solidFill>
                  <a:srgbClr val="EEF4FF"/>
                </a:solidFill>
                <a:latin typeface="Calibri"/>
              </a:defRPr>
            </a:pPr>
            <a:r>
              <a:t>Routing and addressing decisions influence exposure paths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7DE6B2"/>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18/50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6 Networks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Threat Class 1: Interception and Eavesdropping</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Attackers capture traffic to extract credentials or sensitive data</a:t>
            </a:r>
          </a:p>
          <a:p>
            <a:pPr>
              <a:lnSpc>
                <a:spcPct val="118000"/>
              </a:lnSpc>
              <a:spcAft>
                <a:spcPts val="1400"/>
              </a:spcAft>
              <a:defRPr sz="2400">
                <a:solidFill>
                  <a:srgbClr val="EEF4FF"/>
                </a:solidFill>
                <a:latin typeface="Calibri"/>
              </a:defRPr>
            </a:pPr>
            <a:r>
              <a:t>Insecure links and weak encryption increase interception risk</a:t>
            </a:r>
          </a:p>
          <a:p>
            <a:pPr>
              <a:lnSpc>
                <a:spcPct val="118000"/>
              </a:lnSpc>
              <a:spcAft>
                <a:spcPts val="1400"/>
              </a:spcAft>
              <a:defRPr sz="2400">
                <a:solidFill>
                  <a:srgbClr val="EEF4FF"/>
                </a:solidFill>
                <a:latin typeface="Calibri"/>
              </a:defRPr>
            </a:pPr>
            <a:r>
              <a:t>Mitigations include strong transport encryption and key hygiene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7DE6B2"/>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19/50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6 Networks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Threat Class 2: Modification and Fabrication</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Adversaries alter packets, commands, or responses in transit</a:t>
            </a:r>
          </a:p>
          <a:p>
            <a:pPr>
              <a:lnSpc>
                <a:spcPct val="118000"/>
              </a:lnSpc>
              <a:spcAft>
                <a:spcPts val="1400"/>
              </a:spcAft>
              <a:defRPr sz="2400">
                <a:solidFill>
                  <a:srgbClr val="EEF4FF"/>
                </a:solidFill>
                <a:latin typeface="Calibri"/>
              </a:defRPr>
            </a:pPr>
            <a:r>
              <a:t>Forgery can produce unauthorized actions while appearing legitimate</a:t>
            </a:r>
          </a:p>
          <a:p>
            <a:pPr>
              <a:lnSpc>
                <a:spcPct val="118000"/>
              </a:lnSpc>
              <a:spcAft>
                <a:spcPts val="1400"/>
              </a:spcAft>
              <a:defRPr sz="2400">
                <a:solidFill>
                  <a:srgbClr val="EEF4FF"/>
                </a:solidFill>
                <a:latin typeface="Calibri"/>
              </a:defRPr>
            </a:pPr>
            <a:r>
              <a:t>Integrity controls and authentication reduce manipulation risk</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7DE6B2"/>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20/50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6 Networks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Threat Class 3: Interruption and Denial of Service</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Goal is to degrade or stop service delivery</a:t>
            </a:r>
          </a:p>
          <a:p>
            <a:pPr>
              <a:lnSpc>
                <a:spcPct val="118000"/>
              </a:lnSpc>
              <a:spcAft>
                <a:spcPts val="1400"/>
              </a:spcAft>
              <a:defRPr sz="2400">
                <a:solidFill>
                  <a:srgbClr val="EEF4FF"/>
                </a:solidFill>
                <a:latin typeface="Calibri"/>
              </a:defRPr>
            </a:pPr>
            <a:r>
              <a:t>DoS and DDoS exploit capacity limits and dependency fragility</a:t>
            </a:r>
          </a:p>
          <a:p>
            <a:pPr>
              <a:lnSpc>
                <a:spcPct val="118000"/>
              </a:lnSpc>
              <a:spcAft>
                <a:spcPts val="1400"/>
              </a:spcAft>
              <a:defRPr sz="2400">
                <a:solidFill>
                  <a:srgbClr val="EEF4FF"/>
                </a:solidFill>
                <a:latin typeface="Calibri"/>
              </a:defRPr>
            </a:pPr>
            <a:r>
              <a:t>Resilience requires architecture, not only edge filtering</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7DE6B2"/>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21/50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6 Networks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Reconnaissance: Port Scanning and Service Discovery</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Scanning maps reachable hosts, services, and likely weaknesses</a:t>
            </a:r>
          </a:p>
          <a:p>
            <a:pPr>
              <a:lnSpc>
                <a:spcPct val="118000"/>
              </a:lnSpc>
              <a:spcAft>
                <a:spcPts val="1400"/>
              </a:spcAft>
              <a:defRPr sz="2400">
                <a:solidFill>
                  <a:srgbClr val="EEF4FF"/>
                </a:solidFill>
                <a:latin typeface="Calibri"/>
              </a:defRPr>
            </a:pPr>
            <a:r>
              <a:t>Unnecessary exposed services increase attack options</a:t>
            </a:r>
          </a:p>
          <a:p>
            <a:pPr>
              <a:lnSpc>
                <a:spcPct val="118000"/>
              </a:lnSpc>
              <a:spcAft>
                <a:spcPts val="1400"/>
              </a:spcAft>
              <a:defRPr sz="2400">
                <a:solidFill>
                  <a:srgbClr val="EEF4FF"/>
                </a:solidFill>
                <a:latin typeface="Calibri"/>
              </a:defRPr>
            </a:pPr>
            <a:r>
              <a:t>Rate limits, segmentation, and monitoring reduce reconnaissance value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7DE6B2"/>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22/50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6 Networks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Segmentation and Network Access Control</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Segment by business function and sensitivity, not just by convenience</a:t>
            </a:r>
          </a:p>
          <a:p>
            <a:pPr>
              <a:lnSpc>
                <a:spcPct val="118000"/>
              </a:lnSpc>
              <a:spcAft>
                <a:spcPts val="1400"/>
              </a:spcAft>
              <a:defRPr sz="2400">
                <a:solidFill>
                  <a:srgbClr val="EEF4FF"/>
                </a:solidFill>
                <a:latin typeface="Calibri"/>
              </a:defRPr>
            </a:pPr>
            <a:r>
              <a:t>Use least-privilege connectivity between zones</a:t>
            </a:r>
          </a:p>
          <a:p>
            <a:pPr>
              <a:lnSpc>
                <a:spcPct val="118000"/>
              </a:lnSpc>
              <a:spcAft>
                <a:spcPts val="1400"/>
              </a:spcAft>
              <a:defRPr sz="2400">
                <a:solidFill>
                  <a:srgbClr val="EEF4FF"/>
                </a:solidFill>
                <a:latin typeface="Calibri"/>
              </a:defRPr>
            </a:pPr>
            <a:r>
              <a:t>NAC policies can enforce device and identity posture before access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7DE6B2"/>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24/50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6 Networks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Cryptographic Protection for Network Traffic</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Use modern TLS configurations for in-transit confidentiality and integrity</a:t>
            </a:r>
          </a:p>
          <a:p>
            <a:pPr>
              <a:lnSpc>
                <a:spcPct val="118000"/>
              </a:lnSpc>
              <a:spcAft>
                <a:spcPts val="1400"/>
              </a:spcAft>
              <a:defRPr sz="2400">
                <a:solidFill>
                  <a:srgbClr val="EEF4FF"/>
                </a:solidFill>
                <a:latin typeface="Calibri"/>
              </a:defRPr>
            </a:pPr>
            <a:r>
              <a:t>Use VPN or tunnel protections where network trust is low</a:t>
            </a:r>
          </a:p>
          <a:p>
            <a:pPr>
              <a:lnSpc>
                <a:spcPct val="118000"/>
              </a:lnSpc>
              <a:spcAft>
                <a:spcPts val="1400"/>
              </a:spcAft>
              <a:defRPr sz="2400">
                <a:solidFill>
                  <a:srgbClr val="EEF4FF"/>
                </a:solidFill>
                <a:latin typeface="Calibri"/>
              </a:defRPr>
            </a:pPr>
            <a:r>
              <a:t>Certificate lifecycle and key management are critical dependencies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7DE6B2"/>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25/50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6 Networks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Zero Trust Network Access (ZTNA)</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Never assume trust based only on network location</a:t>
            </a:r>
          </a:p>
          <a:p>
            <a:pPr>
              <a:lnSpc>
                <a:spcPct val="118000"/>
              </a:lnSpc>
              <a:spcAft>
                <a:spcPts val="1400"/>
              </a:spcAft>
              <a:defRPr sz="2400">
                <a:solidFill>
                  <a:srgbClr val="EEF4FF"/>
                </a:solidFill>
                <a:latin typeface="Calibri"/>
              </a:defRPr>
            </a:pPr>
            <a:r>
              <a:t>Continuously verify identity, device posture, and request context</a:t>
            </a:r>
          </a:p>
          <a:p>
            <a:pPr>
              <a:lnSpc>
                <a:spcPct val="118000"/>
              </a:lnSpc>
              <a:spcAft>
                <a:spcPts val="1400"/>
              </a:spcAft>
              <a:defRPr sz="2400">
                <a:solidFill>
                  <a:srgbClr val="EEF4FF"/>
                </a:solidFill>
                <a:latin typeface="Calibri"/>
              </a:defRPr>
            </a:pPr>
            <a:r>
              <a:t>Limit access to specific resources rather than broad network segments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7DE6B2"/>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28/50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6 Networks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DDoS Readiness Strategy</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Plan capacity, upstream support, and traffic filtering before incidents</a:t>
            </a:r>
          </a:p>
          <a:p>
            <a:pPr>
              <a:lnSpc>
                <a:spcPct val="118000"/>
              </a:lnSpc>
              <a:spcAft>
                <a:spcPts val="1400"/>
              </a:spcAft>
              <a:defRPr sz="2400">
                <a:solidFill>
                  <a:srgbClr val="EEF4FF"/>
                </a:solidFill>
                <a:latin typeface="Calibri"/>
              </a:defRPr>
            </a:pPr>
            <a:r>
              <a:t>Define critical services and graceful-degradation priorities</a:t>
            </a:r>
          </a:p>
          <a:p>
            <a:pPr>
              <a:lnSpc>
                <a:spcPct val="118000"/>
              </a:lnSpc>
              <a:spcAft>
                <a:spcPts val="1400"/>
              </a:spcAft>
              <a:defRPr sz="2400">
                <a:solidFill>
                  <a:srgbClr val="EEF4FF"/>
                </a:solidFill>
                <a:latin typeface="Calibri"/>
              </a:defRPr>
            </a:pPr>
            <a:r>
              <a:t>Practice communication and escalation for fast coordinated response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7DE6B2"/>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29/50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6 Networks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Network Management and Change Governance</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Maintain accurate inventories for assets, dependencies, and routes</a:t>
            </a:r>
          </a:p>
          <a:p>
            <a:pPr>
              <a:lnSpc>
                <a:spcPct val="118000"/>
              </a:lnSpc>
              <a:spcAft>
                <a:spcPts val="1400"/>
              </a:spcAft>
              <a:defRPr sz="2400">
                <a:solidFill>
                  <a:srgbClr val="EEF4FF"/>
                </a:solidFill>
                <a:latin typeface="Calibri"/>
              </a:defRPr>
            </a:pPr>
            <a:r>
              <a:t>Review security impact for every meaningful network change</a:t>
            </a:r>
          </a:p>
          <a:p>
            <a:pPr>
              <a:lnSpc>
                <a:spcPct val="118000"/>
              </a:lnSpc>
              <a:spcAft>
                <a:spcPts val="1400"/>
              </a:spcAft>
              <a:defRPr sz="2400">
                <a:solidFill>
                  <a:srgbClr val="EEF4FF"/>
                </a:solidFill>
                <a:latin typeface="Calibri"/>
              </a:defRPr>
            </a:pPr>
            <a:r>
              <a:t>Use post-change validation to confirm policy behavior</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7DE6B2"/>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30/50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DE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6 Networks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Privacy and Ethics in Network Monitoring</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Monitoring improves detection but can over-collect user data</a:t>
            </a:r>
          </a:p>
          <a:p>
            <a:pPr>
              <a:lnSpc>
                <a:spcPct val="118000"/>
              </a:lnSpc>
              <a:spcAft>
                <a:spcPts val="1400"/>
              </a:spcAft>
              <a:defRPr sz="2400">
                <a:solidFill>
                  <a:srgbClr val="EEF4FF"/>
                </a:solidFill>
                <a:latin typeface="Calibri"/>
              </a:defRPr>
            </a:pPr>
            <a:r>
              <a:t>Data minimization and purpose limitation reduce privacy harm</a:t>
            </a:r>
          </a:p>
          <a:p>
            <a:pPr>
              <a:lnSpc>
                <a:spcPct val="118000"/>
              </a:lnSpc>
              <a:spcAft>
                <a:spcPts val="1400"/>
              </a:spcAft>
              <a:defRPr sz="2400">
                <a:solidFill>
                  <a:srgbClr val="EEF4FF"/>
                </a:solidFill>
                <a:latin typeface="Calibri"/>
              </a:defRPr>
            </a:pPr>
            <a:r>
              <a:t>Transparent policy and access controls preserve institutional trust</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7DE6B2"/>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31/50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A2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EC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EC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Assessment and Career</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In-Class Reading Response (10-12 Minutes)</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Read the provided excerpt on zero trust and monitoring ethics</a:t>
            </a:r>
          </a:p>
          <a:p>
            <a:pPr>
              <a:lnSpc>
                <a:spcPct val="118000"/>
              </a:lnSpc>
              <a:spcAft>
                <a:spcPts val="1400"/>
              </a:spcAft>
              <a:defRPr sz="2400">
                <a:solidFill>
                  <a:srgbClr val="EEF4FF"/>
                </a:solidFill>
                <a:latin typeface="Calibri"/>
              </a:defRPr>
            </a:pPr>
            <a:r>
              <a:t>Write a 250-300 word response using claim, evidence, and counterargument</a:t>
            </a:r>
          </a:p>
          <a:p>
            <a:pPr>
              <a:lnSpc>
                <a:spcPct val="118000"/>
              </a:lnSpc>
              <a:spcAft>
                <a:spcPts val="1400"/>
              </a:spcAft>
              <a:defRPr sz="2400">
                <a:solidFill>
                  <a:srgbClr val="EEF4FF"/>
                </a:solidFill>
                <a:latin typeface="Calibri"/>
              </a:defRPr>
            </a:pPr>
            <a:r>
              <a:t>Connect one technical control choice to one ethical principle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ECBFF"/>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46/50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A2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FCB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FCB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Applied Walkthrough</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Applied Incident Walkthrough: Campus Service Disruption</a:t>
            </a:r>
          </a:p>
        </p:txBody>
      </p:sp>
      <p:sp>
        <p:nvSpPr>
          <p:cNvPr id="7" name="TextBox 6"/>
          <p:cNvSpPr txBox="1"/>
          <p:nvPr/>
        </p:nvSpPr>
        <p:spPr>
          <a:xfrm>
            <a:off x="868680" y="1783080"/>
            <a:ext cx="10881360" cy="1200329"/>
          </a:xfrm>
          <a:prstGeom prst="rect">
            <a:avLst/>
          </a:prstGeom>
          <a:noFill/>
        </p:spPr>
        <p:txBody>
          <a:bodyPr wrap="square">
            <a:spAutoFit/>
          </a:bodyPr>
          <a:lstStyle/>
          <a:p>
            <a:r>
              <a:rPr dirty="0">
                <a:solidFill>
                  <a:schemeClr val="bg1"/>
                </a:solidFill>
              </a:rPr>
              <a:t>Incident issue: likely credential theft enabled unauthorized privileged access</a:t>
            </a:r>
          </a:p>
          <a:p>
            <a:r>
              <a:rPr dirty="0">
                <a:solidFill>
                  <a:schemeClr val="bg1"/>
                </a:solidFill>
              </a:rPr>
              <a:t>Observed behavior: unsigned process execution on ADV-WS-14 and 7x outbound HTTPS spike</a:t>
            </a:r>
          </a:p>
          <a:p>
            <a:r>
              <a:rPr dirty="0">
                <a:solidFill>
                  <a:schemeClr val="bg1"/>
                </a:solidFill>
              </a:rPr>
              <a:t>Operational impact: campus portal latency increased 48% with failed student transactions</a:t>
            </a:r>
          </a:p>
          <a:p>
            <a:r>
              <a:rPr dirty="0">
                <a:solidFill>
                  <a:schemeClr val="bg1"/>
                </a:solidFill>
              </a:rPr>
              <a:t>Decision challenge: contain fast while preserving critical service continuity and evidence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FCBA4B"/>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33/50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A2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FCB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FCB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Applied Walkthrough</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Incident Timeline</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T0: unusual authentication pattern appears on one privileged account</a:t>
            </a:r>
          </a:p>
          <a:p>
            <a:pPr>
              <a:lnSpc>
                <a:spcPct val="118000"/>
              </a:lnSpc>
              <a:spcAft>
                <a:spcPts val="1400"/>
              </a:spcAft>
              <a:defRPr sz="2400">
                <a:solidFill>
                  <a:srgbClr val="EEF4FF"/>
                </a:solidFill>
                <a:latin typeface="Calibri"/>
              </a:defRPr>
            </a:pPr>
            <a:r>
              <a:t>T+20: endpoint telemetry shows suspicious process behavior</a:t>
            </a:r>
          </a:p>
          <a:p>
            <a:pPr>
              <a:lnSpc>
                <a:spcPct val="118000"/>
              </a:lnSpc>
              <a:spcAft>
                <a:spcPts val="1400"/>
              </a:spcAft>
              <a:defRPr sz="2400">
                <a:solidFill>
                  <a:srgbClr val="EEF4FF"/>
                </a:solidFill>
                <a:latin typeface="Calibri"/>
              </a:defRPr>
            </a:pPr>
            <a:r>
              <a:t>T+45: network congestion and failed transactions increase rapidly</a:t>
            </a:r>
          </a:p>
          <a:p>
            <a:pPr>
              <a:lnSpc>
                <a:spcPct val="118000"/>
              </a:lnSpc>
              <a:spcAft>
                <a:spcPts val="1400"/>
              </a:spcAft>
              <a:defRPr sz="2400">
                <a:solidFill>
                  <a:srgbClr val="EEF4FF"/>
                </a:solidFill>
                <a:latin typeface="Calibri"/>
              </a:defRPr>
            </a:pPr>
            <a:r>
              <a:t>T+70: team initiates containment and communication protocol</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FCBA4B"/>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34/50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A2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FCB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FCB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Applied Walkthrough</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Detection Quality Review</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High-confidence signals should trigger immediate analyst review</a:t>
            </a:r>
          </a:p>
          <a:p>
            <a:pPr>
              <a:lnSpc>
                <a:spcPct val="118000"/>
              </a:lnSpc>
              <a:spcAft>
                <a:spcPts val="1400"/>
              </a:spcAft>
              <a:defRPr sz="2400">
                <a:solidFill>
                  <a:srgbClr val="EEF4FF"/>
                </a:solidFill>
                <a:latin typeface="Calibri"/>
              </a:defRPr>
            </a:pPr>
            <a:r>
              <a:t>Weakly tuned alerts can hide important patterns</a:t>
            </a:r>
          </a:p>
          <a:p>
            <a:pPr>
              <a:lnSpc>
                <a:spcPct val="118000"/>
              </a:lnSpc>
              <a:spcAft>
                <a:spcPts val="1400"/>
              </a:spcAft>
              <a:defRPr sz="2400">
                <a:solidFill>
                  <a:srgbClr val="EEF4FF"/>
                </a:solidFill>
                <a:latin typeface="Calibri"/>
              </a:defRPr>
            </a:pPr>
            <a:r>
              <a:t>Correlation across host and network data improves confidence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FCBA4B"/>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35/50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A2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FCB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FCB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Applied Walkthrough</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Containment Decision Matrix</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Option A: isolate affected endpoints immediately</a:t>
            </a:r>
          </a:p>
          <a:p>
            <a:pPr>
              <a:lnSpc>
                <a:spcPct val="118000"/>
              </a:lnSpc>
              <a:spcAft>
                <a:spcPts val="1400"/>
              </a:spcAft>
              <a:defRPr sz="2400">
                <a:solidFill>
                  <a:srgbClr val="EEF4FF"/>
                </a:solidFill>
                <a:latin typeface="Calibri"/>
              </a:defRPr>
            </a:pPr>
            <a:r>
              <a:t>Option B: block suspicious network paths while preserving core services</a:t>
            </a:r>
          </a:p>
          <a:p>
            <a:pPr>
              <a:lnSpc>
                <a:spcPct val="118000"/>
              </a:lnSpc>
              <a:spcAft>
                <a:spcPts val="1400"/>
              </a:spcAft>
              <a:defRPr sz="2400">
                <a:solidFill>
                  <a:srgbClr val="EEF4FF"/>
                </a:solidFill>
                <a:latin typeface="Calibri"/>
              </a:defRPr>
            </a:pPr>
            <a:r>
              <a:t>Option C: rotate credentials and force reauthentication quickly</a:t>
            </a:r>
          </a:p>
          <a:p>
            <a:pPr>
              <a:lnSpc>
                <a:spcPct val="118000"/>
              </a:lnSpc>
              <a:spcAft>
                <a:spcPts val="1400"/>
              </a:spcAft>
              <a:defRPr sz="2400">
                <a:solidFill>
                  <a:srgbClr val="EEF4FF"/>
                </a:solidFill>
                <a:latin typeface="Calibri"/>
              </a:defRPr>
            </a:pPr>
            <a:r>
              <a:t>Best practice: combine options based on evidence and service criticality</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FCBA4B"/>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36/50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A2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FCB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FCB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Applied Walkthrough</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Recovery and Post-Incident Governance</a:t>
            </a:r>
          </a:p>
        </p:txBody>
      </p:sp>
      <p:sp>
        <p:nvSpPr>
          <p:cNvPr id="7" name="TextBox 6"/>
          <p:cNvSpPr txBox="1"/>
          <p:nvPr/>
        </p:nvSpPr>
        <p:spPr>
          <a:xfrm>
            <a:off x="868680" y="1783080"/>
            <a:ext cx="10881360" cy="429768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Validate system integrity before full service restoration</a:t>
            </a:r>
          </a:p>
          <a:p>
            <a:pPr>
              <a:lnSpc>
                <a:spcPct val="118000"/>
              </a:lnSpc>
              <a:spcAft>
                <a:spcPts val="1400"/>
              </a:spcAft>
              <a:defRPr sz="2400">
                <a:solidFill>
                  <a:srgbClr val="EEF4FF"/>
                </a:solidFill>
                <a:latin typeface="Calibri"/>
              </a:defRPr>
            </a:pPr>
            <a:r>
              <a:t>Document root cause and control gaps with accountable owners</a:t>
            </a:r>
          </a:p>
          <a:p>
            <a:pPr>
              <a:lnSpc>
                <a:spcPct val="118000"/>
              </a:lnSpc>
              <a:spcAft>
                <a:spcPts val="1400"/>
              </a:spcAft>
              <a:defRPr sz="2400">
                <a:solidFill>
                  <a:srgbClr val="EEF4FF"/>
                </a:solidFill>
                <a:latin typeface="Calibri"/>
              </a:defRPr>
            </a:pPr>
            <a:r>
              <a:t>Update policies, playbooks, and training based on lessons learned</a:t>
            </a:r>
          </a:p>
          <a:p>
            <a:pPr>
              <a:lnSpc>
                <a:spcPct val="118000"/>
              </a:lnSpc>
              <a:spcAft>
                <a:spcPts val="1400"/>
              </a:spcAft>
              <a:defRPr sz="2400">
                <a:solidFill>
                  <a:srgbClr val="EEF4FF"/>
                </a:solidFill>
                <a:latin typeface="Calibri"/>
              </a:defRPr>
            </a:pPr>
            <a:r>
              <a:t>Communicate clearly with affected users and stakeholders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FCBA4B"/>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37/50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C34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F0D9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F0D9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Quick Lab</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Quick Lab: Overview</a:t>
            </a:r>
          </a:p>
        </p:txBody>
      </p:sp>
      <p:sp>
        <p:nvSpPr>
          <p:cNvPr id="7" name="TextBox 6"/>
          <p:cNvSpPr txBox="1"/>
          <p:nvPr/>
        </p:nvSpPr>
        <p:spPr>
          <a:xfrm>
            <a:off x="868680" y="1783080"/>
            <a:ext cx="10881360" cy="1115818"/>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rPr dirty="0"/>
              <a:t>Task: classify evidence, map CIA impact, and prioritize controls</a:t>
            </a:r>
          </a:p>
          <a:p>
            <a:pPr>
              <a:lnSpc>
                <a:spcPct val="118000"/>
              </a:lnSpc>
              <a:spcAft>
                <a:spcPts val="1400"/>
              </a:spcAft>
              <a:defRPr sz="2400">
                <a:solidFill>
                  <a:srgbClr val="EEF4FF"/>
                </a:solidFill>
                <a:latin typeface="Calibri"/>
              </a:defRPr>
            </a:pPr>
            <a:r>
              <a:rPr dirty="0"/>
              <a:t>Output: one-page mitigation brief with named owners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F0D963"/>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38/50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7414</Words>
  <Application>Microsoft Macintosh PowerPoint</Application>
  <PresentationFormat>Widescreen</PresentationFormat>
  <Paragraphs>641</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Atilio Barreda</cp:lastModifiedBy>
  <cp:revision>4</cp:revision>
  <dcterms:created xsi:type="dcterms:W3CDTF">2013-01-27T09:14:16Z</dcterms:created>
  <dcterms:modified xsi:type="dcterms:W3CDTF">2026-02-19T22:55:53Z</dcterms:modified>
  <cp:category/>
</cp:coreProperties>
</file>